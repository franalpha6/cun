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800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452E1-47FA-4903-BC85-A98259C91593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238F9-E089-43C0-B43D-42409B71EA6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0152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3FFE-8E87-3E6A-3743-769630FB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A9839-DD75-C8D3-E433-7D4B4C838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E2CCA-BBDB-A95B-06D4-BB67D10BE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A5465-11E6-E130-026B-72D629BD9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3A468-8A22-4129-B6B7-A7CBC903EA05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55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16524" y="6261231"/>
            <a:ext cx="914400" cy="59372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B9B165C2-EC07-4A44-AAF3-D49785C908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1F2E6F"/>
              </a:clrFrom>
              <a:clrTo>
                <a:srgbClr val="1F2E6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9709834" y="285953"/>
            <a:ext cx="2292490" cy="6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388E4D-9E42-489A-9FB7-C39ED2A8C38F}"/>
              </a:ext>
            </a:extLst>
          </p:cNvPr>
          <p:cNvCxnSpPr/>
          <p:nvPr userDrawn="1"/>
        </p:nvCxnSpPr>
        <p:spPr>
          <a:xfrm>
            <a:off x="984167" y="3234380"/>
            <a:ext cx="10404389" cy="0"/>
          </a:xfrm>
          <a:prstGeom prst="line">
            <a:avLst/>
          </a:prstGeom>
          <a:ln w="22225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EFCDA8B6-8696-4C2A-A9C0-2960493D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67" y="2165350"/>
            <a:ext cx="10512508" cy="1325563"/>
          </a:xfrm>
        </p:spPr>
        <p:txBody>
          <a:bodyPr>
            <a:normAutofit/>
          </a:bodyPr>
          <a:lstStyle>
            <a:lvl1pPr>
              <a:defRPr sz="5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BF02668E-D823-4154-AAF8-93B95CCBD5B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76325" y="6192968"/>
            <a:ext cx="2743200" cy="365125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0A5B85C-1F35-4131-8455-1CDD4DF505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6150" y="3305175"/>
            <a:ext cx="8293100" cy="4572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7154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A5C5D2B-21F7-4EFC-9241-B6BB2C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524" y="6261231"/>
            <a:ext cx="914400" cy="59372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D12D5-3E74-4EB5-BCBD-D99711EB306D}"/>
              </a:ext>
            </a:extLst>
          </p:cNvPr>
          <p:cNvSpPr/>
          <p:nvPr userDrawn="1"/>
        </p:nvSpPr>
        <p:spPr>
          <a:xfrm>
            <a:off x="0" y="0"/>
            <a:ext cx="647700" cy="685800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22583-AE82-48A9-B938-31A0397973F3}"/>
              </a:ext>
            </a:extLst>
          </p:cNvPr>
          <p:cNvSpPr/>
          <p:nvPr userDrawn="1"/>
        </p:nvSpPr>
        <p:spPr>
          <a:xfrm>
            <a:off x="0" y="0"/>
            <a:ext cx="12204700" cy="752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Title 15">
            <a:extLst>
              <a:ext uri="{FF2B5EF4-FFF2-40B4-BE49-F238E27FC236}">
                <a16:creationId xmlns:a16="http://schemas.microsoft.com/office/drawing/2014/main" id="{EEEED07E-68C7-4FDF-A9AB-489E1351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" y="45809"/>
            <a:ext cx="10512508" cy="676275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pic>
        <p:nvPicPr>
          <p:cNvPr id="20" name="Picture 2" descr="Asociación AFP">
            <a:extLst>
              <a:ext uri="{FF2B5EF4-FFF2-40B4-BE49-F238E27FC236}">
                <a16:creationId xmlns:a16="http://schemas.microsoft.com/office/drawing/2014/main" id="{EB18AC67-690E-4C93-8DC7-1FD8B21E7B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0123" y="158293"/>
            <a:ext cx="1371600" cy="42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928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45E542E-1977-4B8F-8255-AD8D6B49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2224" y="6178681"/>
            <a:ext cx="914400" cy="59372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409C0D-C226-4E6B-84A1-D2EC2A3FCCC4}"/>
              </a:ext>
            </a:extLst>
          </p:cNvPr>
          <p:cNvCxnSpPr/>
          <p:nvPr userDrawn="1"/>
        </p:nvCxnSpPr>
        <p:spPr>
          <a:xfrm>
            <a:off x="517442" y="3234380"/>
            <a:ext cx="10404389" cy="0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>
            <a:extLst>
              <a:ext uri="{FF2B5EF4-FFF2-40B4-BE49-F238E27FC236}">
                <a16:creationId xmlns:a16="http://schemas.microsoft.com/office/drawing/2014/main" id="{84D1D82A-4A47-4BD3-B660-3CFF950EC6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1F2E6F"/>
              </a:clrFrom>
              <a:clrTo>
                <a:srgbClr val="1F2E6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9024034" y="110167"/>
            <a:ext cx="2292490" cy="6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2321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E92972CB-D19E-4AC0-BA2F-7705D0E57F0F}" type="datetime1">
              <a:rPr lang="es-PE"/>
              <a:pPr>
                <a:defRPr/>
              </a:pPr>
              <a:t>16/08/2026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2A0E1D8-4EDD-47A6-8ACB-E0A86D58D134}" type="slidenum">
              <a:rPr lang="es-PE"/>
              <a:pPr>
                <a:defRPr/>
              </a:pPr>
              <a:t>‹#›</a:t>
            </a:fld>
            <a:endParaRPr lang="es-PE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53188"/>
            <a:ext cx="12192000" cy="404812"/>
          </a:xfrm>
          <a:prstGeom prst="rect">
            <a:avLst/>
          </a:prstGeom>
          <a:solidFill>
            <a:srgbClr val="E3E829"/>
          </a:solidFill>
          <a:ln>
            <a:solidFill>
              <a:srgbClr val="E3E8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12192000" cy="1223963"/>
          </a:xfrm>
          <a:prstGeom prst="rect">
            <a:avLst/>
          </a:prstGeom>
          <a:solidFill>
            <a:srgbClr val="1E2E6E"/>
          </a:solidFill>
          <a:ln>
            <a:solidFill>
              <a:srgbClr val="1E2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PE" sz="1800" dirty="0">
              <a:solidFill>
                <a:srgbClr val="0070C0"/>
              </a:solidFill>
              <a:latin typeface="Trebuchet MS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1" r="65363" b="8409"/>
          <a:stretch>
            <a:fillRect/>
          </a:stretch>
        </p:blipFill>
        <p:spPr bwMode="auto">
          <a:xfrm>
            <a:off x="9791701" y="260351"/>
            <a:ext cx="24003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99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list-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5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1400">
                <a:solidFill>
                  <a:schemeClr val="bg1">
                    <a:lumMod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fld id="{4022B31E-1B25-402D-B825-4747191115EA}" type="slidenum">
              <a:rPr lang="es-PE" smtClean="0"/>
              <a:pPr/>
              <a:t>‹#›</a:t>
            </a:fld>
            <a:endParaRPr lang="es-PE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9C050EE-E511-4C74-AD33-7E03252C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6B57E4-CBD8-4081-93D6-A7BF4066A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FC7DF6F-A920-4C15-9B00-E696465F6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endParaRPr lang="es-P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63537E-F69F-49D9-A667-F14676FFBAEF}"/>
              </a:ext>
            </a:extLst>
          </p:cNvPr>
          <p:cNvSpPr/>
          <p:nvPr userDrawn="1"/>
        </p:nvSpPr>
        <p:spPr>
          <a:xfrm>
            <a:off x="0" y="0"/>
            <a:ext cx="647700" cy="6858000"/>
          </a:xfrm>
          <a:prstGeom prst="rect">
            <a:avLst/>
          </a:prstGeom>
          <a:solidFill>
            <a:srgbClr val="00AE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956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Trebuchet MS" panose="020B0603020202020204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Trebuchet MS" panose="020B0603020202020204" pitchFamily="34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Trebuchet MS" panose="020B0603020202020204" pitchFamily="34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Trebuchet MS" panose="020B0603020202020204" pitchFamily="34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Trebuchet MS" panose="020B0603020202020204" pitchFamily="34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727D-E5A6-AB59-7754-7AC8079F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F4BC3E1F-B86E-33B2-9592-5C3970BB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29"/>
            <a:ext cx="10819699" cy="676275"/>
          </a:xfrm>
        </p:spPr>
        <p:txBody>
          <a:bodyPr>
            <a:noAutofit/>
          </a:bodyPr>
          <a:lstStyle/>
          <a:p>
            <a:r>
              <a:rPr lang="es-ES" sz="2000" dirty="0"/>
              <a:t>3.5 Gestión Climática</a:t>
            </a:r>
            <a:r>
              <a:rPr lang="es-PE" sz="2000" dirty="0"/>
              <a:t> – Riesgos Físicos: Resultados 2025  </a:t>
            </a:r>
            <a:endParaRPr lang="es-ES" sz="2000" dirty="0"/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1F467729-66C2-04ED-8324-932DD6A3D031}"/>
              </a:ext>
            </a:extLst>
          </p:cNvPr>
          <p:cNvGraphicFramePr>
            <a:graphicFrameLocks noGrp="1"/>
          </p:cNvGraphicFramePr>
          <p:nvPr/>
        </p:nvGraphicFramePr>
        <p:xfrm>
          <a:off x="1127448" y="980728"/>
          <a:ext cx="5952632" cy="55584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0309">
                  <a:extLst>
                    <a:ext uri="{9D8B030D-6E8A-4147-A177-3AD203B41FA5}">
                      <a16:colId xmlns:a16="http://schemas.microsoft.com/office/drawing/2014/main" val="2998789951"/>
                    </a:ext>
                  </a:extLst>
                </a:gridCol>
                <a:gridCol w="831415">
                  <a:extLst>
                    <a:ext uri="{9D8B030D-6E8A-4147-A177-3AD203B41FA5}">
                      <a16:colId xmlns:a16="http://schemas.microsoft.com/office/drawing/2014/main" val="511091194"/>
                    </a:ext>
                  </a:extLst>
                </a:gridCol>
                <a:gridCol w="1042727">
                  <a:extLst>
                    <a:ext uri="{9D8B030D-6E8A-4147-A177-3AD203B41FA5}">
                      <a16:colId xmlns:a16="http://schemas.microsoft.com/office/drawing/2014/main" val="2481562813"/>
                    </a:ext>
                  </a:extLst>
                </a:gridCol>
                <a:gridCol w="1042727">
                  <a:extLst>
                    <a:ext uri="{9D8B030D-6E8A-4147-A177-3AD203B41FA5}">
                      <a16:colId xmlns:a16="http://schemas.microsoft.com/office/drawing/2014/main" val="2873446131"/>
                    </a:ext>
                  </a:extLst>
                </a:gridCol>
                <a:gridCol w="1042727">
                  <a:extLst>
                    <a:ext uri="{9D8B030D-6E8A-4147-A177-3AD203B41FA5}">
                      <a16:colId xmlns:a16="http://schemas.microsoft.com/office/drawing/2014/main" val="1083802768"/>
                    </a:ext>
                  </a:extLst>
                </a:gridCol>
                <a:gridCol w="1042727">
                  <a:extLst>
                    <a:ext uri="{9D8B030D-6E8A-4147-A177-3AD203B41FA5}">
                      <a16:colId xmlns:a16="http://schemas.microsoft.com/office/drawing/2014/main" val="1980836146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View 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Sustento 1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Sustento 2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Extra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Seguimiento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3275460333"/>
                  </a:ext>
                </a:extLst>
              </a:tr>
              <a:tr h="13924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Larraín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 No pasa nada. </a:t>
                      </a:r>
                      <a:r>
                        <a:rPr lang="es-ES" sz="1000" u="none" strike="noStrike" dirty="0">
                          <a:effectLst/>
                        </a:rPr>
                        <a:t>Espera un crecimiento de 4% de Perú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Evento Transitorio. BCR no ha tomado medidas antes por temas de inflación 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000" u="none" strike="noStrike" dirty="0">
                          <a:effectLst/>
                        </a:rPr>
                        <a:t>Afecta al componente primario</a:t>
                      </a:r>
                      <a:r>
                        <a:rPr lang="es-PE" sz="1000" u="none" strike="noStrike" dirty="0">
                          <a:effectLst/>
                        </a:rPr>
                        <a:t>. Impacto de componente no primario no es relevante</a:t>
                      </a:r>
                      <a:r>
                        <a:rPr lang="es-ES" sz="1000" u="none" strike="noStrike" dirty="0">
                          <a:effectLst/>
                        </a:rPr>
                        <a:t>Daño infraestructura no es relevante porque empresas </a:t>
                      </a:r>
                      <a:r>
                        <a:rPr lang="es-ES" sz="1000" u="none" strike="noStrike" dirty="0" err="1">
                          <a:effectLst/>
                        </a:rPr>
                        <a:t>cean</a:t>
                      </a:r>
                      <a:r>
                        <a:rPr lang="es-ES" sz="1000" u="none" strike="noStrike" dirty="0">
                          <a:effectLst/>
                        </a:rPr>
                        <a:t> volumen, pero segundo semestre recuperan y hasta marginalmente positivo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000" u="none" strike="noStrike" dirty="0">
                          <a:effectLst/>
                        </a:rPr>
                        <a:t>En FEN 2023 solo impactó 1% y el no primario fue solo 0.4%</a:t>
                      </a:r>
                      <a:r>
                        <a:rPr lang="es-PE" sz="1000" u="none" strike="noStrike" dirty="0">
                          <a:effectLst/>
                        </a:rPr>
                        <a:t> 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Outlook ver inversión bruta fija a finales del 2026 y elecciones </a:t>
                      </a:r>
                      <a:r>
                        <a:rPr lang="es-E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regioanles</a:t>
                      </a: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 2027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011478675"/>
                  </a:ext>
                </a:extLst>
              </a:tr>
              <a:tr h="13924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Macrocapitales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 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4009672563"/>
                  </a:ext>
                </a:extLst>
              </a:tr>
              <a:tr h="13924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Apoyo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>
                          <a:effectLst/>
                        </a:rPr>
                        <a:t> </a:t>
                      </a:r>
                      <a:endParaRPr lang="es-PE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000" u="none" strike="noStrike" dirty="0">
                          <a:effectLst/>
                        </a:rPr>
                        <a:t> </a:t>
                      </a: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ctr"/>
                </a:tc>
                <a:extLst>
                  <a:ext uri="{0D108BD9-81ED-4DB2-BD59-A6C34878D82A}">
                    <a16:rowId xmlns:a16="http://schemas.microsoft.com/office/drawing/2014/main" val="1255789093"/>
                  </a:ext>
                </a:extLst>
              </a:tr>
            </a:tbl>
          </a:graphicData>
        </a:graphic>
      </p:graphicFrame>
      <p:sp>
        <p:nvSpPr>
          <p:cNvPr id="23" name="Rectángulo 22">
            <a:extLst>
              <a:ext uri="{FF2B5EF4-FFF2-40B4-BE49-F238E27FC236}">
                <a16:creationId xmlns:a16="http://schemas.microsoft.com/office/drawing/2014/main" id="{ED40DDE2-B010-1D04-0AD5-8878F7E9FEC6}"/>
              </a:ext>
            </a:extLst>
          </p:cNvPr>
          <p:cNvSpPr/>
          <p:nvPr/>
        </p:nvSpPr>
        <p:spPr>
          <a:xfrm>
            <a:off x="7536160" y="1628800"/>
            <a:ext cx="3168352" cy="2520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Además, incluir un par de gráficos: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Revisión de proyección de PBI de Sectores Primarios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Gasto en prevención (Transparencia económica)</a:t>
            </a: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3D2E506-F6A0-4A83-E5ED-6881EEFF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712" y="4221087"/>
            <a:ext cx="2412743" cy="252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6619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2">
      <a:dk1>
        <a:srgbClr val="1E2E6E"/>
      </a:dk1>
      <a:lt1>
        <a:sysClr val="window" lastClr="FFFFFF"/>
      </a:lt1>
      <a:dk2>
        <a:srgbClr val="1E2E6E"/>
      </a:dk2>
      <a:lt2>
        <a:srgbClr val="CEDBE6"/>
      </a:lt2>
      <a:accent1>
        <a:srgbClr val="3494BA"/>
      </a:accent1>
      <a:accent2>
        <a:srgbClr val="00AECB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Century Schoolbook</vt:lpstr>
      <vt:lpstr>Trebuchet MS</vt:lpstr>
      <vt:lpstr>Wingdings 2</vt:lpstr>
      <vt:lpstr>View</vt:lpstr>
      <vt:lpstr>3.5 Gestión Climática – Riesgos Físicos: Resultados 2025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Olivares Untiveros</dc:creator>
  <cp:lastModifiedBy>Franco Olivares Untiveros</cp:lastModifiedBy>
  <cp:revision>1</cp:revision>
  <dcterms:created xsi:type="dcterms:W3CDTF">2026-08-16T07:13:29Z</dcterms:created>
  <dcterms:modified xsi:type="dcterms:W3CDTF">2026-08-16T07:14:35Z</dcterms:modified>
</cp:coreProperties>
</file>