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theme/themeOverride3.xml" ContentType="application/vnd.openxmlformats-officedocument.themeOverride+xml"/>
  <Override PartName="/ppt/charts/chart4.xml" ContentType="application/vnd.openxmlformats-officedocument.drawingml.chart+xml"/>
  <Override PartName="/ppt/theme/themeOverride4.xml" ContentType="application/vnd.openxmlformats-officedocument.themeOverride+xml"/>
  <Override PartName="/ppt/charts/chart5.xml" ContentType="application/vnd.openxmlformats-officedocument.drawingml.chart+xml"/>
  <Override PartName="/ppt/theme/themeOverride5.xml" ContentType="application/vnd.openxmlformats-officedocument.themeOverride+xml"/>
  <Override PartName="/ppt/drawings/drawing1.xml" ContentType="application/vnd.openxmlformats-officedocument.drawingml.chartshapes+xml"/>
  <Override PartName="/ppt/charts/chart6.xml" ContentType="application/vnd.openxmlformats-officedocument.drawingml.chart+xml"/>
  <Override PartName="/ppt/theme/themeOverride6.xml" ContentType="application/vnd.openxmlformats-officedocument.themeOverride+xml"/>
  <Override PartName="/ppt/charts/chart7.xml" ContentType="application/vnd.openxmlformats-officedocument.drawingml.chart+xml"/>
  <Override PartName="/ppt/theme/themeOverride7.xml" ContentType="application/vnd.openxmlformats-officedocument.themeOverride+xml"/>
  <Override PartName="/ppt/charts/chart8.xml" ContentType="application/vnd.openxmlformats-officedocument.drawingml.chart+xml"/>
  <Override PartName="/ppt/theme/themeOverride8.xml" ContentType="application/vnd.openxmlformats-officedocument.themeOverride+xml"/>
  <Override PartName="/ppt/notesSlides/notesSlide12.xml" ContentType="application/vnd.openxmlformats-officedocument.presentationml.notesSlide+xml"/>
  <Override PartName="/ppt/charts/chart9.xml" ContentType="application/vnd.openxmlformats-officedocument.drawingml.chart+xml"/>
  <Override PartName="/ppt/theme/themeOverride9.xml" ContentType="application/vnd.openxmlformats-officedocument.themeOverride+xml"/>
  <Override PartName="/ppt/charts/chart10.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0.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Ex1.xml" ContentType="application/vnd.ms-office.chartex+xml"/>
  <Override PartName="/ppt/charts/style2.xml" ContentType="application/vnd.ms-office.chartstyle+xml"/>
  <Override PartName="/ppt/charts/colors2.xml" ContentType="application/vnd.ms-office.chartcolorstyle+xml"/>
  <Override PartName="/ppt/theme/themeOverride11.xml" ContentType="application/vnd.openxmlformats-officedocument.themeOverride+xml"/>
  <Override PartName="/ppt/charts/chartEx2.xml" ContentType="application/vnd.ms-office.chartex+xml"/>
  <Override PartName="/ppt/charts/style3.xml" ContentType="application/vnd.ms-office.chartstyle+xml"/>
  <Override PartName="/ppt/charts/colors3.xml" ContentType="application/vnd.ms-office.chartcolorstyle+xml"/>
  <Override PartName="/ppt/theme/themeOverride12.xml" ContentType="application/vnd.openxmlformats-officedocument.themeOverride+xml"/>
  <Override PartName="/ppt/charts/chartEx3.xml" ContentType="application/vnd.ms-office.chartex+xml"/>
  <Override PartName="/ppt/charts/style4.xml" ContentType="application/vnd.ms-office.chartstyle+xml"/>
  <Override PartName="/ppt/charts/colors4.xml" ContentType="application/vnd.ms-office.chartcolorstyle+xml"/>
  <Override PartName="/ppt/theme/themeOverride13.xml" ContentType="application/vnd.openxmlformats-officedocument.themeOverr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3119" r:id="rId2"/>
    <p:sldId id="3738" r:id="rId3"/>
    <p:sldId id="4820" r:id="rId4"/>
    <p:sldId id="4821" r:id="rId5"/>
    <p:sldId id="4822" r:id="rId6"/>
    <p:sldId id="4823" r:id="rId7"/>
    <p:sldId id="4824" r:id="rId8"/>
    <p:sldId id="4825" r:id="rId9"/>
    <p:sldId id="4826" r:id="rId10"/>
    <p:sldId id="4827" r:id="rId11"/>
    <p:sldId id="4805" r:id="rId12"/>
    <p:sldId id="4818" r:id="rId13"/>
    <p:sldId id="4819" r:id="rId14"/>
    <p:sldId id="3803" r:id="rId15"/>
    <p:sldId id="4828" r:id="rId16"/>
    <p:sldId id="4829" r:id="rId17"/>
    <p:sldId id="4830" r:id="rId18"/>
    <p:sldId id="4831" r:id="rId19"/>
    <p:sldId id="4832" r:id="rId20"/>
    <p:sldId id="4833" r:id="rId21"/>
    <p:sldId id="4834" r:id="rId22"/>
    <p:sldId id="4835" r:id="rId23"/>
    <p:sldId id="4836" r:id="rId24"/>
    <p:sldId id="4837" r:id="rId25"/>
    <p:sldId id="4838" r:id="rId26"/>
    <p:sldId id="4841" r:id="rId27"/>
    <p:sldId id="4839" r:id="rId28"/>
    <p:sldId id="4840" r:id="rId29"/>
    <p:sldId id="3796" r:id="rId30"/>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4D93D9"/>
    <a:srgbClr val="558ED5"/>
    <a:srgbClr val="F4F8FB"/>
    <a:srgbClr val="0070C0"/>
    <a:srgbClr val="ACD7CA"/>
    <a:srgbClr val="D4EAF3"/>
    <a:srgbClr val="07A922"/>
    <a:srgbClr val="E9BE51"/>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3447" autoAdjust="0"/>
  </p:normalViewPr>
  <p:slideViewPr>
    <p:cSldViewPr>
      <p:cViewPr varScale="1">
        <p:scale>
          <a:sx n="111" d="100"/>
          <a:sy n="111" d="100"/>
        </p:scale>
        <p:origin x="420"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2" Type="http://schemas.openxmlformats.org/officeDocument/2006/relationships/oleObject" Target="file:///\\SPPEAPP00023\Inversiones\Mesa%20de%20Inversiones\Bottom-Up\2%20Proceso%20de%20Inversi&#243;n%20Renta%20Fija\Corporates%20-%20Emisiones\Cr&#233;dito%20-%20BU\3.%20ESG\9.%20ESG%20Manager%20-%20MSCI\2.%20Reportes\Medici&#243;n%20Huella%20de%20Carbono\Reporte%20de%20la%20Huella(Regi&#243;n)%20con%20Proxies%20-%20202512.xlsm"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file:///\\sppeapp00023\Inversiones\Mesa%20de%20Inversiones\Bottom-Up\2%20Proceso%20de%20Inversi&#243;n%20Renta%20Fija\Corporates%20-%20Emisiones\Cr&#233;dito%20-%20BU\3.%20ESG\9.%20ESG%20Manager%20-%20MSCI\2.%20Reportes\Medici&#243;n%20Huella%20de%20Carbono\Reporte%20de%20la%20Huella(Regi&#243;n)%20con%20Proxies%20-%20202606.xlsm"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2" Type="http://schemas.openxmlformats.org/officeDocument/2006/relationships/oleObject" Target="file:///\\sppeapp00023\Inversiones\Mesa%20de%20Inversiones\Bottom-Up\2%20Proceso%20de%20Inversi&#243;n%20Renta%20Fija\Corporates%20-%20Emisiones\Cr&#233;dito%20-%20BU\3.%20ESG\9.%20ESG%20Manager%20-%20MSCI\2.%20Reportes\Medici&#243;n%20Huella%20de%20Carbono\Reporte%20de%20la%20Huella(Regi&#243;n)%20con%20Proxies%20-%20202606.xlsm" TargetMode="External"/><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2" Type="http://schemas.openxmlformats.org/officeDocument/2006/relationships/oleObject" Target="file:///\\sppeapp00023\Inversiones\Mesa%20de%20Inversiones\Bottom-Up\2%20Proceso%20de%20Inversi&#243;n%20Renta%20Fija\Corporates%20-%20Emisiones\Cr&#233;dito%20-%20BU\3.%20ESG\9.%20ESG%20Manager%20-%20MSCI\2.%20Reportes\Medici&#243;n%20Huella%20de%20Carbono\Reporte%20de%20la%20Huella(Regi&#243;n)%20con%20Proxies%20-%20202606.xlsm" TargetMode="External"/><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package" Target="../embeddings/Microsoft_Excel_Worksheet.xlsx"/><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file:///\\sppeapp00023\Inversiones\Mesa%20de%20Inversiones\Bottom-Up\2%20Proceso%20de%20Inversi&#243;n%20Renta%20Fija\Corporates%20-%20Emisiones\Cr&#233;dito%20-%20BU\3.%20ESG\9.%20ESG%20Manager%20-%20MSCI\2.%20Reportes\Medici&#243;n%20Huella%20de%20Carbono\Reporte%20de%20la%20Huella(Regi&#243;n)%20con%20Proxies%20-%20202606.xlsm"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2" Type="http://schemas.openxmlformats.org/officeDocument/2006/relationships/oleObject" Target="file:///\\SPPEAPP00023\Inversiones\Mesa%20de%20Inversiones\Bottom-Up\Franco\Reporte%20de%20la%20Huella(Regi&#243;n)%20con%20Proxies%20-%20semestral.xlsm" TargetMode="External"/><Relationship Id="rId1" Type="http://schemas.openxmlformats.org/officeDocument/2006/relationships/themeOverride" Target="../theme/themeOverride7.xml"/></Relationships>
</file>

<file path=ppt/charts/_rels/chart8.xml.rels><?xml version="1.0" encoding="UTF-8" standalone="yes"?>
<Relationships xmlns="http://schemas.openxmlformats.org/package/2006/relationships"><Relationship Id="rId2" Type="http://schemas.openxmlformats.org/officeDocument/2006/relationships/oleObject" Target="file:///\\SPPEAPP00023\Inversiones\Mesa%20de%20Inversiones\Bottom-Up\Franco\Reporte%20de%20la%20Huella(Regi&#243;n)%20con%20Proxies%20-%20semestral.xlsm" TargetMode="External"/><Relationship Id="rId1" Type="http://schemas.openxmlformats.org/officeDocument/2006/relationships/themeOverride" Target="../theme/themeOverride8.xml"/></Relationships>
</file>

<file path=ppt/charts/_rels/chart9.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9.xm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2.xlsx"/></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Microsoft_Excel_Worksheet3.xlsx"/><Relationship Id="rId4" Type="http://schemas.openxmlformats.org/officeDocument/2006/relationships/themeOverride" Target="../theme/themeOverride11.xml"/></Relationships>
</file>

<file path=ppt/charts/_rels/chartEx2.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Microsoft_Excel_Worksheet4.xlsx"/><Relationship Id="rId4" Type="http://schemas.openxmlformats.org/officeDocument/2006/relationships/themeOverride" Target="../theme/themeOverride12.xml"/></Relationships>
</file>

<file path=ppt/charts/_rels/chartEx3.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package" Target="../embeddings/Microsoft_Excel_Worksheet5.xlsx"/><Relationship Id="rId4" Type="http://schemas.openxmlformats.org/officeDocument/2006/relationships/themeOverride" Target="../theme/themeOverrid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barChart>
        <c:barDir val="col"/>
        <c:grouping val="stacked"/>
        <c:varyColors val="0"/>
        <c:ser>
          <c:idx val="0"/>
          <c:order val="0"/>
          <c:tx>
            <c:strRef>
              <c:f>Presentacion!$AF$97</c:f>
              <c:strCache>
                <c:ptCount val="1"/>
                <c:pt idx="0">
                  <c:v>Perú</c:v>
                </c:pt>
              </c:strCache>
            </c:strRef>
          </c:tx>
          <c:spPr>
            <a:solidFill>
              <a:schemeClr val="accent1"/>
            </a:solidFill>
            <a:ln>
              <a:noFill/>
            </a:ln>
            <a:effectLst/>
          </c:spPr>
          <c:invertIfNegative val="0"/>
          <c:dPt>
            <c:idx val="0"/>
            <c:invertIfNegative val="0"/>
            <c:bubble3D val="0"/>
            <c:spPr>
              <a:solidFill>
                <a:srgbClr val="3494BA"/>
              </a:solidFill>
              <a:ln>
                <a:noFill/>
              </a:ln>
              <a:effectLst/>
            </c:spPr>
            <c:extLst>
              <c:ext xmlns:c16="http://schemas.microsoft.com/office/drawing/2014/chart" uri="{C3380CC4-5D6E-409C-BE32-E72D297353CC}">
                <c16:uniqueId val="{00000000-5DA6-40B8-9050-6E987810B2F4}"/>
              </c:ext>
            </c:extLst>
          </c:dPt>
          <c:dLbls>
            <c:spPr>
              <a:noFill/>
              <a:ln>
                <a:noFill/>
              </a:ln>
              <a:effectLst/>
            </c:spPr>
            <c:txPr>
              <a:bodyPr wrap="square" lIns="38100" tIns="19050" rIns="38100" bIns="19050" anchor="ctr">
                <a:spAutoFit/>
              </a:bodyPr>
              <a:lstStyle/>
              <a:p>
                <a:pPr>
                  <a:defRPr sz="900">
                    <a:solidFill>
                      <a:schemeClr val="bg1"/>
                    </a:solidFill>
                  </a:defRPr>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numRef>
              <c:f>Presentacion!$AD$79</c:f>
              <c:numCache>
                <c:formatCode>mmm\-yy</c:formatCode>
                <c:ptCount val="1"/>
                <c:pt idx="0">
                  <c:v>45992</c:v>
                </c:pt>
              </c:numCache>
            </c:numRef>
          </c:cat>
          <c:val>
            <c:numRef>
              <c:f>Presentacion!$AG$97</c:f>
              <c:numCache>
                <c:formatCode>_(* #,##0.00_);_(* \(#,##0.00\);_(* "-"??_);_(@_)</c:formatCode>
                <c:ptCount val="1"/>
                <c:pt idx="0">
                  <c:v>501921.64739597251</c:v>
                </c:pt>
              </c:numCache>
            </c:numRef>
          </c:val>
          <c:extLst>
            <c:ext xmlns:c16="http://schemas.microsoft.com/office/drawing/2014/chart" uri="{C3380CC4-5D6E-409C-BE32-E72D297353CC}">
              <c16:uniqueId val="{00000000-FC84-4AF1-B79F-BDFE5694F71F}"/>
            </c:ext>
          </c:extLst>
        </c:ser>
        <c:ser>
          <c:idx val="1"/>
          <c:order val="1"/>
          <c:tx>
            <c:strRef>
              <c:f>Presentacion!$AF$98</c:f>
              <c:strCache>
                <c:ptCount val="1"/>
                <c:pt idx="0">
                  <c:v>Brasil</c:v>
                </c:pt>
              </c:strCache>
            </c:strRef>
          </c:tx>
          <c:spPr>
            <a:solidFill>
              <a:srgbClr val="00AECB"/>
            </a:solidFill>
            <a:ln>
              <a:noFill/>
            </a:ln>
            <a:effectLst/>
          </c:spPr>
          <c:invertIfNegative val="0"/>
          <c:dLbls>
            <c:dLbl>
              <c:idx val="0"/>
              <c:layout>
                <c:manualLayout>
                  <c:x val="0"/>
                  <c:y val="8.7429436871816046E-3"/>
                </c:manualLayout>
              </c:layout>
              <c:dLblPos val="ct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1-FC84-4AF1-B79F-BDFE5694F71F}"/>
                </c:ext>
              </c:extLst>
            </c:dLbl>
            <c:spPr>
              <a:noFill/>
              <a:ln>
                <a:noFill/>
              </a:ln>
              <a:effectLst/>
            </c:spPr>
            <c:txPr>
              <a:bodyPr wrap="square" lIns="38100" tIns="19050" rIns="38100" bIns="19050" anchor="ctr">
                <a:spAutoFit/>
              </a:bodyPr>
              <a:lstStyle/>
              <a:p>
                <a:pPr>
                  <a:defRPr sz="400"/>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numRef>
              <c:f>Presentacion!$AD$79</c:f>
              <c:numCache>
                <c:formatCode>mmm\-yy</c:formatCode>
                <c:ptCount val="1"/>
                <c:pt idx="0">
                  <c:v>45992</c:v>
                </c:pt>
              </c:numCache>
            </c:numRef>
          </c:cat>
          <c:val>
            <c:numRef>
              <c:f>Presentacion!$AG$98</c:f>
              <c:numCache>
                <c:formatCode>_(* #,##0.00_);_(* \(#,##0.00\);_(* "-"??_);_(@_)</c:formatCode>
                <c:ptCount val="1"/>
                <c:pt idx="0">
                  <c:v>44492.744115973248</c:v>
                </c:pt>
              </c:numCache>
            </c:numRef>
          </c:val>
          <c:extLst>
            <c:ext xmlns:c16="http://schemas.microsoft.com/office/drawing/2014/chart" uri="{C3380CC4-5D6E-409C-BE32-E72D297353CC}">
              <c16:uniqueId val="{00000002-FC84-4AF1-B79F-BDFE5694F71F}"/>
            </c:ext>
          </c:extLst>
        </c:ser>
        <c:ser>
          <c:idx val="2"/>
          <c:order val="2"/>
          <c:tx>
            <c:strRef>
              <c:f>Presentacion!$AF$99</c:f>
              <c:strCache>
                <c:ptCount val="1"/>
                <c:pt idx="0">
                  <c:v>México</c:v>
                </c:pt>
              </c:strCache>
            </c:strRef>
          </c:tx>
          <c:spPr>
            <a:solidFill>
              <a:srgbClr val="00C9EA"/>
            </a:solidFill>
            <a:ln>
              <a:noFill/>
            </a:ln>
            <a:effectLst/>
          </c:spPr>
          <c:invertIfNegative val="0"/>
          <c:dLbls>
            <c:spPr>
              <a:noFill/>
              <a:ln>
                <a:noFill/>
              </a:ln>
              <a:effectLst/>
            </c:spPr>
            <c:txPr>
              <a:bodyPr wrap="square" lIns="38100" tIns="19050" rIns="38100" bIns="19050" anchor="ctr">
                <a:spAutoFit/>
              </a:bodyPr>
              <a:lstStyle/>
              <a:p>
                <a:pPr>
                  <a:defRPr sz="700"/>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numRef>
              <c:f>Presentacion!$AD$79</c:f>
              <c:numCache>
                <c:formatCode>mmm\-yy</c:formatCode>
                <c:ptCount val="1"/>
                <c:pt idx="0">
                  <c:v>45992</c:v>
                </c:pt>
              </c:numCache>
            </c:numRef>
          </c:cat>
          <c:val>
            <c:numRef>
              <c:f>Presentacion!$AG$99</c:f>
              <c:numCache>
                <c:formatCode>_(* #,##0.00_);_(* \(#,##0.00\);_(* "-"??_);_(@_)</c:formatCode>
                <c:ptCount val="1"/>
                <c:pt idx="0">
                  <c:v>13119.422873777647</c:v>
                </c:pt>
              </c:numCache>
            </c:numRef>
          </c:val>
          <c:extLst>
            <c:ext xmlns:c16="http://schemas.microsoft.com/office/drawing/2014/chart" uri="{C3380CC4-5D6E-409C-BE32-E72D297353CC}">
              <c16:uniqueId val="{00000003-FC84-4AF1-B79F-BDFE5694F71F}"/>
            </c:ext>
          </c:extLst>
        </c:ser>
        <c:ser>
          <c:idx val="3"/>
          <c:order val="3"/>
          <c:tx>
            <c:strRef>
              <c:f>Presentacion!$AF$100</c:f>
              <c:strCache>
                <c:ptCount val="1"/>
                <c:pt idx="0">
                  <c:v>Chile</c:v>
                </c:pt>
              </c:strCache>
            </c:strRef>
          </c:tx>
          <c:spPr>
            <a:solidFill>
              <a:srgbClr val="61E8FF"/>
            </a:solidFill>
            <a:ln>
              <a:noFill/>
            </a:ln>
            <a:effectLst/>
          </c:spPr>
          <c:invertIfNegative val="0"/>
          <c:dLbls>
            <c:dLbl>
              <c:idx val="0"/>
              <c:layout>
                <c:manualLayout>
                  <c:x val="2.5070284180107858E-3"/>
                  <c:y val="-8.998563120663855E-3"/>
                </c:manualLayout>
              </c:layout>
              <c:tx>
                <c:rich>
                  <a:bodyPr wrap="square" lIns="38100" tIns="19050" rIns="38100" bIns="19050" anchor="ctr">
                    <a:noAutofit/>
                  </a:bodyPr>
                  <a:lstStyle/>
                  <a:p>
                    <a:pPr>
                      <a:defRPr sz="400"/>
                    </a:pPr>
                    <a:r>
                      <a:rPr lang="en-US" sz="400"/>
                      <a:t>Colombia</a:t>
                    </a:r>
                  </a:p>
                </c:rich>
              </c:tx>
              <c:spPr>
                <a:noFill/>
                <a:ln>
                  <a:noFill/>
                </a:ln>
                <a:effectLst/>
              </c:spPr>
              <c:dLblPos val="ctr"/>
              <c:showLegendKey val="0"/>
              <c:showVal val="0"/>
              <c:showCatName val="1"/>
              <c:showSerName val="1"/>
              <c:showPercent val="0"/>
              <c:showBubbleSize val="0"/>
              <c:extLst>
                <c:ext xmlns:c15="http://schemas.microsoft.com/office/drawing/2012/chart" uri="{CE6537A1-D6FC-4f65-9D91-7224C49458BB}">
                  <c15:layout>
                    <c:manualLayout>
                      <c:w val="0.27342693006535751"/>
                      <c:h val="0.10644881081938963"/>
                    </c:manualLayout>
                  </c15:layout>
                  <c15:showDataLabelsRange val="0"/>
                </c:ext>
                <c:ext xmlns:c16="http://schemas.microsoft.com/office/drawing/2014/chart" uri="{C3380CC4-5D6E-409C-BE32-E72D297353CC}">
                  <c16:uniqueId val="{00000004-FC84-4AF1-B79F-BDFE5694F71F}"/>
                </c:ext>
              </c:extLst>
            </c:dLbl>
            <c:spPr>
              <a:noFill/>
              <a:ln>
                <a:noFill/>
              </a:ln>
              <a:effectLst/>
            </c:spPr>
            <c:txPr>
              <a:bodyPr wrap="square" lIns="38100" tIns="19050" rIns="38100" bIns="19050" anchor="ctr">
                <a:spAutoFit/>
              </a:bodyPr>
              <a:lstStyle/>
              <a:p>
                <a:pPr>
                  <a:defRPr sz="400"/>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numRef>
              <c:f>Presentacion!$AD$79</c:f>
              <c:numCache>
                <c:formatCode>mmm\-yy</c:formatCode>
                <c:ptCount val="1"/>
                <c:pt idx="0">
                  <c:v>45992</c:v>
                </c:pt>
              </c:numCache>
            </c:numRef>
          </c:cat>
          <c:val>
            <c:numRef>
              <c:f>Presentacion!$AG$100</c:f>
              <c:numCache>
                <c:formatCode>_(* #,##0.00_);_(* \(#,##0.00\);_(* "-"??_);_(@_)</c:formatCode>
                <c:ptCount val="1"/>
                <c:pt idx="0">
                  <c:v>11290.34338358511</c:v>
                </c:pt>
              </c:numCache>
            </c:numRef>
          </c:val>
          <c:extLst>
            <c:ext xmlns:c16="http://schemas.microsoft.com/office/drawing/2014/chart" uri="{C3380CC4-5D6E-409C-BE32-E72D297353CC}">
              <c16:uniqueId val="{00000005-FC84-4AF1-B79F-BDFE5694F71F}"/>
            </c:ext>
          </c:extLst>
        </c:ser>
        <c:ser>
          <c:idx val="4"/>
          <c:order val="4"/>
          <c:tx>
            <c:strRef>
              <c:f>Presentacion!$AF$101</c:f>
              <c:strCache>
                <c:ptCount val="1"/>
                <c:pt idx="0">
                  <c:v>Otros</c:v>
                </c:pt>
              </c:strCache>
            </c:strRef>
          </c:tx>
          <c:spPr>
            <a:solidFill>
              <a:srgbClr val="C5F7FF"/>
            </a:solidFill>
            <a:ln>
              <a:noFill/>
            </a:ln>
            <a:effectLst/>
          </c:spPr>
          <c:invertIfNegative val="0"/>
          <c:dLbls>
            <c:spPr>
              <a:noFill/>
              <a:ln>
                <a:noFill/>
              </a:ln>
              <a:effectLst/>
            </c:spPr>
            <c:txPr>
              <a:bodyPr wrap="square" lIns="38100" tIns="19050" rIns="38100" bIns="19050" anchor="ctr">
                <a:spAutoFit/>
              </a:bodyPr>
              <a:lstStyle/>
              <a:p>
                <a:pPr>
                  <a:defRPr sz="500"/>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1"/>
              </c:ext>
            </c:extLst>
          </c:dLbls>
          <c:cat>
            <c:numRef>
              <c:f>Presentacion!$AD$79</c:f>
              <c:numCache>
                <c:formatCode>mmm\-yy</c:formatCode>
                <c:ptCount val="1"/>
                <c:pt idx="0">
                  <c:v>45992</c:v>
                </c:pt>
              </c:numCache>
            </c:numRef>
          </c:cat>
          <c:val>
            <c:numRef>
              <c:f>Presentacion!$AG$101</c:f>
              <c:numCache>
                <c:formatCode>_(* #,##0.00_);_(* \(#,##0.00\);_(* "-"??_);_(@_)</c:formatCode>
                <c:ptCount val="1"/>
                <c:pt idx="0">
                  <c:v>30613.845746084349</c:v>
                </c:pt>
              </c:numCache>
            </c:numRef>
          </c:val>
          <c:extLst>
            <c:ext xmlns:c16="http://schemas.microsoft.com/office/drawing/2014/chart" uri="{C3380CC4-5D6E-409C-BE32-E72D297353CC}">
              <c16:uniqueId val="{00000006-FC84-4AF1-B79F-BDFE5694F71F}"/>
            </c:ext>
          </c:extLst>
        </c:ser>
        <c:dLbls>
          <c:dLblPos val="ctr"/>
          <c:showLegendKey val="0"/>
          <c:showVal val="1"/>
          <c:showCatName val="0"/>
          <c:showSerName val="0"/>
          <c:showPercent val="0"/>
          <c:showBubbleSize val="0"/>
        </c:dLbls>
        <c:gapWidth val="219"/>
        <c:overlap val="100"/>
        <c:axId val="1038796671"/>
        <c:axId val="11312079"/>
      </c:barChart>
      <c:dateAx>
        <c:axId val="1038796671"/>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002060"/>
                </a:solidFill>
                <a:latin typeface="Trebuchet MS" panose="020B0603020202020204" pitchFamily="34" charset="0"/>
                <a:ea typeface="+mn-ea"/>
                <a:cs typeface="+mn-cs"/>
              </a:defRPr>
            </a:pPr>
            <a:endParaRPr lang="es-PE"/>
          </a:p>
        </c:txPr>
        <c:crossAx val="11312079"/>
        <c:crosses val="autoZero"/>
        <c:auto val="1"/>
        <c:lblOffset val="100"/>
        <c:baseTimeUnit val="days"/>
      </c:dateAx>
      <c:valAx>
        <c:axId val="11312079"/>
        <c:scaling>
          <c:orientation val="minMax"/>
          <c:max val="600000"/>
          <c:min val="0"/>
        </c:scaling>
        <c:delete val="1"/>
        <c:axPos val="l"/>
        <c:numFmt formatCode="_(* #,##0.00_);_(* \(#,##0.00\);_(* &quot;-&quot;??_);_(@_)" sourceLinked="1"/>
        <c:majorTickMark val="out"/>
        <c:minorTickMark val="none"/>
        <c:tickLblPos val="nextTo"/>
        <c:crossAx val="1038796671"/>
        <c:crosses val="autoZero"/>
        <c:crossBetween val="between"/>
      </c:valAx>
    </c:plotArea>
    <c:plotVisOnly val="1"/>
    <c:dispBlanksAs val="gap"/>
    <c:showDLblsOverMax val="0"/>
  </c:chart>
  <c:txPr>
    <a:bodyPr/>
    <a:lstStyle/>
    <a:p>
      <a:pPr>
        <a:defRPr>
          <a:solidFill>
            <a:srgbClr val="002060"/>
          </a:solidFill>
          <a:latin typeface="Trebuchet MS" panose="020B0603020202020204" pitchFamily="34" charset="0"/>
        </a:defRPr>
      </a:pPr>
      <a:endParaRPr lang="es-PE"/>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barChart>
        <c:barDir val="col"/>
        <c:grouping val="stacked"/>
        <c:varyColors val="0"/>
        <c:ser>
          <c:idx val="0"/>
          <c:order val="0"/>
          <c:tx>
            <c:strRef>
              <c:f>Presentacion!$AF$70</c:f>
              <c:strCache>
                <c:ptCount val="1"/>
                <c:pt idx="0">
                  <c:v>Perú</c:v>
                </c:pt>
              </c:strCache>
            </c:strRef>
          </c:tx>
          <c:spPr>
            <a:solidFill>
              <a:schemeClr val="accent1"/>
            </a:solidFill>
            <a:ln>
              <a:noFill/>
            </a:ln>
            <a:effectLst/>
          </c:spPr>
          <c:invertIfNegative val="0"/>
          <c:dLbls>
            <c:dLbl>
              <c:idx val="0"/>
              <c:tx>
                <c:rich>
                  <a:bodyPr/>
                  <a:lstStyle/>
                  <a:p>
                    <a:fld id="{92AFCDA6-8E1B-404F-9E3D-FF7CAC1A9E6F}"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7FB7-4D85-8D0B-1A73C2E4E390}"/>
                </c:ext>
              </c:extLst>
            </c:dLbl>
            <c:spPr>
              <a:noFill/>
              <a:ln>
                <a:noFill/>
              </a:ln>
              <a:effectLst/>
            </c:spPr>
            <c:txPr>
              <a:bodyPr wrap="square" lIns="38100" tIns="19050" rIns="38100" bIns="19050" anchor="ctr">
                <a:spAutoFit/>
              </a:bodyPr>
              <a:lstStyle/>
              <a:p>
                <a:pPr>
                  <a:defRPr sz="900">
                    <a:solidFill>
                      <a:schemeClr val="bg1"/>
                    </a:solidFill>
                  </a:defRPr>
                </a:pPr>
                <a:endParaRPr lang="es-PE"/>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ext>
            </c:extLst>
          </c:dLbls>
          <c:cat>
            <c:strLit>
              <c:ptCount val="1"/>
              <c:pt idx="0">
                <c:v>Jun-26</c:v>
              </c:pt>
            </c:strLit>
          </c:cat>
          <c:val>
            <c:numRef>
              <c:f>Presentacion!$AG$70</c:f>
              <c:numCache>
                <c:formatCode>_-* #,##0_-;\-* #,##0_-;_-* "-"??_-;_-@_-</c:formatCode>
                <c:ptCount val="1"/>
                <c:pt idx="0">
                  <c:v>358450.12403448788</c:v>
                </c:pt>
              </c:numCache>
            </c:numRef>
          </c:val>
          <c:extLst>
            <c:ext xmlns:c15="http://schemas.microsoft.com/office/drawing/2012/chart" uri="{02D57815-91ED-43cb-92C2-25804820EDAC}">
              <c15:datalabelsRange>
                <c15:f>Presentacion!$AF$97:$AF$102</c15:f>
                <c15:dlblRangeCache>
                  <c:ptCount val="6"/>
                  <c:pt idx="0">
                    <c:v>Perú</c:v>
                  </c:pt>
                  <c:pt idx="1">
                    <c:v>Brasil</c:v>
                  </c:pt>
                  <c:pt idx="2">
                    <c:v>Colombia</c:v>
                  </c:pt>
                  <c:pt idx="3">
                    <c:v>México</c:v>
                  </c:pt>
                  <c:pt idx="4">
                    <c:v>Chile</c:v>
                  </c:pt>
                  <c:pt idx="5">
                    <c:v>Sudáfrica</c:v>
                  </c:pt>
                </c15:dlblRangeCache>
              </c15:datalabelsRange>
            </c:ext>
            <c:ext xmlns:c16="http://schemas.microsoft.com/office/drawing/2014/chart" uri="{C3380CC4-5D6E-409C-BE32-E72D297353CC}">
              <c16:uniqueId val="{00000001-7FB7-4D85-8D0B-1A73C2E4E390}"/>
            </c:ext>
          </c:extLst>
        </c:ser>
        <c:ser>
          <c:idx val="1"/>
          <c:order val="1"/>
          <c:tx>
            <c:strRef>
              <c:f>Presentacion!$AF$71</c:f>
              <c:strCache>
                <c:ptCount val="1"/>
                <c:pt idx="0">
                  <c:v>EEUU</c:v>
                </c:pt>
              </c:strCache>
            </c:strRef>
          </c:tx>
          <c:spPr>
            <a:solidFill>
              <a:srgbClr val="00AECB"/>
            </a:solidFill>
            <a:ln>
              <a:noFill/>
            </a:ln>
            <a:effectLst/>
          </c:spPr>
          <c:invertIfNegative val="0"/>
          <c:dLbls>
            <c:dLbl>
              <c:idx val="0"/>
              <c:tx>
                <c:rich>
                  <a:bodyPr/>
                  <a:lstStyle/>
                  <a:p>
                    <a:fld id="{1EF5497B-746C-404A-B727-521BF7E360D1}"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7FB7-4D85-8D0B-1A73C2E4E390}"/>
                </c:ext>
              </c:extLst>
            </c:dLbl>
            <c:spPr>
              <a:noFill/>
              <a:ln>
                <a:noFill/>
              </a:ln>
              <a:effectLst/>
            </c:spPr>
            <c:txPr>
              <a:bodyPr wrap="square" lIns="38100" tIns="19050" rIns="38100" bIns="19050" anchor="ctr">
                <a:spAutoFit/>
              </a:bodyPr>
              <a:lstStyle/>
              <a:p>
                <a:pPr>
                  <a:defRPr sz="500"/>
                </a:pPr>
                <a:endParaRPr lang="es-PE"/>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ext>
            </c:extLst>
          </c:dLbls>
          <c:cat>
            <c:strLit>
              <c:ptCount val="1"/>
              <c:pt idx="0">
                <c:v>Jun-26</c:v>
              </c:pt>
            </c:strLit>
          </c:cat>
          <c:val>
            <c:numRef>
              <c:f>Presentacion!$AG$71</c:f>
              <c:numCache>
                <c:formatCode>_-* #,##0_-;\-* #,##0_-;_-* "-"??_-;_-@_-</c:formatCode>
                <c:ptCount val="1"/>
                <c:pt idx="0">
                  <c:v>35754.026138894318</c:v>
                </c:pt>
              </c:numCache>
            </c:numRef>
          </c:val>
          <c:extLst>
            <c:ext xmlns:c15="http://schemas.microsoft.com/office/drawing/2012/chart" uri="{02D57815-91ED-43cb-92C2-25804820EDAC}">
              <c15:datalabelsRange>
                <c15:f>Presentacion!$AF$98</c15:f>
                <c15:dlblRangeCache>
                  <c:ptCount val="1"/>
                  <c:pt idx="0">
                    <c:v>Brasil</c:v>
                  </c:pt>
                </c15:dlblRangeCache>
              </c15:datalabelsRange>
            </c:ext>
            <c:ext xmlns:c16="http://schemas.microsoft.com/office/drawing/2014/chart" uri="{C3380CC4-5D6E-409C-BE32-E72D297353CC}">
              <c16:uniqueId val="{00000003-7FB7-4D85-8D0B-1A73C2E4E390}"/>
            </c:ext>
          </c:extLst>
        </c:ser>
        <c:ser>
          <c:idx val="2"/>
          <c:order val="2"/>
          <c:tx>
            <c:strRef>
              <c:f>Presentacion!$AF$72</c:f>
              <c:strCache>
                <c:ptCount val="1"/>
                <c:pt idx="0">
                  <c:v>Brasil</c:v>
                </c:pt>
              </c:strCache>
            </c:strRef>
          </c:tx>
          <c:spPr>
            <a:solidFill>
              <a:srgbClr val="00C9EA"/>
            </a:solidFill>
            <a:ln>
              <a:noFill/>
            </a:ln>
            <a:effectLst/>
          </c:spPr>
          <c:invertIfNegative val="0"/>
          <c:dLbls>
            <c:delete val="1"/>
          </c:dLbls>
          <c:cat>
            <c:strLit>
              <c:ptCount val="1"/>
              <c:pt idx="0">
                <c:v>Jun-26</c:v>
              </c:pt>
            </c:strLit>
          </c:cat>
          <c:val>
            <c:numRef>
              <c:f>Presentacion!$AG$72</c:f>
              <c:numCache>
                <c:formatCode>_-* #,##0_-;\-* #,##0_-;_-* "-"??_-;_-@_-</c:formatCode>
                <c:ptCount val="1"/>
                <c:pt idx="0">
                  <c:v>11134.793415603659</c:v>
                </c:pt>
              </c:numCache>
            </c:numRef>
          </c:val>
          <c:extLst>
            <c:ext xmlns:c16="http://schemas.microsoft.com/office/drawing/2014/chart" uri="{C3380CC4-5D6E-409C-BE32-E72D297353CC}">
              <c16:uniqueId val="{00000004-7FB7-4D85-8D0B-1A73C2E4E390}"/>
            </c:ext>
          </c:extLst>
        </c:ser>
        <c:ser>
          <c:idx val="3"/>
          <c:order val="3"/>
          <c:tx>
            <c:strRef>
              <c:f>Presentacion!$AF$73</c:f>
              <c:strCache>
                <c:ptCount val="1"/>
                <c:pt idx="0">
                  <c:v>Colombia</c:v>
                </c:pt>
              </c:strCache>
            </c:strRef>
          </c:tx>
          <c:spPr>
            <a:solidFill>
              <a:srgbClr val="61E8FF"/>
            </a:solidFill>
            <a:ln>
              <a:noFill/>
            </a:ln>
            <a:effectLst/>
          </c:spPr>
          <c:invertIfNegative val="0"/>
          <c:dLbls>
            <c:delete val="1"/>
          </c:dLbls>
          <c:cat>
            <c:strLit>
              <c:ptCount val="1"/>
              <c:pt idx="0">
                <c:v>Jun-26</c:v>
              </c:pt>
            </c:strLit>
          </c:cat>
          <c:val>
            <c:numRef>
              <c:f>Presentacion!$AG$73</c:f>
              <c:numCache>
                <c:formatCode>_-* #,##0_-;\-* #,##0_-;_-* "-"??_-;_-@_-</c:formatCode>
                <c:ptCount val="1"/>
                <c:pt idx="0">
                  <c:v>8002.5234142958961</c:v>
                </c:pt>
              </c:numCache>
            </c:numRef>
          </c:val>
          <c:extLst>
            <c:ext xmlns:c16="http://schemas.microsoft.com/office/drawing/2014/chart" uri="{C3380CC4-5D6E-409C-BE32-E72D297353CC}">
              <c16:uniqueId val="{00000005-7FB7-4D85-8D0B-1A73C2E4E390}"/>
            </c:ext>
          </c:extLst>
        </c:ser>
        <c:ser>
          <c:idx val="4"/>
          <c:order val="4"/>
          <c:tx>
            <c:strRef>
              <c:f>Presentacion!$AF$74</c:f>
              <c:strCache>
                <c:ptCount val="1"/>
                <c:pt idx="0">
                  <c:v>Otros</c:v>
                </c:pt>
              </c:strCache>
            </c:strRef>
          </c:tx>
          <c:spPr>
            <a:solidFill>
              <a:srgbClr val="C5F7FF"/>
            </a:solidFill>
            <a:ln>
              <a:noFill/>
            </a:ln>
            <a:effectLst/>
          </c:spPr>
          <c:invertIfNegative val="0"/>
          <c:dLbls>
            <c:delete val="1"/>
          </c:dLbls>
          <c:cat>
            <c:strLit>
              <c:ptCount val="1"/>
              <c:pt idx="0">
                <c:v>Jun-26</c:v>
              </c:pt>
            </c:strLit>
          </c:cat>
          <c:val>
            <c:numRef>
              <c:f>Presentacion!$AG$74</c:f>
              <c:numCache>
                <c:formatCode>_-* #,##0_-;\-* #,##0_-;_-* "-"??_-;_-@_-</c:formatCode>
                <c:ptCount val="1"/>
                <c:pt idx="0">
                  <c:v>17237.087415729649</c:v>
                </c:pt>
              </c:numCache>
            </c:numRef>
          </c:val>
          <c:extLst>
            <c:ext xmlns:c16="http://schemas.microsoft.com/office/drawing/2014/chart" uri="{C3380CC4-5D6E-409C-BE32-E72D297353CC}">
              <c16:uniqueId val="{00000006-7FB7-4D85-8D0B-1A73C2E4E390}"/>
            </c:ext>
          </c:extLst>
        </c:ser>
        <c:dLbls>
          <c:dLblPos val="ctr"/>
          <c:showLegendKey val="0"/>
          <c:showVal val="1"/>
          <c:showCatName val="0"/>
          <c:showSerName val="0"/>
          <c:showPercent val="0"/>
          <c:showBubbleSize val="0"/>
        </c:dLbls>
        <c:gapWidth val="219"/>
        <c:overlap val="100"/>
        <c:axId val="1038796671"/>
        <c:axId val="11312079"/>
      </c:barChart>
      <c:catAx>
        <c:axId val="10387966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002060"/>
                </a:solidFill>
                <a:latin typeface="Trebuchet MS" panose="020B0603020202020204" pitchFamily="34" charset="0"/>
                <a:ea typeface="+mn-ea"/>
                <a:cs typeface="+mn-cs"/>
              </a:defRPr>
            </a:pPr>
            <a:endParaRPr lang="es-PE"/>
          </a:p>
        </c:txPr>
        <c:crossAx val="11312079"/>
        <c:crosses val="autoZero"/>
        <c:auto val="1"/>
        <c:lblAlgn val="ctr"/>
        <c:lblOffset val="100"/>
        <c:noMultiLvlLbl val="0"/>
      </c:catAx>
      <c:valAx>
        <c:axId val="11312079"/>
        <c:scaling>
          <c:orientation val="minMax"/>
          <c:max val="600000"/>
          <c:min val="0"/>
        </c:scaling>
        <c:delete val="1"/>
        <c:axPos val="l"/>
        <c:numFmt formatCode="_-* #,##0_-;\-* #,##0_-;_-* &quot;-&quot;??_-;_-@_-" sourceLinked="1"/>
        <c:majorTickMark val="out"/>
        <c:minorTickMark val="none"/>
        <c:tickLblPos val="nextTo"/>
        <c:crossAx val="1038796671"/>
        <c:crosses val="autoZero"/>
        <c:crossBetween val="between"/>
      </c:valAx>
    </c:plotArea>
    <c:plotVisOnly val="1"/>
    <c:dispBlanksAs val="gap"/>
    <c:showDLblsOverMax val="0"/>
  </c:chart>
  <c:txPr>
    <a:bodyPr/>
    <a:lstStyle/>
    <a:p>
      <a:pPr>
        <a:defRPr>
          <a:solidFill>
            <a:srgbClr val="002060"/>
          </a:solidFill>
          <a:latin typeface="Trebuchet MS" panose="020B0603020202020204" pitchFamily="34" charset="0"/>
        </a:defRPr>
      </a:pPr>
      <a:endParaRPr lang="es-PE"/>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barChart>
        <c:barDir val="col"/>
        <c:grouping val="stacked"/>
        <c:varyColors val="0"/>
        <c:ser>
          <c:idx val="0"/>
          <c:order val="0"/>
          <c:tx>
            <c:strRef>
              <c:f>Presentacion!$AK$97</c:f>
              <c:strCache>
                <c:ptCount val="1"/>
                <c:pt idx="0">
                  <c:v>Perú</c:v>
                </c:pt>
              </c:strCache>
            </c:strRef>
          </c:tx>
          <c:spPr>
            <a:solidFill>
              <a:schemeClr val="accent1"/>
            </a:solidFill>
            <a:ln>
              <a:noFill/>
            </a:ln>
            <a:effectLst/>
          </c:spPr>
          <c:invertIfNegative val="0"/>
          <c:dLbls>
            <c:spPr>
              <a:noFill/>
              <a:ln>
                <a:noFill/>
              </a:ln>
              <a:effectLst/>
            </c:spPr>
            <c:txPr>
              <a:bodyPr wrap="square" lIns="38100" tIns="19050" rIns="38100" bIns="19050" anchor="ctr">
                <a:spAutoFit/>
              </a:bodyPr>
              <a:lstStyle/>
              <a:p>
                <a:pPr>
                  <a:defRPr sz="900">
                    <a:solidFill>
                      <a:schemeClr val="bg1"/>
                    </a:solidFill>
                  </a:defRPr>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numRef>
              <c:f>Presentacion!$AD$79</c:f>
              <c:numCache>
                <c:formatCode>mmm\-yy</c:formatCode>
                <c:ptCount val="1"/>
                <c:pt idx="0">
                  <c:v>45992</c:v>
                </c:pt>
              </c:numCache>
            </c:numRef>
          </c:cat>
          <c:val>
            <c:numRef>
              <c:f>Presentacion!$AL$97</c:f>
              <c:numCache>
                <c:formatCode>General</c:formatCode>
                <c:ptCount val="1"/>
                <c:pt idx="0">
                  <c:v>81.922696026277279</c:v>
                </c:pt>
              </c:numCache>
            </c:numRef>
          </c:val>
          <c:extLst>
            <c:ext xmlns:c16="http://schemas.microsoft.com/office/drawing/2014/chart" uri="{C3380CC4-5D6E-409C-BE32-E72D297353CC}">
              <c16:uniqueId val="{00000000-F45E-44D2-9919-15861F6DB569}"/>
            </c:ext>
          </c:extLst>
        </c:ser>
        <c:ser>
          <c:idx val="1"/>
          <c:order val="1"/>
          <c:tx>
            <c:strRef>
              <c:f>Presentacion!$AK$98</c:f>
              <c:strCache>
                <c:ptCount val="1"/>
                <c:pt idx="0">
                  <c:v>Brasil</c:v>
                </c:pt>
              </c:strCache>
            </c:strRef>
          </c:tx>
          <c:spPr>
            <a:solidFill>
              <a:srgbClr val="00AECB"/>
            </a:solidFill>
            <a:ln>
              <a:noFill/>
            </a:ln>
            <a:effectLst/>
          </c:spPr>
          <c:invertIfNegative val="0"/>
          <c:dLbls>
            <c:spPr>
              <a:noFill/>
              <a:ln>
                <a:noFill/>
              </a:ln>
              <a:effectLst/>
            </c:spPr>
            <c:txPr>
              <a:bodyPr wrap="square" lIns="38100" tIns="19050" rIns="38100" bIns="19050" anchor="ctr">
                <a:spAutoFit/>
              </a:bodyPr>
              <a:lstStyle/>
              <a:p>
                <a:pPr>
                  <a:defRPr sz="900"/>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numRef>
              <c:f>Presentacion!$AD$79</c:f>
              <c:numCache>
                <c:formatCode>mmm\-yy</c:formatCode>
                <c:ptCount val="1"/>
                <c:pt idx="0">
                  <c:v>45992</c:v>
                </c:pt>
              </c:numCache>
            </c:numRef>
          </c:cat>
          <c:val>
            <c:numRef>
              <c:f>Presentacion!$AL$98</c:f>
              <c:numCache>
                <c:formatCode>General</c:formatCode>
                <c:ptCount val="1"/>
                <c:pt idx="0">
                  <c:v>27.364061414531804</c:v>
                </c:pt>
              </c:numCache>
            </c:numRef>
          </c:val>
          <c:extLst>
            <c:ext xmlns:c16="http://schemas.microsoft.com/office/drawing/2014/chart" uri="{C3380CC4-5D6E-409C-BE32-E72D297353CC}">
              <c16:uniqueId val="{00000001-F45E-44D2-9919-15861F6DB569}"/>
            </c:ext>
          </c:extLst>
        </c:ser>
        <c:ser>
          <c:idx val="2"/>
          <c:order val="2"/>
          <c:tx>
            <c:strRef>
              <c:f>Presentacion!$AK$99</c:f>
              <c:strCache>
                <c:ptCount val="1"/>
                <c:pt idx="0">
                  <c:v>Colombia</c:v>
                </c:pt>
              </c:strCache>
            </c:strRef>
          </c:tx>
          <c:spPr>
            <a:solidFill>
              <a:srgbClr val="00C9EA"/>
            </a:solidFill>
            <a:ln>
              <a:noFill/>
            </a:ln>
            <a:effectLst/>
          </c:spPr>
          <c:invertIfNegative val="0"/>
          <c:dLbls>
            <c:dLbl>
              <c:idx val="0"/>
              <c:dLblPos val="ctr"/>
              <c:showLegendKey val="0"/>
              <c:showVal val="0"/>
              <c:showCatName val="0"/>
              <c:showSerName val="1"/>
              <c:showPercent val="0"/>
              <c:showBubbleSize val="0"/>
              <c:extLst>
                <c:ext xmlns:c15="http://schemas.microsoft.com/office/drawing/2012/chart" uri="{CE6537A1-D6FC-4f65-9D91-7224C49458BB}">
                  <c15:layout>
                    <c:manualLayout>
                      <c:w val="0.24474409717483281"/>
                      <c:h val="0.23038939276425896"/>
                    </c:manualLayout>
                  </c15:layout>
                </c:ext>
                <c:ext xmlns:c16="http://schemas.microsoft.com/office/drawing/2014/chart" uri="{C3380CC4-5D6E-409C-BE32-E72D297353CC}">
                  <c16:uniqueId val="{00000002-F45E-44D2-9919-15861F6DB569}"/>
                </c:ext>
              </c:extLst>
            </c:dLbl>
            <c:spPr>
              <a:noFill/>
              <a:ln>
                <a:noFill/>
              </a:ln>
              <a:effectLst/>
            </c:spPr>
            <c:txPr>
              <a:bodyPr wrap="square" lIns="38100" tIns="19050" rIns="38100" bIns="19050" anchor="ctr">
                <a:spAutoFit/>
              </a:bodyPr>
              <a:lstStyle/>
              <a:p>
                <a:pPr>
                  <a:defRPr sz="800"/>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numRef>
              <c:f>Presentacion!$AD$79</c:f>
              <c:numCache>
                <c:formatCode>mmm\-yy</c:formatCode>
                <c:ptCount val="1"/>
                <c:pt idx="0">
                  <c:v>45992</c:v>
                </c:pt>
              </c:numCache>
            </c:numRef>
          </c:cat>
          <c:val>
            <c:numRef>
              <c:f>Presentacion!$AL$99</c:f>
              <c:numCache>
                <c:formatCode>General</c:formatCode>
                <c:ptCount val="1"/>
                <c:pt idx="0">
                  <c:v>9.6419550552760569</c:v>
                </c:pt>
              </c:numCache>
            </c:numRef>
          </c:val>
          <c:extLst>
            <c:ext xmlns:c16="http://schemas.microsoft.com/office/drawing/2014/chart" uri="{C3380CC4-5D6E-409C-BE32-E72D297353CC}">
              <c16:uniqueId val="{00000003-F45E-44D2-9919-15861F6DB569}"/>
            </c:ext>
          </c:extLst>
        </c:ser>
        <c:ser>
          <c:idx val="3"/>
          <c:order val="3"/>
          <c:tx>
            <c:strRef>
              <c:f>Presentacion!$AK$100</c:f>
              <c:strCache>
                <c:ptCount val="1"/>
                <c:pt idx="0">
                  <c:v>México</c:v>
                </c:pt>
              </c:strCache>
            </c:strRef>
          </c:tx>
          <c:spPr>
            <a:solidFill>
              <a:srgbClr val="61E8FF"/>
            </a:solidFill>
            <a:ln>
              <a:noFill/>
            </a:ln>
            <a:effectLst/>
          </c:spPr>
          <c:invertIfNegative val="0"/>
          <c:dLbls>
            <c:dLbl>
              <c:idx val="0"/>
              <c:layout>
                <c:manualLayout>
                  <c:x val="-5.2961795108018205E-17"/>
                  <c:y val="-2.636034242153993E-2"/>
                </c:manualLayout>
              </c:layout>
              <c:dLblPos val="ct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4-F45E-44D2-9919-15861F6DB569}"/>
                </c:ext>
              </c:extLst>
            </c:dLbl>
            <c:spPr>
              <a:noFill/>
              <a:ln>
                <a:noFill/>
              </a:ln>
              <a:effectLst/>
            </c:spPr>
            <c:txPr>
              <a:bodyPr wrap="square" lIns="38100" tIns="19050" rIns="38100" bIns="19050" anchor="ctr">
                <a:spAutoFit/>
              </a:bodyPr>
              <a:lstStyle/>
              <a:p>
                <a:pPr>
                  <a:defRPr sz="700"/>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numRef>
              <c:f>Presentacion!$AD$79</c:f>
              <c:numCache>
                <c:formatCode>mmm\-yy</c:formatCode>
                <c:ptCount val="1"/>
                <c:pt idx="0">
                  <c:v>45992</c:v>
                </c:pt>
              </c:numCache>
            </c:numRef>
          </c:cat>
          <c:val>
            <c:numRef>
              <c:f>Presentacion!$AL$100</c:f>
              <c:numCache>
                <c:formatCode>General</c:formatCode>
                <c:ptCount val="1"/>
                <c:pt idx="0">
                  <c:v>6.0809029046264351</c:v>
                </c:pt>
              </c:numCache>
            </c:numRef>
          </c:val>
          <c:extLst>
            <c:ext xmlns:c16="http://schemas.microsoft.com/office/drawing/2014/chart" uri="{C3380CC4-5D6E-409C-BE32-E72D297353CC}">
              <c16:uniqueId val="{00000005-F45E-44D2-9919-15861F6DB569}"/>
            </c:ext>
          </c:extLst>
        </c:ser>
        <c:ser>
          <c:idx val="4"/>
          <c:order val="4"/>
          <c:tx>
            <c:strRef>
              <c:f>Presentacion!$AK$101</c:f>
              <c:strCache>
                <c:ptCount val="1"/>
                <c:pt idx="0">
                  <c:v>Sudáfrica</c:v>
                </c:pt>
              </c:strCache>
            </c:strRef>
          </c:tx>
          <c:spPr>
            <a:solidFill>
              <a:srgbClr val="C5F7FF"/>
            </a:solidFill>
            <a:ln>
              <a:noFill/>
            </a:ln>
            <a:effectLst/>
          </c:spPr>
          <c:invertIfNegative val="0"/>
          <c:dLbls>
            <c:delete val="1"/>
          </c:dLbls>
          <c:cat>
            <c:numRef>
              <c:f>Presentacion!$AD$79</c:f>
              <c:numCache>
                <c:formatCode>mmm\-yy</c:formatCode>
                <c:ptCount val="1"/>
                <c:pt idx="0">
                  <c:v>45992</c:v>
                </c:pt>
              </c:numCache>
            </c:numRef>
          </c:cat>
          <c:val>
            <c:numRef>
              <c:f>Presentacion!$AL$101</c:f>
              <c:numCache>
                <c:formatCode>General</c:formatCode>
                <c:ptCount val="1"/>
                <c:pt idx="0">
                  <c:v>9.2133515917769309</c:v>
                </c:pt>
              </c:numCache>
            </c:numRef>
          </c:val>
          <c:extLst>
            <c:ext xmlns:c16="http://schemas.microsoft.com/office/drawing/2014/chart" uri="{C3380CC4-5D6E-409C-BE32-E72D297353CC}">
              <c16:uniqueId val="{00000007-F45E-44D2-9919-15861F6DB569}"/>
            </c:ext>
          </c:extLst>
        </c:ser>
        <c:dLbls>
          <c:dLblPos val="ctr"/>
          <c:showLegendKey val="0"/>
          <c:showVal val="1"/>
          <c:showCatName val="0"/>
          <c:showSerName val="0"/>
          <c:showPercent val="0"/>
          <c:showBubbleSize val="0"/>
        </c:dLbls>
        <c:gapWidth val="219"/>
        <c:overlap val="100"/>
        <c:axId val="1038796671"/>
        <c:axId val="11312079"/>
      </c:barChart>
      <c:dateAx>
        <c:axId val="1038796671"/>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002060"/>
                </a:solidFill>
                <a:latin typeface="Trebuchet MS" panose="020B0603020202020204" pitchFamily="34" charset="0"/>
                <a:ea typeface="+mn-ea"/>
                <a:cs typeface="+mn-cs"/>
              </a:defRPr>
            </a:pPr>
            <a:endParaRPr lang="es-PE"/>
          </a:p>
        </c:txPr>
        <c:crossAx val="11312079"/>
        <c:crosses val="autoZero"/>
        <c:auto val="1"/>
        <c:lblOffset val="100"/>
        <c:baseTimeUnit val="days"/>
      </c:dateAx>
      <c:valAx>
        <c:axId val="11312079"/>
        <c:scaling>
          <c:orientation val="minMax"/>
        </c:scaling>
        <c:delete val="1"/>
        <c:axPos val="l"/>
        <c:numFmt formatCode="General" sourceLinked="1"/>
        <c:majorTickMark val="out"/>
        <c:minorTickMark val="none"/>
        <c:tickLblPos val="nextTo"/>
        <c:crossAx val="1038796671"/>
        <c:crosses val="autoZero"/>
        <c:crossBetween val="between"/>
      </c:valAx>
    </c:plotArea>
    <c:plotVisOnly val="1"/>
    <c:dispBlanksAs val="gap"/>
    <c:showDLblsOverMax val="0"/>
  </c:chart>
  <c:txPr>
    <a:bodyPr/>
    <a:lstStyle/>
    <a:p>
      <a:pPr>
        <a:defRPr>
          <a:solidFill>
            <a:srgbClr val="002060"/>
          </a:solidFill>
          <a:latin typeface="Trebuchet MS" panose="020B0603020202020204" pitchFamily="34" charset="0"/>
        </a:defRPr>
      </a:pPr>
      <a:endParaRPr lang="es-PE"/>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barChart>
        <c:barDir val="col"/>
        <c:grouping val="stacked"/>
        <c:varyColors val="0"/>
        <c:ser>
          <c:idx val="0"/>
          <c:order val="0"/>
          <c:tx>
            <c:strRef>
              <c:f>Presentacion!$AK$97</c:f>
              <c:strCache>
                <c:ptCount val="1"/>
                <c:pt idx="0">
                  <c:v>Perú</c:v>
                </c:pt>
              </c:strCache>
            </c:strRef>
          </c:tx>
          <c:spPr>
            <a:solidFill>
              <a:schemeClr val="accent1"/>
            </a:solidFill>
            <a:ln>
              <a:noFill/>
            </a:ln>
            <a:effectLst/>
          </c:spPr>
          <c:invertIfNegative val="0"/>
          <c:dLbls>
            <c:spPr>
              <a:noFill/>
              <a:ln>
                <a:noFill/>
              </a:ln>
              <a:effectLst/>
            </c:spPr>
            <c:txPr>
              <a:bodyPr wrap="square" lIns="38100" tIns="19050" rIns="38100" bIns="19050" anchor="ctr">
                <a:spAutoFit/>
              </a:bodyPr>
              <a:lstStyle/>
              <a:p>
                <a:pPr>
                  <a:defRPr sz="900">
                    <a:solidFill>
                      <a:schemeClr val="bg1"/>
                    </a:solidFill>
                  </a:defRPr>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strLit>
              <c:ptCount val="1"/>
              <c:pt idx="0">
                <c:v>Jun-26</c:v>
              </c:pt>
            </c:strLit>
          </c:cat>
          <c:val>
            <c:numRef>
              <c:f>Presentacion!$AL$97</c:f>
              <c:numCache>
                <c:formatCode>General</c:formatCode>
                <c:ptCount val="1"/>
                <c:pt idx="0">
                  <c:v>81.922696026277279</c:v>
                </c:pt>
              </c:numCache>
            </c:numRef>
          </c:val>
          <c:extLst>
            <c:ext xmlns:c16="http://schemas.microsoft.com/office/drawing/2014/chart" uri="{C3380CC4-5D6E-409C-BE32-E72D297353CC}">
              <c16:uniqueId val="{00000000-7360-4A8C-9EA9-84BB1F911D19}"/>
            </c:ext>
          </c:extLst>
        </c:ser>
        <c:ser>
          <c:idx val="1"/>
          <c:order val="1"/>
          <c:tx>
            <c:strRef>
              <c:f>Presentacion!$AK$98</c:f>
              <c:strCache>
                <c:ptCount val="1"/>
                <c:pt idx="0">
                  <c:v>Brasil</c:v>
                </c:pt>
              </c:strCache>
            </c:strRef>
          </c:tx>
          <c:spPr>
            <a:solidFill>
              <a:srgbClr val="00AECB"/>
            </a:solidFill>
            <a:ln>
              <a:noFill/>
            </a:ln>
            <a:effectLst/>
          </c:spPr>
          <c:invertIfNegative val="0"/>
          <c:dLbls>
            <c:spPr>
              <a:noFill/>
              <a:ln>
                <a:noFill/>
              </a:ln>
              <a:effectLst/>
            </c:spPr>
            <c:txPr>
              <a:bodyPr wrap="square" lIns="38100" tIns="19050" rIns="38100" bIns="19050" anchor="ctr">
                <a:spAutoFit/>
              </a:bodyPr>
              <a:lstStyle/>
              <a:p>
                <a:pPr>
                  <a:defRPr sz="900"/>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strLit>
              <c:ptCount val="1"/>
              <c:pt idx="0">
                <c:v>Jun-26</c:v>
              </c:pt>
            </c:strLit>
          </c:cat>
          <c:val>
            <c:numRef>
              <c:f>Presentacion!$AL$98</c:f>
              <c:numCache>
                <c:formatCode>General</c:formatCode>
                <c:ptCount val="1"/>
                <c:pt idx="0">
                  <c:v>27.364061414531804</c:v>
                </c:pt>
              </c:numCache>
            </c:numRef>
          </c:val>
          <c:extLst>
            <c:ext xmlns:c16="http://schemas.microsoft.com/office/drawing/2014/chart" uri="{C3380CC4-5D6E-409C-BE32-E72D297353CC}">
              <c16:uniqueId val="{00000001-7360-4A8C-9EA9-84BB1F911D19}"/>
            </c:ext>
          </c:extLst>
        </c:ser>
        <c:ser>
          <c:idx val="2"/>
          <c:order val="2"/>
          <c:tx>
            <c:strRef>
              <c:f>Presentacion!$AK$99</c:f>
              <c:strCache>
                <c:ptCount val="1"/>
                <c:pt idx="0">
                  <c:v>Colombia</c:v>
                </c:pt>
              </c:strCache>
            </c:strRef>
          </c:tx>
          <c:spPr>
            <a:solidFill>
              <a:srgbClr val="00C9EA"/>
            </a:solidFill>
            <a:ln>
              <a:noFill/>
            </a:ln>
            <a:effectLst/>
          </c:spPr>
          <c:invertIfNegative val="0"/>
          <c:dLbls>
            <c:dLbl>
              <c:idx val="0"/>
              <c:dLblPos val="ctr"/>
              <c:showLegendKey val="0"/>
              <c:showVal val="0"/>
              <c:showCatName val="0"/>
              <c:showSerName val="1"/>
              <c:showPercent val="0"/>
              <c:showBubbleSize val="0"/>
              <c:extLst>
                <c:ext xmlns:c15="http://schemas.microsoft.com/office/drawing/2012/chart" uri="{CE6537A1-D6FC-4f65-9D91-7224C49458BB}">
                  <c15:layout>
                    <c:manualLayout>
                      <c:w val="0.24474409717483281"/>
                      <c:h val="0.23038939276425896"/>
                    </c:manualLayout>
                  </c15:layout>
                </c:ext>
                <c:ext xmlns:c16="http://schemas.microsoft.com/office/drawing/2014/chart" uri="{C3380CC4-5D6E-409C-BE32-E72D297353CC}">
                  <c16:uniqueId val="{00000002-7360-4A8C-9EA9-84BB1F911D19}"/>
                </c:ext>
              </c:extLst>
            </c:dLbl>
            <c:spPr>
              <a:noFill/>
              <a:ln>
                <a:noFill/>
              </a:ln>
              <a:effectLst/>
            </c:spPr>
            <c:txPr>
              <a:bodyPr wrap="square" lIns="38100" tIns="19050" rIns="38100" bIns="19050" anchor="ctr">
                <a:spAutoFit/>
              </a:bodyPr>
              <a:lstStyle/>
              <a:p>
                <a:pPr>
                  <a:defRPr sz="700"/>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strLit>
              <c:ptCount val="1"/>
              <c:pt idx="0">
                <c:v>Jun-26</c:v>
              </c:pt>
            </c:strLit>
          </c:cat>
          <c:val>
            <c:numRef>
              <c:f>Presentacion!$AL$99</c:f>
              <c:numCache>
                <c:formatCode>General</c:formatCode>
                <c:ptCount val="1"/>
                <c:pt idx="0">
                  <c:v>9.6419550552760569</c:v>
                </c:pt>
              </c:numCache>
            </c:numRef>
          </c:val>
          <c:extLst>
            <c:ext xmlns:c16="http://schemas.microsoft.com/office/drawing/2014/chart" uri="{C3380CC4-5D6E-409C-BE32-E72D297353CC}">
              <c16:uniqueId val="{00000003-7360-4A8C-9EA9-84BB1F911D19}"/>
            </c:ext>
          </c:extLst>
        </c:ser>
        <c:ser>
          <c:idx val="3"/>
          <c:order val="3"/>
          <c:tx>
            <c:strRef>
              <c:f>Presentacion!$AK$100</c:f>
              <c:strCache>
                <c:ptCount val="1"/>
                <c:pt idx="0">
                  <c:v>México</c:v>
                </c:pt>
              </c:strCache>
            </c:strRef>
          </c:tx>
          <c:spPr>
            <a:solidFill>
              <a:srgbClr val="61E8FF"/>
            </a:solidFill>
            <a:ln>
              <a:noFill/>
            </a:ln>
            <a:effectLst/>
          </c:spPr>
          <c:invertIfNegative val="0"/>
          <c:dLbls>
            <c:dLbl>
              <c:idx val="0"/>
              <c:layout>
                <c:manualLayout>
                  <c:x val="0"/>
                  <c:y val="-3.428018107037873E-4"/>
                </c:manualLayout>
              </c:layout>
              <c:dLblPos val="ct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4-7360-4A8C-9EA9-84BB1F911D19}"/>
                </c:ext>
              </c:extLst>
            </c:dLbl>
            <c:spPr>
              <a:noFill/>
              <a:ln>
                <a:noFill/>
              </a:ln>
              <a:effectLst/>
            </c:spPr>
            <c:txPr>
              <a:bodyPr wrap="square" lIns="38100" tIns="19050" rIns="38100" bIns="19050" anchor="ctr">
                <a:spAutoFit/>
              </a:bodyPr>
              <a:lstStyle/>
              <a:p>
                <a:pPr>
                  <a:defRPr sz="400"/>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strLit>
              <c:ptCount val="1"/>
              <c:pt idx="0">
                <c:v>Jun-26</c:v>
              </c:pt>
            </c:strLit>
          </c:cat>
          <c:val>
            <c:numRef>
              <c:f>Presentacion!$AL$100</c:f>
              <c:numCache>
                <c:formatCode>General</c:formatCode>
                <c:ptCount val="1"/>
                <c:pt idx="0">
                  <c:v>6.0809029046264351</c:v>
                </c:pt>
              </c:numCache>
            </c:numRef>
          </c:val>
          <c:extLst>
            <c:ext xmlns:c16="http://schemas.microsoft.com/office/drawing/2014/chart" uri="{C3380CC4-5D6E-409C-BE32-E72D297353CC}">
              <c16:uniqueId val="{00000005-7360-4A8C-9EA9-84BB1F911D19}"/>
            </c:ext>
          </c:extLst>
        </c:ser>
        <c:ser>
          <c:idx val="4"/>
          <c:order val="4"/>
          <c:tx>
            <c:strRef>
              <c:f>Presentacion!$AK$101</c:f>
              <c:strCache>
                <c:ptCount val="1"/>
                <c:pt idx="0">
                  <c:v>Sudáfrica</c:v>
                </c:pt>
              </c:strCache>
            </c:strRef>
          </c:tx>
          <c:spPr>
            <a:solidFill>
              <a:srgbClr val="C5F7FF"/>
            </a:solidFill>
            <a:ln>
              <a:noFill/>
            </a:ln>
            <a:effectLst/>
          </c:spPr>
          <c:invertIfNegative val="0"/>
          <c:dLbls>
            <c:dLbl>
              <c:idx val="0"/>
              <c:layout>
                <c:manualLayout>
                  <c:x val="-5.2961795108018205E-17"/>
                  <c:y val="-9.4844110535146405E-3"/>
                </c:manualLayout>
              </c:layout>
              <c:dLblPos val="ct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6-7360-4A8C-9EA9-84BB1F911D19}"/>
                </c:ext>
              </c:extLst>
            </c:dLbl>
            <c:spPr>
              <a:noFill/>
              <a:ln>
                <a:noFill/>
              </a:ln>
              <a:effectLst/>
            </c:spPr>
            <c:txPr>
              <a:bodyPr wrap="square" lIns="38100" tIns="19050" rIns="38100" bIns="19050" anchor="ctr">
                <a:spAutoFit/>
              </a:bodyPr>
              <a:lstStyle/>
              <a:p>
                <a:pPr>
                  <a:defRPr sz="400"/>
                </a:pPr>
                <a:endParaRPr lang="es-P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strLit>
              <c:ptCount val="1"/>
              <c:pt idx="0">
                <c:v>Jun-26</c:v>
              </c:pt>
            </c:strLit>
          </c:cat>
          <c:val>
            <c:numRef>
              <c:f>Presentacion!$AL$101</c:f>
              <c:numCache>
                <c:formatCode>General</c:formatCode>
                <c:ptCount val="1"/>
                <c:pt idx="0">
                  <c:v>9.2133515917769309</c:v>
                </c:pt>
              </c:numCache>
            </c:numRef>
          </c:val>
          <c:extLst>
            <c:ext xmlns:c16="http://schemas.microsoft.com/office/drawing/2014/chart" uri="{C3380CC4-5D6E-409C-BE32-E72D297353CC}">
              <c16:uniqueId val="{00000007-7360-4A8C-9EA9-84BB1F911D19}"/>
            </c:ext>
          </c:extLst>
        </c:ser>
        <c:ser>
          <c:idx val="5"/>
          <c:order val="5"/>
          <c:tx>
            <c:strRef>
              <c:f>Presentacion!$AK$102</c:f>
              <c:strCache>
                <c:ptCount val="1"/>
                <c:pt idx="0">
                  <c:v>Chile</c:v>
                </c:pt>
              </c:strCache>
            </c:strRef>
          </c:tx>
          <c:invertIfNegative val="0"/>
          <c:dLbls>
            <c:delete val="1"/>
          </c:dLbls>
          <c:cat>
            <c:strLit>
              <c:ptCount val="1"/>
              <c:pt idx="0">
                <c:v>Jun-26</c:v>
              </c:pt>
            </c:strLit>
          </c:cat>
          <c:val>
            <c:numRef>
              <c:f>Presentacion!$AL$102</c:f>
              <c:numCache>
                <c:formatCode>General</c:formatCode>
                <c:ptCount val="1"/>
                <c:pt idx="0">
                  <c:v>1.3104316746908331</c:v>
                </c:pt>
              </c:numCache>
            </c:numRef>
          </c:val>
          <c:extLst>
            <c:ext xmlns:c16="http://schemas.microsoft.com/office/drawing/2014/chart" uri="{C3380CC4-5D6E-409C-BE32-E72D297353CC}">
              <c16:uniqueId val="{00000008-7360-4A8C-9EA9-84BB1F911D19}"/>
            </c:ext>
          </c:extLst>
        </c:ser>
        <c:dLbls>
          <c:dLblPos val="ctr"/>
          <c:showLegendKey val="0"/>
          <c:showVal val="1"/>
          <c:showCatName val="0"/>
          <c:showSerName val="0"/>
          <c:showPercent val="0"/>
          <c:showBubbleSize val="0"/>
        </c:dLbls>
        <c:gapWidth val="219"/>
        <c:overlap val="100"/>
        <c:axId val="1038796671"/>
        <c:axId val="11312079"/>
      </c:barChart>
      <c:catAx>
        <c:axId val="10387966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002060"/>
                </a:solidFill>
                <a:latin typeface="Trebuchet MS" panose="020B0603020202020204" pitchFamily="34" charset="0"/>
                <a:ea typeface="+mn-ea"/>
                <a:cs typeface="+mn-cs"/>
              </a:defRPr>
            </a:pPr>
            <a:endParaRPr lang="es-PE"/>
          </a:p>
        </c:txPr>
        <c:crossAx val="11312079"/>
        <c:crosses val="autoZero"/>
        <c:auto val="1"/>
        <c:lblAlgn val="ctr"/>
        <c:lblOffset val="100"/>
        <c:noMultiLvlLbl val="1"/>
      </c:catAx>
      <c:valAx>
        <c:axId val="11312079"/>
        <c:scaling>
          <c:orientation val="minMax"/>
        </c:scaling>
        <c:delete val="1"/>
        <c:axPos val="l"/>
        <c:numFmt formatCode="General" sourceLinked="1"/>
        <c:majorTickMark val="out"/>
        <c:minorTickMark val="none"/>
        <c:tickLblPos val="nextTo"/>
        <c:crossAx val="1038796671"/>
        <c:crosses val="autoZero"/>
        <c:crossBetween val="between"/>
      </c:valAx>
    </c:plotArea>
    <c:plotVisOnly val="1"/>
    <c:dispBlanksAs val="gap"/>
    <c:showDLblsOverMax val="0"/>
  </c:chart>
  <c:txPr>
    <a:bodyPr/>
    <a:lstStyle/>
    <a:p>
      <a:pPr>
        <a:defRPr>
          <a:solidFill>
            <a:srgbClr val="002060"/>
          </a:solidFill>
          <a:latin typeface="Trebuchet MS" panose="020B0603020202020204" pitchFamily="34" charset="0"/>
        </a:defRPr>
      </a:pPr>
      <a:endParaRPr lang="es-PE"/>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6158442677467234E-2"/>
          <c:y val="0.15752841226248687"/>
          <c:w val="0.92238888888888892"/>
          <c:h val="0.74555988737275292"/>
        </c:manualLayout>
      </c:layout>
      <c:barChart>
        <c:barDir val="col"/>
        <c:grouping val="stacked"/>
        <c:varyColors val="0"/>
        <c:ser>
          <c:idx val="0"/>
          <c:order val="0"/>
          <c:tx>
            <c:strRef>
              <c:f>Presentacion!$DO$105</c:f>
              <c:strCache>
                <c:ptCount val="1"/>
                <c:pt idx="0">
                  <c:v>Materials</c:v>
                </c:pt>
              </c:strCache>
            </c:strRef>
          </c:tx>
          <c:spPr>
            <a:solidFill>
              <a:srgbClr val="E3F2ED"/>
            </a:solidFill>
          </c:spPr>
          <c:invertIfNegative val="0"/>
          <c:dPt>
            <c:idx val="0"/>
            <c:invertIfNegative val="0"/>
            <c:bubble3D val="0"/>
            <c:spPr>
              <a:solidFill>
                <a:srgbClr val="3494BA"/>
              </a:solidFill>
            </c:spPr>
            <c:extLst>
              <c:ext xmlns:c16="http://schemas.microsoft.com/office/drawing/2014/chart" uri="{C3380CC4-5D6E-409C-BE32-E72D297353CC}">
                <c16:uniqueId val="{00000001-5539-4A88-99EA-53DB38A28228}"/>
              </c:ext>
            </c:extLst>
          </c:dPt>
          <c:dPt>
            <c:idx val="1"/>
            <c:invertIfNegative val="0"/>
            <c:bubble3D val="0"/>
            <c:spPr>
              <a:solidFill>
                <a:srgbClr val="00AECB"/>
              </a:solidFill>
            </c:spPr>
            <c:extLst>
              <c:ext xmlns:c16="http://schemas.microsoft.com/office/drawing/2014/chart" uri="{C3380CC4-5D6E-409C-BE32-E72D297353CC}">
                <c16:uniqueId val="{00000003-5539-4A88-99EA-53DB38A28228}"/>
              </c:ext>
            </c:extLst>
          </c:dPt>
          <c:dPt>
            <c:idx val="2"/>
            <c:invertIfNegative val="0"/>
            <c:bubble3D val="0"/>
            <c:spPr>
              <a:solidFill>
                <a:srgbClr val="00AECB"/>
              </a:solidFill>
            </c:spPr>
            <c:extLst>
              <c:ext xmlns:c16="http://schemas.microsoft.com/office/drawing/2014/chart" uri="{C3380CC4-5D6E-409C-BE32-E72D297353CC}">
                <c16:uniqueId val="{00000005-5539-4A88-99EA-53DB38A28228}"/>
              </c:ext>
            </c:extLst>
          </c:dPt>
          <c:dPt>
            <c:idx val="3"/>
            <c:invertIfNegative val="0"/>
            <c:bubble3D val="0"/>
            <c:spPr>
              <a:solidFill>
                <a:srgbClr val="00AECB"/>
              </a:solidFill>
            </c:spPr>
            <c:extLst>
              <c:ext xmlns:c16="http://schemas.microsoft.com/office/drawing/2014/chart" uri="{C3380CC4-5D6E-409C-BE32-E72D297353CC}">
                <c16:uniqueId val="{00000007-5539-4A88-99EA-53DB38A28228}"/>
              </c:ext>
            </c:extLst>
          </c:dPt>
          <c:dPt>
            <c:idx val="4"/>
            <c:invertIfNegative val="0"/>
            <c:bubble3D val="0"/>
            <c:spPr>
              <a:solidFill>
                <a:srgbClr val="ACD7CA"/>
              </a:solidFill>
            </c:spPr>
            <c:extLst>
              <c:ext xmlns:c16="http://schemas.microsoft.com/office/drawing/2014/chart" uri="{C3380CC4-5D6E-409C-BE32-E72D297353CC}">
                <c16:uniqueId val="{00000009-5539-4A88-99EA-53DB38A28228}"/>
              </c:ext>
            </c:extLst>
          </c:dPt>
          <c:dPt>
            <c:idx val="5"/>
            <c:invertIfNegative val="0"/>
            <c:bubble3D val="0"/>
            <c:spPr>
              <a:solidFill>
                <a:srgbClr val="ACD7CA"/>
              </a:solidFill>
            </c:spPr>
            <c:extLst>
              <c:ext xmlns:c16="http://schemas.microsoft.com/office/drawing/2014/chart" uri="{C3380CC4-5D6E-409C-BE32-E72D297353CC}">
                <c16:uniqueId val="{0000000B-5539-4A88-99EA-53DB38A28228}"/>
              </c:ext>
            </c:extLst>
          </c:dPt>
          <c:dPt>
            <c:idx val="6"/>
            <c:invertIfNegative val="0"/>
            <c:bubble3D val="0"/>
            <c:spPr>
              <a:solidFill>
                <a:srgbClr val="ACD7CA"/>
              </a:solidFill>
            </c:spPr>
            <c:extLst>
              <c:ext xmlns:c16="http://schemas.microsoft.com/office/drawing/2014/chart" uri="{C3380CC4-5D6E-409C-BE32-E72D297353CC}">
                <c16:uniqueId val="{0000000D-5539-4A88-99EA-53DB38A28228}"/>
              </c:ext>
            </c:extLst>
          </c:dPt>
          <c:dLbls>
            <c:dLbl>
              <c:idx val="0"/>
              <c:layout>
                <c:manualLayout>
                  <c:x val="-1.0013287075663763E-5"/>
                  <c:y val="0.27131439469516599"/>
                </c:manualLayout>
              </c:layout>
              <c:tx>
                <c:rich>
                  <a:bodyPr/>
                  <a:lstStyle/>
                  <a:p>
                    <a:fld id="{7220BAB4-BF1F-408E-A8C1-AB50BDFC3C7B}"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5539-4A88-99EA-53DB38A28228}"/>
                </c:ext>
              </c:extLst>
            </c:dLbl>
            <c:dLbl>
              <c:idx val="1"/>
              <c:layout>
                <c:manualLayout>
                  <c:x val="1.0013287075623288E-5"/>
                  <c:y val="0.3088080270569577"/>
                </c:manualLayout>
              </c:layout>
              <c:tx>
                <c:rich>
                  <a:bodyPr/>
                  <a:lstStyle/>
                  <a:p>
                    <a:fld id="{B3FAA5C1-4C3D-4882-B0C0-A030789A5852}"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3-5539-4A88-99EA-53DB38A28228}"/>
                </c:ext>
              </c:extLst>
            </c:dLbl>
            <c:dLbl>
              <c:idx val="2"/>
              <c:layout>
                <c:manualLayout>
                  <c:x val="0"/>
                  <c:y val="0.30649757290445989"/>
                </c:manualLayout>
              </c:layout>
              <c:tx>
                <c:rich>
                  <a:bodyPr/>
                  <a:lstStyle/>
                  <a:p>
                    <a:fld id="{4A4FE112-9998-419E-A3ED-C00B6A4B9854}"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5539-4A88-99EA-53DB38A28228}"/>
                </c:ext>
              </c:extLst>
            </c:dLbl>
            <c:dLbl>
              <c:idx val="3"/>
              <c:layout>
                <c:manualLayout>
                  <c:x val="0"/>
                  <c:y val="0.41240774330149521"/>
                </c:manualLayout>
              </c:layout>
              <c:tx>
                <c:rich>
                  <a:bodyPr/>
                  <a:lstStyle/>
                  <a:p>
                    <a:fld id="{B6245F0C-E8F2-4778-B918-C6816D50C70F}"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7-5539-4A88-99EA-53DB38A28228}"/>
                </c:ext>
              </c:extLst>
            </c:dLbl>
            <c:dLbl>
              <c:idx val="4"/>
              <c:layout>
                <c:manualLayout>
                  <c:x val="0"/>
                  <c:y val="0.10163288272893346"/>
                </c:manualLayout>
              </c:layout>
              <c:tx>
                <c:rich>
                  <a:bodyPr/>
                  <a:lstStyle/>
                  <a:p>
                    <a:fld id="{AFABD378-8B0D-4691-BC6F-63834F7ACEEB}"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5539-4A88-99EA-53DB38A28228}"/>
                </c:ext>
              </c:extLst>
            </c:dLbl>
            <c:dLbl>
              <c:idx val="5"/>
              <c:layout>
                <c:manualLayout>
                  <c:x val="0"/>
                  <c:y val="0.30649757290445989"/>
                </c:manualLayout>
              </c:layout>
              <c:tx>
                <c:rich>
                  <a:bodyPr/>
                  <a:lstStyle/>
                  <a:p>
                    <a:fld id="{48FA7D2A-4BA7-4C1A-9E24-8F6DDD9B0CC9}"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5539-4A88-99EA-53DB38A28228}"/>
                </c:ext>
              </c:extLst>
            </c:dLbl>
            <c:dLbl>
              <c:idx val="6"/>
              <c:layout>
                <c:manualLayout>
                  <c:x val="3.5425966564024344E-3"/>
                  <c:y val="0.41240774330149521"/>
                </c:manualLayout>
              </c:layout>
              <c:tx>
                <c:rich>
                  <a:bodyPr/>
                  <a:lstStyle/>
                  <a:p>
                    <a:fld id="{1664517B-5C21-4665-931D-4C667A96A5A6}"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D-5539-4A88-99EA-53DB38A28228}"/>
                </c:ext>
              </c:extLst>
            </c:dLbl>
            <c:spPr>
              <a:noFill/>
              <a:ln>
                <a:noFill/>
              </a:ln>
              <a:effectLst/>
            </c:spPr>
            <c:txPr>
              <a:bodyPr wrap="square" lIns="38100" tIns="19050" rIns="38100" bIns="19050" anchor="ctr">
                <a:spAutoFit/>
              </a:bodyPr>
              <a:lstStyle/>
              <a:p>
                <a:pPr>
                  <a:defRPr sz="900"/>
                </a:pPr>
                <a:endParaRPr lang="es-PE"/>
              </a:p>
            </c:txPr>
            <c:dLblPos val="inBase"/>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val>
            <c:numRef>
              <c:f>Presentacion!$DT$105:$DZ$105</c:f>
              <c:numCache>
                <c:formatCode>0.00</c:formatCode>
                <c:ptCount val="7"/>
                <c:pt idx="0" formatCode="_(* #,##0.00_);_(* \(#,##0.00\);_(* &quot;-&quot;??_);_(@_)">
                  <c:v>128.58000000000001</c:v>
                </c:pt>
                <c:pt idx="1">
                  <c:v>145.99</c:v>
                </c:pt>
                <c:pt idx="2">
                  <c:v>136.51</c:v>
                </c:pt>
                <c:pt idx="3" formatCode="General">
                  <c:v>167.11</c:v>
                </c:pt>
                <c:pt idx="4">
                  <c:v>33.99</c:v>
                </c:pt>
                <c:pt idx="5">
                  <c:v>109.31</c:v>
                </c:pt>
                <c:pt idx="6" formatCode="General">
                  <c:v>186.25</c:v>
                </c:pt>
              </c:numCache>
            </c:numRef>
          </c:val>
          <c:extLst>
            <c:ext xmlns:c15="http://schemas.microsoft.com/office/drawing/2012/chart" uri="{02D57815-91ED-43cb-92C2-25804820EDAC}">
              <c15:datalabelsRange>
                <c15:f>Presentacion!$DT$104:$DZ$104</c15:f>
                <c15:dlblRangeCache>
                  <c:ptCount val="7"/>
                  <c:pt idx="0">
                    <c:v>Integra</c:v>
                  </c:pt>
                  <c:pt idx="1">
                    <c:v>Prima</c:v>
                  </c:pt>
                  <c:pt idx="2">
                    <c:v>Profuturo</c:v>
                  </c:pt>
                  <c:pt idx="3">
                    <c:v>Habitat</c:v>
                  </c:pt>
                  <c:pt idx="4">
                    <c:v>ACWI</c:v>
                  </c:pt>
                  <c:pt idx="5">
                    <c:v>ILF</c:v>
                  </c:pt>
                  <c:pt idx="6">
                    <c:v>CEMB</c:v>
                  </c:pt>
                </c15:dlblRangeCache>
              </c15:datalabelsRange>
            </c:ext>
            <c:ext xmlns:c16="http://schemas.microsoft.com/office/drawing/2014/chart" uri="{C3380CC4-5D6E-409C-BE32-E72D297353CC}">
              <c16:uniqueId val="{0000000E-5539-4A88-99EA-53DB38A28228}"/>
            </c:ext>
          </c:extLst>
        </c:ser>
        <c:ser>
          <c:idx val="1"/>
          <c:order val="1"/>
          <c:tx>
            <c:strRef>
              <c:f>Presentacion!$DO$106</c:f>
              <c:strCache>
                <c:ptCount val="1"/>
                <c:pt idx="0">
                  <c:v>Materials</c:v>
                </c:pt>
              </c:strCache>
            </c:strRef>
          </c:tx>
          <c:invertIfNegative val="0"/>
          <c:dLbls>
            <c:delete val="1"/>
          </c:dLbls>
          <c:val>
            <c:numRef>
              <c:f>Presentacion!$DT$106:$DZ$106</c:f>
              <c:numCache>
                <c:formatCode>General</c:formatCode>
                <c:ptCount val="7"/>
              </c:numCache>
            </c:numRef>
          </c:val>
          <c:extLst>
            <c:ext xmlns:c16="http://schemas.microsoft.com/office/drawing/2014/chart" uri="{C3380CC4-5D6E-409C-BE32-E72D297353CC}">
              <c16:uniqueId val="{0000000F-5539-4A88-99EA-53DB38A28228}"/>
            </c:ext>
          </c:extLst>
        </c:ser>
        <c:ser>
          <c:idx val="2"/>
          <c:order val="2"/>
          <c:tx>
            <c:strRef>
              <c:f>Presentacion!$DO$107</c:f>
              <c:strCache>
                <c:ptCount val="1"/>
                <c:pt idx="0">
                  <c:v>Utilities</c:v>
                </c:pt>
              </c:strCache>
            </c:strRef>
          </c:tx>
          <c:spPr>
            <a:solidFill>
              <a:srgbClr val="C8E5DC"/>
            </a:solidFill>
          </c:spPr>
          <c:invertIfNegative val="0"/>
          <c:dLbls>
            <c:delete val="1"/>
          </c:dLbls>
          <c:val>
            <c:numRef>
              <c:f>Presentacion!$DT$107:$DZ$107</c:f>
              <c:numCache>
                <c:formatCode>General</c:formatCode>
                <c:ptCount val="7"/>
              </c:numCache>
            </c:numRef>
          </c:val>
          <c:extLst>
            <c:ext xmlns:c16="http://schemas.microsoft.com/office/drawing/2014/chart" uri="{C3380CC4-5D6E-409C-BE32-E72D297353CC}">
              <c16:uniqueId val="{00000010-5539-4A88-99EA-53DB38A28228}"/>
            </c:ext>
          </c:extLst>
        </c:ser>
        <c:ser>
          <c:idx val="3"/>
          <c:order val="3"/>
          <c:tx>
            <c:strRef>
              <c:f>Presentacion!$DO$108</c:f>
              <c:strCache>
                <c:ptCount val="1"/>
                <c:pt idx="0">
                  <c:v>Utilities</c:v>
                </c:pt>
              </c:strCache>
            </c:strRef>
          </c:tx>
          <c:spPr>
            <a:pattFill prst="wdUpDiag">
              <a:fgClr>
                <a:srgbClr val="C8E5DC"/>
              </a:fgClr>
              <a:bgClr>
                <a:sysClr val="window" lastClr="FFFFFF"/>
              </a:bgClr>
            </a:pattFill>
            <a:ln>
              <a:noFill/>
            </a:ln>
          </c:spPr>
          <c:invertIfNegative val="0"/>
          <c:dLbls>
            <c:delete val="1"/>
          </c:dLbls>
          <c:val>
            <c:numRef>
              <c:f>Presentacion!$DT$108:$DZ$108</c:f>
              <c:numCache>
                <c:formatCode>General</c:formatCode>
                <c:ptCount val="7"/>
              </c:numCache>
            </c:numRef>
          </c:val>
          <c:extLst>
            <c:ext xmlns:c16="http://schemas.microsoft.com/office/drawing/2014/chart" uri="{C3380CC4-5D6E-409C-BE32-E72D297353CC}">
              <c16:uniqueId val="{00000011-5539-4A88-99EA-53DB38A28228}"/>
            </c:ext>
          </c:extLst>
        </c:ser>
        <c:ser>
          <c:idx val="4"/>
          <c:order val="4"/>
          <c:tx>
            <c:strRef>
              <c:f>Presentacion!$DO$109</c:f>
              <c:strCache>
                <c:ptCount val="1"/>
                <c:pt idx="0">
                  <c:v>Otros</c:v>
                </c:pt>
              </c:strCache>
            </c:strRef>
          </c:tx>
          <c:spPr>
            <a:solidFill>
              <a:srgbClr val="ACD7CA"/>
            </a:solidFill>
          </c:spPr>
          <c:invertIfNegative val="0"/>
          <c:dLbls>
            <c:delete val="1"/>
          </c:dLbls>
          <c:val>
            <c:numRef>
              <c:f>Presentacion!$DT$109:$DZ$109</c:f>
              <c:numCache>
                <c:formatCode>General</c:formatCode>
                <c:ptCount val="7"/>
              </c:numCache>
            </c:numRef>
          </c:val>
          <c:extLst>
            <c:ext xmlns:c16="http://schemas.microsoft.com/office/drawing/2014/chart" uri="{C3380CC4-5D6E-409C-BE32-E72D297353CC}">
              <c16:uniqueId val="{00000012-5539-4A88-99EA-53DB38A28228}"/>
            </c:ext>
          </c:extLst>
        </c:ser>
        <c:ser>
          <c:idx val="5"/>
          <c:order val="5"/>
          <c:tx>
            <c:strRef>
              <c:f>Presentacion!$DO$110</c:f>
              <c:strCache>
                <c:ptCount val="1"/>
                <c:pt idx="0">
                  <c:v>Otros</c:v>
                </c:pt>
              </c:strCache>
            </c:strRef>
          </c:tx>
          <c:spPr>
            <a:pattFill prst="wdUpDiag">
              <a:fgClr>
                <a:srgbClr val="ACD7CA"/>
              </a:fgClr>
              <a:bgClr>
                <a:sysClr val="window" lastClr="FFFFFF"/>
              </a:bgClr>
            </a:pattFill>
            <a:ln>
              <a:noFill/>
            </a:ln>
          </c:spPr>
          <c:invertIfNegative val="0"/>
          <c:dLbls>
            <c:delete val="1"/>
          </c:dLbls>
          <c:val>
            <c:numRef>
              <c:f>Presentacion!$DT$110:$DZ$110</c:f>
              <c:numCache>
                <c:formatCode>General</c:formatCode>
                <c:ptCount val="7"/>
              </c:numCache>
            </c:numRef>
          </c:val>
          <c:extLst>
            <c:ext xmlns:c16="http://schemas.microsoft.com/office/drawing/2014/chart" uri="{C3380CC4-5D6E-409C-BE32-E72D297353CC}">
              <c16:uniqueId val="{00000013-5539-4A88-99EA-53DB38A28228}"/>
            </c:ext>
          </c:extLst>
        </c:ser>
        <c:ser>
          <c:idx val="6"/>
          <c:order val="6"/>
          <c:tx>
            <c:strRef>
              <c:f>Presentacion!$DO$111</c:f>
              <c:strCache>
                <c:ptCount val="1"/>
                <c:pt idx="0">
                  <c:v>RF</c:v>
                </c:pt>
              </c:strCache>
            </c:strRef>
          </c:tx>
          <c:spPr>
            <a:solidFill>
              <a:srgbClr val="B7EEFF"/>
            </a:solidFill>
          </c:spPr>
          <c:invertIfNegative val="0"/>
          <c:dLbls>
            <c:delete val="1"/>
          </c:dLbls>
          <c:val>
            <c:numRef>
              <c:f>Presentacion!$DT$111:$DZ$111</c:f>
              <c:numCache>
                <c:formatCode>General</c:formatCode>
                <c:ptCount val="7"/>
              </c:numCache>
            </c:numRef>
          </c:val>
          <c:extLst>
            <c:ext xmlns:c16="http://schemas.microsoft.com/office/drawing/2014/chart" uri="{C3380CC4-5D6E-409C-BE32-E72D297353CC}">
              <c16:uniqueId val="{00000014-5539-4A88-99EA-53DB38A28228}"/>
            </c:ext>
          </c:extLst>
        </c:ser>
        <c:ser>
          <c:idx val="7"/>
          <c:order val="7"/>
          <c:tx>
            <c:strRef>
              <c:f>Presentacion!$DO$112</c:f>
              <c:strCache>
                <c:ptCount val="1"/>
                <c:pt idx="0">
                  <c:v>RF Proxies</c:v>
                </c:pt>
              </c:strCache>
            </c:strRef>
          </c:tx>
          <c:spPr>
            <a:pattFill prst="wdUpDiag">
              <a:fgClr>
                <a:srgbClr val="B7EEFF"/>
              </a:fgClr>
              <a:bgClr>
                <a:sysClr val="window" lastClr="FFFFFF"/>
              </a:bgClr>
            </a:pattFill>
            <a:ln>
              <a:noFill/>
            </a:ln>
          </c:spPr>
          <c:invertIfNegative val="0"/>
          <c:dLbls>
            <c:delete val="1"/>
          </c:dLbls>
          <c:val>
            <c:numRef>
              <c:f>Presentacion!$DT$112:$DZ$112</c:f>
              <c:numCache>
                <c:formatCode>General</c:formatCode>
                <c:ptCount val="7"/>
              </c:numCache>
            </c:numRef>
          </c:val>
          <c:extLst>
            <c:ext xmlns:c16="http://schemas.microsoft.com/office/drawing/2014/chart" uri="{C3380CC4-5D6E-409C-BE32-E72D297353CC}">
              <c16:uniqueId val="{00000015-5539-4A88-99EA-53DB38A28228}"/>
            </c:ext>
          </c:extLst>
        </c:ser>
        <c:ser>
          <c:idx val="8"/>
          <c:order val="8"/>
          <c:tx>
            <c:strRef>
              <c:f>Presentacion!$DO$113</c:f>
              <c:strCache>
                <c:ptCount val="1"/>
                <c:pt idx="0">
                  <c:v>ETF Sobs</c:v>
                </c:pt>
              </c:strCache>
            </c:strRef>
          </c:tx>
          <c:spPr>
            <a:solidFill>
              <a:srgbClr val="AFC3E6"/>
            </a:solidFill>
          </c:spPr>
          <c:invertIfNegative val="0"/>
          <c:dLbls>
            <c:delete val="1"/>
          </c:dLbls>
          <c:val>
            <c:numRef>
              <c:f>Presentacion!$DT$113:$DZ$113</c:f>
              <c:numCache>
                <c:formatCode>General</c:formatCode>
                <c:ptCount val="7"/>
              </c:numCache>
            </c:numRef>
          </c:val>
          <c:extLst>
            <c:ext xmlns:c16="http://schemas.microsoft.com/office/drawing/2014/chart" uri="{C3380CC4-5D6E-409C-BE32-E72D297353CC}">
              <c16:uniqueId val="{00000016-5539-4A88-99EA-53DB38A28228}"/>
            </c:ext>
          </c:extLst>
        </c:ser>
        <c:ser>
          <c:idx val="9"/>
          <c:order val="9"/>
          <c:tx>
            <c:strRef>
              <c:f>Presentacion!$DO$114</c:f>
              <c:strCache>
                <c:ptCount val="1"/>
                <c:pt idx="0">
                  <c:v>ETF Sobs Proxies</c:v>
                </c:pt>
              </c:strCache>
            </c:strRef>
          </c:tx>
          <c:invertIfNegative val="0"/>
          <c:dLbls>
            <c:delete val="1"/>
          </c:dLbls>
          <c:val>
            <c:numRef>
              <c:f>Presentacion!$DT$114:$DZ$114</c:f>
              <c:numCache>
                <c:formatCode>General</c:formatCode>
                <c:ptCount val="7"/>
              </c:numCache>
            </c:numRef>
          </c:val>
          <c:extLst>
            <c:ext xmlns:c16="http://schemas.microsoft.com/office/drawing/2014/chart" uri="{C3380CC4-5D6E-409C-BE32-E72D297353CC}">
              <c16:uniqueId val="{00000017-5539-4A88-99EA-53DB38A28228}"/>
            </c:ext>
          </c:extLst>
        </c:ser>
        <c:ser>
          <c:idx val="10"/>
          <c:order val="10"/>
          <c:tx>
            <c:strRef>
              <c:f>Presentacion!$DO$115</c:f>
              <c:strCache>
                <c:ptCount val="1"/>
                <c:pt idx="0">
                  <c:v>RV</c:v>
                </c:pt>
              </c:strCache>
            </c:strRef>
          </c:tx>
          <c:spPr>
            <a:solidFill>
              <a:srgbClr val="D4EAF3"/>
            </a:solidFill>
          </c:spPr>
          <c:invertIfNegative val="0"/>
          <c:dLbls>
            <c:delete val="1"/>
          </c:dLbls>
          <c:val>
            <c:numRef>
              <c:f>Presentacion!$DT$115:$DZ$115</c:f>
              <c:numCache>
                <c:formatCode>General</c:formatCode>
                <c:ptCount val="7"/>
              </c:numCache>
            </c:numRef>
          </c:val>
          <c:extLst>
            <c:ext xmlns:c16="http://schemas.microsoft.com/office/drawing/2014/chart" uri="{C3380CC4-5D6E-409C-BE32-E72D297353CC}">
              <c16:uniqueId val="{00000018-5539-4A88-99EA-53DB38A28228}"/>
            </c:ext>
          </c:extLst>
        </c:ser>
        <c:ser>
          <c:idx val="11"/>
          <c:order val="11"/>
          <c:tx>
            <c:strRef>
              <c:f>Presentacion!$DO$116</c:f>
              <c:strCache>
                <c:ptCount val="1"/>
                <c:pt idx="0">
                  <c:v>RV Proxies</c:v>
                </c:pt>
              </c:strCache>
            </c:strRef>
          </c:tx>
          <c:invertIfNegative val="0"/>
          <c:dLbls>
            <c:delete val="1"/>
          </c:dLbls>
          <c:val>
            <c:numRef>
              <c:f>Presentacion!$DT$116:$DZ$116</c:f>
              <c:numCache>
                <c:formatCode>General</c:formatCode>
                <c:ptCount val="7"/>
              </c:numCache>
            </c:numRef>
          </c:val>
          <c:extLst>
            <c:ext xmlns:c16="http://schemas.microsoft.com/office/drawing/2014/chart" uri="{C3380CC4-5D6E-409C-BE32-E72D297353CC}">
              <c16:uniqueId val="{00000019-5539-4A88-99EA-53DB38A28228}"/>
            </c:ext>
          </c:extLst>
        </c:ser>
        <c:ser>
          <c:idx val="12"/>
          <c:order val="12"/>
          <c:tx>
            <c:strRef>
              <c:f>Presentacion!$DO$117</c:f>
              <c:strCache>
                <c:ptCount val="1"/>
                <c:pt idx="0">
                  <c:v>Alts</c:v>
                </c:pt>
              </c:strCache>
            </c:strRef>
          </c:tx>
          <c:spPr>
            <a:pattFill prst="wdUpDiag">
              <a:fgClr>
                <a:srgbClr val="516FED"/>
              </a:fgClr>
              <a:bgClr>
                <a:sysClr val="window" lastClr="FFFFFF"/>
              </a:bgClr>
            </a:pattFill>
          </c:spPr>
          <c:invertIfNegative val="0"/>
          <c:dLbls>
            <c:delete val="1"/>
          </c:dLbls>
          <c:val>
            <c:numRef>
              <c:f>Presentacion!$DT$117:$DZ$117</c:f>
              <c:numCache>
                <c:formatCode>General</c:formatCode>
                <c:ptCount val="7"/>
              </c:numCache>
            </c:numRef>
          </c:val>
          <c:extLst>
            <c:ext xmlns:c16="http://schemas.microsoft.com/office/drawing/2014/chart" uri="{C3380CC4-5D6E-409C-BE32-E72D297353CC}">
              <c16:uniqueId val="{0000001A-5539-4A88-99EA-53DB38A28228}"/>
            </c:ext>
          </c:extLst>
        </c:ser>
        <c:dLbls>
          <c:dLblPos val="ctr"/>
          <c:showLegendKey val="0"/>
          <c:showVal val="1"/>
          <c:showCatName val="0"/>
          <c:showSerName val="0"/>
          <c:showPercent val="0"/>
          <c:showBubbleSize val="0"/>
        </c:dLbls>
        <c:gapWidth val="190"/>
        <c:overlap val="100"/>
        <c:axId val="343178255"/>
        <c:axId val="1296126783"/>
      </c:barChart>
      <c:catAx>
        <c:axId val="3431782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sz="100">
                <a:solidFill>
                  <a:schemeClr val="bg1"/>
                </a:solidFill>
              </a:defRPr>
            </a:pPr>
            <a:endParaRPr lang="es-PE"/>
          </a:p>
        </c:txPr>
        <c:crossAx val="1296126783"/>
        <c:crosses val="autoZero"/>
        <c:auto val="1"/>
        <c:lblAlgn val="ctr"/>
        <c:lblOffset val="100"/>
        <c:tickLblSkip val="1"/>
        <c:noMultiLvlLbl val="0"/>
      </c:catAx>
      <c:valAx>
        <c:axId val="1296126783"/>
        <c:scaling>
          <c:orientation val="minMax"/>
          <c:max val="200"/>
          <c:min val="0"/>
        </c:scaling>
        <c:delete val="1"/>
        <c:axPos val="l"/>
        <c:numFmt formatCode="_(* #,##0.00_);_(* \(#,##0.00\);_(* &quot;-&quot;??_);_(@_)" sourceLinked="1"/>
        <c:majorTickMark val="out"/>
        <c:minorTickMark val="none"/>
        <c:tickLblPos val="nextTo"/>
        <c:crossAx val="343178255"/>
        <c:crosses val="autoZero"/>
        <c:crossBetween val="between"/>
      </c:valAx>
    </c:plotArea>
    <c:plotVisOnly val="0"/>
    <c:dispBlanksAs val="zero"/>
    <c:showDLblsOverMax val="0"/>
    <c:extLst/>
  </c:chart>
  <c:txPr>
    <a:bodyPr/>
    <a:lstStyle/>
    <a:p>
      <a:pPr>
        <a:defRPr sz="600">
          <a:solidFill>
            <a:srgbClr val="002060"/>
          </a:solidFill>
          <a:latin typeface="Trebuchet MS" panose="020B0603020202020204" pitchFamily="34" charset="0"/>
        </a:defRPr>
      </a:pPr>
      <a:endParaRPr lang="es-PE"/>
    </a:p>
  </c:txPr>
  <c:externalData r:id="rId2">
    <c:autoUpdate val="0"/>
  </c:externalData>
  <c:userShapes r:id="rId3"/>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8805484510706131E-2"/>
          <c:y val="0.16498666125904449"/>
          <c:w val="0.92238888888888892"/>
          <c:h val="0.74555988737275292"/>
        </c:manualLayout>
      </c:layout>
      <c:barChart>
        <c:barDir val="col"/>
        <c:grouping val="stacked"/>
        <c:varyColors val="0"/>
        <c:ser>
          <c:idx val="0"/>
          <c:order val="0"/>
          <c:tx>
            <c:strRef>
              <c:f>Presentacion!$DO$105</c:f>
              <c:strCache>
                <c:ptCount val="1"/>
                <c:pt idx="0">
                  <c:v>Materials</c:v>
                </c:pt>
              </c:strCache>
            </c:strRef>
          </c:tx>
          <c:spPr>
            <a:solidFill>
              <a:srgbClr val="E3F2ED"/>
            </a:solidFill>
          </c:spPr>
          <c:invertIfNegative val="0"/>
          <c:dPt>
            <c:idx val="0"/>
            <c:invertIfNegative val="0"/>
            <c:bubble3D val="0"/>
            <c:spPr>
              <a:solidFill>
                <a:srgbClr val="3494BA"/>
              </a:solidFill>
            </c:spPr>
            <c:extLst>
              <c:ext xmlns:c16="http://schemas.microsoft.com/office/drawing/2014/chart" uri="{C3380CC4-5D6E-409C-BE32-E72D297353CC}">
                <c16:uniqueId val="{00000001-B80E-4965-8790-F870B8701AD7}"/>
              </c:ext>
            </c:extLst>
          </c:dPt>
          <c:dPt>
            <c:idx val="1"/>
            <c:invertIfNegative val="0"/>
            <c:bubble3D val="0"/>
            <c:spPr>
              <a:solidFill>
                <a:srgbClr val="75BDA7"/>
              </a:solidFill>
            </c:spPr>
            <c:extLst>
              <c:ext xmlns:c16="http://schemas.microsoft.com/office/drawing/2014/chart" uri="{C3380CC4-5D6E-409C-BE32-E72D297353CC}">
                <c16:uniqueId val="{00000003-B80E-4965-8790-F870B8701AD7}"/>
              </c:ext>
            </c:extLst>
          </c:dPt>
          <c:dLbls>
            <c:dLbl>
              <c:idx val="0"/>
              <c:layout>
                <c:manualLayout>
                  <c:x val="3.5278979450217331E-3"/>
                  <c:y val="0.29202790724478195"/>
                </c:manualLayout>
              </c:layout>
              <c:tx>
                <c:rich>
                  <a:bodyPr/>
                  <a:lstStyle/>
                  <a:p>
                    <a:fld id="{CDAC4073-8ECD-4FF8-AB73-2A7884129772}"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B80E-4965-8790-F870B8701AD7}"/>
                </c:ext>
              </c:extLst>
            </c:dLbl>
            <c:dLbl>
              <c:idx val="1"/>
              <c:layout>
                <c:manualLayout>
                  <c:x val="3.5479554822960197E-3"/>
                  <c:y val="0.76621403201841487"/>
                </c:manualLayout>
              </c:layout>
              <c:tx>
                <c:rich>
                  <a:bodyPr/>
                  <a:lstStyle/>
                  <a:p>
                    <a:fld id="{025EB6F1-0BC8-4531-A33C-E8E5B6C472BF}"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3-B80E-4965-8790-F870B8701AD7}"/>
                </c:ext>
              </c:extLst>
            </c:dLbl>
            <c:spPr>
              <a:noFill/>
              <a:ln>
                <a:noFill/>
              </a:ln>
              <a:effectLst/>
            </c:spPr>
            <c:txPr>
              <a:bodyPr wrap="square" lIns="38100" tIns="19050" rIns="38100" bIns="19050" anchor="ctr">
                <a:spAutoFit/>
              </a:bodyPr>
              <a:lstStyle/>
              <a:p>
                <a:pPr>
                  <a:defRPr sz="900"/>
                </a:pPr>
                <a:endParaRPr lang="es-PE"/>
              </a:p>
            </c:txPr>
            <c:dLblPos val="inBase"/>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val>
            <c:numRef>
              <c:f>Presentacion!$DT$105:$DU$105</c:f>
              <c:numCache>
                <c:formatCode>0.00</c:formatCode>
                <c:ptCount val="2"/>
                <c:pt idx="0" formatCode="_(* #,##0.00_);_(* \(#,##0.00\);_(* &quot;-&quot;??_);_(@_)">
                  <c:v>136</c:v>
                </c:pt>
                <c:pt idx="1">
                  <c:v>388</c:v>
                </c:pt>
              </c:numCache>
            </c:numRef>
          </c:val>
          <c:extLst>
            <c:ext xmlns:c15="http://schemas.microsoft.com/office/drawing/2012/chart" uri="{02D57815-91ED-43cb-92C2-25804820EDAC}">
              <c15:datalabelsRange>
                <c15:f>Presentacion!$DT$104:$DZ$104</c15:f>
                <c15:dlblRangeCache>
                  <c:ptCount val="7"/>
                  <c:pt idx="0">
                    <c:v>Integra</c:v>
                  </c:pt>
                  <c:pt idx="1">
                    <c:v>EMB</c:v>
                  </c:pt>
                  <c:pt idx="2">
                    <c:v>Profuturo</c:v>
                  </c:pt>
                  <c:pt idx="3">
                    <c:v>Habitat</c:v>
                  </c:pt>
                  <c:pt idx="4">
                    <c:v>ACWI</c:v>
                  </c:pt>
                  <c:pt idx="5">
                    <c:v>ILF</c:v>
                  </c:pt>
                  <c:pt idx="6">
                    <c:v>CEMB</c:v>
                  </c:pt>
                </c15:dlblRangeCache>
              </c15:datalabelsRange>
            </c:ext>
            <c:ext xmlns:c16="http://schemas.microsoft.com/office/drawing/2014/chart" uri="{C3380CC4-5D6E-409C-BE32-E72D297353CC}">
              <c16:uniqueId val="{00000004-B80E-4965-8790-F870B8701AD7}"/>
            </c:ext>
          </c:extLst>
        </c:ser>
        <c:ser>
          <c:idx val="1"/>
          <c:order val="1"/>
          <c:tx>
            <c:strRef>
              <c:f>Presentacion!$DO$106</c:f>
              <c:strCache>
                <c:ptCount val="1"/>
                <c:pt idx="0">
                  <c:v>Materials</c:v>
                </c:pt>
              </c:strCache>
            </c:strRef>
          </c:tx>
          <c:invertIfNegative val="0"/>
          <c:dLbls>
            <c:delete val="1"/>
          </c:dLbls>
          <c:val>
            <c:numRef>
              <c:f>Presentacion!$DT$106:$DU$106</c:f>
              <c:numCache>
                <c:formatCode>General</c:formatCode>
                <c:ptCount val="2"/>
              </c:numCache>
            </c:numRef>
          </c:val>
          <c:extLst>
            <c:ext xmlns:c16="http://schemas.microsoft.com/office/drawing/2014/chart" uri="{C3380CC4-5D6E-409C-BE32-E72D297353CC}">
              <c16:uniqueId val="{00000005-B80E-4965-8790-F870B8701AD7}"/>
            </c:ext>
          </c:extLst>
        </c:ser>
        <c:ser>
          <c:idx val="2"/>
          <c:order val="2"/>
          <c:tx>
            <c:strRef>
              <c:f>Presentacion!$DO$107</c:f>
              <c:strCache>
                <c:ptCount val="1"/>
                <c:pt idx="0">
                  <c:v>Utilities</c:v>
                </c:pt>
              </c:strCache>
            </c:strRef>
          </c:tx>
          <c:spPr>
            <a:solidFill>
              <a:srgbClr val="C8E5DC"/>
            </a:solidFill>
          </c:spPr>
          <c:invertIfNegative val="0"/>
          <c:dLbls>
            <c:delete val="1"/>
          </c:dLbls>
          <c:val>
            <c:numRef>
              <c:f>Presentacion!$DT$107:$DU$107</c:f>
              <c:numCache>
                <c:formatCode>General</c:formatCode>
                <c:ptCount val="2"/>
              </c:numCache>
            </c:numRef>
          </c:val>
          <c:extLst>
            <c:ext xmlns:c16="http://schemas.microsoft.com/office/drawing/2014/chart" uri="{C3380CC4-5D6E-409C-BE32-E72D297353CC}">
              <c16:uniqueId val="{00000006-B80E-4965-8790-F870B8701AD7}"/>
            </c:ext>
          </c:extLst>
        </c:ser>
        <c:ser>
          <c:idx val="3"/>
          <c:order val="3"/>
          <c:tx>
            <c:strRef>
              <c:f>Presentacion!$DO$108</c:f>
              <c:strCache>
                <c:ptCount val="1"/>
                <c:pt idx="0">
                  <c:v>Utilities</c:v>
                </c:pt>
              </c:strCache>
            </c:strRef>
          </c:tx>
          <c:spPr>
            <a:pattFill prst="wdUpDiag">
              <a:fgClr>
                <a:srgbClr val="C8E5DC"/>
              </a:fgClr>
              <a:bgClr>
                <a:sysClr val="window" lastClr="FFFFFF"/>
              </a:bgClr>
            </a:pattFill>
            <a:ln>
              <a:noFill/>
            </a:ln>
          </c:spPr>
          <c:invertIfNegative val="0"/>
          <c:dLbls>
            <c:delete val="1"/>
          </c:dLbls>
          <c:val>
            <c:numRef>
              <c:f>Presentacion!$DT$108:$DU$108</c:f>
              <c:numCache>
                <c:formatCode>General</c:formatCode>
                <c:ptCount val="2"/>
              </c:numCache>
            </c:numRef>
          </c:val>
          <c:extLst>
            <c:ext xmlns:c16="http://schemas.microsoft.com/office/drawing/2014/chart" uri="{C3380CC4-5D6E-409C-BE32-E72D297353CC}">
              <c16:uniqueId val="{00000007-B80E-4965-8790-F870B8701AD7}"/>
            </c:ext>
          </c:extLst>
        </c:ser>
        <c:ser>
          <c:idx val="4"/>
          <c:order val="4"/>
          <c:tx>
            <c:strRef>
              <c:f>Presentacion!$DO$109</c:f>
              <c:strCache>
                <c:ptCount val="1"/>
                <c:pt idx="0">
                  <c:v>Otros</c:v>
                </c:pt>
              </c:strCache>
            </c:strRef>
          </c:tx>
          <c:spPr>
            <a:solidFill>
              <a:srgbClr val="ACD7CA"/>
            </a:solidFill>
          </c:spPr>
          <c:invertIfNegative val="0"/>
          <c:dLbls>
            <c:delete val="1"/>
          </c:dLbls>
          <c:val>
            <c:numRef>
              <c:f>Presentacion!$DT$109:$DU$109</c:f>
              <c:numCache>
                <c:formatCode>General</c:formatCode>
                <c:ptCount val="2"/>
              </c:numCache>
            </c:numRef>
          </c:val>
          <c:extLst>
            <c:ext xmlns:c16="http://schemas.microsoft.com/office/drawing/2014/chart" uri="{C3380CC4-5D6E-409C-BE32-E72D297353CC}">
              <c16:uniqueId val="{00000008-B80E-4965-8790-F870B8701AD7}"/>
            </c:ext>
          </c:extLst>
        </c:ser>
        <c:ser>
          <c:idx val="5"/>
          <c:order val="5"/>
          <c:tx>
            <c:strRef>
              <c:f>Presentacion!$DO$110</c:f>
              <c:strCache>
                <c:ptCount val="1"/>
                <c:pt idx="0">
                  <c:v>Otros</c:v>
                </c:pt>
              </c:strCache>
            </c:strRef>
          </c:tx>
          <c:spPr>
            <a:pattFill prst="wdUpDiag">
              <a:fgClr>
                <a:srgbClr val="ACD7CA"/>
              </a:fgClr>
              <a:bgClr>
                <a:sysClr val="window" lastClr="FFFFFF"/>
              </a:bgClr>
            </a:pattFill>
            <a:ln>
              <a:noFill/>
            </a:ln>
          </c:spPr>
          <c:invertIfNegative val="0"/>
          <c:dLbls>
            <c:delete val="1"/>
          </c:dLbls>
          <c:val>
            <c:numRef>
              <c:f>Presentacion!$DT$110:$DU$110</c:f>
              <c:numCache>
                <c:formatCode>General</c:formatCode>
                <c:ptCount val="2"/>
              </c:numCache>
            </c:numRef>
          </c:val>
          <c:extLst>
            <c:ext xmlns:c16="http://schemas.microsoft.com/office/drawing/2014/chart" uri="{C3380CC4-5D6E-409C-BE32-E72D297353CC}">
              <c16:uniqueId val="{00000009-B80E-4965-8790-F870B8701AD7}"/>
            </c:ext>
          </c:extLst>
        </c:ser>
        <c:ser>
          <c:idx val="6"/>
          <c:order val="6"/>
          <c:tx>
            <c:strRef>
              <c:f>Presentacion!$DO$111</c:f>
              <c:strCache>
                <c:ptCount val="1"/>
                <c:pt idx="0">
                  <c:v>RF</c:v>
                </c:pt>
              </c:strCache>
            </c:strRef>
          </c:tx>
          <c:spPr>
            <a:solidFill>
              <a:srgbClr val="B7EEFF"/>
            </a:solidFill>
          </c:spPr>
          <c:invertIfNegative val="0"/>
          <c:dLbls>
            <c:delete val="1"/>
          </c:dLbls>
          <c:val>
            <c:numRef>
              <c:f>Presentacion!$DT$111:$DU$111</c:f>
              <c:numCache>
                <c:formatCode>General</c:formatCode>
                <c:ptCount val="2"/>
              </c:numCache>
            </c:numRef>
          </c:val>
          <c:extLst>
            <c:ext xmlns:c16="http://schemas.microsoft.com/office/drawing/2014/chart" uri="{C3380CC4-5D6E-409C-BE32-E72D297353CC}">
              <c16:uniqueId val="{0000000A-B80E-4965-8790-F870B8701AD7}"/>
            </c:ext>
          </c:extLst>
        </c:ser>
        <c:ser>
          <c:idx val="7"/>
          <c:order val="7"/>
          <c:tx>
            <c:strRef>
              <c:f>Presentacion!$DO$112</c:f>
              <c:strCache>
                <c:ptCount val="1"/>
                <c:pt idx="0">
                  <c:v>RF Proxies</c:v>
                </c:pt>
              </c:strCache>
            </c:strRef>
          </c:tx>
          <c:spPr>
            <a:pattFill prst="wdUpDiag">
              <a:fgClr>
                <a:srgbClr val="B7EEFF"/>
              </a:fgClr>
              <a:bgClr>
                <a:sysClr val="window" lastClr="FFFFFF"/>
              </a:bgClr>
            </a:pattFill>
            <a:ln>
              <a:noFill/>
            </a:ln>
          </c:spPr>
          <c:invertIfNegative val="0"/>
          <c:dLbls>
            <c:delete val="1"/>
          </c:dLbls>
          <c:val>
            <c:numRef>
              <c:f>Presentacion!$DT$112:$DU$112</c:f>
              <c:numCache>
                <c:formatCode>General</c:formatCode>
                <c:ptCount val="2"/>
              </c:numCache>
            </c:numRef>
          </c:val>
          <c:extLst>
            <c:ext xmlns:c16="http://schemas.microsoft.com/office/drawing/2014/chart" uri="{C3380CC4-5D6E-409C-BE32-E72D297353CC}">
              <c16:uniqueId val="{0000000B-B80E-4965-8790-F870B8701AD7}"/>
            </c:ext>
          </c:extLst>
        </c:ser>
        <c:ser>
          <c:idx val="8"/>
          <c:order val="8"/>
          <c:tx>
            <c:strRef>
              <c:f>Presentacion!$DO$113</c:f>
              <c:strCache>
                <c:ptCount val="1"/>
                <c:pt idx="0">
                  <c:v>ETF Sobs</c:v>
                </c:pt>
              </c:strCache>
            </c:strRef>
          </c:tx>
          <c:spPr>
            <a:solidFill>
              <a:srgbClr val="AFC3E6"/>
            </a:solidFill>
          </c:spPr>
          <c:invertIfNegative val="0"/>
          <c:dLbls>
            <c:delete val="1"/>
          </c:dLbls>
          <c:val>
            <c:numRef>
              <c:f>Presentacion!$DT$113:$DU$113</c:f>
              <c:numCache>
                <c:formatCode>General</c:formatCode>
                <c:ptCount val="2"/>
              </c:numCache>
            </c:numRef>
          </c:val>
          <c:extLst>
            <c:ext xmlns:c16="http://schemas.microsoft.com/office/drawing/2014/chart" uri="{C3380CC4-5D6E-409C-BE32-E72D297353CC}">
              <c16:uniqueId val="{0000000C-B80E-4965-8790-F870B8701AD7}"/>
            </c:ext>
          </c:extLst>
        </c:ser>
        <c:ser>
          <c:idx val="9"/>
          <c:order val="9"/>
          <c:tx>
            <c:strRef>
              <c:f>Presentacion!$DO$114</c:f>
              <c:strCache>
                <c:ptCount val="1"/>
                <c:pt idx="0">
                  <c:v>ETF Sobs Proxies</c:v>
                </c:pt>
              </c:strCache>
            </c:strRef>
          </c:tx>
          <c:invertIfNegative val="0"/>
          <c:dLbls>
            <c:delete val="1"/>
          </c:dLbls>
          <c:val>
            <c:numRef>
              <c:f>Presentacion!$DT$114:$DU$114</c:f>
              <c:numCache>
                <c:formatCode>General</c:formatCode>
                <c:ptCount val="2"/>
              </c:numCache>
            </c:numRef>
          </c:val>
          <c:extLst>
            <c:ext xmlns:c16="http://schemas.microsoft.com/office/drawing/2014/chart" uri="{C3380CC4-5D6E-409C-BE32-E72D297353CC}">
              <c16:uniqueId val="{0000000D-B80E-4965-8790-F870B8701AD7}"/>
            </c:ext>
          </c:extLst>
        </c:ser>
        <c:ser>
          <c:idx val="10"/>
          <c:order val="10"/>
          <c:tx>
            <c:strRef>
              <c:f>Presentacion!$DO$115</c:f>
              <c:strCache>
                <c:ptCount val="1"/>
                <c:pt idx="0">
                  <c:v>RV</c:v>
                </c:pt>
              </c:strCache>
            </c:strRef>
          </c:tx>
          <c:spPr>
            <a:solidFill>
              <a:srgbClr val="D4EAF3"/>
            </a:solidFill>
          </c:spPr>
          <c:invertIfNegative val="0"/>
          <c:dLbls>
            <c:delete val="1"/>
          </c:dLbls>
          <c:val>
            <c:numRef>
              <c:f>Presentacion!$DT$115:$DU$115</c:f>
              <c:numCache>
                <c:formatCode>General</c:formatCode>
                <c:ptCount val="2"/>
              </c:numCache>
            </c:numRef>
          </c:val>
          <c:extLst>
            <c:ext xmlns:c16="http://schemas.microsoft.com/office/drawing/2014/chart" uri="{C3380CC4-5D6E-409C-BE32-E72D297353CC}">
              <c16:uniqueId val="{0000000E-B80E-4965-8790-F870B8701AD7}"/>
            </c:ext>
          </c:extLst>
        </c:ser>
        <c:ser>
          <c:idx val="11"/>
          <c:order val="11"/>
          <c:tx>
            <c:strRef>
              <c:f>Presentacion!$DO$116</c:f>
              <c:strCache>
                <c:ptCount val="1"/>
                <c:pt idx="0">
                  <c:v>RV Proxies</c:v>
                </c:pt>
              </c:strCache>
            </c:strRef>
          </c:tx>
          <c:invertIfNegative val="0"/>
          <c:dLbls>
            <c:delete val="1"/>
          </c:dLbls>
          <c:val>
            <c:numRef>
              <c:f>Presentacion!$DT$116:$DU$116</c:f>
              <c:numCache>
                <c:formatCode>General</c:formatCode>
                <c:ptCount val="2"/>
              </c:numCache>
            </c:numRef>
          </c:val>
          <c:extLst>
            <c:ext xmlns:c16="http://schemas.microsoft.com/office/drawing/2014/chart" uri="{C3380CC4-5D6E-409C-BE32-E72D297353CC}">
              <c16:uniqueId val="{0000000F-B80E-4965-8790-F870B8701AD7}"/>
            </c:ext>
          </c:extLst>
        </c:ser>
        <c:ser>
          <c:idx val="12"/>
          <c:order val="12"/>
          <c:tx>
            <c:strRef>
              <c:f>Presentacion!$DO$117</c:f>
              <c:strCache>
                <c:ptCount val="1"/>
                <c:pt idx="0">
                  <c:v>Alts</c:v>
                </c:pt>
              </c:strCache>
            </c:strRef>
          </c:tx>
          <c:spPr>
            <a:pattFill prst="wdUpDiag">
              <a:fgClr>
                <a:srgbClr val="516FED"/>
              </a:fgClr>
              <a:bgClr>
                <a:sysClr val="window" lastClr="FFFFFF"/>
              </a:bgClr>
            </a:pattFill>
          </c:spPr>
          <c:invertIfNegative val="0"/>
          <c:dLbls>
            <c:delete val="1"/>
          </c:dLbls>
          <c:val>
            <c:numRef>
              <c:f>Presentacion!$DT$117:$DU$117</c:f>
              <c:numCache>
                <c:formatCode>General</c:formatCode>
                <c:ptCount val="2"/>
              </c:numCache>
            </c:numRef>
          </c:val>
          <c:extLst>
            <c:ext xmlns:c16="http://schemas.microsoft.com/office/drawing/2014/chart" uri="{C3380CC4-5D6E-409C-BE32-E72D297353CC}">
              <c16:uniqueId val="{00000010-B80E-4965-8790-F870B8701AD7}"/>
            </c:ext>
          </c:extLst>
        </c:ser>
        <c:dLbls>
          <c:dLblPos val="ctr"/>
          <c:showLegendKey val="0"/>
          <c:showVal val="1"/>
          <c:showCatName val="0"/>
          <c:showSerName val="0"/>
          <c:showPercent val="0"/>
          <c:showBubbleSize val="0"/>
        </c:dLbls>
        <c:gapWidth val="190"/>
        <c:overlap val="100"/>
        <c:axId val="343178255"/>
        <c:axId val="1296126783"/>
      </c:barChart>
      <c:catAx>
        <c:axId val="3431782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sz="100">
                <a:solidFill>
                  <a:schemeClr val="bg1"/>
                </a:solidFill>
              </a:defRPr>
            </a:pPr>
            <a:endParaRPr lang="es-PE"/>
          </a:p>
        </c:txPr>
        <c:crossAx val="1296126783"/>
        <c:crosses val="autoZero"/>
        <c:auto val="1"/>
        <c:lblAlgn val="ctr"/>
        <c:lblOffset val="100"/>
        <c:tickLblSkip val="1"/>
        <c:noMultiLvlLbl val="0"/>
      </c:catAx>
      <c:valAx>
        <c:axId val="1296126783"/>
        <c:scaling>
          <c:orientation val="minMax"/>
          <c:max val="200"/>
          <c:min val="0"/>
        </c:scaling>
        <c:delete val="1"/>
        <c:axPos val="l"/>
        <c:numFmt formatCode="_(* #,##0.00_);_(* \(#,##0.00\);_(* &quot;-&quot;??_);_(@_)" sourceLinked="1"/>
        <c:majorTickMark val="out"/>
        <c:minorTickMark val="none"/>
        <c:tickLblPos val="nextTo"/>
        <c:crossAx val="343178255"/>
        <c:crosses val="autoZero"/>
        <c:crossBetween val="between"/>
      </c:valAx>
    </c:plotArea>
    <c:plotVisOnly val="0"/>
    <c:dispBlanksAs val="zero"/>
    <c:showDLblsOverMax val="0"/>
    <c:extLst/>
  </c:chart>
  <c:txPr>
    <a:bodyPr/>
    <a:lstStyle/>
    <a:p>
      <a:pPr>
        <a:defRPr sz="600">
          <a:solidFill>
            <a:srgbClr val="002060"/>
          </a:solidFill>
          <a:latin typeface="Trebuchet MS" panose="020B0603020202020204" pitchFamily="34" charset="0"/>
        </a:defRPr>
      </a:pPr>
      <a:endParaRPr lang="es-PE"/>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2311850868521126E-2"/>
          <c:y val="0.12521240233843825"/>
          <c:w val="0.92653554901135882"/>
          <c:h val="0.80277874667015836"/>
        </c:manualLayout>
      </c:layout>
      <c:barChart>
        <c:barDir val="col"/>
        <c:grouping val="stacked"/>
        <c:varyColors val="0"/>
        <c:ser>
          <c:idx val="0"/>
          <c:order val="0"/>
          <c:tx>
            <c:strRef>
              <c:f>Presentacion!$DO$56</c:f>
              <c:strCache>
                <c:ptCount val="1"/>
                <c:pt idx="0">
                  <c:v>Utilities</c:v>
                </c:pt>
              </c:strCache>
            </c:strRef>
          </c:tx>
          <c:spPr>
            <a:solidFill>
              <a:srgbClr val="E3F2ED"/>
            </a:solidFill>
          </c:spPr>
          <c:invertIfNegative val="0"/>
          <c:dLbls>
            <c:spPr>
              <a:noFill/>
              <a:ln>
                <a:noFill/>
              </a:ln>
              <a:effectLst/>
            </c:spPr>
            <c:showLegendKey val="0"/>
            <c:showVal val="0"/>
            <c:showCatName val="0"/>
            <c:showSerName val="1"/>
            <c:showPercent val="0"/>
            <c:showBubbleSize val="0"/>
            <c:showLeaderLines val="0"/>
            <c:extLst>
              <c:ext xmlns:c15="http://schemas.microsoft.com/office/drawing/2012/chart" uri="{CE6537A1-D6FC-4f65-9D91-7224C49458BB}">
                <c15:showLeaderLines val="1"/>
              </c:ext>
            </c:extLst>
          </c:dLbls>
          <c:cat>
            <c:numRef>
              <c:f>Presentacion!$DO$63:$DP$63</c:f>
              <c:numCache>
                <c:formatCode>mmm\-yy</c:formatCode>
                <c:ptCount val="2"/>
                <c:pt idx="0">
                  <c:v>45992</c:v>
                </c:pt>
                <c:pt idx="1">
                  <c:v>46174</c:v>
                </c:pt>
              </c:numCache>
            </c:numRef>
          </c:cat>
          <c:val>
            <c:numRef>
              <c:f>Presentacion!$DP$56:$DQ$56</c:f>
              <c:numCache>
                <c:formatCode>_(* #,##0.00_);_(* \(#,##0.00\);_(* "-"??_);_(@_)</c:formatCode>
                <c:ptCount val="2"/>
                <c:pt idx="0">
                  <c:v>28776.67384383448</c:v>
                </c:pt>
                <c:pt idx="1">
                  <c:v>31458.510273998949</c:v>
                </c:pt>
              </c:numCache>
            </c:numRef>
          </c:val>
          <c:extLst>
            <c:ext xmlns:c16="http://schemas.microsoft.com/office/drawing/2014/chart" uri="{C3380CC4-5D6E-409C-BE32-E72D297353CC}">
              <c16:uniqueId val="{00000000-F9A4-4D12-8A3E-483B938AAD50}"/>
            </c:ext>
          </c:extLst>
        </c:ser>
        <c:ser>
          <c:idx val="1"/>
          <c:order val="1"/>
          <c:tx>
            <c:strRef>
              <c:f>Presentacion!$DO$57</c:f>
              <c:strCache>
                <c:ptCount val="1"/>
                <c:pt idx="0">
                  <c:v>Materials</c:v>
                </c:pt>
              </c:strCache>
            </c:strRef>
          </c:tx>
          <c:invertIfNegative val="0"/>
          <c:dLbls>
            <c:dLbl>
              <c:idx val="0"/>
              <c:tx>
                <c:rich>
                  <a:bodyPr/>
                  <a:lstStyle/>
                  <a:p>
                    <a:fld id="{19D1249C-90FE-43E4-AB3F-B1FC4CAF0AA1}"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F9A4-4D12-8A3E-483B938AAD50}"/>
                </c:ext>
              </c:extLst>
            </c:dLbl>
            <c:dLbl>
              <c:idx val="1"/>
              <c:dLblPos val="ct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2-F9A4-4D12-8A3E-483B938AAD50}"/>
                </c:ext>
              </c:extLst>
            </c:dLbl>
            <c:spPr>
              <a:noFill/>
              <a:ln>
                <a:noFill/>
              </a:ln>
              <a:effectLst/>
            </c:spPr>
            <c:txPr>
              <a:bodyPr wrap="square" lIns="38100" tIns="19050" rIns="38100" bIns="19050" anchor="ctr">
                <a:spAutoFit/>
              </a:bodyPr>
              <a:lstStyle/>
              <a:p>
                <a:pPr>
                  <a:defRPr b="0">
                    <a:solidFill>
                      <a:schemeClr val="bg1"/>
                    </a:solidFill>
                  </a:defRPr>
                </a:pPr>
                <a:endParaRPr lang="es-PE"/>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ext>
            </c:extLst>
          </c:dLbls>
          <c:cat>
            <c:numRef>
              <c:f>Presentacion!$DO$63:$DP$63</c:f>
              <c:numCache>
                <c:formatCode>mmm\-yy</c:formatCode>
                <c:ptCount val="2"/>
                <c:pt idx="0">
                  <c:v>45992</c:v>
                </c:pt>
                <c:pt idx="1">
                  <c:v>46174</c:v>
                </c:pt>
              </c:numCache>
            </c:numRef>
          </c:cat>
          <c:val>
            <c:numRef>
              <c:f>Presentacion!$DP$57:$DQ$57</c:f>
              <c:numCache>
                <c:formatCode>_(* #,##0.00_);_(* \(#,##0.00\);_(* "-"??_);_(@_)</c:formatCode>
                <c:ptCount val="2"/>
                <c:pt idx="0">
                  <c:v>121939.01339460412</c:v>
                </c:pt>
                <c:pt idx="1">
                  <c:v>101433.3762510201</c:v>
                </c:pt>
              </c:numCache>
            </c:numRef>
          </c:val>
          <c:extLst>
            <c:ext xmlns:c15="http://schemas.microsoft.com/office/drawing/2012/chart" uri="{02D57815-91ED-43cb-92C2-25804820EDAC}">
              <c15:datalabelsRange>
                <c15:f>Presentacion!$DO$57</c15:f>
                <c15:dlblRangeCache>
                  <c:ptCount val="1"/>
                  <c:pt idx="0">
                    <c:v>Materials</c:v>
                  </c:pt>
                </c15:dlblRangeCache>
              </c15:datalabelsRange>
            </c:ext>
            <c:ext xmlns:c16="http://schemas.microsoft.com/office/drawing/2014/chart" uri="{C3380CC4-5D6E-409C-BE32-E72D297353CC}">
              <c16:uniqueId val="{00000003-F9A4-4D12-8A3E-483B938AAD50}"/>
            </c:ext>
          </c:extLst>
        </c:ser>
        <c:ser>
          <c:idx val="2"/>
          <c:order val="2"/>
          <c:tx>
            <c:strRef>
              <c:f>Presentacion!$DO$58</c:f>
              <c:strCache>
                <c:ptCount val="1"/>
                <c:pt idx="0">
                  <c:v>Otros BU</c:v>
                </c:pt>
              </c:strCache>
            </c:strRef>
          </c:tx>
          <c:spPr>
            <a:solidFill>
              <a:srgbClr val="C8E5DC"/>
            </a:solidFill>
          </c:spPr>
          <c:invertIfNegative val="0"/>
          <c:dLbls>
            <c:dLbl>
              <c:idx val="1"/>
              <c:layout>
                <c:manualLayout>
                  <c:x val="0"/>
                  <c:y val="-1.5596729297146901E-2"/>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4-F9A4-4D12-8A3E-483B938AAD50}"/>
                </c:ext>
              </c:extLst>
            </c:dLbl>
            <c:spPr>
              <a:noFill/>
              <a:ln>
                <a:noFill/>
              </a:ln>
              <a:effectLst/>
            </c:spPr>
            <c:showLegendKey val="0"/>
            <c:showVal val="0"/>
            <c:showCatName val="0"/>
            <c:showSerName val="1"/>
            <c:showPercent val="0"/>
            <c:showBubbleSize val="0"/>
            <c:showLeaderLines val="0"/>
            <c:extLst>
              <c:ext xmlns:c15="http://schemas.microsoft.com/office/drawing/2012/chart" uri="{CE6537A1-D6FC-4f65-9D91-7224C49458BB}">
                <c15:showLeaderLines val="1"/>
              </c:ext>
            </c:extLst>
          </c:dLbls>
          <c:cat>
            <c:numRef>
              <c:f>Presentacion!$DO$63:$DP$63</c:f>
              <c:numCache>
                <c:formatCode>mmm\-yy</c:formatCode>
                <c:ptCount val="2"/>
                <c:pt idx="0">
                  <c:v>45992</c:v>
                </c:pt>
                <c:pt idx="1">
                  <c:v>46174</c:v>
                </c:pt>
              </c:numCache>
            </c:numRef>
          </c:cat>
          <c:val>
            <c:numRef>
              <c:f>Presentacion!$DP$58:$DQ$58</c:f>
              <c:numCache>
                <c:formatCode>_(* #,##0.00_);_(* \(#,##0.00\);_(* "-"??_);_(@_)</c:formatCode>
                <c:ptCount val="2"/>
                <c:pt idx="0">
                  <c:v>86845.056120006993</c:v>
                </c:pt>
                <c:pt idx="1">
                  <c:v>77920.312847945344</c:v>
                </c:pt>
              </c:numCache>
            </c:numRef>
          </c:val>
          <c:extLst>
            <c:ext xmlns:c16="http://schemas.microsoft.com/office/drawing/2014/chart" uri="{C3380CC4-5D6E-409C-BE32-E72D297353CC}">
              <c16:uniqueId val="{00000005-F9A4-4D12-8A3E-483B938AAD50}"/>
            </c:ext>
          </c:extLst>
        </c:ser>
        <c:ser>
          <c:idx val="3"/>
          <c:order val="3"/>
          <c:tx>
            <c:strRef>
              <c:f>Presentacion!$DO$59</c:f>
              <c:strCache>
                <c:ptCount val="1"/>
                <c:pt idx="0">
                  <c:v>RF</c:v>
                </c:pt>
              </c:strCache>
            </c:strRef>
          </c:tx>
          <c:spPr>
            <a:pattFill prst="wdUpDiag">
              <a:fgClr>
                <a:srgbClr val="C8E5DC"/>
              </a:fgClr>
              <a:bgClr>
                <a:sysClr val="window" lastClr="FFFFFF"/>
              </a:bgClr>
            </a:pattFill>
            <a:ln>
              <a:noFill/>
            </a:ln>
          </c:spPr>
          <c:invertIfNegative val="0"/>
          <c:dLbls>
            <c:dLbl>
              <c:idx val="0"/>
              <c:tx>
                <c:rich>
                  <a:bodyPr/>
                  <a:lstStyle/>
                  <a:p>
                    <a:fld id="{A025073B-93E7-4196-AAB4-A3F0924F013D}"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F9A4-4D12-8A3E-483B938AAD50}"/>
                </c:ext>
              </c:extLst>
            </c:dLbl>
            <c:dLbl>
              <c:idx val="1"/>
              <c:dLblPos val="ct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7-F9A4-4D12-8A3E-483B938AAD50}"/>
                </c:ext>
              </c:extLst>
            </c:dLbl>
            <c:spPr>
              <a:noFill/>
              <a:ln>
                <a:noFill/>
              </a:ln>
              <a:effectLst/>
            </c:sp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ext>
            </c:extLst>
          </c:dLbls>
          <c:cat>
            <c:numRef>
              <c:f>Presentacion!$DO$63:$DP$63</c:f>
              <c:numCache>
                <c:formatCode>mmm\-yy</c:formatCode>
                <c:ptCount val="2"/>
                <c:pt idx="0">
                  <c:v>45992</c:v>
                </c:pt>
                <c:pt idx="1">
                  <c:v>46174</c:v>
                </c:pt>
              </c:numCache>
            </c:numRef>
          </c:cat>
          <c:val>
            <c:numRef>
              <c:f>Presentacion!$DP$59:$DQ$59</c:f>
              <c:numCache>
                <c:formatCode>_(* #,##0.00_);_(* \(#,##0.00\);_(* "-"??_);_(@_)</c:formatCode>
                <c:ptCount val="2"/>
                <c:pt idx="0">
                  <c:v>86213.448925346427</c:v>
                </c:pt>
                <c:pt idx="1">
                  <c:v>70447.117488729433</c:v>
                </c:pt>
              </c:numCache>
            </c:numRef>
          </c:val>
          <c:extLst>
            <c:ext xmlns:c15="http://schemas.microsoft.com/office/drawing/2012/chart" uri="{02D57815-91ED-43cb-92C2-25804820EDAC}">
              <c15:datalabelsRange>
                <c15:f>Presentacion!$DO$59</c15:f>
                <c15:dlblRangeCache>
                  <c:ptCount val="1"/>
                  <c:pt idx="0">
                    <c:v>RF</c:v>
                  </c:pt>
                </c15:dlblRangeCache>
              </c15:datalabelsRange>
            </c:ext>
            <c:ext xmlns:c16="http://schemas.microsoft.com/office/drawing/2014/chart" uri="{C3380CC4-5D6E-409C-BE32-E72D297353CC}">
              <c16:uniqueId val="{00000008-F9A4-4D12-8A3E-483B938AAD50}"/>
            </c:ext>
          </c:extLst>
        </c:ser>
        <c:ser>
          <c:idx val="4"/>
          <c:order val="4"/>
          <c:tx>
            <c:strRef>
              <c:f>Presentacion!$DO$60</c:f>
              <c:strCache>
                <c:ptCount val="1"/>
                <c:pt idx="0">
                  <c:v>RV</c:v>
                </c:pt>
              </c:strCache>
            </c:strRef>
          </c:tx>
          <c:spPr>
            <a:solidFill>
              <a:srgbClr val="ACD7CA"/>
            </a:solidFill>
          </c:spPr>
          <c:invertIfNegative val="0"/>
          <c:dLbls>
            <c:dLbl>
              <c:idx val="1"/>
              <c:layout>
                <c:manualLayout>
                  <c:x val="-9.6674407761945537E-17"/>
                  <c:y val="-1.5596729297146901E-2"/>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9-F9A4-4D12-8A3E-483B938AAD50}"/>
                </c:ext>
              </c:extLst>
            </c:dLbl>
            <c:spPr>
              <a:noFill/>
              <a:ln>
                <a:noFill/>
              </a:ln>
              <a:effectLst/>
            </c:spPr>
            <c:showLegendKey val="0"/>
            <c:showVal val="0"/>
            <c:showCatName val="0"/>
            <c:showSerName val="1"/>
            <c:showPercent val="0"/>
            <c:showBubbleSize val="0"/>
            <c:showLeaderLines val="0"/>
            <c:extLst>
              <c:ext xmlns:c15="http://schemas.microsoft.com/office/drawing/2012/chart" uri="{CE6537A1-D6FC-4f65-9D91-7224C49458BB}">
                <c15:showLeaderLines val="1"/>
              </c:ext>
            </c:extLst>
          </c:dLbls>
          <c:cat>
            <c:numRef>
              <c:f>Presentacion!$DO$63:$DP$63</c:f>
              <c:numCache>
                <c:formatCode>mmm\-yy</c:formatCode>
                <c:ptCount val="2"/>
                <c:pt idx="0">
                  <c:v>45992</c:v>
                </c:pt>
                <c:pt idx="1">
                  <c:v>46174</c:v>
                </c:pt>
              </c:numCache>
            </c:numRef>
          </c:cat>
          <c:val>
            <c:numRef>
              <c:f>Presentacion!$DP$60:$DQ$60</c:f>
              <c:numCache>
                <c:formatCode>_(* #,##0.00_);_(* \(#,##0.00\);_(* "-"??_);_(@_)</c:formatCode>
                <c:ptCount val="2"/>
                <c:pt idx="0">
                  <c:v>107982.97367031116</c:v>
                </c:pt>
                <c:pt idx="1">
                  <c:v>84456.382845570857</c:v>
                </c:pt>
              </c:numCache>
            </c:numRef>
          </c:val>
          <c:extLst>
            <c:ext xmlns:c16="http://schemas.microsoft.com/office/drawing/2014/chart" uri="{C3380CC4-5D6E-409C-BE32-E72D297353CC}">
              <c16:uniqueId val="{0000000A-F9A4-4D12-8A3E-483B938AAD50}"/>
            </c:ext>
          </c:extLst>
        </c:ser>
        <c:ser>
          <c:idx val="5"/>
          <c:order val="5"/>
          <c:tx>
            <c:strRef>
              <c:f>Presentacion!$DO$61</c:f>
              <c:strCache>
                <c:ptCount val="1"/>
                <c:pt idx="0">
                  <c:v>Alts</c:v>
                </c:pt>
              </c:strCache>
            </c:strRef>
          </c:tx>
          <c:spPr>
            <a:pattFill prst="wdUpDiag">
              <a:fgClr>
                <a:srgbClr val="ACD7CA"/>
              </a:fgClr>
              <a:bgClr>
                <a:sysClr val="window" lastClr="FFFFFF"/>
              </a:bgClr>
            </a:pattFill>
            <a:ln>
              <a:noFill/>
            </a:ln>
          </c:spPr>
          <c:invertIfNegative val="0"/>
          <c:dLbls>
            <c:dLbl>
              <c:idx val="0"/>
              <c:tx>
                <c:rich>
                  <a:bodyPr/>
                  <a:lstStyle/>
                  <a:p>
                    <a:fld id="{0E387D6A-FE2E-4A4A-957E-9CAD9C079D91}"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F9A4-4D12-8A3E-483B938AAD50}"/>
                </c:ext>
              </c:extLst>
            </c:dLbl>
            <c:dLbl>
              <c:idx val="1"/>
              <c:dLblPos val="ct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C-F9A4-4D12-8A3E-483B938AAD50}"/>
                </c:ext>
              </c:extLst>
            </c:dLbl>
            <c:spPr>
              <a:noFill/>
              <a:ln>
                <a:noFill/>
              </a:ln>
              <a:effectLst/>
            </c:sp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ext>
            </c:extLst>
          </c:dLbls>
          <c:cat>
            <c:numRef>
              <c:f>Presentacion!$DO$63:$DP$63</c:f>
              <c:numCache>
                <c:formatCode>mmm\-yy</c:formatCode>
                <c:ptCount val="2"/>
                <c:pt idx="0">
                  <c:v>45992</c:v>
                </c:pt>
                <c:pt idx="1">
                  <c:v>46174</c:v>
                </c:pt>
              </c:numCache>
            </c:numRef>
          </c:cat>
          <c:val>
            <c:numRef>
              <c:f>Presentacion!$DP$61:$DQ$61</c:f>
              <c:numCache>
                <c:formatCode>_(* #,##0.00_);_(* \(#,##0.00\);_(* "-"??_);_(@_)</c:formatCode>
                <c:ptCount val="2"/>
                <c:pt idx="0">
                  <c:v>70441.343303910297</c:v>
                </c:pt>
                <c:pt idx="1">
                  <c:v>67214.904063608177</c:v>
                </c:pt>
              </c:numCache>
            </c:numRef>
          </c:val>
          <c:extLst>
            <c:ext xmlns:c15="http://schemas.microsoft.com/office/drawing/2012/chart" uri="{02D57815-91ED-43cb-92C2-25804820EDAC}">
              <c15:datalabelsRange>
                <c15:f>Presentacion!$DO$61</c15:f>
                <c15:dlblRangeCache>
                  <c:ptCount val="1"/>
                  <c:pt idx="0">
                    <c:v>Alts</c:v>
                  </c:pt>
                </c15:dlblRangeCache>
              </c15:datalabelsRange>
            </c:ext>
            <c:ext xmlns:c16="http://schemas.microsoft.com/office/drawing/2014/chart" uri="{C3380CC4-5D6E-409C-BE32-E72D297353CC}">
              <c16:uniqueId val="{0000000D-F9A4-4D12-8A3E-483B938AAD50}"/>
            </c:ext>
          </c:extLst>
        </c:ser>
        <c:dLbls>
          <c:showLegendKey val="0"/>
          <c:showVal val="1"/>
          <c:showCatName val="0"/>
          <c:showSerName val="0"/>
          <c:showPercent val="0"/>
          <c:showBubbleSize val="0"/>
        </c:dLbls>
        <c:gapWidth val="190"/>
        <c:overlap val="100"/>
        <c:axId val="343178255"/>
        <c:axId val="1296126783"/>
      </c:barChart>
      <c:catAx>
        <c:axId val="343178255"/>
        <c:scaling>
          <c:orientation val="minMax"/>
        </c:scaling>
        <c:delete val="1"/>
        <c:axPos val="b"/>
        <c:numFmt formatCode="mmm\-yy" sourceLinked="1"/>
        <c:majorTickMark val="none"/>
        <c:minorTickMark val="none"/>
        <c:tickLblPos val="nextTo"/>
        <c:crossAx val="1296126783"/>
        <c:crosses val="autoZero"/>
        <c:auto val="0"/>
        <c:lblAlgn val="ctr"/>
        <c:lblOffset val="100"/>
        <c:tickLblSkip val="1"/>
        <c:noMultiLvlLbl val="0"/>
      </c:catAx>
      <c:valAx>
        <c:axId val="1296126783"/>
        <c:scaling>
          <c:orientation val="minMax"/>
        </c:scaling>
        <c:delete val="1"/>
        <c:axPos val="l"/>
        <c:numFmt formatCode="_(* #,##0.00_);_(* \(#,##0.00\);_(* &quot;-&quot;??_);_(@_)" sourceLinked="1"/>
        <c:majorTickMark val="none"/>
        <c:minorTickMark val="none"/>
        <c:tickLblPos val="nextTo"/>
        <c:crossAx val="343178255"/>
        <c:crosses val="autoZero"/>
        <c:crossBetween val="between"/>
      </c:valAx>
    </c:plotArea>
    <c:plotVisOnly val="0"/>
    <c:dispBlanksAs val="zero"/>
    <c:showDLblsOverMax val="0"/>
    <c:extLst>
      <c:ext xmlns:c16r3="http://schemas.microsoft.com/office/drawing/2017/03/chart" uri="{56B9EC1D-385E-4148-901F-78D8002777C0}">
        <c16r3:dataDisplayOptions16>
          <c16r3:dispNaAsBlank val="1"/>
        </c16r3:dataDisplayOptions16>
      </c:ext>
    </c:extLst>
  </c:chart>
  <c:txPr>
    <a:bodyPr/>
    <a:lstStyle/>
    <a:p>
      <a:pPr>
        <a:defRPr sz="600">
          <a:solidFill>
            <a:srgbClr val="002060"/>
          </a:solidFill>
          <a:latin typeface="Trebuchet MS" panose="020B0603020202020204" pitchFamily="34" charset="0"/>
        </a:defRPr>
      </a:pPr>
      <a:endParaRPr lang="es-PE"/>
    </a:p>
  </c:tx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6732225494320571E-2"/>
          <c:y val="7.6857311677580004E-2"/>
          <c:w val="0.95732864051022326"/>
          <c:h val="0.80277874667015836"/>
        </c:manualLayout>
      </c:layout>
      <c:barChart>
        <c:barDir val="col"/>
        <c:grouping val="stacked"/>
        <c:varyColors val="0"/>
        <c:ser>
          <c:idx val="0"/>
          <c:order val="0"/>
          <c:tx>
            <c:strRef>
              <c:f>Presentacion!$DO$56</c:f>
              <c:strCache>
                <c:ptCount val="1"/>
                <c:pt idx="0">
                  <c:v>Utilities</c:v>
                </c:pt>
              </c:strCache>
            </c:strRef>
          </c:tx>
          <c:spPr>
            <a:solidFill>
              <a:srgbClr val="E3F2ED"/>
            </a:solidFill>
          </c:spPr>
          <c:invertIfNegative val="0"/>
          <c:dLbls>
            <c:spPr>
              <a:noFill/>
              <a:ln>
                <a:noFill/>
              </a:ln>
              <a:effectLst/>
            </c:spPr>
            <c:showLegendKey val="0"/>
            <c:showVal val="0"/>
            <c:showCatName val="0"/>
            <c:showSerName val="1"/>
            <c:showPercent val="0"/>
            <c:showBubbleSize val="0"/>
            <c:showLeaderLines val="0"/>
            <c:extLst>
              <c:ext xmlns:c15="http://schemas.microsoft.com/office/drawing/2012/chart" uri="{CE6537A1-D6FC-4f65-9D91-7224C49458BB}">
                <c15:showLeaderLines val="1"/>
              </c:ext>
            </c:extLst>
          </c:dLbls>
          <c:cat>
            <c:numRef>
              <c:f>Presentacion!$DO$63:$DP$63</c:f>
              <c:numCache>
                <c:formatCode>mmm\-yy</c:formatCode>
                <c:ptCount val="2"/>
                <c:pt idx="0">
                  <c:v>45992</c:v>
                </c:pt>
                <c:pt idx="1">
                  <c:v>46174</c:v>
                </c:pt>
              </c:numCache>
            </c:numRef>
          </c:cat>
          <c:val>
            <c:numRef>
              <c:f>Presentacion!$DP$56:$DQ$56</c:f>
              <c:numCache>
                <c:formatCode>_(* #,##0.00_);_(* \(#,##0.00\);_(* "-"??_);_(@_)</c:formatCode>
                <c:ptCount val="2"/>
                <c:pt idx="0">
                  <c:v>28776.67384383448</c:v>
                </c:pt>
                <c:pt idx="1">
                  <c:v>31458.510273998949</c:v>
                </c:pt>
              </c:numCache>
            </c:numRef>
          </c:val>
          <c:extLst>
            <c:ext xmlns:c16="http://schemas.microsoft.com/office/drawing/2014/chart" uri="{C3380CC4-5D6E-409C-BE32-E72D297353CC}">
              <c16:uniqueId val="{00000000-DE06-4727-BB4C-645345674ED8}"/>
            </c:ext>
          </c:extLst>
        </c:ser>
        <c:ser>
          <c:idx val="1"/>
          <c:order val="1"/>
          <c:tx>
            <c:strRef>
              <c:f>Presentacion!$DO$57</c:f>
              <c:strCache>
                <c:ptCount val="1"/>
                <c:pt idx="0">
                  <c:v>Materials</c:v>
                </c:pt>
              </c:strCache>
            </c:strRef>
          </c:tx>
          <c:invertIfNegative val="0"/>
          <c:dLbls>
            <c:dLbl>
              <c:idx val="0"/>
              <c:tx>
                <c:rich>
                  <a:bodyPr/>
                  <a:lstStyle/>
                  <a:p>
                    <a:fld id="{693FB2C0-0BF9-4E09-9FBC-9A06FCB3AADA}"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DE06-4727-BB4C-645345674ED8}"/>
                </c:ext>
              </c:extLst>
            </c:dLbl>
            <c:dLbl>
              <c:idx val="1"/>
              <c:dLblPos val="ct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2-DE06-4727-BB4C-645345674ED8}"/>
                </c:ext>
              </c:extLst>
            </c:dLbl>
            <c:spPr>
              <a:noFill/>
              <a:ln>
                <a:noFill/>
              </a:ln>
              <a:effectLst/>
            </c:spPr>
            <c:txPr>
              <a:bodyPr wrap="square" lIns="38100" tIns="19050" rIns="38100" bIns="19050" anchor="ctr">
                <a:spAutoFit/>
              </a:bodyPr>
              <a:lstStyle/>
              <a:p>
                <a:pPr>
                  <a:defRPr b="0">
                    <a:solidFill>
                      <a:schemeClr val="bg1"/>
                    </a:solidFill>
                  </a:defRPr>
                </a:pPr>
                <a:endParaRPr lang="es-PE"/>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ext>
            </c:extLst>
          </c:dLbls>
          <c:cat>
            <c:numRef>
              <c:f>Presentacion!$DO$63:$DP$63</c:f>
              <c:numCache>
                <c:formatCode>mmm\-yy</c:formatCode>
                <c:ptCount val="2"/>
                <c:pt idx="0">
                  <c:v>45992</c:v>
                </c:pt>
                <c:pt idx="1">
                  <c:v>46174</c:v>
                </c:pt>
              </c:numCache>
            </c:numRef>
          </c:cat>
          <c:val>
            <c:numRef>
              <c:f>Presentacion!$DP$57:$DQ$57</c:f>
              <c:numCache>
                <c:formatCode>_(* #,##0.00_);_(* \(#,##0.00\);_(* "-"??_);_(@_)</c:formatCode>
                <c:ptCount val="2"/>
                <c:pt idx="0">
                  <c:v>121939.01339460412</c:v>
                </c:pt>
                <c:pt idx="1">
                  <c:v>101433.3762510201</c:v>
                </c:pt>
              </c:numCache>
            </c:numRef>
          </c:val>
          <c:extLst>
            <c:ext xmlns:c15="http://schemas.microsoft.com/office/drawing/2012/chart" uri="{02D57815-91ED-43cb-92C2-25804820EDAC}">
              <c15:datalabelsRange>
                <c15:f>Presentacion!$DO$57</c15:f>
                <c15:dlblRangeCache>
                  <c:ptCount val="1"/>
                  <c:pt idx="0">
                    <c:v>Materials</c:v>
                  </c:pt>
                </c15:dlblRangeCache>
              </c15:datalabelsRange>
            </c:ext>
            <c:ext xmlns:c16="http://schemas.microsoft.com/office/drawing/2014/chart" uri="{C3380CC4-5D6E-409C-BE32-E72D297353CC}">
              <c16:uniqueId val="{00000003-DE06-4727-BB4C-645345674ED8}"/>
            </c:ext>
          </c:extLst>
        </c:ser>
        <c:ser>
          <c:idx val="2"/>
          <c:order val="2"/>
          <c:tx>
            <c:strRef>
              <c:f>Presentacion!$DO$58</c:f>
              <c:strCache>
                <c:ptCount val="1"/>
                <c:pt idx="0">
                  <c:v>Otros BU</c:v>
                </c:pt>
              </c:strCache>
            </c:strRef>
          </c:tx>
          <c:spPr>
            <a:solidFill>
              <a:srgbClr val="C8E5DC"/>
            </a:solidFill>
          </c:spPr>
          <c:invertIfNegative val="0"/>
          <c:dLbls>
            <c:dLbl>
              <c:idx val="1"/>
              <c:layout>
                <c:manualLayout>
                  <c:x val="0"/>
                  <c:y val="-1.5596729297146901E-2"/>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4-DE06-4727-BB4C-645345674ED8}"/>
                </c:ext>
              </c:extLst>
            </c:dLbl>
            <c:spPr>
              <a:noFill/>
              <a:ln>
                <a:noFill/>
              </a:ln>
              <a:effectLst/>
            </c:spPr>
            <c:showLegendKey val="0"/>
            <c:showVal val="0"/>
            <c:showCatName val="0"/>
            <c:showSerName val="1"/>
            <c:showPercent val="0"/>
            <c:showBubbleSize val="0"/>
            <c:showLeaderLines val="0"/>
            <c:extLst>
              <c:ext xmlns:c15="http://schemas.microsoft.com/office/drawing/2012/chart" uri="{CE6537A1-D6FC-4f65-9D91-7224C49458BB}">
                <c15:showLeaderLines val="1"/>
              </c:ext>
            </c:extLst>
          </c:dLbls>
          <c:cat>
            <c:numRef>
              <c:f>Presentacion!$DO$63:$DP$63</c:f>
              <c:numCache>
                <c:formatCode>mmm\-yy</c:formatCode>
                <c:ptCount val="2"/>
                <c:pt idx="0">
                  <c:v>45992</c:v>
                </c:pt>
                <c:pt idx="1">
                  <c:v>46174</c:v>
                </c:pt>
              </c:numCache>
            </c:numRef>
          </c:cat>
          <c:val>
            <c:numRef>
              <c:f>Presentacion!$DP$58:$DQ$58</c:f>
              <c:numCache>
                <c:formatCode>_(* #,##0.00_);_(* \(#,##0.00\);_(* "-"??_);_(@_)</c:formatCode>
                <c:ptCount val="2"/>
                <c:pt idx="0">
                  <c:v>86845.056120006993</c:v>
                </c:pt>
                <c:pt idx="1">
                  <c:v>77920.312847945344</c:v>
                </c:pt>
              </c:numCache>
            </c:numRef>
          </c:val>
          <c:extLst>
            <c:ext xmlns:c16="http://schemas.microsoft.com/office/drawing/2014/chart" uri="{C3380CC4-5D6E-409C-BE32-E72D297353CC}">
              <c16:uniqueId val="{00000005-DE06-4727-BB4C-645345674ED8}"/>
            </c:ext>
          </c:extLst>
        </c:ser>
        <c:ser>
          <c:idx val="3"/>
          <c:order val="3"/>
          <c:tx>
            <c:strRef>
              <c:f>Presentacion!$DO$59</c:f>
              <c:strCache>
                <c:ptCount val="1"/>
                <c:pt idx="0">
                  <c:v>RF</c:v>
                </c:pt>
              </c:strCache>
            </c:strRef>
          </c:tx>
          <c:spPr>
            <a:pattFill prst="wdUpDiag">
              <a:fgClr>
                <a:srgbClr val="C8E5DC"/>
              </a:fgClr>
              <a:bgClr>
                <a:sysClr val="window" lastClr="FFFFFF"/>
              </a:bgClr>
            </a:pattFill>
            <a:ln>
              <a:noFill/>
            </a:ln>
          </c:spPr>
          <c:invertIfNegative val="0"/>
          <c:dLbls>
            <c:dLbl>
              <c:idx val="0"/>
              <c:tx>
                <c:rich>
                  <a:bodyPr/>
                  <a:lstStyle/>
                  <a:p>
                    <a:fld id="{2FBB9879-7928-4FC4-A7CA-D74A089D8EF5}"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DE06-4727-BB4C-645345674ED8}"/>
                </c:ext>
              </c:extLst>
            </c:dLbl>
            <c:dLbl>
              <c:idx val="1"/>
              <c:dLblPos val="ct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7-DE06-4727-BB4C-645345674ED8}"/>
                </c:ext>
              </c:extLst>
            </c:dLbl>
            <c:spPr>
              <a:noFill/>
              <a:ln>
                <a:noFill/>
              </a:ln>
              <a:effectLst/>
            </c:sp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ext>
            </c:extLst>
          </c:dLbls>
          <c:cat>
            <c:numRef>
              <c:f>Presentacion!$DO$63:$DP$63</c:f>
              <c:numCache>
                <c:formatCode>mmm\-yy</c:formatCode>
                <c:ptCount val="2"/>
                <c:pt idx="0">
                  <c:v>45992</c:v>
                </c:pt>
                <c:pt idx="1">
                  <c:v>46174</c:v>
                </c:pt>
              </c:numCache>
            </c:numRef>
          </c:cat>
          <c:val>
            <c:numRef>
              <c:f>Presentacion!$DP$59:$DQ$59</c:f>
              <c:numCache>
                <c:formatCode>_(* #,##0.00_);_(* \(#,##0.00\);_(* "-"??_);_(@_)</c:formatCode>
                <c:ptCount val="2"/>
                <c:pt idx="0">
                  <c:v>86213.448925346427</c:v>
                </c:pt>
                <c:pt idx="1">
                  <c:v>70447.117488729433</c:v>
                </c:pt>
              </c:numCache>
            </c:numRef>
          </c:val>
          <c:extLst>
            <c:ext xmlns:c15="http://schemas.microsoft.com/office/drawing/2012/chart" uri="{02D57815-91ED-43cb-92C2-25804820EDAC}">
              <c15:datalabelsRange>
                <c15:f>Presentacion!$DO$59</c15:f>
                <c15:dlblRangeCache>
                  <c:ptCount val="1"/>
                  <c:pt idx="0">
                    <c:v>RF</c:v>
                  </c:pt>
                </c15:dlblRangeCache>
              </c15:datalabelsRange>
            </c:ext>
            <c:ext xmlns:c16="http://schemas.microsoft.com/office/drawing/2014/chart" uri="{C3380CC4-5D6E-409C-BE32-E72D297353CC}">
              <c16:uniqueId val="{00000008-DE06-4727-BB4C-645345674ED8}"/>
            </c:ext>
          </c:extLst>
        </c:ser>
        <c:ser>
          <c:idx val="4"/>
          <c:order val="4"/>
          <c:tx>
            <c:strRef>
              <c:f>Presentacion!$DO$60</c:f>
              <c:strCache>
                <c:ptCount val="1"/>
                <c:pt idx="0">
                  <c:v>RV</c:v>
                </c:pt>
              </c:strCache>
            </c:strRef>
          </c:tx>
          <c:spPr>
            <a:solidFill>
              <a:srgbClr val="ACD7CA"/>
            </a:solidFill>
          </c:spPr>
          <c:invertIfNegative val="0"/>
          <c:dLbls>
            <c:dLbl>
              <c:idx val="1"/>
              <c:layout>
                <c:manualLayout>
                  <c:x val="-9.6674407761945537E-17"/>
                  <c:y val="-1.5596729297146901E-2"/>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9-DE06-4727-BB4C-645345674ED8}"/>
                </c:ext>
              </c:extLst>
            </c:dLbl>
            <c:spPr>
              <a:noFill/>
              <a:ln>
                <a:noFill/>
              </a:ln>
              <a:effectLst/>
            </c:spPr>
            <c:showLegendKey val="0"/>
            <c:showVal val="0"/>
            <c:showCatName val="0"/>
            <c:showSerName val="1"/>
            <c:showPercent val="0"/>
            <c:showBubbleSize val="0"/>
            <c:showLeaderLines val="0"/>
            <c:extLst>
              <c:ext xmlns:c15="http://schemas.microsoft.com/office/drawing/2012/chart" uri="{CE6537A1-D6FC-4f65-9D91-7224C49458BB}">
                <c15:showLeaderLines val="1"/>
              </c:ext>
            </c:extLst>
          </c:dLbls>
          <c:cat>
            <c:numRef>
              <c:f>Presentacion!$DO$63:$DP$63</c:f>
              <c:numCache>
                <c:formatCode>mmm\-yy</c:formatCode>
                <c:ptCount val="2"/>
                <c:pt idx="0">
                  <c:v>45992</c:v>
                </c:pt>
                <c:pt idx="1">
                  <c:v>46174</c:v>
                </c:pt>
              </c:numCache>
            </c:numRef>
          </c:cat>
          <c:val>
            <c:numRef>
              <c:f>Presentacion!$DP$60:$DQ$60</c:f>
              <c:numCache>
                <c:formatCode>_(* #,##0.00_);_(* \(#,##0.00\);_(* "-"??_);_(@_)</c:formatCode>
                <c:ptCount val="2"/>
                <c:pt idx="0">
                  <c:v>107982.97367031116</c:v>
                </c:pt>
                <c:pt idx="1">
                  <c:v>84456.382845570857</c:v>
                </c:pt>
              </c:numCache>
            </c:numRef>
          </c:val>
          <c:extLst>
            <c:ext xmlns:c16="http://schemas.microsoft.com/office/drawing/2014/chart" uri="{C3380CC4-5D6E-409C-BE32-E72D297353CC}">
              <c16:uniqueId val="{0000000A-DE06-4727-BB4C-645345674ED8}"/>
            </c:ext>
          </c:extLst>
        </c:ser>
        <c:ser>
          <c:idx val="5"/>
          <c:order val="5"/>
          <c:tx>
            <c:strRef>
              <c:f>Presentacion!$DO$61</c:f>
              <c:strCache>
                <c:ptCount val="1"/>
                <c:pt idx="0">
                  <c:v>Alts</c:v>
                </c:pt>
              </c:strCache>
            </c:strRef>
          </c:tx>
          <c:spPr>
            <a:pattFill prst="wdUpDiag">
              <a:fgClr>
                <a:srgbClr val="ACD7CA"/>
              </a:fgClr>
              <a:bgClr>
                <a:sysClr val="window" lastClr="FFFFFF"/>
              </a:bgClr>
            </a:pattFill>
            <a:ln>
              <a:noFill/>
            </a:ln>
          </c:spPr>
          <c:invertIfNegative val="0"/>
          <c:dLbls>
            <c:dLbl>
              <c:idx val="0"/>
              <c:tx>
                <c:rich>
                  <a:bodyPr/>
                  <a:lstStyle/>
                  <a:p>
                    <a:fld id="{865FE434-6AE3-4324-BF6A-595CEFCC271E}" type="CELLRANGE">
                      <a:rPr lang="en-US"/>
                      <a:pPr/>
                      <a:t>[CELLRANGE]</a:t>
                    </a:fld>
                    <a:endParaRPr lang="es-PE"/>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DE06-4727-BB4C-645345674ED8}"/>
                </c:ext>
              </c:extLst>
            </c:dLbl>
            <c:dLbl>
              <c:idx val="1"/>
              <c:dLblPos val="ct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C-DE06-4727-BB4C-645345674ED8}"/>
                </c:ext>
              </c:extLst>
            </c:dLbl>
            <c:spPr>
              <a:noFill/>
              <a:ln>
                <a:noFill/>
              </a:ln>
              <a:effectLst/>
            </c:sp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ext>
            </c:extLst>
          </c:dLbls>
          <c:cat>
            <c:numRef>
              <c:f>Presentacion!$DO$63:$DP$63</c:f>
              <c:numCache>
                <c:formatCode>mmm\-yy</c:formatCode>
                <c:ptCount val="2"/>
                <c:pt idx="0">
                  <c:v>45992</c:v>
                </c:pt>
                <c:pt idx="1">
                  <c:v>46174</c:v>
                </c:pt>
              </c:numCache>
            </c:numRef>
          </c:cat>
          <c:val>
            <c:numRef>
              <c:f>Presentacion!$DP$61:$DQ$61</c:f>
              <c:numCache>
                <c:formatCode>_(* #,##0.00_);_(* \(#,##0.00\);_(* "-"??_);_(@_)</c:formatCode>
                <c:ptCount val="2"/>
                <c:pt idx="0">
                  <c:v>70441.343303910297</c:v>
                </c:pt>
                <c:pt idx="1">
                  <c:v>67214.904063608177</c:v>
                </c:pt>
              </c:numCache>
            </c:numRef>
          </c:val>
          <c:extLst>
            <c:ext xmlns:c15="http://schemas.microsoft.com/office/drawing/2012/chart" uri="{02D57815-91ED-43cb-92C2-25804820EDAC}">
              <c15:datalabelsRange>
                <c15:f>Presentacion!$DO$61</c15:f>
                <c15:dlblRangeCache>
                  <c:ptCount val="1"/>
                  <c:pt idx="0">
                    <c:v>Alts</c:v>
                  </c:pt>
                </c15:dlblRangeCache>
              </c15:datalabelsRange>
            </c:ext>
            <c:ext xmlns:c16="http://schemas.microsoft.com/office/drawing/2014/chart" uri="{C3380CC4-5D6E-409C-BE32-E72D297353CC}">
              <c16:uniqueId val="{0000000D-DE06-4727-BB4C-645345674ED8}"/>
            </c:ext>
          </c:extLst>
        </c:ser>
        <c:dLbls>
          <c:showLegendKey val="0"/>
          <c:showVal val="1"/>
          <c:showCatName val="0"/>
          <c:showSerName val="0"/>
          <c:showPercent val="0"/>
          <c:showBubbleSize val="0"/>
        </c:dLbls>
        <c:gapWidth val="190"/>
        <c:overlap val="100"/>
        <c:axId val="343178255"/>
        <c:axId val="1296126783"/>
      </c:barChart>
      <c:catAx>
        <c:axId val="343178255"/>
        <c:scaling>
          <c:orientation val="minMax"/>
        </c:scaling>
        <c:delete val="1"/>
        <c:axPos val="b"/>
        <c:numFmt formatCode="mmm\-yy" sourceLinked="1"/>
        <c:majorTickMark val="none"/>
        <c:minorTickMark val="none"/>
        <c:tickLblPos val="nextTo"/>
        <c:crossAx val="1296126783"/>
        <c:crosses val="autoZero"/>
        <c:auto val="0"/>
        <c:lblAlgn val="ctr"/>
        <c:lblOffset val="100"/>
        <c:tickLblSkip val="1"/>
        <c:noMultiLvlLbl val="0"/>
      </c:catAx>
      <c:valAx>
        <c:axId val="1296126783"/>
        <c:scaling>
          <c:orientation val="minMax"/>
        </c:scaling>
        <c:delete val="1"/>
        <c:axPos val="l"/>
        <c:numFmt formatCode="_(* #,##0.00_);_(* \(#,##0.00\);_(* &quot;-&quot;??_);_(@_)" sourceLinked="1"/>
        <c:majorTickMark val="none"/>
        <c:minorTickMark val="none"/>
        <c:tickLblPos val="nextTo"/>
        <c:crossAx val="343178255"/>
        <c:crosses val="autoZero"/>
        <c:crossBetween val="between"/>
      </c:valAx>
    </c:plotArea>
    <c:plotVisOnly val="0"/>
    <c:dispBlanksAs val="zero"/>
    <c:showDLblsOverMax val="0"/>
    <c:extLst>
      <c:ext xmlns:c16r3="http://schemas.microsoft.com/office/drawing/2017/03/chart" uri="{56B9EC1D-385E-4148-901F-78D8002777C0}">
        <c16r3:dataDisplayOptions16>
          <c16r3:dispNaAsBlank val="1"/>
        </c16r3:dataDisplayOptions16>
      </c:ext>
    </c:extLst>
  </c:chart>
  <c:txPr>
    <a:bodyPr/>
    <a:lstStyle/>
    <a:p>
      <a:pPr>
        <a:defRPr sz="600">
          <a:solidFill>
            <a:srgbClr val="002060"/>
          </a:solidFill>
          <a:latin typeface="Trebuchet MS" panose="020B0603020202020204" pitchFamily="34" charset="0"/>
        </a:defRPr>
      </a:pPr>
      <a:endParaRPr lang="es-PE"/>
    </a:p>
  </c:tx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1"/>
        <c:ser>
          <c:idx val="0"/>
          <c:order val="0"/>
          <c:tx>
            <c:strRef>
              <c:f>'Intensidad FFMM (2)'!$V$14</c:f>
              <c:strCache>
                <c:ptCount val="1"/>
                <c:pt idx="0">
                  <c:v>Intensidad</c:v>
                </c:pt>
              </c:strCache>
            </c:strRef>
          </c:tx>
          <c:spPr>
            <a:solidFill>
              <a:srgbClr val="00AECB"/>
            </a:solidFill>
            <a:ln>
              <a:prstDash val="solid"/>
            </a:ln>
          </c:spPr>
          <c:invertIfNegative val="1"/>
          <c:dPt>
            <c:idx val="0"/>
            <c:invertIfNegative val="1"/>
            <c:bubble3D val="0"/>
            <c:spPr>
              <a:solidFill>
                <a:srgbClr val="002060"/>
              </a:solidFill>
              <a:ln>
                <a:prstDash val="solid"/>
              </a:ln>
            </c:spPr>
            <c:extLst>
              <c:ext xmlns:c16="http://schemas.microsoft.com/office/drawing/2014/chart" uri="{C3380CC4-5D6E-409C-BE32-E72D297353CC}">
                <c16:uniqueId val="{00000001-D05A-4BB9-A501-DAC35218EF6E}"/>
              </c:ext>
            </c:extLst>
          </c:dPt>
          <c:dPt>
            <c:idx val="1"/>
            <c:invertIfNegative val="1"/>
            <c:bubble3D val="0"/>
            <c:spPr>
              <a:solidFill>
                <a:srgbClr val="002060"/>
              </a:solidFill>
              <a:ln>
                <a:prstDash val="solid"/>
              </a:ln>
            </c:spPr>
            <c:extLst>
              <c:ext xmlns:c16="http://schemas.microsoft.com/office/drawing/2014/chart" uri="{C3380CC4-5D6E-409C-BE32-E72D297353CC}">
                <c16:uniqueId val="{00000003-D05A-4BB9-A501-DAC35218EF6E}"/>
              </c:ext>
            </c:extLst>
          </c:dPt>
          <c:dPt>
            <c:idx val="2"/>
            <c:invertIfNegative val="1"/>
            <c:bubble3D val="0"/>
            <c:spPr>
              <a:solidFill>
                <a:srgbClr val="002060"/>
              </a:solidFill>
              <a:ln>
                <a:prstDash val="solid"/>
              </a:ln>
            </c:spPr>
            <c:extLst>
              <c:ext xmlns:c16="http://schemas.microsoft.com/office/drawing/2014/chart" uri="{C3380CC4-5D6E-409C-BE32-E72D297353CC}">
                <c16:uniqueId val="{00000005-D05A-4BB9-A501-DAC35218EF6E}"/>
              </c:ext>
            </c:extLst>
          </c:dPt>
          <c:dPt>
            <c:idx val="3"/>
            <c:invertIfNegative val="1"/>
            <c:bubble3D val="0"/>
            <c:spPr>
              <a:solidFill>
                <a:srgbClr val="002060"/>
              </a:solidFill>
              <a:ln>
                <a:solidFill>
                  <a:srgbClr val="002060"/>
                </a:solidFill>
                <a:prstDash val="solid"/>
              </a:ln>
            </c:spPr>
            <c:extLst>
              <c:ext xmlns:c16="http://schemas.microsoft.com/office/drawing/2014/chart" uri="{C3380CC4-5D6E-409C-BE32-E72D297353CC}">
                <c16:uniqueId val="{00000007-D05A-4BB9-A501-DAC35218EF6E}"/>
              </c:ext>
            </c:extLst>
          </c:dPt>
          <c:dPt>
            <c:idx val="4"/>
            <c:invertIfNegative val="1"/>
            <c:bubble3D val="0"/>
            <c:spPr>
              <a:solidFill>
                <a:srgbClr val="002060"/>
              </a:solidFill>
              <a:ln>
                <a:prstDash val="solid"/>
              </a:ln>
            </c:spPr>
            <c:extLst>
              <c:ext xmlns:c16="http://schemas.microsoft.com/office/drawing/2014/chart" uri="{C3380CC4-5D6E-409C-BE32-E72D297353CC}">
                <c16:uniqueId val="{00000009-D05A-4BB9-A501-DAC35218EF6E}"/>
              </c:ext>
            </c:extLst>
          </c:dPt>
          <c:dPt>
            <c:idx val="5"/>
            <c:invertIfNegative val="1"/>
            <c:bubble3D val="0"/>
            <c:spPr>
              <a:solidFill>
                <a:srgbClr val="002060"/>
              </a:solidFill>
              <a:ln>
                <a:prstDash val="solid"/>
              </a:ln>
            </c:spPr>
            <c:extLst>
              <c:ext xmlns:c16="http://schemas.microsoft.com/office/drawing/2014/chart" uri="{C3380CC4-5D6E-409C-BE32-E72D297353CC}">
                <c16:uniqueId val="{0000000B-D05A-4BB9-A501-DAC35218EF6E}"/>
              </c:ext>
            </c:extLst>
          </c:dPt>
          <c:dPt>
            <c:idx val="6"/>
            <c:invertIfNegative val="1"/>
            <c:bubble3D val="0"/>
            <c:extLst>
              <c:ext xmlns:c16="http://schemas.microsoft.com/office/drawing/2014/chart" uri="{C3380CC4-5D6E-409C-BE32-E72D297353CC}">
                <c16:uniqueId val="{0000000C-D05A-4BB9-A501-DAC35218EF6E}"/>
              </c:ext>
            </c:extLst>
          </c:dPt>
          <c:dPt>
            <c:idx val="7"/>
            <c:invertIfNegative val="1"/>
            <c:bubble3D val="0"/>
            <c:spPr>
              <a:solidFill>
                <a:srgbClr val="00AECB"/>
              </a:solidFill>
              <a:ln>
                <a:noFill/>
                <a:prstDash val="solid"/>
              </a:ln>
            </c:spPr>
            <c:extLst>
              <c:ext xmlns:c16="http://schemas.microsoft.com/office/drawing/2014/chart" uri="{C3380CC4-5D6E-409C-BE32-E72D297353CC}">
                <c16:uniqueId val="{0000000E-D05A-4BB9-A501-DAC35218EF6E}"/>
              </c:ext>
            </c:extLst>
          </c:dPt>
          <c:dPt>
            <c:idx val="8"/>
            <c:invertIfNegative val="1"/>
            <c:bubble3D val="0"/>
            <c:spPr>
              <a:solidFill>
                <a:srgbClr val="002060"/>
              </a:solidFill>
              <a:ln>
                <a:prstDash val="solid"/>
              </a:ln>
            </c:spPr>
            <c:extLst>
              <c:ext xmlns:c16="http://schemas.microsoft.com/office/drawing/2014/chart" uri="{C3380CC4-5D6E-409C-BE32-E72D297353CC}">
                <c16:uniqueId val="{00000010-D05A-4BB9-A501-DAC35218EF6E}"/>
              </c:ext>
            </c:extLst>
          </c:dPt>
          <c:dPt>
            <c:idx val="9"/>
            <c:invertIfNegative val="1"/>
            <c:bubble3D val="0"/>
            <c:extLst>
              <c:ext xmlns:c16="http://schemas.microsoft.com/office/drawing/2014/chart" uri="{C3380CC4-5D6E-409C-BE32-E72D297353CC}">
                <c16:uniqueId val="{00000011-D05A-4BB9-A501-DAC35218EF6E}"/>
              </c:ext>
            </c:extLst>
          </c:dPt>
          <c:dPt>
            <c:idx val="10"/>
            <c:invertIfNegative val="1"/>
            <c:bubble3D val="0"/>
            <c:extLst>
              <c:ext xmlns:c16="http://schemas.microsoft.com/office/drawing/2014/chart" uri="{C3380CC4-5D6E-409C-BE32-E72D297353CC}">
                <c16:uniqueId val="{00000012-D05A-4BB9-A501-DAC35218EF6E}"/>
              </c:ext>
            </c:extLst>
          </c:dPt>
          <c:dPt>
            <c:idx val="11"/>
            <c:invertIfNegative val="1"/>
            <c:bubble3D val="0"/>
            <c:extLst>
              <c:ext xmlns:c16="http://schemas.microsoft.com/office/drawing/2014/chart" uri="{C3380CC4-5D6E-409C-BE32-E72D297353CC}">
                <c16:uniqueId val="{00000013-D05A-4BB9-A501-DAC35218EF6E}"/>
              </c:ext>
            </c:extLst>
          </c:dPt>
          <c:dPt>
            <c:idx val="12"/>
            <c:invertIfNegative val="1"/>
            <c:bubble3D val="0"/>
            <c:extLst>
              <c:ext xmlns:c16="http://schemas.microsoft.com/office/drawing/2014/chart" uri="{C3380CC4-5D6E-409C-BE32-E72D297353CC}">
                <c16:uniqueId val="{00000014-D05A-4BB9-A501-DAC35218EF6E}"/>
              </c:ext>
            </c:extLst>
          </c:dPt>
          <c:dPt>
            <c:idx val="13"/>
            <c:invertIfNegative val="1"/>
            <c:bubble3D val="0"/>
            <c:extLst>
              <c:ext xmlns:c16="http://schemas.microsoft.com/office/drawing/2014/chart" uri="{C3380CC4-5D6E-409C-BE32-E72D297353CC}">
                <c16:uniqueId val="{00000015-D05A-4BB9-A501-DAC35218EF6E}"/>
              </c:ext>
            </c:extLst>
          </c:dPt>
          <c:dPt>
            <c:idx val="14"/>
            <c:invertIfNegative val="1"/>
            <c:bubble3D val="0"/>
            <c:extLst>
              <c:ext xmlns:c16="http://schemas.microsoft.com/office/drawing/2014/chart" uri="{C3380CC4-5D6E-409C-BE32-E72D297353CC}">
                <c16:uniqueId val="{00000016-D05A-4BB9-A501-DAC35218EF6E}"/>
              </c:ext>
            </c:extLst>
          </c:dPt>
          <c:dPt>
            <c:idx val="15"/>
            <c:invertIfNegative val="1"/>
            <c:bubble3D val="0"/>
            <c:extLst>
              <c:ext xmlns:c16="http://schemas.microsoft.com/office/drawing/2014/chart" uri="{C3380CC4-5D6E-409C-BE32-E72D297353CC}">
                <c16:uniqueId val="{00000017-D05A-4BB9-A501-DAC35218EF6E}"/>
              </c:ext>
            </c:extLst>
          </c:dPt>
          <c:dPt>
            <c:idx val="16"/>
            <c:invertIfNegative val="1"/>
            <c:bubble3D val="0"/>
            <c:extLst>
              <c:ext xmlns:c16="http://schemas.microsoft.com/office/drawing/2014/chart" uri="{C3380CC4-5D6E-409C-BE32-E72D297353CC}">
                <c16:uniqueId val="{00000018-D05A-4BB9-A501-DAC35218EF6E}"/>
              </c:ext>
            </c:extLst>
          </c:dPt>
          <c:dPt>
            <c:idx val="17"/>
            <c:invertIfNegative val="1"/>
            <c:bubble3D val="0"/>
            <c:extLst>
              <c:ext xmlns:c16="http://schemas.microsoft.com/office/drawing/2014/chart" uri="{C3380CC4-5D6E-409C-BE32-E72D297353CC}">
                <c16:uniqueId val="{00000019-D05A-4BB9-A501-DAC35218EF6E}"/>
              </c:ext>
            </c:extLst>
          </c:dPt>
          <c:dPt>
            <c:idx val="18"/>
            <c:invertIfNegative val="1"/>
            <c:bubble3D val="0"/>
            <c:extLst>
              <c:ext xmlns:c16="http://schemas.microsoft.com/office/drawing/2014/chart" uri="{C3380CC4-5D6E-409C-BE32-E72D297353CC}">
                <c16:uniqueId val="{0000001A-D05A-4BB9-A501-DAC35218EF6E}"/>
              </c:ext>
            </c:extLst>
          </c:dPt>
          <c:dPt>
            <c:idx val="19"/>
            <c:invertIfNegative val="1"/>
            <c:bubble3D val="0"/>
            <c:extLst>
              <c:ext xmlns:c16="http://schemas.microsoft.com/office/drawing/2014/chart" uri="{C3380CC4-5D6E-409C-BE32-E72D297353CC}">
                <c16:uniqueId val="{0000001B-D05A-4BB9-A501-DAC35218EF6E}"/>
              </c:ext>
            </c:extLst>
          </c:dPt>
          <c:dLbls>
            <c:dLbl>
              <c:idx val="0"/>
              <c:layout>
                <c:manualLayout>
                  <c:x val="-1.435234857537684E-3"/>
                  <c:y val="1.6922762247849332E-2"/>
                </c:manualLayout>
              </c:layout>
              <c:dLblPos val="outEnd"/>
              <c:showLegendKey val="0"/>
              <c:showVal val="1"/>
              <c:showCatName val="0"/>
              <c:showSerName val="0"/>
              <c:showPercent val="1"/>
              <c:showBubbleSize val="1"/>
              <c:extLst>
                <c:ext xmlns:c15="http://schemas.microsoft.com/office/drawing/2012/chart" uri="{CE6537A1-D6FC-4f65-9D91-7224C49458BB}"/>
                <c:ext xmlns:c16="http://schemas.microsoft.com/office/drawing/2014/chart" uri="{C3380CC4-5D6E-409C-BE32-E72D297353CC}">
                  <c16:uniqueId val="{00000001-D05A-4BB9-A501-DAC35218EF6E}"/>
                </c:ext>
              </c:extLst>
            </c:dLbl>
            <c:dLbl>
              <c:idx val="7"/>
              <c:layout>
                <c:manualLayout>
                  <c:x val="1.435234857537684E-3"/>
                  <c:y val="8.4613811239244337E-3"/>
                </c:manualLayout>
              </c:layout>
              <c:dLblPos val="outEnd"/>
              <c:showLegendKey val="0"/>
              <c:showVal val="1"/>
              <c:showCatName val="0"/>
              <c:showSerName val="0"/>
              <c:showPercent val="1"/>
              <c:showBubbleSize val="1"/>
              <c:extLst>
                <c:ext xmlns:c15="http://schemas.microsoft.com/office/drawing/2012/chart" uri="{CE6537A1-D6FC-4f65-9D91-7224C49458BB}"/>
                <c:ext xmlns:c16="http://schemas.microsoft.com/office/drawing/2014/chart" uri="{C3380CC4-5D6E-409C-BE32-E72D297353CC}">
                  <c16:uniqueId val="{0000000E-D05A-4BB9-A501-DAC35218EF6E}"/>
                </c:ext>
              </c:extLst>
            </c:dLbl>
            <c:dLbl>
              <c:idx val="8"/>
              <c:layout>
                <c:manualLayout>
                  <c:x val="2.8704697150752625E-3"/>
                  <c:y val="-2.0540502366190139E-3"/>
                </c:manualLayout>
              </c:layout>
              <c:dLblPos val="outEnd"/>
              <c:showLegendKey val="0"/>
              <c:showVal val="1"/>
              <c:showCatName val="0"/>
              <c:showSerName val="0"/>
              <c:showPercent val="1"/>
              <c:showBubbleSize val="1"/>
              <c:extLst>
                <c:ext xmlns:c15="http://schemas.microsoft.com/office/drawing/2012/chart" uri="{CE6537A1-D6FC-4f65-9D91-7224C49458BB}"/>
                <c:ext xmlns:c16="http://schemas.microsoft.com/office/drawing/2014/chart" uri="{C3380CC4-5D6E-409C-BE32-E72D297353CC}">
                  <c16:uniqueId val="{00000010-D05A-4BB9-A501-DAC35218EF6E}"/>
                </c:ext>
              </c:extLst>
            </c:dLbl>
            <c:dLbl>
              <c:idx val="10"/>
              <c:layout>
                <c:manualLayout>
                  <c:x val="2.8704697150751576E-3"/>
                  <c:y val="2.9614833933736061E-2"/>
                </c:manualLayout>
              </c:layout>
              <c:dLblPos val="outEnd"/>
              <c:showLegendKey val="0"/>
              <c:showVal val="1"/>
              <c:showCatName val="0"/>
              <c:showSerName val="0"/>
              <c:showPercent val="1"/>
              <c:showBubbleSize val="1"/>
              <c:extLst>
                <c:ext xmlns:c15="http://schemas.microsoft.com/office/drawing/2012/chart" uri="{CE6537A1-D6FC-4f65-9D91-7224C49458BB}"/>
                <c:ext xmlns:c16="http://schemas.microsoft.com/office/drawing/2014/chart" uri="{C3380CC4-5D6E-409C-BE32-E72D297353CC}">
                  <c16:uniqueId val="{00000012-D05A-4BB9-A501-DAC35218EF6E}"/>
                </c:ext>
              </c:extLst>
            </c:dLbl>
            <c:numFmt formatCode="#,##0" sourceLinked="0"/>
            <c:spPr>
              <a:noFill/>
              <a:ln>
                <a:noFill/>
              </a:ln>
              <a:effectLst/>
            </c:spPr>
            <c:dLblPos val="outEnd"/>
            <c:showLegendKey val="0"/>
            <c:showVal val="1"/>
            <c:showCatName val="0"/>
            <c:showSerName val="0"/>
            <c:showPercent val="1"/>
            <c:showBubbleSize val="1"/>
            <c:showLeaderLines val="0"/>
            <c:extLst>
              <c:ext xmlns:c15="http://schemas.microsoft.com/office/drawing/2012/chart" uri="{CE6537A1-D6FC-4f65-9D91-7224C49458BB}">
                <c15:showLeaderLines val="0"/>
              </c:ext>
            </c:extLst>
          </c:dLbls>
          <c:cat>
            <c:strRef>
              <c:f>'Intensidad FFMM (2)'!$O$2:$O$12</c:f>
              <c:strCache>
                <c:ptCount val="11"/>
                <c:pt idx="0">
                  <c:v>Vontobel EM Debt</c:v>
                </c:pt>
                <c:pt idx="1">
                  <c:v>Jupiter Global HY</c:v>
                </c:pt>
                <c:pt idx="2">
                  <c:v>EdR Corp EM Debt</c:v>
                </c:pt>
                <c:pt idx="3">
                  <c:v>PIMCO EM Local</c:v>
                </c:pt>
                <c:pt idx="4">
                  <c:v>BlueBay EM Debt UC</c:v>
                </c:pt>
                <c:pt idx="5">
                  <c:v>PIMCO EM Bond</c:v>
                </c:pt>
                <c:pt idx="6">
                  <c:v>iShares iBoxx HY Corp</c:v>
                </c:pt>
                <c:pt idx="7">
                  <c:v>iShares JPM EM Bond</c:v>
                </c:pt>
                <c:pt idx="8">
                  <c:v>BNP Japan Small Cap</c:v>
                </c:pt>
                <c:pt idx="9">
                  <c:v>iShares Korea</c:v>
                </c:pt>
                <c:pt idx="10">
                  <c:v>iShares Semiconductors</c:v>
                </c:pt>
              </c:strCache>
            </c:strRef>
          </c:cat>
          <c:val>
            <c:numRef>
              <c:f>'Intensidad FFMM (2)'!$V$15:$V$25</c:f>
              <c:numCache>
                <c:formatCode>0.0</c:formatCode>
                <c:ptCount val="11"/>
                <c:pt idx="0">
                  <c:v>640.00697702000002</c:v>
                </c:pt>
                <c:pt idx="1">
                  <c:v>264.80790776999999</c:v>
                </c:pt>
                <c:pt idx="2">
                  <c:v>510.33361599</c:v>
                </c:pt>
                <c:pt idx="3">
                  <c:v>208.85370423000001</c:v>
                </c:pt>
                <c:pt idx="4">
                  <c:v>367.71519712999998</c:v>
                </c:pt>
                <c:pt idx="5">
                  <c:v>892.96160434000001</c:v>
                </c:pt>
                <c:pt idx="6">
                  <c:v>210.54774749000001</c:v>
                </c:pt>
                <c:pt idx="7">
                  <c:v>691.59465260000002</c:v>
                </c:pt>
                <c:pt idx="8">
                  <c:v>132.26415249999999</c:v>
                </c:pt>
                <c:pt idx="9">
                  <c:v>114.34988366</c:v>
                </c:pt>
                <c:pt idx="10">
                  <c:v>53.027672000000003</c:v>
                </c:pt>
              </c:numCache>
            </c:numRef>
          </c:val>
          <c:extLst>
            <c:ext xmlns:c14="http://schemas.microsoft.com/office/drawing/2007/8/2/chart" uri="{6F2FDCE9-48DA-4B69-8628-5D25D57E5C99}">
              <c14:invertSolidFillFmt>
                <c14:spPr xmlns:c14="http://schemas.microsoft.com/office/drawing/2007/8/2/chart">
                  <a:solidFill>
                    <a:srgbClr val="FFFFFF"/>
                  </a:solidFill>
                  <a:ln>
                    <a:prstDash val="solid"/>
                  </a:ln>
                </c14:spPr>
              </c14:invertSolidFillFmt>
            </c:ext>
            <c:ext xmlns:c16="http://schemas.microsoft.com/office/drawing/2014/chart" uri="{C3380CC4-5D6E-409C-BE32-E72D297353CC}">
              <c16:uniqueId val="{0000001C-D05A-4BB9-A501-DAC35218EF6E}"/>
            </c:ext>
          </c:extLst>
        </c:ser>
        <c:dLbls>
          <c:showLegendKey val="0"/>
          <c:showVal val="0"/>
          <c:showCatName val="0"/>
          <c:showSerName val="0"/>
          <c:showPercent val="0"/>
          <c:showBubbleSize val="0"/>
        </c:dLbls>
        <c:gapWidth val="150"/>
        <c:axId val="10"/>
        <c:axId val="100"/>
      </c:barChart>
      <c:lineChart>
        <c:grouping val="standard"/>
        <c:varyColors val="1"/>
        <c:ser>
          <c:idx val="1"/>
          <c:order val="1"/>
          <c:tx>
            <c:strRef>
              <c:f>'Intensidad FFMM (2)'!$W$14</c:f>
              <c:strCache>
                <c:ptCount val="1"/>
                <c:pt idx="0">
                  <c:v>Nuevo Benchmark</c:v>
                </c:pt>
              </c:strCache>
            </c:strRef>
          </c:tx>
          <c:spPr>
            <a:ln>
              <a:noFill/>
              <a:prstDash val="solid"/>
            </a:ln>
          </c:spPr>
          <c:marker>
            <c:symbol val="circle"/>
            <c:size val="8"/>
            <c:spPr>
              <a:solidFill>
                <a:schemeClr val="accent6">
                  <a:lumMod val="75000"/>
                </a:schemeClr>
              </a:solidFill>
              <a:ln>
                <a:prstDash val="solid"/>
              </a:ln>
            </c:spPr>
          </c:marker>
          <c:cat>
            <c:strRef>
              <c:f>'Intensidad FFMM (2)'!$O$15:$O$25</c:f>
              <c:strCache>
                <c:ptCount val="11"/>
                <c:pt idx="0">
                  <c:v>Vontobel EM Debt</c:v>
                </c:pt>
                <c:pt idx="1">
                  <c:v>Jupiter Global HY</c:v>
                </c:pt>
                <c:pt idx="2">
                  <c:v>EdR Corp EM Debt</c:v>
                </c:pt>
                <c:pt idx="3">
                  <c:v>PIMCO EM Local</c:v>
                </c:pt>
                <c:pt idx="4">
                  <c:v>BlueBay EM Debt UC</c:v>
                </c:pt>
                <c:pt idx="5">
                  <c:v>PIMCO EM Bond</c:v>
                </c:pt>
                <c:pt idx="6">
                  <c:v>iShares iBoxx HY Corp</c:v>
                </c:pt>
                <c:pt idx="7">
                  <c:v>iShares JPM EM Bond</c:v>
                </c:pt>
                <c:pt idx="8">
                  <c:v>BNP Japan Small Cap</c:v>
                </c:pt>
                <c:pt idx="9">
                  <c:v>iShares Korea</c:v>
                </c:pt>
                <c:pt idx="10">
                  <c:v>iShares Semiconductors</c:v>
                </c:pt>
              </c:strCache>
            </c:strRef>
          </c:cat>
          <c:val>
            <c:numRef>
              <c:f>'Intensidad FFMM (2)'!$W$15:$W$25</c:f>
              <c:numCache>
                <c:formatCode>General</c:formatCode>
                <c:ptCount val="11"/>
                <c:pt idx="0">
                  <c:v>367.31612123000002</c:v>
                </c:pt>
                <c:pt idx="1">
                  <c:v>222.58942604999999</c:v>
                </c:pt>
                <c:pt idx="2">
                  <c:v>367.31612123000002</c:v>
                </c:pt>
                <c:pt idx="3">
                  <c:v>367.31612123000002</c:v>
                </c:pt>
                <c:pt idx="4">
                  <c:v>367.31612123000002</c:v>
                </c:pt>
                <c:pt idx="5">
                  <c:v>367.31612123000002</c:v>
                </c:pt>
                <c:pt idx="6">
                  <c:v>222.58942604999999</c:v>
                </c:pt>
                <c:pt idx="7">
                  <c:v>367.31612123000002</c:v>
                </c:pt>
                <c:pt idx="8">
                  <c:v>112.17903462</c:v>
                </c:pt>
                <c:pt idx="9">
                  <c:v>254.99730567</c:v>
                </c:pt>
                <c:pt idx="10">
                  <c:v>112.17903462</c:v>
                </c:pt>
              </c:numCache>
            </c:numRef>
          </c:val>
          <c:smooth val="0"/>
          <c:extLst>
            <c:ext xmlns:c16="http://schemas.microsoft.com/office/drawing/2014/chart" uri="{C3380CC4-5D6E-409C-BE32-E72D297353CC}">
              <c16:uniqueId val="{0000001D-D05A-4BB9-A501-DAC35218EF6E}"/>
            </c:ext>
          </c:extLst>
        </c:ser>
        <c:dLbls>
          <c:showLegendKey val="0"/>
          <c:showVal val="0"/>
          <c:showCatName val="0"/>
          <c:showSerName val="0"/>
          <c:showPercent val="0"/>
          <c:showBubbleSize val="0"/>
        </c:dLbls>
        <c:marker val="1"/>
        <c:smooth val="0"/>
        <c:axId val="10"/>
        <c:axId val="100"/>
      </c:lineChart>
      <c:catAx>
        <c:axId val="10"/>
        <c:scaling>
          <c:orientation val="minMax"/>
        </c:scaling>
        <c:delete val="0"/>
        <c:axPos val="b"/>
        <c:numFmt formatCode="General" sourceLinked="1"/>
        <c:majorTickMark val="none"/>
        <c:minorTickMark val="none"/>
        <c:tickLblPos val="nextTo"/>
        <c:txPr>
          <a:bodyPr rot="0" vert="horz" anchor="t" anchorCtr="1"/>
          <a:lstStyle/>
          <a:p>
            <a:pPr>
              <a:defRPr sz="800">
                <a:latin typeface="Trebuchet MS" panose="020B0603020202020204" pitchFamily="34" charset="0"/>
              </a:defRPr>
            </a:pPr>
            <a:endParaRPr lang="es-PE"/>
          </a:p>
        </c:txPr>
        <c:crossAx val="100"/>
        <c:crosses val="autoZero"/>
        <c:auto val="1"/>
        <c:lblAlgn val="ctr"/>
        <c:lblOffset val="100"/>
        <c:noMultiLvlLbl val="1"/>
      </c:catAx>
      <c:valAx>
        <c:axId val="100"/>
        <c:scaling>
          <c:orientation val="minMax"/>
        </c:scaling>
        <c:delete val="1"/>
        <c:axPos val="l"/>
        <c:numFmt formatCode="0.0" sourceLinked="1"/>
        <c:majorTickMark val="none"/>
        <c:minorTickMark val="none"/>
        <c:tickLblPos val="nextTo"/>
        <c:crossAx val="10"/>
        <c:crosses val="autoZero"/>
        <c:crossBetween val="between"/>
      </c:valAx>
    </c:plotArea>
    <c:plotVisOnly val="1"/>
    <c:dispBlanksAs val="gap"/>
    <c:showDLblsOverMax val="1"/>
  </c:chart>
  <c:spPr>
    <a:ln>
      <a:solidFill>
        <a:schemeClr val="bg1"/>
      </a:solidFill>
    </a:ln>
  </c:spPr>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'Emisiones BU'!$B$310</c:f>
              <c:strCache>
                <c:ptCount val="1"/>
                <c:pt idx="0">
                  <c:v>Intensidad</c:v>
                </c:pt>
              </c:strCache>
            </c:strRef>
          </c:tx>
          <c:spPr>
            <a:solidFill>
              <a:schemeClr val="accent1"/>
            </a:solidFill>
            <a:ln>
              <a:noFill/>
            </a:ln>
            <a:effectLst/>
          </c:spPr>
          <c:invertIfNegative val="0"/>
          <c:dPt>
            <c:idx val="0"/>
            <c:invertIfNegative val="0"/>
            <c:bubble3D val="0"/>
            <c:spPr>
              <a:solidFill>
                <a:srgbClr val="00AECB"/>
              </a:solidFill>
              <a:ln>
                <a:noFill/>
              </a:ln>
              <a:effectLst/>
            </c:spPr>
            <c:extLst>
              <c:ext xmlns:c16="http://schemas.microsoft.com/office/drawing/2014/chart" uri="{C3380CC4-5D6E-409C-BE32-E72D297353CC}">
                <c16:uniqueId val="{00000001-7CC3-4822-BDC5-FEEDA083E98C}"/>
              </c:ext>
            </c:extLst>
          </c:dPt>
          <c:dPt>
            <c:idx val="1"/>
            <c:invertIfNegative val="0"/>
            <c:bubble3D val="0"/>
            <c:spPr>
              <a:solidFill>
                <a:srgbClr val="00AECB"/>
              </a:solidFill>
              <a:ln>
                <a:noFill/>
              </a:ln>
              <a:effectLst/>
            </c:spPr>
            <c:extLst>
              <c:ext xmlns:c16="http://schemas.microsoft.com/office/drawing/2014/chart" uri="{C3380CC4-5D6E-409C-BE32-E72D297353CC}">
                <c16:uniqueId val="{00000003-7CC3-4822-BDC5-FEEDA083E98C}"/>
              </c:ext>
            </c:extLst>
          </c:dPt>
          <c:dPt>
            <c:idx val="2"/>
            <c:invertIfNegative val="0"/>
            <c:bubble3D val="0"/>
            <c:spPr>
              <a:solidFill>
                <a:srgbClr val="002060"/>
              </a:solidFill>
              <a:ln>
                <a:noFill/>
              </a:ln>
              <a:effectLst/>
            </c:spPr>
            <c:extLst>
              <c:ext xmlns:c16="http://schemas.microsoft.com/office/drawing/2014/chart" uri="{C3380CC4-5D6E-409C-BE32-E72D297353CC}">
                <c16:uniqueId val="{00000005-7CC3-4822-BDC5-FEEDA083E98C}"/>
              </c:ext>
            </c:extLst>
          </c:dPt>
          <c:dPt>
            <c:idx val="3"/>
            <c:invertIfNegative val="0"/>
            <c:bubble3D val="0"/>
            <c:spPr>
              <a:solidFill>
                <a:srgbClr val="D4EAF3"/>
              </a:solidFill>
              <a:ln>
                <a:noFill/>
              </a:ln>
              <a:effectLst/>
            </c:spPr>
            <c:extLst>
              <c:ext xmlns:c16="http://schemas.microsoft.com/office/drawing/2014/chart" uri="{C3380CC4-5D6E-409C-BE32-E72D297353CC}">
                <c16:uniqueId val="{00000007-7CC3-4822-BDC5-FEEDA083E98C}"/>
              </c:ext>
            </c:extLst>
          </c:dPt>
          <c:dPt>
            <c:idx val="4"/>
            <c:invertIfNegative val="0"/>
            <c:bubble3D val="0"/>
            <c:spPr>
              <a:solidFill>
                <a:srgbClr val="ACD7CA"/>
              </a:solidFill>
              <a:ln>
                <a:noFill/>
              </a:ln>
              <a:effectLst/>
            </c:spPr>
            <c:extLst>
              <c:ext xmlns:c16="http://schemas.microsoft.com/office/drawing/2014/chart" uri="{C3380CC4-5D6E-409C-BE32-E72D297353CC}">
                <c16:uniqueId val="{00000009-7CC3-4822-BDC5-FEEDA083E98C}"/>
              </c:ext>
            </c:extLst>
          </c:dPt>
          <c:dPt>
            <c:idx val="5"/>
            <c:invertIfNegative val="0"/>
            <c:bubble3D val="0"/>
            <c:spPr>
              <a:solidFill>
                <a:srgbClr val="00AECB"/>
              </a:solidFill>
              <a:ln>
                <a:noFill/>
              </a:ln>
              <a:effectLst/>
            </c:spPr>
            <c:extLst>
              <c:ext xmlns:c16="http://schemas.microsoft.com/office/drawing/2014/chart" uri="{C3380CC4-5D6E-409C-BE32-E72D297353CC}">
                <c16:uniqueId val="{0000000B-7CC3-4822-BDC5-FEEDA083E98C}"/>
              </c:ext>
            </c:extLst>
          </c:dPt>
          <c:dPt>
            <c:idx val="6"/>
            <c:invertIfNegative val="0"/>
            <c:bubble3D val="0"/>
            <c:spPr>
              <a:solidFill>
                <a:srgbClr val="00AECB"/>
              </a:solidFill>
              <a:ln>
                <a:noFill/>
              </a:ln>
              <a:effectLst/>
            </c:spPr>
            <c:extLst>
              <c:ext xmlns:c16="http://schemas.microsoft.com/office/drawing/2014/chart" uri="{C3380CC4-5D6E-409C-BE32-E72D297353CC}">
                <c16:uniqueId val="{0000000D-7CC3-4822-BDC5-FEEDA083E98C}"/>
              </c:ext>
            </c:extLst>
          </c:dPt>
          <c:dPt>
            <c:idx val="7"/>
            <c:invertIfNegative val="0"/>
            <c:bubble3D val="0"/>
            <c:spPr>
              <a:solidFill>
                <a:srgbClr val="0070C0"/>
              </a:solidFill>
              <a:ln>
                <a:noFill/>
              </a:ln>
              <a:effectLst/>
            </c:spPr>
            <c:extLst>
              <c:ext xmlns:c16="http://schemas.microsoft.com/office/drawing/2014/chart" uri="{C3380CC4-5D6E-409C-BE32-E72D297353CC}">
                <c16:uniqueId val="{0000000F-7CC3-4822-BDC5-FEEDA083E98C}"/>
              </c:ext>
            </c:extLst>
          </c:dPt>
          <c:dPt>
            <c:idx val="8"/>
            <c:invertIfNegative val="0"/>
            <c:bubble3D val="0"/>
            <c:spPr>
              <a:solidFill>
                <a:schemeClr val="tx2"/>
              </a:solidFill>
              <a:ln>
                <a:noFill/>
              </a:ln>
              <a:effectLst/>
            </c:spPr>
            <c:extLst>
              <c:ext xmlns:c16="http://schemas.microsoft.com/office/drawing/2014/chart" uri="{C3380CC4-5D6E-409C-BE32-E72D297353CC}">
                <c16:uniqueId val="{00000011-7CC3-4822-BDC5-FEEDA083E98C}"/>
              </c:ext>
            </c:extLst>
          </c:dPt>
          <c:dPt>
            <c:idx val="9"/>
            <c:invertIfNegative val="0"/>
            <c:bubble3D val="0"/>
            <c:spPr>
              <a:solidFill>
                <a:srgbClr val="00AECB"/>
              </a:solidFill>
              <a:ln>
                <a:noFill/>
              </a:ln>
              <a:effectLst/>
            </c:spPr>
            <c:extLst>
              <c:ext xmlns:c16="http://schemas.microsoft.com/office/drawing/2014/chart" uri="{C3380CC4-5D6E-409C-BE32-E72D297353CC}">
                <c16:uniqueId val="{00000013-7CC3-4822-BDC5-FEEDA083E98C}"/>
              </c:ext>
            </c:extLst>
          </c:dPt>
          <c:dLbls>
            <c:dLbl>
              <c:idx val="1"/>
              <c:layout>
                <c:manualLayout>
                  <c:x val="-2.6971600679375898E-17"/>
                  <c:y val="-3.44929134328752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CC3-4822-BDC5-FEEDA083E98C}"/>
                </c:ext>
              </c:extLst>
            </c:dLbl>
            <c:dLbl>
              <c:idx val="8"/>
              <c:layout>
                <c:manualLayout>
                  <c:x val="-4.4135856421541218E-3"/>
                  <c:y val="-3.94204724947145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7CC3-4822-BDC5-FEEDA083E98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ysClr val="windowText" lastClr="000000"/>
                    </a:solidFill>
                    <a:latin typeface="Trebuchet MS" panose="020B0603020202020204" pitchFamily="34" charset="0"/>
                    <a:ea typeface="+mn-ea"/>
                    <a:cs typeface="+mn-cs"/>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'Emisiones BU'!$A$311:$A$320</c:f>
              <c:strCache>
                <c:ptCount val="10"/>
                <c:pt idx="0">
                  <c:v>Minsur</c:v>
                </c:pt>
                <c:pt idx="1">
                  <c:v>Nexa Perú</c:v>
                </c:pt>
                <c:pt idx="2">
                  <c:v>Pacasmayo</c:v>
                </c:pt>
                <c:pt idx="3">
                  <c:v>Aenza</c:v>
                </c:pt>
                <c:pt idx="4">
                  <c:v>Orygen</c:v>
                </c:pt>
                <c:pt idx="5">
                  <c:v>Volcan</c:v>
                </c:pt>
                <c:pt idx="6">
                  <c:v>Nexa Resources</c:v>
                </c:pt>
                <c:pt idx="7">
                  <c:v>InRetail</c:v>
                </c:pt>
                <c:pt idx="8">
                  <c:v>Unacem</c:v>
                </c:pt>
                <c:pt idx="9">
                  <c:v>Hochschild</c:v>
                </c:pt>
              </c:strCache>
            </c:strRef>
          </c:cat>
          <c:val>
            <c:numRef>
              <c:f>'Emisiones BU'!$B$311:$B$320</c:f>
              <c:numCache>
                <c:formatCode>0.0</c:formatCode>
                <c:ptCount val="10"/>
                <c:pt idx="0">
                  <c:v>24.066760014303821</c:v>
                </c:pt>
                <c:pt idx="1">
                  <c:v>8.9726419962832971</c:v>
                </c:pt>
                <c:pt idx="2">
                  <c:v>5.2062056458943067</c:v>
                </c:pt>
                <c:pt idx="3">
                  <c:v>3.9724121799308403</c:v>
                </c:pt>
                <c:pt idx="4">
                  <c:v>3.2553699257411131</c:v>
                </c:pt>
                <c:pt idx="5">
                  <c:v>2.4049709353883264</c:v>
                </c:pt>
                <c:pt idx="6">
                  <c:v>2.0179961041048791</c:v>
                </c:pt>
                <c:pt idx="7">
                  <c:v>1.9705171654369451</c:v>
                </c:pt>
                <c:pt idx="8">
                  <c:v>1.5047739231125861</c:v>
                </c:pt>
                <c:pt idx="9">
                  <c:v>1.1736895347939789</c:v>
                </c:pt>
              </c:numCache>
            </c:numRef>
          </c:val>
          <c:extLst>
            <c:ext xmlns:c16="http://schemas.microsoft.com/office/drawing/2014/chart" uri="{C3380CC4-5D6E-409C-BE32-E72D297353CC}">
              <c16:uniqueId val="{00000014-7CC3-4822-BDC5-FEEDA083E98C}"/>
            </c:ext>
          </c:extLst>
        </c:ser>
        <c:dLbls>
          <c:showLegendKey val="0"/>
          <c:showVal val="0"/>
          <c:showCatName val="0"/>
          <c:showSerName val="0"/>
          <c:showPercent val="0"/>
          <c:showBubbleSize val="0"/>
        </c:dLbls>
        <c:gapWidth val="219"/>
        <c:overlap val="-27"/>
        <c:axId val="375850576"/>
        <c:axId val="135843792"/>
      </c:barChart>
      <c:scatterChart>
        <c:scatterStyle val="lineMarker"/>
        <c:varyColors val="0"/>
        <c:ser>
          <c:idx val="1"/>
          <c:order val="1"/>
          <c:tx>
            <c:strRef>
              <c:f>'Emisiones BU'!$C$310</c:f>
              <c:strCache>
                <c:ptCount val="1"/>
                <c:pt idx="0">
                  <c:v>Desapalancando</c:v>
                </c:pt>
              </c:strCache>
            </c:strRef>
          </c:tx>
          <c:spPr>
            <a:ln w="25400" cap="rnd">
              <a:noFill/>
              <a:round/>
            </a:ln>
            <a:effectLst/>
          </c:spPr>
          <c:marker>
            <c:symbol val="circle"/>
            <c:size val="5"/>
            <c:spPr>
              <a:solidFill>
                <a:schemeClr val="accent2"/>
              </a:solidFill>
              <a:ln w="9525">
                <a:solidFill>
                  <a:schemeClr val="accent2"/>
                </a:solidFill>
              </a:ln>
              <a:effectLst/>
            </c:spPr>
          </c:marker>
          <c:xVal>
            <c:strRef>
              <c:f>'Emisiones BU'!$A$311:$A$320</c:f>
              <c:strCache>
                <c:ptCount val="10"/>
                <c:pt idx="0">
                  <c:v>Minsur</c:v>
                </c:pt>
                <c:pt idx="1">
                  <c:v>Nexa Perú</c:v>
                </c:pt>
                <c:pt idx="2">
                  <c:v>Pacasmayo</c:v>
                </c:pt>
                <c:pt idx="3">
                  <c:v>Aenza</c:v>
                </c:pt>
                <c:pt idx="4">
                  <c:v>Orygen</c:v>
                </c:pt>
                <c:pt idx="5">
                  <c:v>Volcan</c:v>
                </c:pt>
                <c:pt idx="6">
                  <c:v>Nexa Resources</c:v>
                </c:pt>
                <c:pt idx="7">
                  <c:v>InRetail</c:v>
                </c:pt>
                <c:pt idx="8">
                  <c:v>Unacem</c:v>
                </c:pt>
                <c:pt idx="9">
                  <c:v>Hochschild</c:v>
                </c:pt>
              </c:strCache>
            </c:strRef>
          </c:xVal>
          <c:yVal>
            <c:numRef>
              <c:f>'Emisiones BU'!$C$311:$C$320</c:f>
              <c:numCache>
                <c:formatCode>0.0%</c:formatCode>
                <c:ptCount val="10"/>
                <c:pt idx="0">
                  <c:v>3.2545386785647799E-2</c:v>
                </c:pt>
                <c:pt idx="1">
                  <c:v>1.1783955370961283E-2</c:v>
                </c:pt>
                <c:pt idx="2">
                  <c:v>5.8271250278919846E-3</c:v>
                </c:pt>
                <c:pt idx="3">
                  <c:v>1.7475759615130618E-3</c:v>
                </c:pt>
                <c:pt idx="4">
                  <c:v>3.6657723133339272E-3</c:v>
                </c:pt>
                <c:pt idx="5">
                  <c:v>2.3067893767008889E-3</c:v>
                </c:pt>
                <c:pt idx="6">
                  <c:v>1.3867899707740833E-3</c:v>
                </c:pt>
                <c:pt idx="7">
                  <c:v>1.3280122160920015E-2</c:v>
                </c:pt>
                <c:pt idx="8">
                  <c:v>2.9870405791677943E-3</c:v>
                </c:pt>
                <c:pt idx="9">
                  <c:v>5.7566871658111859E-3</c:v>
                </c:pt>
              </c:numCache>
            </c:numRef>
          </c:yVal>
          <c:smooth val="0"/>
          <c:extLst>
            <c:ext xmlns:c16="http://schemas.microsoft.com/office/drawing/2014/chart" uri="{C3380CC4-5D6E-409C-BE32-E72D297353CC}">
              <c16:uniqueId val="{00000015-7CC3-4822-BDC5-FEEDA083E98C}"/>
            </c:ext>
          </c:extLst>
        </c:ser>
        <c:dLbls>
          <c:showLegendKey val="0"/>
          <c:showVal val="0"/>
          <c:showCatName val="0"/>
          <c:showSerName val="0"/>
          <c:showPercent val="0"/>
          <c:showBubbleSize val="0"/>
        </c:dLbls>
        <c:axId val="375811136"/>
        <c:axId val="135847152"/>
      </c:scatterChart>
      <c:catAx>
        <c:axId val="375850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ysClr val="windowText" lastClr="000000"/>
                </a:solidFill>
                <a:latin typeface="Trebuchet MS" panose="020B0603020202020204" pitchFamily="34" charset="0"/>
                <a:ea typeface="+mn-ea"/>
                <a:cs typeface="+mn-cs"/>
              </a:defRPr>
            </a:pPr>
            <a:endParaRPr lang="es-PE"/>
          </a:p>
        </c:txPr>
        <c:crossAx val="135843792"/>
        <c:crosses val="autoZero"/>
        <c:auto val="1"/>
        <c:lblAlgn val="ctr"/>
        <c:lblOffset val="100"/>
        <c:noMultiLvlLbl val="0"/>
      </c:catAx>
      <c:valAx>
        <c:axId val="135843792"/>
        <c:scaling>
          <c:orientation val="minMax"/>
        </c:scaling>
        <c:delete val="0"/>
        <c:axPos val="l"/>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ysClr val="windowText" lastClr="000000"/>
                </a:solidFill>
                <a:latin typeface="Trebuchet MS" panose="020B0603020202020204" pitchFamily="34" charset="0"/>
                <a:ea typeface="+mn-ea"/>
                <a:cs typeface="+mn-cs"/>
              </a:defRPr>
            </a:pPr>
            <a:endParaRPr lang="es-PE"/>
          </a:p>
        </c:txPr>
        <c:crossAx val="375850576"/>
        <c:crosses val="autoZero"/>
        <c:crossBetween val="between"/>
      </c:valAx>
      <c:valAx>
        <c:axId val="135847152"/>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ysClr val="windowText" lastClr="000000"/>
                </a:solidFill>
                <a:latin typeface="Trebuchet MS" panose="020B0603020202020204" pitchFamily="34" charset="0"/>
                <a:ea typeface="+mn-ea"/>
                <a:cs typeface="+mn-cs"/>
              </a:defRPr>
            </a:pPr>
            <a:endParaRPr lang="es-PE"/>
          </a:p>
        </c:txPr>
        <c:crossAx val="375811136"/>
        <c:crosses val="max"/>
        <c:crossBetween val="midCat"/>
      </c:valAx>
      <c:valAx>
        <c:axId val="375811136"/>
        <c:scaling>
          <c:orientation val="minMax"/>
        </c:scaling>
        <c:delete val="1"/>
        <c:axPos val="b"/>
        <c:numFmt formatCode="General" sourceLinked="1"/>
        <c:majorTickMark val="out"/>
        <c:minorTickMark val="none"/>
        <c:tickLblPos val="nextTo"/>
        <c:crossAx val="135847152"/>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ysClr val="windowText" lastClr="000000"/>
          </a:solidFill>
          <a:latin typeface="Trebuchet MS" panose="020B0603020202020204" pitchFamily="34" charset="0"/>
        </a:defRPr>
      </a:pPr>
      <a:endParaRPr lang="es-PE"/>
    </a:p>
  </c:txPr>
  <c:externalData r:id="rId4">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Sheet1!$A$2:$B$26</cx:f>
        <cx:nf>Sheet1!$A$1:$B$1</cx:nf>
        <cx:lvl ptCount="25" name="Department">
          <cx:pt idx="0">Amazonas</cx:pt>
          <cx:pt idx="1">Ancash</cx:pt>
          <cx:pt idx="2">Apurimac</cx:pt>
          <cx:pt idx="3">Arequipa</cx:pt>
          <cx:pt idx="4">Ayacucho</cx:pt>
          <cx:pt idx="5">Cajamarca</cx:pt>
          <cx:pt idx="6">Callao</cx:pt>
          <cx:pt idx="7">Cusco</cx:pt>
          <cx:pt idx="8">Huancavelica</cx:pt>
          <cx:pt idx="9">Huanuco</cx:pt>
          <cx:pt idx="10">Ica</cx:pt>
          <cx:pt idx="11">Junin</cx:pt>
          <cx:pt idx="12">La Libertad</cx:pt>
          <cx:pt idx="13">Lambayeque</cx:pt>
          <cx:pt idx="14">Lima</cx:pt>
          <cx:pt idx="15">Loreto</cx:pt>
          <cx:pt idx="16">Madre de Dios</cx:pt>
          <cx:pt idx="17">Moquegua</cx:pt>
          <cx:pt idx="18">Pasco</cx:pt>
          <cx:pt idx="19">Piura</cx:pt>
          <cx:pt idx="20">Puno</cx:pt>
          <cx:pt idx="21">San Martin</cx:pt>
          <cx:pt idx="22">Tacna</cx:pt>
          <cx:pt idx="23">Tumbes</cx:pt>
          <cx:pt idx="24">Ucayali</cx:pt>
        </cx:lvl>
        <cx:lvl ptCount="25" name="Country">
          <cx:pt idx="0">Per</cx:pt>
          <cx:pt idx="1">Per</cx:pt>
          <cx:pt idx="2">Per</cx:pt>
          <cx:pt idx="3">Per</cx:pt>
          <cx:pt idx="4">Per</cx:pt>
          <cx:pt idx="5">Per</cx:pt>
          <cx:pt idx="6">Per</cx:pt>
          <cx:pt idx="7">Per</cx:pt>
          <cx:pt idx="8">Per</cx:pt>
          <cx:pt idx="9">Per</cx:pt>
          <cx:pt idx="10">Per</cx:pt>
          <cx:pt idx="11">Per</cx:pt>
          <cx:pt idx="12">Per</cx:pt>
          <cx:pt idx="13">Per</cx:pt>
          <cx:pt idx="14">Per</cx:pt>
          <cx:pt idx="15">Per</cx:pt>
          <cx:pt idx="16">Per</cx:pt>
          <cx:pt idx="17">Per</cx:pt>
          <cx:pt idx="18">Per</cx:pt>
          <cx:pt idx="19">Per</cx:pt>
          <cx:pt idx="20">Per</cx:pt>
          <cx:pt idx="21">Per</cx:pt>
          <cx:pt idx="22">Per</cx:pt>
          <cx:pt idx="23">Per</cx:pt>
          <cx:pt idx="24">Per</cx:pt>
        </cx:lvl>
      </cx:strDim>
      <cx:numDim type="colorVal">
        <cx:f>Sheet1!$C$2:$C$26</cx:f>
        <cx:nf>'[Reporte TCFD - 2S2024 (Riesgo Físico)(Renzo) NUEVA ESCALA.xlsx]AUM'!$K$152</cx:nf>
        <cx:lvl ptCount="25" formatCode="General" name="#REF!">
          <cx:pt idx="0">2</cx:pt>
          <cx:pt idx="1">3</cx:pt>
          <cx:pt idx="2">3</cx:pt>
          <cx:pt idx="3">3</cx:pt>
          <cx:pt idx="4">3</cx:pt>
          <cx:pt idx="5">3</cx:pt>
          <cx:pt idx="6">3</cx:pt>
          <cx:pt idx="7">3</cx:pt>
          <cx:pt idx="8">3</cx:pt>
          <cx:pt idx="9">2</cx:pt>
          <cx:pt idx="10">3</cx:pt>
          <cx:pt idx="11">3</cx:pt>
          <cx:pt idx="12">3</cx:pt>
          <cx:pt idx="13">2</cx:pt>
          <cx:pt idx="14">3</cx:pt>
          <cx:pt idx="15">2</cx:pt>
          <cx:pt idx="16">2</cx:pt>
          <cx:pt idx="17">3</cx:pt>
          <cx:pt idx="18">3</cx:pt>
          <cx:pt idx="19">2</cx:pt>
          <cx:pt idx="20">3</cx:pt>
          <cx:pt idx="21">2</cx:pt>
          <cx:pt idx="22">3</cx:pt>
          <cx:pt idx="23">2</cx:pt>
          <cx:pt idx="24">2</cx:pt>
        </cx:lvl>
      </cx:numDim>
    </cx:data>
  </cx:chartData>
  <cx:chart>
    <cx:plotArea>
      <cx:plotAreaRegion>
        <cx:series layoutId="regionMap" uniqueId="{A45AA9C0-3631-4972-8655-8A894C862E49}">
          <cx:tx>
            <cx:txData>
              <cx:f>Sheet1!$C$1</cx:f>
              <cx:v>Valor</cx:v>
            </cx:txData>
          </cx:tx>
          <cx:dataId val="0"/>
          <cx:layoutPr>
            <cx:geography cultureLanguage="en-US" cultureRegion="PE" attribution="Powered by Bing">
              <cx:geoCache provider="{E9337A44-BEBE-4D9F-B70C-5C5E7DAFC167}">
                <cx:binary>1HxZkty4ku1WZPp+VGEiAVy71WYNMiJnZUpKjT+0UA4EJwAEOO/mLaBXcTf2PDWVMiSVVM/UHxn5
IQsiQAdxAPfjx0H9+2r+11Vzs/OP5rYx4V9X85+Pdd+7f/3xR7jSN+0uPGnLK2+Dve2fXNn2D3t7
W17d/HHtd1Npij8IwuyPK73z/c38+L/+DXcrbuypvdr1pTXPhhu/PL8JQ9OHv2n7btOjKzuY/q57
AXf68/HFjX/8aHfdliYrQ+/Lqx7/+TjdVbt25692jx/dmL7sl8vF3fz5+N7PHj/6Y9/AN4N51MB4
++Ea+kbJExI/ftRYU3y+wsUTQeETC4E+fPhnc093LXT5pVF8GMPu+trfhADP8eHfe13vDfpey7cz
MTx+VAabfpyh1N6N+2Lz4UH/uI/Af/177wI8+t6Vr0Dan6efNf0SRv/d7lZrduHznP0GiL7B5/O9
P+LxKxa/D8dfPffQ+KvhgYNhrnZBf56u3wCFfLIPBn/C4dLH7fgJj58a/QEan/rtY/Hp8gNHwt90
Q+l+p+fCyZ7fIh9c2T0ofsHqD8D40nMfji8NDxwQN/iy3V19Xru/YXNgtgcI/XzzTxsDTP7nf35i
8wdw/NV1H4+/Wh44IMvuarjS9vOc/W8AAgDd2x6/YPIHeHzpuQ/Hl4aHjUa6a5rdb8WCPEHJh8/e
JuFPcAw0C8dEfvjssy1rwh1ZuyOYu+bRhbdjaa5uHtnbRz8f4/fBS39+yz1Uf6HHA4d7CFe/Ge19
okDuqMPXuy/9mc0foPex2z5CH68+bBQOhx2QnfGmKX9rioMhDt1LcPaA+FWz38fjfu89WO43Pnx0
ht+6S75l0/Hfp56Hw3/+r/nJGH6E0uee3yD0ueFho3P0e7cMe0IpgbjE9kl2/IRJyUlM6cdwJe47
tZ8M4/vgfOi0h8uHaw8bkuPBlObz9PwOOoe/yT73PBlY/M///K3J7wPwud8eBp8vP2wYTnePTsv3
N77fXf9GMGDd34spYj+8/6LZ7wNyr/MeKvfaHjo07fvdAsrAzW9EJgHXdfdB5KN8ifbSUoE+G/uY
lp7ufmUQP8Lpr77fwPRX0wNHCXSCz1P2O9wY6DSQ7yDJ9vcQaNEiRjFHycfYsqcfnP5kHD+A6EOv
fXA+XHzgsFh/0//OpAWCyT2XthdcTn9q7wcAfOq3D8Gnyw8bhLMdlDYeXd88ykobfusm2QMDfSNu
/rLp78Oy130Pnb3WBw6ShQhTDL/ViSUfMxWC9gkyeiIx6DwM4+86sbNfGMsPAPvScx+rLw0PG6aL
3W8WYdC3fPmbXfRTo98H41O3PSQ+XX3gMJSD/51bZS+sCPSRn/2ovHzxM/M/AORjt31APl594IAM
5neGebwHCN/jwxc/MfeD+f/Qa3/6P1x82LP/YmcencGBj9+ayoPIf49qfYomP9oTn8fw/5Xc3+u8
B9C9toeN0+XuyvxOt4X5kw/lGi738kf+Ewf204F8fwN96rYH0KerDxyaoX1/8zvZMf1IviDFv7+P
ILbsJS2XPzX9AzQ+9duH49Plh43Hy6vdsmvK35iuyPs4cLqPwy+Y/D4QXzruIfHl+kOCYrg/5feG
/s8P7gmQSRIp2PdlLh4/QSwWMUnij4nIXvEfThj+7XC+D8fHXvcG/uGwItzqf+eI3o+P73051pjt
+t3mw3nIr07w/X3rh4eDo5t7XT/VZ78rcn0s3R5d//kYg3jFaQLz+eWo5d197hV3//veIbD7vW52
oYeTlzx5wklCBCKYMEQogxtONx+bxJMkFozKhCaEQhEG9pexvtfQTQCskiNJQURLBI3vwlOww4c2
jJ5wwSmSCUsSlDAWfzmkemGbpYDC/+cn//T9kRnaC1uaPvz5GFyn+/iru/EmNI45kYiABco4whh4
orvaPYdzsPBj/H8c1iyYpgibfs6loiJaLouioseuw/nBV5PzHVMsBgZ031iCY4bAXJIIgji6a//K
WK9XhNu4HDZhoq4/qsYkP8TRZM9Ch4o8I4jK07k2PlZF4PWbJi6kz1yfkCz0uGRKi6lXNR2SbEiW
a6/7VSsydOGVxzM7FS7HKWOCndHGHyUIHbmKMK1c22CFQpLLbE7QetT6NjqrCkzeozG370q+9lgt
AISqXSWbbc3q4rhYEbquQMd8U9cuOfNx0XWpHSM3KhpYf8uI7t/bCYctiXr+ZgyT6TYmr+UVFlJc
CGbEWclQedR341CpUTKnD4qcHsWm29ZDv61rHmo15W2NVIM6fxCQT9zhOK+xVaudp6NqDWhrVldt
BybpduXen9m4Hy+rsvM7EzfubWXz5TixJG9Ula8x3kYVH4vtgPrpKBDvbj1eaBqmvnkxcLcrJmRG
xUIQT4NEcitC1b3NExNejdNI3ld6Nih1RUNfdEGmbR+Fw6jtzIXsu/5s8qzeGTI5olCH6KZgBcsY
HGy5XUvisrWMujir4qY975ZOhJQWk21TTaiW8DxL/mxo8KAz6ePXCSxYeqCrONCzasBxoVrJ8QvR
i+F1QYzZ+o7PWImknFcVxQVPKW3U0NS4PxjmItngeEo2hphkOyM3v4n8jGoVN7NPtRkjWBSdAOBz
OUd1Gpn25bzyniosCnImiiR6i0I8PI2ihkTpIKQu1BjLuVC+fbdaZt/EhNedIr5YNkWyYlUWhciK
mj1LnJmyFvuZb2uaBK8qVgiA3RWvg4s3OTf2qGOkvhhIG6uWmFrJJWoOSihc9auLjvN6eoZp7VXC
okOL8Evh3aoqLC6XJH9V23qCsbDSnKw18Qdlk+hsXBq7aYrmWnaRyAiN2XESljbNpUBHtaD4pq6n
NF8Wqbg7QiN9UcWdU7wa9ZldSaOKfK2Oo8p0h4iyIo1k89a7oFVRusuYxN22NJ5VSkg4pi6EanIZ
HU8VM4fdOo5qEv7tZKQ5qcOcH7JuTC1tzxLUHbWR24xSdKqc+jcdsvI0ydurdWnzWwc78ALlS5+W
TXncruRqjPUzy3lQgyOvCTfTRva6VJGENTKJvDrQUVFkAxZHjV43Yo1Y2ut+Piy8XTbl0BDFWfkG
ouQhm2eRzsH6tJzmXvUxe+amcoNCOQ2Katt0WcGiulHRMBzhJTzVsT3BDUudxfKKW8ZUMYddI0v0
Wkt6KOayV7FlZavotLIbIsZJoajwqu2XdNFxvJmKJWkUisN40LrFZ7zC4KLkeGltfZr3Zawwqiap
2MrPPY83dIEt71x8QWN7NPPplNkmK43NRCifL61TK7ab2MYXqKlMljP5cl3xCm6gutLcrsoFcoLG
ViYqcq7Vad+szyc9Epw1q6/XVNceEJ50tPbpbMS6bguJeTqyMG+18RYpTeKlVBjej8CqG5p1SIu6
DW9dg3CilgS7657mSGZwKE2Ch8wbU2XdHC0+ddr2W+crcx5EX2aNtEWKu3nNOFpio4ZhmQ9ZMkQn
hQutV3kuyMFQtDaVLLC0WRKd2rbnZ4T11c3QL2RUs8vBUYtZkkkxQviG4Lq/0dVCMrGSWo3jFTO2
8Ck45fF2rOsig8jQ7vpRVLWyzoXr3EfVtnerHpVfCay5ceQhtXzW2YJr87zxXXNS5z4+zxcMi8FF
8anxefliStb+sC8EIFmP7REpnd3MTV2lPWbLQQADx4S7KRWlKQ8b4fOTUA84HQbebqjB5nKwq1jU
yryDyBPZNK+qJK0MC5vCo+kytAPa6CXMQmE+V9dJYfUr2uhKtetkz2delm9178JFi0eqajTXTwWJ
69S3rFck6exLDKPerYS6jJp5mdPIu/wpTFyeKIMlymoxsFPaTKFKw2zFa0QacG3gXVNDS6vw2Opb
FxeLU7aJhxfDOIQXPEa8Sf3cdJe6WUNWJcx0sJUD5amkjTx30uJNYnLdKpt4v6WDEZs8mP5tYpyN
1FJwWPBIDxfRmoSjZRwrmVWmzk9HWcVpHtkxFbJpdBppNvTKWVGd2mmELe1Q6OSGydVlfYOrUTWu
iTdcR0c5jV4Ooqs3JerroHzUmfO+XousKH2u1VIl5UGz5GRrAHKi2sbVBDb5iMtM8nLMZuwWNbpu
vZE5YnNWzyy2aR9VYUl7o0utZryKbSy5a9Kmz8sNdlH3VmudvB4ZabJFGIjPhV+OqZDFKe7aiaou
VPrExg34k7EdqGq8Z8fa5v5kLi1VpewO2RoPR/3UzBkCdC6nYUVHNupwobp85DAxojk1Mo8PnNVb
gxsvVTuLeNtU8v1AEHicoCd5XpRLMqlx6nWRxhNyF0gW6/XX78B8YlkfCd6VBV9TFvrTi0hfvv7X
2ee3mz68F/PX9btXmf76du5uzIve39z0Zzu3/8s7Rv7lp2DuE0O/o8D3vnxDyT9Tzz3S/fGNqR80
3mPk99KOz6nUB24tgC7+mIx/nep8+fknFp7cUW0sRYwTAawUUfyFhQv8hBIB55yAiwO/xHcvSn1m
4QhYOON3JR7OJWU0QdD4hYaLJxTOThEhoRQkJcHyn9Bw4PP3mDGDDQlUHrghbE0kEtA8vmbGOs4L
iDhVsekQuEpn4/UgwXV+9tWMfIeBQ+39WyuSEEnpXeJB70bxFf/2biK2q4tis3j3PKrEgZPlTs/8
jFkNsaAeLyJqb//e5j7nv3syHsNfIkTCMYEs52ubRjhjvA5RNuVLvEFRHj0vxJCfxmHdzeNIz2ZD
SPr3NveTmjub8HoboE0xfOiezamvi8WGMcpcVL7GUvfHTShWJWPabP/e0vdmVFDIwxgRcGYugULh
10+HbVzyQvRRtsxhemUNijJaoObpVIyQU5gcH1I09dulNc3R31v+5hnBHmHAREkCuSAc4rtvWa4V
jWtGus1YiRFllvX4RWvjGAJGTvTwkxn9Zn3C3okxhRPsNPmQlN63FofOFwEzv+EAdurKMG5bzPXh
3z/Td62AJY4EphwytPtW+oUvTVMlfjM0c34mTKOzSBO3+WdW7lJezjjstJgwyvdTXmocZHBl7jdN
b5YLOZJoS3BifjJj+/jcWRGw10TCSAyOZ+9Z/kqsh36lyrZ4emFpnvxSYg3TspfDczCDGYoT0Czk
3SL9alvXNO7jqDVhAzlAksqCWjW1I1f/eNqAmUgCAIPiJOO9B/LL3AyidGHjJsyzCEHUn5a1+Ofg
iDtBAmFKKLw0cTetXz1L44OtievCZopEokJbUdUOwv5DK+AYwNeDC5Tg2IFE7TmIJa5Y1/pq3nSd
rA6r3M34IO+jjv3EPdxt/6+RSURC4Q1bcA4Q5QVPIO58/TQAgh8H2aENR2HetGgOhyRC9duCibxU
ombm4u9Bwnd3vGdRwirgDN7qhTWLpNgPJK01wzgKtClDZVXTUQRJVVRvE4KqY5aABsBaebD2Gm8g
tQknhDXlKYcE5ydPjhGle0PhMUTTu+iIQPRhidib5MD4OvKxHSF9Ioyn8D726FU0rtyAMNM6V2ex
w5JmrKwY2U61l+2r3DWFeNbnQ7EcRM1U3CyIheaYNN0czrp5mlZIzsHXXViIpe2xDJF2VtHWg3sf
pomXaTUR/zya66rMiE+mIm0tW/1hU03uIuB6Grdmcv4U2bENaqYaiLskrr6ksL/aQ50ETg7Koh/K
dF5KAel3m5B+U/VDwjPktA6bbiwlzsI0Ldch99W6Gft8ZW8K3IXZKZ205QkqOlY/n+IoLJBPFPPJ
UMWQHyLet2NaGD35TC9uXZ7ierV1dEJo3YtTzpY6zooiGk5taddINdKILg0xsi+FkGVISxTcRpo4
HzYVq8qTyiy+yuqiri+dbCHXNwMKZyYeqHu2rq5myoi25UrAa5thk9Qlr9JmzD1K1wHbsI0bDSKU
bfqWqH5OIrKh08BfB+6ZywjpvdhEyYyYslhToWIW4ouaNYlNuY/YCYN4JxRdh7rKUNyzrY0CcFtT
UKKzVnaFUbQk8aACi2ycGUzWeUPCzJ+jlptehfnuLqiehd9E8PS30eqlzhAIIFyNIQ9XVd9Na1q2
eig2MZqLdxoH+VxQR99FeuJG4QpyEzWzuhlAjJnQdIBqgp0qKzzNz4Jz09tQuPl2ZQbi88CKN0PH
/K5EyOZZW045TXNbDCEN+Zy8YdUi7ki9ZDp1LPDTxEtZKxKJ6BxBWnFVj47qwwq0zXXbJ35pUusS
3m1IVYXjwuuiUz1PYEnmFha34rUOW7rYMk5HArpeVHD01HeJfxVMTOMDOibFqIwvHUrnKpcHo9MJ
VYi4vMtyiBexcvNY1tnY6/Ygqiv+rgfZ5k3ULslr0FDnpr0QY1IJ+0yiPKxng8R2GDY9J+agzMsJ
p6Um8jlARlhG4ykqN5BeL5Mycpavknpw06aNwriCiDOT6kRE/dgceJ6sZlv7ekhU2YvOpKSOO5zl
QzAinYqYn7M6Z3e5EisjxZaFrKeFLip8NnrI7fO3tVj9eVHMIMnMrEiuQYdyl66fY63C2s8I1KZp
jpQBPeldNA1xtDEO82eLrdZK5Z6D2JuPk3mhJ9s1Sue5O7eW9ECNe4wKRXRhqhRjPV7yAdJG5UUl
L2s9NfHRTIf6qYb8ekzzltFu2zSmq8/oJNjbaB27XOF+xuhERnquINsGcX6TRz1k9ZDWgTvSRsdn
pG3xDS/dKrKB8fx4SghpUqn5smxj7PsonaRtkjSqfRKKs67COAINYR1WhXPMpy2xIs+ikpRSJcaM
jep1pEOKypie8Bq81iYILruN1JHRqorEAnohMkuXDibqbyc2izJdwNVUG2RiOR7rmI+n4+i75Rhe
MrSwKCeQPZUFlfJ6ARVu8hvsETuLndPvLQS0RZle6Fkt8RzfDGxsX1HPQnHgB8LeLqCPvqtjVL5a
cU/fNuvc8YO8cDFOl6JNqszpYn7RyBFPqqui5gitweIDsVTAMFBpG7OJlyKK1cI5e9tMdHk/LZ19
LnRdVRlFed8pO818VIVe4zLtwtiwDQWl+hJE/pKc2kguI4hNtcwVzDC6six03QaUJNg8DeyKSeVF
HLcqKUNyC2laE6fGj11zmLMFVKAWVOHuKB4Hejg2HMgOyCDd6ybwSivOp3ZOF8fsjS9BqVrrRmBF
F4nfxitf37S+nmVaAc8ATSciTZ0ORTlZ8B8L7EZOa6aPhBvZAaxlztJRdvNuRVPAaUN6E1S8DGM4
GShangtTi1tpOsfAIQMXSBtdrlFWjI17H4MPuI6qOgqKsih5Rro+LtKJ1RS0VykjqApAJNoQSsKw
Ke2oLyQm3qh85qtXtraVVNNI9fuhD1GZMlHKEvbGMEybqJLYb2yO6xc5rPlC5RWJRpCZm8Kpgdqh
PXGY1ef1SMr4oKeJFaBkNkOzybXvbrEu6ZjFrLBb3vMyV/VcduQCkqr4GY3d9LQxqL3q59FdVJEX
NQjLy50Itnj4L1QM8qWahiq6nOZ1eTProe/TLiew9Fvi6HUxlXw5atCCDBQlWiiYuKVd4u3CHPag
WSEzKDz04C/rAmQ1xXtdXYyNqVHaVgN+hlannUoSGXVbKkg/pTAT7rmddRcUQTpmaW7m5lZ2q1xU
EywzqYa61WkY6Mi3BFK/Z6QfQQAmucRa6SlZ4sOEafdalLOd1OxxO6su6stXcH6H1KnkoEyneqHL
LQuextlgButPmWlzchgljSyUW2Mqs8SjclSJherASYD85bloNGztxSf8GM9RAqq7Xsw57uveqHZp
m2eSDnEClZSGJmddQ3mk8hVVeTr3eDxpBxn1gIvOn80Q4nrwtQM685xjpro6Dy/B59QgGha1fFpN
iKIU8TG56RCZDhrnw01CV+lVszTVclDYfHgxgtTLlW56XZ9xqeegrM+tVEuYoneeteubAfHVpQsb
wvOcluycdXMdb9bZQ2QRujla1hHilEkwiWCPYf9uSRY0ZMnM+hwmtGevE2LJ1Ypyezg0bDApiHTk
lV1MUqarL6NzZ5ckKF5SfcOAyJ8DDUDvGa1Jp1q4t1aUwHLIXM7QexwYvnBl390AwwNBtCji/mWU
dw0IzTkwGQIis9/0QuRr1o392qpuZfQZ7vPoMmpxi49AU3ang+drkw4gkb9fWzF12UAm2GSBLvVR
3vWiymbeA/2rBdQ5+l72NTBjPByZYiQ5RNu8fg5p5rqqpHLsRdTMiU/zfLXrZvKoBvqURMuqGLxM
ZzLnxrZRULntJpVMsjoKXiMoEQVQOUDjrmC98lyIi4aDh0uBZSVuszJZX0LNAAZZY9a8bwluezXn
AV/oqVujtF5pLpT2UH9QoqrKShG6GJStUwgv+64VZ541S3fQRV3ebFgbcHc5rDkJadWifDiMgDeU
G4AqLIq1+ZhkeR0IhRgaNRrorDPzho2yLSEMCY1UUYeyzWIb5LphLBrijR8Sp1VsLBTDZO9ZB8Qj
ElBe0GF+VVDuejKrJO+gGlGTuh2VlVNSqJWa+G0venTer1YGJaYKiNgyeNgAMPvRe4Rcx1Q0T+3L
wbfyWdNj3Kq5wyZkKCHjBW8LnG9iEJ9GNZrabv0yrH4D2n1TbY2etd0i0IihtNPVLoK8s8ZITXK0
Z4IlM8mowP6q85qCzyBdCyJ5vEAFsJr4SiC6yxLyLODG1x0fhzUdHWPXtizWJO06HAtlBdCoTUgm
zlXCo9EqNpMab1lPB5Qta+ghvSgqt2zrruPPgc8NKM07U74cIUfoNhY09SNm23xWpJgXo8xamysf
Rn8axUhaqIhy36g4sfommWZzPlof3iDq55cwa+1NV7qOpAVUb51iXLv3a9D+eSHzPElzrYEHl42R
76wF6U6FxYdYmYXKp5ADoT6ViTU6m8qKgBy/zHxRhM1tyHLaI5xVKJiX47i0l4iD+qYk6virvBXN
9ZyTNlGDLbojOQpwwjXt4+aoiO/qXKSZ4DlK8E1nZPAoVkzX/IXrtMYK9HQ6qjgqmzWlZW7eYc+m
NWuGuXMp83EiVMCNfN8gRIdUNiOB3KEa5pewv6BEW0VmvtXNCNS3lmvYJVDXECmFHA5cbD025bbr
puqUet6Cp6znBaoCUbXs3DAJKEWu1fB27YR/w7Wva7WuZLkuoALcQ9lX4DODa3QSUbJcxpWbGBTs
amJPeigQ8I0ZC3Et6q49pmxdA0QjMrwb4sXE4NWK/DQKdXNeLDG9ZNJN5zpJhiTFvOoudNFDgKMk
osCrIRs91Cxub2URzSGNxmBzFXs7v9ZW5lAtMCublKdGD8qNgV4NsBIgGynhiIjiiBS7sqij88g2
I5xfABKg+sEAoR3bCgALRRVv2r5sgbtNfrpczMAvx+puZ7ZVpG8FJK0vZjw0+jgsxaCBik8MUhd5
V6lbetsSqIa1xisTLeZZxVCbb7iwc5HOxTRVaTtZeWS63LyvxTI68GtJh1UV26WG0tTiF4WhSDqq
2uRmSXXEzVVcDzVOSeIFMKakR3PaDgXwkDj4ZZdzW1UqEoV8Q6PSBwic68I2Pm55C3gSBiCWTh4v
EwcSUZXlepIIM5aKQtnwampy5FXXYA9ZO27Qcex8jzKeL1CBbya9nFQODkYpiJID2dSjHI3yI4aF
kLjeQIFVCPzSrU3yrLLVAicgYEx1Zj2N3jo+hRvZ0QHIoK2Hc4gos9uCo27PdeeXt2uQ7UtO7dIq
0s7lbe47D8Xs2fRXtO+Lm2GcoUBVm9X0mSiiEsr4ydTdLjClGkqPCbcQvxIImZ6wFxOGtCb1UME8
JC3FOhV8Gd/xROrXA2JNpQpfgNYejNQ4RQKOs4DXkXm5TYbAiyyvJD3tDQPtIgG6jdNo6dYFgheV
03HvsJtToQsO4aGMgSNIk4Bw4XvL3CaB4L5s6qTVkIpZiyEpaAbuMxLMzDO/hPEFqJ3VoDocQXie
ZgxJHO1csGrMQwwbGRZDfehFW0xbPodmfVVDGT5ka9KiJi2mmveQYQh+wyHDeYZ4Od9EkatC2sTz
VCo4kLEGWPMFcmCZwWGNsWy7Ju3GhFVp7NfqXd4hvmNV6KiCqjH2KhBRJRkC4k/TwrVjs7FUdzod
IIOBYfG+aTNadVDPPC0lnA9JWpe/ZFU+GXrZ4y5PyEte9GjNpmGUfijVMAstLtc+Lv0z0CA0zWRl
+mrDofU176BUp2sNZwsi5Lv3a81mnEmCQnE6/j/2zm25Uhzd1q+yX4AKhECgW2AePT19tjN9Q2Sm
0wghTkIgwdOvgXvV7uresTqiI/aKWDti90V1V1U7nbZB+scY3/izGnEhJo0aog1TMEe/s73LnSBO
ZPOSbLGm7kJ3DmXPqh1jxjNpW4oAbyOi3l8skErhAmYIl6tVtjytRIu/8jl2bcor59963TK8ev7g
40Lvl+7Vd2v4JMcmiTLDthfVd0X15mqhOdzBbrnMUrvPgHvBh5EtLrpgUdBAYeLAmvQjpH4qpFQ1
5ploalNFrJyzQA4TaB1W23tDxb3xSIiZuxH6Xi2U1Wk5IeM/NAkJv7nJi+qd72JV4oGBZ5yVuG4i
6PhFhDscAxz3LGiL9oT8lw3fiJwS/8LXNqp2XdgsOAFHZFi7JSb4SYGQUS3T2/264uwIA7/y93BN
LI4WxTxJoQkL5MKNbItZ52vSzMlp9sWspzRKmiI8JJNwbsGVbQF4FEuZfLYKt17WdbQzEJ4iOdve
cv3sKjF1V9nSLsnB+Sh4m0A0RnMu1iSanrWwrm9h5znZ5GsNHzDtuQmnh9bxtbjpXSzMRS/NrKvc
Y20y3sE2Gv05XQYDwznrlpDKe23idXygBpDPezIypq5lb81c7G1Q0PgQCoY4nkz49u2mwmoYm3hp
DaaZti4TD++B4AvIHtWu1UM/msQ/EGVivp9iSiAvzcI5MilTCIdr0gt7f2gupF9nvWRoyxZuBvYw
xBA1BgzHXGWlqBy+UM1L6WKMnFBtH27C3/p7xE4a3zJf2JHuk3DtFWQ0dTxOo9rTYj+smwTxlWK/
ReDrWzrbCMfa0LbrjkzWi36JQIbrYZk6DI6uK/BNQBgOdzKqwhjiG19FC7OmGqrF+NncQSW84DiU
MQCiNVxMfTD1JGaa6R5nKcG3vo6aj8TOVQz3c2lhFpqoa34Hc5FQnUvXsPiGtDFXN34wSHzXxrJD
gCRHfCN+VfFIaNb6c0UCPNuVGy4uKQf7HM1dxCa4aQgC0GkJ/RieWaCiIusIKSkYsU56Ezg6L2yr
J9xbY/2KTUssyGrBVgE+LRrky+LxoDsUdEiGm1pHUfXopFtISpijgB7DqUhuXLesDnpymsamzpYC
YUDetn4XLCkO+Y7RfMI41xbpMBgSH2nHPHqqkbUEWdTAe/3WFLp4BEzZ0WDnRspVdSgjLWt3WsgI
MGFnZubK5FBNxHhzmY5VSWEe11RPBUxlCCYgG9QfjT+ki2U4bAHO9EpfbKwpLuXZiwZW70q8CeO6
Y3GDWPpvmdV/hvf3f8sJ/u/AAzN2LUxoxYIdGP/Xfmo/vraj/s/BCP6BJP8rRgBslkBY/CVW2VCF
f+B6/6GdtrEE//tj/qR6+R8BAo8AQhw5+rYb8j+Z3n9FE4R/+DFnAQf+6SMHTziimz9hAqwziAMf
/waoMCBhpEb/FkywLeX7hxQojELEWwkQ5i0NCuItmvlLilbXJsCwQfqd7SdCMdbBgSFVhoEmovvA
75siXUQTeWe9UkyfYyiinIECzgFXhZv2LM5LEtHDQvRqb/wimTB926LAgNFqe4dL0ev25MvHBkt1
Vxi2HhF24+RquMfzefZdmhSD23tAKz5wcQS7mRlJ9yyxBO6RL3BQukHY782kvbd14+PqaIrTMRnO
PJR5V85TqkIT3uBuUwebCNkjY+9WOMeBWQ5RqezFjRH9pV2yJ6X9Blk54eO0qrIorpARRK25TEUA
Q1O0gAD9qV/3flPu6mbd0cijsJLBzjZyzeshLO8Sr4Xe4X64m5UWH3r1xKmEu4PUphfbRISkJbUV
kUHKlsKdg6gajohfMJtDAmJ/cDM3ceYvRn0KH/cw7MtlJbkIvPV3aKw8gun1P4sl1L9JM1o/9XB5
ehmtZX1tCRmSrO+T6LHz4n0ZwNraNcnkDsJA8md2qqusL6TOkFFNl6X1xpcRAuoWJ12lcnym4LGC
sXgsJm+472Ea/mzDaMgFVUuSQs7SEjPkGOX+wOePFnPzEWdwuFnTJez/lmeW1TFcP558hzUqrm5N
uk/FavcWy66Nsq7EpNDZC21leMAsYvezDgGJYzCu1Gfti1JlYvTpdwz96wu8RHiKc8fBwNbjqCCL
ujLahdFYPAV8kievCDtEJEqFt7VXBNcxWHWRYnQMVsRQSWNyEdWuy0eccs9lxNarsBZndsVuMKPy
S+WBFE6jxk2fqlL2VoqhvMFYK/YeBREYDgm8vsApzE9NEuD7YBgQ8LEg/ZiyRrd7qo38pDWSsWqK
R5oh3YrmHYZCl3urDEXu/BiPdSSCXaWoVWnMA6/FBMu6Xecz5E7eGC/3EVIGhzyPTD0uAVBfC5/7
d90iX4tj0f7uZFLiOitsNiJX2YMNxOQDCZFcSlatp20IPsR+ZfLGU/rVdqXL5obg4uay6m4neNXn
ynfh92Q1zUFFXvi97Yo5XwYnz/1aEpe2kpZH1UZRzp31cYeXye8+nIDJB4HQcwo2xGWsBZ89FVz4
IASkXg8wbBhmLMKHfaLo+B0AIvKKo1f6b2sQzY/VuuD1VlV5Xl1whjka3tcgbVLN0GaAu6O8J69f
yL6ZW3MMG2iGPazc8d7XpD3M3NJPv4sQ2AV9c7VL/BC74I5zTNUR738U45BKBnNAvtW6BLjXP4Ac
fSxUV+6SYPztCrqTS5tDt+W+hnHf2KhP5bAwfGjxPeyDkxeYfSiDI5PzARX9A1Umm+lzF/MbcCXn
VSS7MPEuMQFmywaXzsDV4aGnMwFP6C333LfDrg4YRvUpq4rZ308BQNxQ1/eR615qPKyFX721ZQ0b
FznRTqzzTVUnGNAITkq3sn3gQLvTcoJvYbz67AX1x0LMbkUMjqN1PLMICnVCMHY0ATsV8wDiXuzc
NvHBteuqeW9XjB4SirCaco6TYGnBIobR7TKNw620wLmRq+M31uShuQPGkhdV1aZ9G0twyurodHgg
vL91zfTdjP3tPBcIWyJ1hgO6J0zfaFxHYCqr35Mo8wjOA+BPmrtgXPcN7+cP6k+PgwgRRA+feu5J
Xmt901uHgRPZKEekUAz7PrTmgOxwgrLz5xy62ODR1wh3+iK4nzrF87WQxwSHfw4KZueR4Vvrt+8L
HMp8mAJ6wJvGjgvp5hRnVcYX9WPw3E05wDWrYacyGz6oemzA2Ev1FAbdHMBnmH21k03U5TUYyHfq
vAiv4CzInImh1ocEY9dHL1CpSGdlzJoGHI5WKniRID8nobsg4eMXE2hXnb2Yg88GDf8L9lm95INu
NFomoEObehbBrziUDBblLOAypjHSuyUrooDKrENGdmRrw9+k8vidXMv56LpK3XUxfOK0KSy5AoGd
v484LF7XwZPPSRHYvW0BrR8BPiz4FMHIz+1UVF3G0L2oL3B7UDExNgqandGUJ5dopd07K3yMhBXp
qD73rpYmpeBGZOpLabvMGwIi9nHUMpmhQTOAfijCGzHMYHp9sAbZ6vH1FMQivNVeBfOO2d6IU934
vDgRJAM8gQXl9cVH0o/+9PE1HP13TI3/M5HT/3JW/CqB8fBfDov/x6b8L/h0a499feCfEyNWiIc4
ewgKUEjRSARS6M8eGP8DFT4gi5TEyLMSgk/3J4Ea/oH0GagV8L4ojhlloCv/nBnxKzIaRhxVqpDh
vzn7d2ZG7F/655kxYRFQNQyLwJUi5Nn/ODP6vUqYWOZmR9qG7AZHkOp1DrRJR4HWFN7JWuitsJ+H
XKt4yJirf9d2FSddls+TTm5m2lRvfa26rJ3bq0JimpWhBKovBqRrYNeu0Tg3+aQjnc4lqb/Psg9e
0EzT17r15amVzodRnsXA5ktPHoJR6ZepI+GP2a/oXgy2P2kJcUtWq26StWAH+DjgNFq4G1LXu5Yz
+MfeO1DN1GwHWd/AMVzNcAgc0IGC3czFhDcBbZFJwenv+s+V2iyg7ZH3auciGu+09Q+2REAUd+19
t84/VrVc0QsyRKbjYHDkY5KAaQ9sVcDMKuchQ5Gr2IezGnblFBYHX/UPZJ6OsfBfdDIj2iBvZdev
OYXwxgnaswwZQRYqnfOJ/LJd8NhVon4cUXk7Tqjj5bC/h+MytT8bIGVpOPD13JfTRUwkhocs55tF
wMZw/C20Acj3oBF3tOBPVdFP+46W+rbCiJIZXBRyjYdHvxrOaPhcki2Ul7Is3hH/pd7K+zvKbHIx
c3y/eMNn0uC8Ikj0hnUo4Z7y/kaXeoQvw7oDHcVLsvT7WMhkl4yG4tyqeLbC4t+ptbpigntzyhuu
icc6kAxC5WExXtkYPojCPumYWhiY8ltjOpu5alYzWmSkzoZgODBvhaMl4yeFIsoeFF2QUV0WcNe3
lFrZ/er1QQbqKS98OIgsNM8JHxr8xvB3IU3WvDXdEQWuG9+DKlhBIC0YbfRCfgjhfMQQS/1GpBrB
vQXmeR1XxA2REW5nPEUeCQnb09oz5BPxgonEQ8a8l/jGjYJHz/NkPqSYKN15y5w8dX7pPzq9Asta
OsTcoKguCwdCXcPqexJr80wRlNxGldd8w2hVP3U1EnAAyegSlVL4WbWRNDBzyvHg9b7EXe0FeT/F
7dOIIk+KTIXC6iOggBY9YGTS4eK9RnOFearq4vI1qk39i0pv6OA7vWOOjNkRvrzJIvgy+0V27NtM
SJJ3ZBzf5rm3S87QIUQ3As2kj6Fp6zvtw8Kc6gY/qHJxyQPIDoT3a9VZmyJqdacKubZOdSTq3SBk
9z6a4NNXa+Ehlh4DP3XJxv/aEpU5ZUOFsS7qRRbTEZ0jN87+EdxbcVil7/9gqAuqcZ1t3m6wGpp5
lffpx+38QlUxpXEb1XUWrFNwhdge80V45oKmEotQ9Gicf+Krg3k61GT6TWVc/Ir7eL1HmlwBYVJR
jAByatY0KulCcrAeRd67qDquZuV3I8x4iMFuAyE1ToKCj/7rUDh9PzjFkydWiuitnusHHRpou8Lz
cL06UZPTiFLukFKvWPBFyC5rkqJ/LVTP0R/i9qZBRbXPR0nhTFVwWD9q6qu3dfJhw9ddpFFn9Bea
V2KDJsrOaORrRjGZhii0vkJvfCyUzlnriO1x+sR+JpNkeu8gi+68aGkemmYwvwfZ4mQYVi0vGCB+
KMzV6Mb57bmJ1vHaLDYf61Xe6mqY8gonwan3gk6m6L0g4G+NAohn+n594X1Dv4/1gCqkHw653YTb
skm4FS3jA2+XZ280TYRKHbVvJsKfmlMPKySgnBMM24xd1SYQIyhF8qUZm00+1tAzH/EmKcmXuiy/
lGaziU60gOhPvglRsUnSpm6CRwgw6FTwUevtuolX13BzGTmZssGUUH5fKjfwW3fAAAnt20IFG22j
x3VmfZLFyO2vcdg3HvqkY3Lf43k5NWZKEA9uqtrCBTyWm9Ke9IoHAS4EnvAx4vWnH3jqIeThbRmT
zFJ95wXBIbZdnDqvaH423bQ+F3Kxe1UHUKsDxm0EUPt6RNCZ8USCQcGFdSq9vrlB/IgJO4ZFXMb1
3Ryv8UU4GPxDJIozcidcEUlnSrTPzD0S0d8NXI7L3Gqk6JVbvuHKGZ8SHALfQrtET1x6+HFNCPYa
1PBEeEBa1SMqjx3L+hUPkV/iNeYuUYguwuW7UFCyNOB9DYPDj86T6hGq2ZLEdzDuT1pDNvF4/R6C
NvsWsmXeCdIJcD/omd/5TZeLeL5jQKOyScbsuhhg9iVjZwzTc45GKdAzv6qii1hBb6YN6f0n9N3Y
tfLB0SOIgIBMmQiDXIH1zeNl7S8tHV9DBZ41Q945PFazDC8r+govBBPyswOQcTduSq+iMLWBBdEP
jyiyU0hQfwZeFD2PA+sf0SjEZQymM8CnKe38JhK/2q8bMWNG9H3bHVAMchiFhMJZQ4OuoeXgH+dx
Ce9IG8wPbVyUryhKxZfazPNJ81b9auemfiB67HMXPSQFAncU9PAT0pNjL/ghymNE3fJM3FBfUC73
cOYOPrLq0N/bJsSoIBjZWxaU8IiKJ+svV45fCAY2YlrBnpASoz4OTdlWLjwFrD7JCaBXodXJc6FK
Mf7MOYbwa4hzc48mK27sWZscKVVyKHhj9y4pfrSyZo+RLz2UXTE/rPX6POta3lJHIyiwZKIZjSd2
jpa4frBe8RMBNL5VUSNzU4OmMjFcCTiO+3BDcAE9NfsC2cGRlAuOr3XZSd11MI1m7zyy8fuasO8w
lx6jBNCTmub9FLk7IKAZkLprU8ohX9cIXIBMrrimmqyaQnNciQQtrA6mlK9FUMqfUJ7kCuYuq529
xSXOHrhDaLarcCUZX+A0Dtv6npZF8x6Yaj10XfHWVPUlaeowR3qEYNUVGAvXBpkwSqa7XkAKo+uJ
qNeS57ocm70d2AoEZZA/8K5lQC0Q9yIJe0yq7vs4B3e0w2sQ8orh1QntuVzUvWqATfFIcWR3uJPm
CiAK9bx1N/TE4IZteNZ52qodqD6SI3lKTTLaW2QD8hgPAv5nFO/bln0niUF7fYYb2Sm3Zng9AMXV
QG1E0NxQKQBZ1FL9xp09HIfgAcPpg5XIZ3WtX70mEJnCBgWAV7zPpJaPaxu6W2WCE1lRNG4AzeE1
KjNfQkpjI0K9h1m8x5yCq2Bm095O/aP20LRVgfNzhQbTFdLhfgz68NZzJGtqc5Sirb6JDpVPSHG3
BwXJ7mRXnnq0ZO9bNM1SJ+gv004RviFei4m+fE8aDH3rjGd0LpE3E4+f4O3i/cI6hqqyryip3jTe
8m6KOD5Ynei7ilnENIXHzQEdijqlcbKr2Lq840qUaTz5USbh5kGSy/dqjQVG7eg70pkTsx5K3aK/
5Ym3r81401nqZZo1800CYyvrl6hjYJPEVZHl26T3ZvUPMQW33ODNz8TkYDew4AoOMjyMWA2QjiPp
z4Hn+meN0+JtWYEKm+FGVfxnFy5kh7vYHWgHv3GsJnY7C+32WIghjxQ1zlGveDAT6o7LcGsmUh6r
aNC3hIEQxrkXpclK2HUCILL3p2rdo4Zd7YrWsycgrbBFjD8e3VbM17rZXEdxndsuyG2y+oDp6/6U
uC7ehVAGKRzE3RIE3+OJ7/g4YM+Aw0Ci7pqFXoDr9k//X3mb5S8CGhHJf934/PsfYPZPa1t4iI/7
u/DemkQ+wa7oiLFwk71/Cu/kD7xaqBolSEmQulD0pv4U3sEfyGIQuqI2z+IEXcK/6262/asYuptt
i102zf7v6O4w3LKYvzZ2IvzWOMwBwiKGCiH9p8ZTnGDDgK6VxFtqvR8sUcM3XigscdBXHUSf8zC1
eVNE95YkuCRjjer4cKuWWV69CDQj+Pw7pJ5V1nEG27wwtzP2JaZDVJq8SMIG+gKy2A2cgG9T9H1p
G45num1VRrwKQhSYSGkPM0MLIF3UWKPCUgTxBmpgLk5ZqdydG2P6naN+cZwqx88KpiAYXh8W08LB
OmXROhW7oPWnOkNFh6u8HSLy0NgK9xeQ7eRjnkV/AzR1fikxjd8u9cLu4hELbnKHGPkcAA+CV10o
HHvShHC/rFOwdzu9wBTDvBvvqLTtLz775nVoawD/SHLmS4tNI3OmY9WnpDXRCfyCvGJOqhx2nkTL
QXnjdF48Il6RZiW/hOdhwK9oZlx79cbOf4KQrk6QedWYz4pGZ7SGxk/BDQxnCmWQDnYxj7z3NayM
xUb7vm+7m7V38sE3Nj4WiVpQyikciFMfVD8C97F8CJYGGonTPn61vgfEBEVepEyN7t0trp3jZGL7
icvKvywNjO9ZWX1BGDyUMC2W4V7PYXwVxiv2oNGKOyIW7HNgQVODA1oZ+JJoDg0HFWDCZ8NxJQ2D
Kt670NLHkFXQaMZDwO37KH1xmwRXK+v4oe4ri6MdohRIo/vUsFyfwaibIwUtfsftpO48r3k0YxC0
uzJI6GuLiOalxtC2p2OFjQMJG+iHAAnB01a0xW82NcMZq0rKFBQmS8Ht2xMw+qLJor4CyTMpIOk5
aJvymSZuvq7C9jcwwsRBuAgPKFYf7Kq21ti9EUfhDV9nrKqIIzee6dzyfVuFWIYT1/Y8xCaIU5iq
YjdZuKJ4SBvw20LY9Qnwh79TeFrfUVXwDig+9fWeGOtNaSD52zQ15REAh76jxgVhtiqsmMlIGZBf
TDn/2ox6JOmKwfrnMotDHGHEiVrXXB3HD7tsvelNsYWeJ9ImecN4CK6x8XGHSNIcELCUYFwRwz8s
g8a8TrwpxBVjvHtw4w0qdx4sq6NoNZw0r8KCFjzs0wh1O4WvA8g7gMJgdvZT02wYkj/2176dZHsM
ypE1+8Qxcy4bUT4FrFGfsQpmVEFgmZwks7U4EQjzLuckAvlG0Q/wL1AO7majS9wBxRv8P2LWngno
53dAChpERKzdsdICt2FhEUII6gp4GWgG3jRxZ3YwHvxn2yYY0lSz7MFdgR9vvYK+JB6A97mN47xR
qGNNAGEQ3EIllKUtMJgH6gb9uO6qlmYF96sSlMmHVnWXRin/ozG002lUufYwFbG5cfWwrDnBEECz
aBgZHCya7JdezAcchT45gS5CuwW5IJnNwXUTetVUZw0VIR62LwprjkL3QNsBiYRnAKr/HcdCs7c/
8L4MbSZQh8G6kEqiuBPU+sPvAcihenNRobhqL1ZHqgfx8AVqBUoFh9mUiJXwRboVSatZCKxN6h8G
LM/YeYHtnr/wrXYaQTBjBRNSwtobbtCIhu0xqYa/JoOJM6aT4Fgj7AQCXka3LvHrkyn95gBiE8Lg
C+7yex8olxd1oJNDgMZY/fItkgbtkz5wOARB5k9YTQSH2cIxidgHSBX7Y2Q/7TSCQGyrBf6EP3Nx
ZvU6v/0F9mq6omoz6uGHapPaPyFn9L6JcY0OAgL3HmuqNEKTqaM/ceInMyjozjxphkNxsn5xEoOb
fgXw5ehkfpVYGvapvsyOqWvcDd8ckIm5/nXZXJFg80d82eG3YjfXhH8ZKG2RILeQsFWizV8Z8A+T
JzxK+p5v/gv1m5Tg8wFmxraXCh5fx+9MuVRHFsHgM3rj85YvU2dFIyylf7N6YDTfB5v/029OUPJl
Ck1fBpH8MouWmZgL2xwksnlJFD0k2Eqbw4TO4/RCNtcpNr7bKLrNhgUkh/aN8n/oYigOBqz9kUps
AsJ9KmFl1ZurhfopDC4sTZmBU1HAeIlLAOyOE3lGp2r8Cdlf78SXVVb7ATCfLwNNf5lpnoOvZr4s
NtQ1th1k8N3s5sBFX2Yc1iu5BYVIeHTT5taB80L7cHPwos3LwwkOW89E34Mvoy/cPD+xuX/hlxE4
bJ6g+7IH+VhQXNibaTjOdE27zUn0YSkWX+aiS9oRP/nNcgyB2GYoo8KIrCuNOoOru0fU95pvsaXl
bQnrUm4eZhW1cDM3X1NvDqcRsLiBKPuPxeZ/gj6CFaqV/fAnGz1XsEmLzS8FHlFmVG2QN/545fY0
bs4q6De7W77sVlr05tnfPFjcmfVbMEXyUiaq+hFp3+xA5rmr6Nnrf9t8/P8sz/S3jGpr4/+LSbn/
pz+U8+8j9vaBf47K+NMLoyDEfyLUx+OvIOrPURnLWMMY4T7u0638/9dRmdA/sLABJhLq5lixQiME
R39mVCTEx2FFBQf4DxwJv/K/MyvT4J8zKsYJD1B1xpaobT0i+acFggzzB4APbnYebaKzBFoCqh4+
tsglwZGUuwLKDHR1halwWcXdtp/5V28HeUKHz4qUF6Pdzm5UQfGlsL0KAvc8kE6/yMX5P1Q4VG86
ECxf6ejv2gZXWNdW9gkdnRWL/1BGul/Gof42asA4aU+D6sdQVsMbG3xg6ZhG41c+G7S1iI6xi8+h
YLISok+kgVUcdhVMB+UOPbFvCZEJimFrX3o7LHgyjz2WPrq0742/xy6j+BVkSfMQQL3vBzQXUXGv
imxY2vWW8I32xQa1IQVcpfe1jyo/qW59A6ap1Px9rpMq7Vqts0irDsE5SjkiLyPPHbBfbYFnDWof
0K3sR/QycXuuiGt2ljIS7/ymT86gNMRBVjV24GFwbcI0HuLuMcBFdNEWRnVcoLGRwrFge8xzA0tR
FzyiP8QFlk/AdAr8xo5paPVwh5V/1Y/EVnyHLVcBVlRV0AiBHxXzsU9w9S/dExTA/HvEgyl2Ve3i
49qjWy1dkHwsoYsPnt9Ne9621S2Z6fIi/c1TmFC6hUk6wQzTvvQvQznE+F+687JBE/FYNZN3mk3v
3SjjxLbpIFxT9NjLWwzW+g0++PoNEU2yc8hrT3ik2ixscDP1s6TAV8foXQ5Dc0RhZzpNHbYEWgo2
9SATrbGuQDt4173FCLMWLgOduVzhb6G+B/z4rhJVcm0BxWSj6Q3mD5r0e+By8kSHLr4W/mAPjVeF
ZzsO7a0NwuC1STTfmxFcAroUQGZmjl5cjoZ1/Dlq4h/j0bJX64nm6AXa5hJrS041bZcbAa10BqEo
99gVue4nHs0ic9CsB8AU/DvKLTHPFrj7J6wCS1eDJC9FTxTujdGlV6dOOcATbnDmoOG+n+p4Xj9C
1LmPriDkd4dC1J0WlTo3yMSuQgagn4BK7Xwwlk9VHM2HNerNZe6G7jQPQ3XAErWuzqt+Eo89vu6c
oJ15M2FUItnYdfOuWQd+5MEK+sYBH4b/Vb2rCVVIxKsK7eJYovqk2wOGr6FPURqr7uGc01PMud7U
mEGwCzI2PAx05JdkqadbFpbVS7EocxLFQA6mX2SJRaH+fFRj/xR0rN0n3pz8Ip7szxJrFj4sWbqU
9/197MFzxVSGxxxG/0sB32ovkGH+xHsFxAv+vP1cSc2wIu0FNUCghPgZjTsK9YGlUUDfOl4jN2Ls
YbW8epBTRJacr03EDqDK3seRjgfpOFIK3fZJn3lh2DzSJBa71aPrtR7iKYcEsXkAW27J9Ojpo3Ts
sxrHrz0Q42yALsn5cwRoh7EJGeuvCcCASUND6vc2FmLI8DxXrwywWaW1eqMD8Z+gwtjJC5vx1UFf
oUrJO5THJlZY6G0Z/TKxjxZzBV/bbS8/9ABkLb+PAzm+SIo2GVLAVlyKGQYrinSGxqDV1XCzRGV0
YLPRL9wuY7pOtruR0jNXPujpYiFGr1gqxd5Qb5xvoMW8BOmbJd/npEcYP1sYuZEQB510j1UwHWvu
zpNxwK7ANrXdXrgJPxcPn1KBymqnvCCvBpsLKXZxxMDYJMepY5P/oO5MdiNJzi39KkKv2wtu5vOi
NxHhMXMIzsyNg8wkfTafx6fvz6lWVVZeXV3UQkAL0EJSoRhkRLjZP5zzHf16npO9RHDPevRdYf6q
B7P1ZZG9p4OxlkF/UI51o01wBpXtT6a5A365FSOW7Zb/GCbAS29a+ux4U9kTjsG632RMai0FCiUo
jown5s9UTeXD7FbV5q/XJP+fotf+Wx3MMuvCDPkvS4zfM6H/GMb9/q/9UWDgyeT40QXELDQwVAr/
KDCs38B0getCgkKVsUiq/zGKE/I3YTsms7iF6YVA5afywvoN+JUOlIiCwFxqj79SXnBI/TKKA1Hm
Uv5w/zD8Ra3ziwQGrkndQSubaIXFjxpne7SZWw8ZZZYGbs0ZqcV3UgnGbjrHxAh01WRvGldsjDNd
3bjBIsFtch5llsBcUF0vHqwUNCLuHKVfBldU296NF7SMlSRr11bFY9KjEtimRZ5ZSILBs7El7op7
p8ki+mtZccpPczr62ESxZI9U7icZcD+3oef6RYkRczVNof4YOmX4JNFacNMW5m2cselbSUhAuH3b
Rg+oIJS465quYnQXWvLJEeBMhyLrngKnnre9oVfvTt5rp6jI1cQiezGzpF6OqxvWYjs6xjqGIpn5
joGIHA30R4TL5GLZA+M4z8zpK/FAKiQdbYxHuZripzJt5b1VaEpuvZhu0ofSOV4hqNfoD4bBd1LG
Vbkdy8aHZarWWiHsA7iL4KaP3IMmQI3iVUlv6JO5LORSROlLORWmS2XFAszZlkHsXddL4eV81WBA
xcrnainM2q8arbLc5CVBq3OLopsaLoxlf58vhR2dqO43S7GXL2WfFsT6W+w51WO+FIVljMgT/6X5
WrZAjFaI2akfqWaSA4ilEC0h5WXYBYuOdVZyZVh5XDD3DPDjavbAANDA0n4YLKhBAVOB7Os4WQ4W
lxPG5qTpqeWyDElRsxxE2Mem24KGcWd2wi8pTWyZXnOJt22yT8Phqmuao16Z68FCpIG8U6uacNua
07rqAF1jA4TdjRJd23QsKXQtO6bLcTmOACa84j1xvzmTt46XIxac0CbyvqN7PWc2OGzugsau/IZj
2YZ4sl8KURYmVSBei69DXC3n+ayXzrPpKuM6WE77dDn3aQGLk8UXCXEmt0KVFRaeF26K9OvSAP4A
5QpAc3RWPb41nJND89gifL0FmMS1k3xdQd3XddRazneor1xR/dd1NX1dXaHFLRYt99nMivF+7lT5
vVtuPLxDXH6J6ZYGHUBISWzNiV0ySzKNeJPzRBztIRkTDHsCtqjRIlNdq+Wy1YF8wPHkAk5mvE+h
xaXMc1Lmm4zZwY2K0+FQNGjTt1GDIni7ADfuAan3HhIaoUUbDHPaXjnm8MmqjDohXkqGzjS0bYCu
+HFcCoq8HbyL0/XpLUs0tAZzUx5xl1OGLAUJ90921XxVKq2eiB2q2PZQEQ//6CwlTbkUN81XnQOW
Vf+o0yi5HpZiSP+qi0LcvTvP9Jj/qb7PWAgvFVUwTt6edS9VVpvF6IqX2qtYqjAbIfsdK0NKM2bX
8a77qtcQxp1zqx5QQQsWa+EQ2VflHOur2LSy9SAUWhoavneEbsMh9Bz4MqXefsYlzJUVW0JWdlbg
rY1ksg+Tm/WH2fOCYs0F0D23QRmsTN76c6ikccVpia5v7GdtP7Z2vdFa9PpJkSW3VVF0N6Cpy20A
gHmTd11Fl4bKGuF7HZ+SrIruh2DMH8021zdmF7bntmjdI+IYcW8lk3E3hXNMHlvc3+WNUT6kXRP5
ThUP322MvCx0g2whA4Sj8abFnrqThcjOE0OhAnurQDnWV2a7Nru+WGM5nHc1Kt/3tAzZrkAj2HYo
mw+zywPuMsbQfOmwyI8m+FR+icQGcQQycD3g8101bWqa+04rx900Anxq+w6HeGC76S6hDbqHO15j
ThSe9SEYfH90lZtAp5g7FISmFd+37dKbOQA5ngzppq9cNJgoVJDvrdpxj0kxaI81cKUTGyPYvoHg
fuB5Bbtrt953dBNq3XWh/GT83vo2gNsrZ/bMY5YNaJW7uHi3nThZe6nJ7DUYNK6kEnGhrONrV+CC
x+7FOLZIFhDvYOGKt3rDryDYrtNSZyvjGe9VMRnflQibiwvMuVqPZaVbrBuk/jo0qnyMzdH8Xpge
Dx3si7tQzs1jPhZqYPe7GG6iIdBPyWTpd4MxFE9JF0YHrzH5qvaueyNjfXocm4Dqs2q6CV2523PR
Ml/45upTdOu6mnacqqb/hrfOPGG37h87pmV7sy7zc1w5tNmtU7JwivSL4FqgkEz79hLJWDtWeLi/
5UPK2MpO3dMo8+ImkhVefd22E79XCPHp5LX7rG4lx3gi77V+0s8y0yigVZ3rz3TVKB/dbv4EH+E+
6iVP1aaJx0iynpbJvusdldMVR7qzplxwXuzMANKja7CTGWcn6g5RoqBp74bmyUurwWLGXBc/OlY3
YJxti2JfVp9lNKzyKOnvE8dqb8MSI6XjHBsOCPrXuj7HaRXeAvHrrzKgtPCXHVzjjFTj6oetT86t
laXREQp+fed0dficzqb+XNCaH3QX5fsa5xj9yBBb1rFumhXchIGjE2TL3kzFeI2vW3zkwmvfhhLV
2zoucUXNUdXu0ziniXDdNIBhNBbVGnh/6gPkFt9iNHfGxq5C51tmpZKlgQsNy25zaDzj0GxT2b9P
KH3AvasMnUCsh9qNi43dN+tm3uhZW36bWhQXm1zp07G1oxzgnrcrYi88cA4Fb4OtXlOmP2zcBtb+
uuyh88SMeoxmnD+Ba87AkGqsW6mhXQMKc/FtpHV/skpdP9GVd1sYKOWmyAtnXg3ahCvKamT+NFlI
2ih1mPlu89xS8NNsc99mxC1gP5XrLmitz1rl5i7BmFtuXO4UJGiwxTZDmUDYYP9lrkNNeKfZqMwb
FPhIlFwsbr0VAIXt+hfhsSKp42D+HINOf3FDzsjOHaS7aqmJdgrR4XVbK0j3fZIeMMlRUeROhKBW
NDsndJp9mU7hPnGZatTy1jNUfl2nVYqi2uxfzV5Ul4KDb28Mln6D/i4GbeH4DYoQt+LsZmRTUTcO
7lCf7GqyEN9Qjl2s2Xb2RCX0bPdCdZ3o5iaz4IaUebPLnEXvO08sQ1rUs42eQ/yuDJcZ/Uh/d0Js
hSPGzY19j8/3rMsu3wsvpnFDbcXbmZXCOo2mU1qgrAZyGEZLk2czq/OXJoi0G3Y31k4ZY3YgD0J/
L83SKVeBCuPtaLI6iWJhfdoBYr58bKatPqbltz7qPR8CR5zhE1Et7BF2RrtO1gBCStdYs7w2Kl7Y
EPl1rmsATVQbhEdUMNN6nLX80YjpxQ076x5NZ9DeNa9DC81W3TrEelYcwppPd1VEhTp47RAfyIQw
jbU+yPEjttPpAcqQfHZKW5ymppTUNMKobtusmDbs9KPnITPDnetGCygy0YJ1Lo3hzk2BnRWMxENm
H2wEOdrT+YzmE/DTWLZbhx/1kRicen4vx+ql7OLoZLMMvRAvYJ84aCaYybHCDjgFe89tnD1s9u6O
7Wa5H1TWr4WMK1xW/RDthqhJduZM9gdrXPHJe0pxKOrw1TZYj284AD7dbkqvEkvP/w7t/XfYP/7T
h+z/Uo6C/fz3BMef5ut/SFGgkGM1wtyL14NbHtb4H+2v+E0IdCYCKx3wW8PE0Pt7/2v8hv1DSM+E
MAnoeaFZ/z5fd35jti4X2YjLyUTz+lcaYHchqv9Ji+JIg0aaXwLPMIFA1i++YR4q9OQtZJFahcjo
x4Kci7lxFbyXftYvBdjWYzJoOOmGeTgHQeKieKavQm+CTzJey/oX4mqh3PAbJnqEFwrz1akyABet
WrbI6LwGFdwOsQFSDcDmtNEU3oFVpbQQQXygZOdj56Lvo1NHzK8LtZnUkHb+AHKfdBajBUXMoCHa
/wRkTS0ron6O5DVWl1OTqPoz7NwUZa/E4rZCJu5um8kwnwSHAW7m1HDuREST2zODePEaZLghLMDX
qMNttkrJuQB7N9vZm61MZDOp1u+6XMZno+KpYrTc+f08kODSNa3th8p2j16Xp++Sf4QYNCF0xus9
68pJkZZLUYnPWp+XqgtdYdWV0z7PtNQ3I2yTrkchOEnNPtdO393K2iNhohq0HbN26wI1dybGYi63
5CBhq1ZDFq5TeGY7K6OdyWAP+IPKPzUoWVs03MmmZmexjDAZ/MazNQZbx51ZsEc4HpOR+lqORrPG
rW5tMnY3b0HqpueyqBikTYm1qqT11gc54KN2sjt9y7JxuDbauNk6MEfPgHDGB6ktR3zuLgr/MEdw
Opj1VcZvuxfZNGDKEylvnlLGMS/C4KbGLXkLECOkInMJQOiC4KppLKBjS8NURJq7m2Uud9OcO9ed
5bZnM9FQKg5FdJkYHt7wHjYIQXJBNAQOggfbK/i+xIrcofVkt/XeUJIts17N4WLnSPp91dUSEWhY
NbtR66KD7NzQXaFNirZB1iFf5Kb3gSxYJy1iiIK53QoO7Ovbb0acO5sKQpu7KRFVXjTqs2l54+pT
Rut4Expuv0PB66j1qOXjdZGkxprvRLaODTNf12JkHdRK3a+bar506DzqjRuBpMDiCeG2NU17jxay
gzuXspyxp7yDRVnS2tI6inSL2sk7DHGFf8BqsdxqRckzJuMBJclkAJS0k+5kTiVeKxhF9wN8CyCb
WRCcTU/1d3h77FesfgyThgLOUzP0R2MaQWb13GtKM9GQ08EeIah5yXaSmH4ismIYq+vq2u1FtxED
xk+R4I2WZeNiWiYZys0LxM96TtGQxCZk4Gw+Y2q6Qj5Fyx2Fsd8ieD2h3e0uxTx3W8uJRqa4ub4X
hd7egsa0AiTCpoUaiiFCtNK8vkNgQYBUwdsVOL5dAh7dZ5HgDwUntuSijD7qT2YUUUmZXJm65uPc
yZHHT1aAknrst7EJRpH5l3nsoyAJN41Bs5Gg0zgkEF+8DZWaR9SLY++8xvY+1OQYV0OfW3tL6GAi
g6jD1xTqzk3SVdNZMFwpRifZROXEJI/XgvUMQyGVKjkHWdOus4QlVyv5o72sqJ9qMxS7om/G75by
nkUF3Go1pqnyXcON/aSbkPdoSf4wwse5mjW6SEJPhq1WYrrR3cL0I6+EQpxW3YdmFu2NpopunXbM
eRhAUC5PY5LsymYG9loqead7TAM1tAeroSntWzsLnFudtxtAbjvu3dqyDxERI6S7uAVGY1Ouh+Uj
SygvNqbexGu9yKgC0zRg2q4m8zO2pLXtMoOim//6BJ/TemY7yX7DIpQmyqPxytPtCbl1qI6siYqP
VMc/PqUu/i5pjYe6bXiAJfLsseumXS8dKMgQxvaTwXfXTrx6F3nzREeA1jeFM73qYr7jjcjTHaiJ
/DBAI+OPdawVR4O+sQH0HWVR4KlJg3Kr5dl4yCyMPxycUbuFQBFc2V7b0p5Wg48iZL7RxnZ4zfig
UbtbgFpHzYn3TeRKxmGxvXZZJW1m2ROMlNpGuV6ize6Rvi32xqT7DIXS9kEigpsAxRKsOEKryHMZ
zzUhTyfoR9lG5yuHBjCOkeAv6CvLTtU7NrD5WsbudMYnkEG/xi1npZHEBRnhTdaEY97YUW3c8AWP
DjG+yi0Hkoa5coi2AC8t+DR5Bb1UFmddjMlGw2t/yOqgXOk5IUEOXCG4CYZxwKAEgTL2onoL9ajb
d1XR3NDuM64JVEcPEhV3qfYM6ZXcquafAsNRbmt+Y5jNwWCBexBxKO4BvxdMF8GHSydM7zQv0Pif
nXVVubQZ82hy09nV6CdEOnUXzZ44j3jGVti0imPRucuNKgkS0gdtY+NaWodMWTd67Ba7RMY/iGGj
WxydZcdCCh8qQdzV4YZdQ/bsZMULYSeKLfVPEHKGC8HEyVLOL04oF3FhV8avJma93rfdRvJ/RPbg
C93LwW3JYL4uWqcYGbCVbMgcILr6SnCqbbs4s6Cf9wU9PACzDSCMIYAoMjo3jGvHXdLO5cUVArfn
YHKeM2JdhK9ggfy8F94TOIcRO8rCKofU7V6Xuq0d9JEhDcKZpBEbLbdGWHzwkAaCKtB16U55B/I3
XavETk/hzKwKYCZPKPwjdlS4I85aZWZnlEnJKSh654Q7T9/g/u3OFiLcYw3TxK+9nqFlEOE7g03h
yXfGIMVrxpt7VLllnDOPDgNRm9mfxrAqdkNGB0iMoK5t44oNMQLN4UGpYVy3nbB9r5PFbWUazCBj
/F07k+bpxTL75FEKIHNaOgcH5VrzM+fokpiHwPaY2R6jpVYmchNBegJrHQfnApFfiXXAtFdtYvVX
bpDlW6+wGnBL/bQvqGgeuJ8D4hBJdMNGFh2Z4vVrr5+zfVoxVQqE5VzjIQBvjtCSHphl9Ozk7THi
hfsQcUJH4t1s30TMarfcYBgeG1kR38aiZArXFXYbBPpNtnfId1s5sm/uzayZjk1jj+tMZ5qVV6nm
A/wKV9OCWpb64G2MksASVzALx6pfbIuOTKnK7Id13rCWmPTKOMoWOx9tevh99KzhRJbYwI+3i0vU
JnR4TMM3XY05BjEgJ7YXFVdOVfRnmy8o1lRXYLBhgDnDTl3XXgDlwSbWSZFruJFlMmzthmDGJqzK
S+XZysdB2W91YzA2VRTa95nG/BHOhdwRK8VnXtnJsQqm5qyZkf4CAS0+1mZv+VFnIYidZL2Jk8Jb
Q2WfrjKEYSe1hFZx+jIKismG02JjBlMnE7dqcZiOoNM3g1HBuU3biK0XlRAMGYqN3syyQ0Z85sbk
6N17MWrAuquqSzggg60DY74i08+7eAoQuQ4p0Ymsm5Le9C3IwuqxYKx+1Iom3icNVxVDyIs3JPNe
ijFy0f9hSctofm+UtOb7HsfXITc87HdwaPZkdRkU8yq9bhL3VkJU1UYCHj0nH5+QcnpvcJv5+IDL
w+EodJDNogTA0ZRRAmgEVgzQxBE838LZNFed3s/rMQOMAiEbsGgxMJ3FhD8eFbODW6uzJuaTI/Ai
j8iPmxmNx/VU1oulSLHGbtuo++b1jdpanCG4l2Cp4Z5WibQhq2rPXvqBXnJPMEl2qEJyacQQ7DOZ
r1DzEcJob71gvkqCIn41FB48rbXld7OkMp2wBcITgyMkwP2eK6/ScQla1V0SsPEO7WB6L6zRTfyk
rLcZgTS7oAm1jwD1wUeuzOk6NKG1FXnqwteIhx9MBaJvYZil1ywJhvumGcJ7ILy8cfSagpt/dO9Z
4AWHhFCHS8ej/86wCYSFdBtfUwZpe3lnfbdBpb066AoOleE1G7PQUJM7YUzCZxuPW0PD2y1qhlQB
gXXo9Dz2cnYrXseExSALQVHyy4Kgxyw5W2vQaMaLlwXVeQC+So2R+9nkEUjYsfuUvSePDry2Ky90
+32Byp8hNS/1nYzF+kB5Px7joEpdClz48xpSD7mp4zzZC/64te1o19A3CjYOL56NImCt4ya9KLst
dmWiyquWddWZryu9WDiVHgpNJ+v2OI8g/3jAgKknUkkPlmTUhpDZmcsBhm27tUblimqx3IvaHSnt
Yrv/rlxudJSoameGMj+1fBlvpLsMtOamKd6SuRIvmo7aGlIUWPo2TSAIGK352oaqf9UtpW5GjQ0H
QmbnW5Ow8CAJgsyOboyyBnFHLBfMbg2IoLdies8JPOllzprxSgS2AS4WAAx5imFSMzjsvem7JrhL
427MzuhDtGxruCp5sHRCDbVmSA96M1f7zDC6A5uKfuOI6SrQbetNj8bsqjWIOxENjsbZjHLkE4ke
bW3DsLZ9j7kBBVhwshalsAIEvTbKySjoAPgN63gS5wgG/hFGJPdvxtWyEmmmNhaEU4fsyFo8RVbk
frbGBPGo00SyZVr2kmdBduXqFb5MoknqDe8h0Klu3kxokXaGZxbYthResHKotRW0InsLWiH+UYUa
erlRA8RA3kLhl71gKtC3ziGeknHXq7j0tbFqL5RK0XsfqMCvqOBEmcYomnAwowrOgF7bxyywTHGQ
hjUV8ElNm7M+j55Y+iZPvbSb9UhA3xw6nt+TprQrdeVduSHQng06d+91LnoErKVnsPxLSiBaev8j
6bX6jlZLwHIGcKPVCY8ZGvwz9299S4UGGxPKwUYIkmIgYpfsDAu9ORmF88AI5yhL3OIJwnkkt4nR
7a2pcmH3j+q14/crVx57UhZH3NtrvD8pIDavif0aM9sqIeQAiAxOO+A9WDn3XFwQGKgLnhnFCFJH
3WZtysmBjg1ecDXmKQTmVMXqWjacOZjVDHA5GuFJKMUp1Z9jvNTd6ieNx+3fXUp/U93v6dG/6jGX
eRFWKOSfBrh7a6Ga/MyZKyCpu2kkUmIsvPYunzTHb1nOf7OHJrzFGh0//vXXA0ospVy8Uo7+SwYV
ph6i0kuP10PNtHHMSF15xThfBF7XzRjDI1r/6xf8FaTHH0iWEgYUx3HBhri/vCAflYYFc0r8NhDI
M6EBTTsWZ7r7l18H3Yu5hH67fPIEJ/35jYxgPhdtGaY4GSvDL8mbu+7o1S7/+q/5r+M9XgWFjUnj
gdjG/WW8h/6x75gepL4Ty3I7AKwmKWXJKxqAUGjPhUXLY1SDG/4Pr/tf38XldR2bdTgTRMv75V1s
W5zgjK0Tv+t1rFppQv6mdf762/4dY+j/MArRIqOyFin0vxB41x8VEU5vfwZd/r9/7R/qK/03F2GT
yY+CIyS+NFZ/qK9AUnrkoNk2jMo/y69gEPGQ2x6MIiwYziLa+nn8jCKcVBzXFFAAnL+EreQR/nX8
bC7SbsNaFGJ0A1Aw/3ScCMidndEC1iVjhO6rQ7d7yYOyz7dl3DWPSuoz0ysR2i+JISa5dgM137LV
HjfKC6EomDYEALOfP9ocrIzl5cUxkKQSewCZkW264dVszw+RyE1Y4zn4+abqfixiCXzUGfHyaWVs
kX/oN3KokcDo/WCfrGmIX8NwQaETFkX+hMK35jTmbV/PB8Za8bwhTYC0sSwYkhtixVwf2175wOij
7NZzPLYkes2BH5RFeXCQLPmp43hMsaU57aFawgEBQM2SN5+PXROntR+I3nyygU1cwzarr1hihU+2
NIdqnZmWA+gtJM4kMfIXhShpZ+IkenNSffgAbpQe2EB22xqU0qEFwXzHorHbdHHcPJr6PECl65m2
z6GEZOL5YW3OPqTD+JryC242nzRzOHiL7aExKw2nYVxMN6MyS+FTZKv7XC9KvM3DY9rN2UWl43il
kmE8OVMVXsdaSCyENoTdI5v9cJsAPvHjtjfv6y6kINMjYpH6thJXsRNPdxE7PfT6kgwgJ7/oY1xe
CK5OHoyvWmdiU3xGQEAphLL5e9ugxN6kczNIlvEwngG7DU/B3Itb2LviRuYKIlsTu1RXzVelBXbe
grFJzEfAvNNRR1NQ2LSao+3FUqp1S9FWLuWb81XJuWwJd02GyWHVidLxhQDcpodMFyMNZhE5RwYZ
ElqfUPfHXvc4ujKnDk+8a7TR+L/Ib6Wh8KASK4as1vTe4ZQ8UFe9pchxfCMk1341hskV45R+BzND
PE8kZpkQG3sTkGbUXroSwAfsqV2oFZ8Qn8+uJKHQacDgTV7pXYYwLQ6qB+ChKqDGWArDi9eV2kND
yveuZ6RF2V20cs07kJ/Tppku+dxqB34scdeFRn2QkAPzWNYZa9MA2JboUbK72PAUNfcJamR8DBHV
9FC+ZHeid4QKJLvi0smsvSebg6CHcRyztaZZw7BBgmKC6dOChtatEvLaq3PW2qGdo89hBBWsFAZ+
nKpQA68xg8odYmO4hGjuDgjJ+MB6+PfzkXEuvwoahG3WI39e987klNsmcJibNq2ZMeyaKvahTP0i
RahRUjvtYxsuTAgCr6NTXel1vkIuGTykdL9sk1oZvdgDBMKBgdPbpGlG6BuVJ59VOQAawt/Cursp
03A9M1dlr6R718B7Ll2bVt/DJo+vPPxaaOXj2XwMa60wod/OZItgZBjvqraaN/zB+tmsarXJKg8s
YzCWD9T1/XMTsGLgrHwKvHJaG8180vh016VU3ZVRWYYv8jjPt5krVXooEHzesPi9hrekvukNj21Y
SO+sOMk+SicbbkoN0bKgp/wcmtm9knWJSCiy8HJo2OfYJCS6ymhkcXvYpXHfwNZ3reilyehbOM93
pPUdkanVW/XlGImSylvXvTdeTyja1raFnxYYrtoCqcgv3WI8aadc59crKHe8DmNK4GVaAKYa6uG6
j6JvKL/Smxo/zd5tMrF2q6jYhyziDgLj7jqrp6z0KafYHC0Sz7oZtYNGHsOVBZ3G9Gk3GbsUKcLQ
Albvk627qd+6xD8hl5WIv8wvPWkbKKSlaEzxGHIm0+xlfrdIUKdFjNpkOaTdCn2qIGWJMZadaac6
yKp3fJzzdlxErQjj+p1chK5d6pT4gRf5K53dTP7blyoWCtbwbOmgZ2x73EjyCG5z3Hy0QcQEAHk/
y3x6c6GBH3KNTj80rAOIkm7nJa28RKZ0/dxj8z4tilzP0AQiC4stwlpkofCLQTdveX8YpIWktN+H
zaLsVQCN75l0tKflZF3r45QGeJ6D5MxgqHicvlTBc5AT1UDU2VYtomH7Sz/subF4qL5UxXBRo01u
WcWWuPV1vQiPMbSKgzYhRiZ8BV0yczA0ysQyxHeMBpx6x4WEirnrHHgWxAMFN4bVxgcFedJcMTFo
cDijFfDiIdzWqIo+h0CEW1aYyQ5VWITVeREaYBFhdheE5oE8IXOL1zUlYDl19qasgr3Zu/lWZ9ux
oV+yTzbUVjB4VniquVZf0i+dgxF6xYdaxA+s04CBLIIIYgIS7l94oqhWrXKgKUI3gWpwuAPGEsBg
WmQV46Kw8BIAg92iukgx4dyiqUSKgbpHntBYAW/zWnHN7HV6aNx8/PC+NBzBIucoF2FH9KXxiAdP
HdQi/AiDDg1I6EXau7kIQxxmQCwfEYtMi2ykWAQk5FuiJal1r0bF1PMUrpw2jw5D7WXhfhBpx7vn
ec9GK4yP0JhsolMmy2F6GTc6GfAE9wRzYAlsPcN4L4KS0a3TYm5ZOVk7f4vJKBJHLVAOWFoWTUdB
PsFBmq2sDpjkw2FPqFKKHSXHc7ZNsyG/w3EyMOzQHMj7A9PAu3YZBuoE+XxHVJriEZmGsxNmD3MW
ZffY+ll9k6OZvHpzEctNUluJ/k3VSFpR2enRVQpX8pGjwb4GfDYGqzCJ+71RSgZ5bjtO95HlhZih
1PJW9VqkH4jbsXxCN/GhDUP3jsU8uodHnNabsRHxJkbnpQ6B9BApacwmXkG1qbuuGKtt4ZQ1yU1V
Zm+MgdAiC6FTqV0Cw32gFls3/Q+3+tG5KG77IZHbLmn0PWPcYuPUnr2vQqJaNwmyPuaFg/ZQs2Nk
dGCdZpEnKMklEZJe0rXtijTsjBM9mG+iAswFo6U5+Qypwxh6Kt5ENMI06dqJlOy4fWiGxhu24Bmz
O7DauAkjTafEqhBK9dQka2bL7TVjnm5i+zK2B8605CBLQ6N64ohIINq57kXrrtgxxJG3FpWGg2wQ
vW8yW7gfCgRhTGk5Zeih7V0F2W3jZLGLaWUo9iZwYR4kM+IBRDCg8TS9NVUyMIgQJLNzeK+0wOPJ
s7m60g+rNphg2xDYCXrWTqIm22lF+IY93SZtG2vXCncQ7K48a5Zpmxs9mVBzpzew1foD+bvtjW0a
SDDddvp7h/fv6L76/9zkACTXBu3Pf9+HrQvVQFxBqV2ot+xvtzUxHer7x9+Kz7+t37Ls7U8CIZqt
v/+8fzRoDgkBNjYy4QH/oHn7Qx6EzAdmrCnwpNCIfSmHfpcHid9cTLG0bUxhhIVD5qf+DOuMhPWJ
isMygJP/JVKN92t39hWaraNConcUjuWKP3dnxKomjUmJQlTrQLb97COvZxfDShBxSzrjq3WhVrCQ
LG898shC40GFh5oBfaN/n1DvxESvasPOUSBFQDMJA/Jenp0cfTrE3eTz1oBprE4VF7E5FW9DX5+k
o/tl7O5C3VhHhPIx69vAxWDz7Rzx6B8nCz++YjssHlxRGlywmBpBWThdtk/M7m5Mqx9qkDdh0ewU
HcdKsoZumvzKm/fkE9+143PI0kWLUA8GJLahB7bM71pIGUIumegVvhRoCn1xC2F0BfYWH8dTBQ++
T+ttMrJsbhE9RWRlGTtd7hVxbRohQV79Wpi7rnmysppNoH0TE+2RFx9M0K/LwvB2Wv05iFf2DTY1
8nAzj+AxGQGnIRTNEvfw6acv4T8Z04klAf5nxtCveefLP//+dkcyU/N//pf435USSYjydsTtkG2a
ketmftUYrJqpeRtk5q3TGlt9qf4j8k+rA2kvYC12bsM82sGpy9oLr+tG1P/DOI9Z2j/7xWwPyw9D
PQ7pXyZDoSenpdUffN7fMzNc2whe/i97Z5IcubVm6a2U1Rwy4KIvy3oD71s6ezI4gZEMBvruosdu
agG1itxYfdfVPEmWT1kaZlkNJcpDQXc48N/zn/OdqAuWVRHtMMW+cLY4jvmcYoI1FvaIXTsH1TIy
7ps0efbYjNOmvdUpbKXTCWXeW7bJQ+M27EnZYEy72Kq3vaSul/6qZYsIjIyxih2KVfPRXyfiqZlG
uazCHiuwpPiw27Z6sTLxFgTGAZF6OYSvsn+Sobecw4L+CHoYEtjHGQqr0MPtYPibXkenrbbYxz/L
hCIu9sCptL7meW9r7q6jQmwMrLNr7VOdS9dgEwfegbd5O1jeSzv8cLz9MLJHDe3F2HnrPhaQ1O4r
Rz7FbFn0zHvI++poiPZmhA8nenkuMViUrn5JW+NYzPP9TGezmll60TxVnQUhlMSZnd21obWoQsF4
FWnQ72h/43ua/ChSn/as9tZiFSWCbezhEXMgbuJyZ8uH2436Df8hzOf3kjZRaA6XLCvvg1I8Tw3n
36ZoH700plqtgLKWxK8JcGNcYid8OscgndGeGxcGy7jqSIalDrbo+dbpLpr13ayfBFJ284K/iy+7
tQ5EsOrMftNbXxP+oaosnoI+XPsGaseQGPYyNbuVJjxqpZx4RynqMqnr3diUa7oDPie7u8PTf5FZ
ejAttZeqN6C+FpEOSLMT9t6Q/rHVThp96awvVpQY0IT30nd3rc3GgqjBGD/m6UQe94c5PmU6kGtC
6TrtJY17NihZzjGr+Mr5gfNJQOKswn0zT1umBmq1tpD0iNVN8SaLfFA0XXFiPCoIBdTW0RWBWIku
3Q7pEwbeBQP3rtfGRUjqnvgHdBGLJtkLzQDFas7oUsvUcm1r4S+SIPase80LUggh3wSFD8SXlgnQ
xKVVWmLhZ5IDqJk+00x7H+VJtrGAcOnt1ou3VQjD8mEu6lNSW8YOZYoc1ADsJ3tOSCBKuUuN/Ez2
DNKteTYtA8dl6bkLK54PtHStPM24mfU3Kzha3NGp6T1NFFGzOHxsM6LPeA0TO18RbtIchxLn+VT3
YIu8DQShOxocNkbxQcBiD0dzOWSPNjggVAVWHI+hphBY+PA/e+PbPOU/wLus2ziG4RTigEmXSXxH
kwSmjhtVNesz3zuEA9tzyVpdMy5wMym2HZe1p39Lspi3Oz0l6SemQEiJFiyzaQkNihN6eAmb+zGv
fpTuvSMOwfQsp/vY+YqTI+0KOpUO7L6cMV42RX9XSv1JsNYc2KJC97uEEazNQwy31TTupXeL5f69
ZVqb0nu9YaGkPhyB0LjOu2FbwsVtuolGxFeCUyucfuyO5o1dT0vWQot5epz6dxgAW9M7jNW8t8Ak
lRF1skO4qqkTZ2XetFvGeJ6cz15/X2OW8UgZSEpyG5Qszcsx2tbLGB+fI791zs7mzSFnyT75m5TS
WUnZhDf/ybNC3XL//KzA++vYng/D3vD+tIqw9NpzBAf2NR3uJ1cfz3F808Q/HLaKfjO/mMGXa3Ml
+M3t9X/8t0bIvwxGf47/47OsJhlDcv3H5b/wGMk2STBc/cUY2TWffxoVf3nNr6Oi/pMJj8UzbBgo
vwj2v2r5JnxCXTFcHMMzfgYe/m5WNDxe6Ju6r3sc1xnhftPybVVDoGqpaBMQpvn3nOQqHP6Hq8jl
r+DrBisBD3+VcP60GSTxUFUe3QFrezJ8rEBIqo05usjAFJRutcY31720jNfec8p3ElrIVY3auJPB
yo+d2sLjFig+MrWZr/oB4xnNK9WOh9IprdQKPxJATxap2uxzP8QCE1wX/mXvozV7Ex656GoJiK72
AFtM3KqUZwCjSglpos/vgqulIJyj7rWv80ehLAcFfYy7cFI+hKmZ3C0dKLgTUmVU0A1L7gPOkZ+D
7aF02VZCHimK2i0glSfwFsyJ2B0GzYVhqywQWD2SjRjlxhYF9xNllNDxwSzzq3tCb+GCTFdPBSBu
45t5dVrgyjIXdkKXrrJhDCSrMGRIboKdgVJXKcOGiWVk7yoTh9749qfk3V85lAitI2X26JXtwySa
dWcaZrD3lSnEmHxjF/lUSAMo9cIHPEbDQ1j2FE9htXzD4DN8L3kI0GzLVF8o64nq7foS6aB9wZ2R
2xSHilVOfrIejHb+6CWQrkpZWWhs0g9C2VsgrmB0ueIU4oLHXIcNBtSgueZMGn8LQvc51JMtzO2F
jn+mUkaahHTrqXeNDwKVprOyfjbejNSUY0TDj9MpZ05Ge95ivtp1dOXcocV+vFhTDL6E+Xz+liuP
j6nH08HrZzisYBudLaZSzvRRvKhVtFHY5afGaRiti8oXdXqYm2Dl9LC+NpNyFuWNh8moHQnIQpfE
LqY8SFGoj889rSkLiUmJYQC/SdYVa3eqcDApLxNrDmfvepn+kCqnU6o8T+bV/sQqaN5xWRoLoGq0
SOKSsrIiPoCgr5+govuvdVsdStMKlhPy8FGby4+gLx8pAczmVQsaP94AisH/VNDyra0LFJXHEH1p
iQkKU26HY5QmQr1IXpp2GF64uEhINx1ObZ4NrCC0Bgjxwp+bcOX2jvlMrtrdVSa8w8UkWgoTe8gx
3awxV44ZpQ1pQjqvG/vkYBiEOjkYlNlH14TpEcuxe6blTBrwnsvsQXOChrx/ZM13WCLDAzYQxqVe
K6K9Fz1UqT0fIojLW0ld+6oBTbzFjk0CrfP7/DR2OWeJ3AYfKrF634c5rZZHGuXjNy/zqu955ZQM
BLQAw+UdyYnEsNCqplpHsvJ5H0uQ1+WMd3YIWGa4ZnwUBubKOPT2dCeTu6W8LtP0z1Jkl46s2VsK
W4GGdAESuB7OQ5DCwwm09o3IbP8gAVVSB6L5QChL8P9futO17DKG0T0PWZJjgiRlSJWoW9f7kHJ7
yAtm/X2K0v4hEpQXr2l69/duO8s7w9flgQKHkHBC3gRHPrvhgcqFfMOIVahVh2ZiItXCtTaIaDMm
xsy/1JJmrZLj2KIzTGyijDLIPna8NUcOOUuaXygrGAL5kZjRvCUxUq6NIHjJes/cFE2SMmp3Etog
K6i7drBrrrIxuxl8Q+Xaez1Y9wz9+SKRjrtKyjR6kVGUrf2abVOp+91XNlBS2Uv7uSkmpOrCF5Cz
nL7zh+3YNinKr5VCDBiTiZZutoYbr4BaF9uAPWenPo6GD/sdkTvOaSUfgEgYXXCqs9Rhd2BZMVRQ
Lbor+k5QH2gCxkyzmg6oIXZI7aXYsHruMp7TMWEahqh+hKyV7sklxEfsxsXzmMDIrCUer1HBDQj/
MObXPkE3jg2UF0szvkzsd298rIkE+xOaStuyqG5alBJ6rfFR2wh6Rrbo6qgHbhph9/Np+mZbR8d3
2Nb+Yy2q+DHogN+T2jQQq/3quXR8sSByMgBXsLFQCSsb7qXBuYSu0YLRrIHd6Ja0sCZjfIw6kW6U
KYXEsgX+GRVxCZAR8J3djUeZearZriFKO3IaE5knV+xD+fIKGHyqE8ywHSxrVrzsdE9HK7ScpR/h
pStac14lQ9at3Yw+4QG3Ho3UlIPq7livmfyaVdNVeNmjKd/C4A92PbVibzVX55JQL4MsOdtlWVcE
Iy3XOg6dqO4CzbWWVq85O1y2FSiPPt2VquU5s+ZqVxZltpN1Pt0GFExz6w28oywJ0/qjET8YTcrq
RXC2jMng75pEn7c0E5cIISNQERHWOOK0tDJPPRZcrjdOOjat6BtGFYt4cAbmiTCPAmbFp9wPTRpi
6CewPQpSeOx7PPOcfElYF8AXMum5xcq8qPQIEFAz2mvhZECxZl3HfD+oAm4ynKc6FenRMDXOBUNa
vBB+5FiKWWATWeyJXFdz95TzEp2qcr6tdC2d+xambCINhzKZwNjilu0vNb/yCiicgWGcm01KzzBk
IouHjXQ53GnVfIEBoMPc7c0tENluM4O4B4CUZSMQ0MHa6PRCIji0NXB/mhQKGgVpsiVZAmsrYL9G
o19BzLwd23Vb8oCqGtPZl97YPqdy7rZQCZKdzuePuuUXbyDoAMPkzbAzdGt4weGOCEU9z0HCVnmE
4fjpGMpk62j5jVXN0TG2sn5FYjgASC67PW1I3op4FJkrjipT9FblkKkoDg7LZZAHwb1fIDZoMFpP
qecmwFp8nPWZbnT6uo4LglhWmInNrDfdccgDehWrcSr4ZsphZ/tNvzdZJy2HShJg9T3mjWQicYNk
mL+Bq65BlDmD9VrzUR5NO+lfbXyhm1qb5nXPGr824v6oJbN2rvqxPwxSNDak/sw+AdQrz0leagYH
3U6d2nTKGn1sINbSpvMvdWbuz5lZsKWH1ZdusrZHh/DLQJyqJCO0Dfwz4n2tm6PILPnR1w0o05Eb
x2IAPPAEvoMLMCh8840JwrvnPFztEpiC1HOOkfY+0Mx65M7Yfwsw0WEQ1poRekI0BWtTjMbW63M+
UCZa+0uzFc4hVmQHBvR0m5WUOK26yXPIwygSxChpSufCrvJ9pvfRDeAa01jjzHdX7pUl4WraSx+C
yyLPsk+w0m0SxZ0gvtZ/CMWiMBWVIr8CKgLJHbiqM3qQckdmJ9j/+V7LgDWS0qFpOCdLcLavxIuw
r6LX2hL6ObATzt04QO7jvIKfl+fmfQSW5thg5HgYwhqYhp7VhLuc17I1VtIYtHuTgP9DpOAbVYjD
O7sSOYRT5MgwSbWpFLAjjGdVxl2El0HhPIwupSin0Oh5DtPGPGP8eJyGLtgS4oM7pIAgASR2tLc+
2JFCBDqseCFm2JpbJ2n7NTvKfG3GRn0IgCqs5yQU7bKUlk3OGfgILnTvo1dAEiBRwHw1fAmeHU/a
Aqd2ueaBH93UClNX4Bi++PCcv5iVpl2icHZkMov9oBB3RpeRuLLHUY2OVwoenYakMcn6LZzeyPcT
30AfAz3UHVBN7ra98vT6ap43pGWTDRvB9JAo8F6RaiNbLmgy6oPYOQrQJxWqj3fP/dFd+X0urOib
5kr166wJmVBY4rlX0L/AlhZL+XHYCoUEHBQcUCuompEtasEiV/DAemq8GwjNySVTaEFHQQb1K2/Q
o998ZSoIoRaNcgW3CTJhqyCFMeSoveaN+Y5IhP1WMi4fy9pkReTS3zoo1GHrWN56VvjDUIEQB4VE
HPl6zaQDACV2CpkYMcrvK4VRxFgBUbFScEUq7PVTOSviomcm0BdjBWLUe5CMY+tHZzfipjtJXNzx
CLqxoIFpw0bR3TUTK6n1oCCPk3dfKuijUNPXjrt0ShUN3aQLVwEiIwgA76UT1pfAmnvSs1eUpDt5
0TJyp53BGEiASEEnWfcT52gUijLQQvtkTn1533FpgHK4UitbLY62cDI8Mkqm7lJQlkO4rGBdSgW9
jPUqRixVfopoqMWPjG3s0Yjd/kLxi/s19OB3gEuN+1S5MkrsGXSq1Jf0atkYOb/mG3F1chhjd05k
Hi0p1TzmeCuXbcoshQC2mPOhfymVK6TqwxIRbChWnvKMTBETfq98JGSosZRotbKXGMppEtHL4qBM
D7F6StWfmUOuTmKy1q8ulYiW3XAJKsWyVtKiH0MoS8t4dbeEbW+828ryghAXvSZXH0yqLDH11R3j
SplsLK1/b66+mVhioTFocb/g5grOEOnro1RWG49zFweBqwMH8PyAGKqMOeSecJI7OGFxbirnDkcI
Z1mL4WGg8JLxTh5jZfCpO6w++dX1U10dQJqNGci7+oL47QEzlwN38MIQdrYOri6iKK2mbFkqcxFB
gfZBV4YjGVav8ZA3N5ql7Eg5DJcDthmypTqAi0o4z0BDtPdY2Zmaq7PJsGkiyZTdKWkwPmG3z080
Ogv2KXzrN62ySOEU0B4DZZtKqF5/ypWVqlemqlHZq8whKFe4ljDz2Jq9xY1FXkdTXa3Km5XhGUQ0
0MxlqrxbbUGaTCYl0Ss8XXMOIX5BGtleDKN17nLjiQotyQswgnlXT5h/9Ydxq8Irxmft0YznDXcd
M+xddXWVkScsvodXr9msbGd/X1w7x5+SJe+P9s8t7X8U1v6LuWN/5h+rxdK/1tN23Xvx+d5/ZfHn
Hyyy/3ztr7qa9ZNw2Jb6iCO/8BR+Ryj0lNHVJciHcKa2s7+T1bCd8wrQgZaFF5a/zG+ymsUK1mf5
pOs2e9i/J6uZV9nsD+IsHl3ls1X7YcejcQDZ7XeLPHcYi6xL2JfZXkb0oajdF6NNiuf+yrQprnyb
Ou2qlVDQm2z09WOWAsLhKselxikyvBQKlGMBwlmTbpx/DDHtAHCAwuGESwW4jsLsWDKDPwV4x6L6
YV+YwbZTUB6IntNhbk1IPV7jVm+2wvewE27WeLG0yywM4srzlfRDXcEHg1ezcQhobkoFBKoIE0CK
U5ig5EoM6pw+bRYJ6uGy8rCALbMrY0iPwA0lCjw0VopBVCgcEWlLg6e6Nt44ClbUTuYItwhpiCHF
OZhXqpGH7SbnxJPF+0Rhj5wOANLsTRVnKcKLPJU5FF0ZSbR+fQ89HvrUOyuIkmUO/dmJjfDWJ1dG
aVs1jQszSLvbngbfu07422Rof0SFT7SuzCmFGnpah/BCPemK4cTpb0Q2UmQnmfXVqaoscaGhezwx
aIB/mmZLyHWiqFDhFRBF5yYhIs+ne6qtIidauZb3HAYueKGGaeHkK85UF3qSyHsXs1R3/DliRu3F
A1w8xMm60x5iUDNCC1fO2NNhP3+bDMLXVrmy/FEtCXroRoveTPydYDUxwKkb0zd/ltohRQW7E1dE
1uw2+p1o4WaJLiq2sdu9WZip9r0ia5WKsTXnvXWcFXcrdcvw6CsWlw7V4U3/GdAVdy2er1Z/SsiW
t4n16ABrvuCx8yD9zMayJC24y5Kmf8Ebpd8bpaEfGU84MARuRBkoMScwYQoYhp/3y5SvE5ajzzLV
q6fmiharFGWsaWrWX6WCj02U5X2mCkhGMWG5EoFhrmeFLOMMS860ViAzRy+nl6YbkttShO0SBYqc
Y0jDInRKrzkHRFyPQ+CmWxCGYM/aVnzi6u1X9IO5G6cywieo4DUgML+/swgYvaF7OqcJZzfHJPtS
591DTF3GnvmO4lhPE2eNzlG4D36/zCuZIKpWHKnQIQ0Cb9hbrdx7HVqs1pzqMC2Y0kJvySo7KGBX
aP5L2E/Fm20F7scMsaHaIng1d3OEK7vKGjrL8CcvRneahgXkgmxBlx+bI9KyKz/ojgVdOlR9cyWv
66EQax4oLX0kc0KJ1ziUt9RNTMc5DHG9Ah34rssoPIUGNWuEtigJx4w3QPLKGmUnrh6CinKQZBYt
gWjXar41lsOFAX4LkjA1QkAhp+EwWqasFoI4J03yLKlWePefO57fQmY0xARu+Jpruf+I1au6dEKv
jmLorI8QLDBFWrbHTrQZsSHW04vmlZIwLM0lDkQOdvVRbJAErsZhN3p5Dx0RwPuiK+P6AqKrv6PK
kn41UXdiT0+9SVYdEYJdsxc8GGGK08qt3YgspTY82Brk6aqu5s1U9NPJzLrylQNBYB+4suVaTg7i
vt1aSynQLvAXGudijmDPaagTgz4VO+bl5CUxrC5CiQoaFzBGSiGpjetzGWKsOw1ZE91UAPYuGNTc
B5uahgsnP/8thGH/LrGBs5F1LfrdnZoiPzEP9106wJiDsokLgMbvdJHJ2Ia4FaD/oMUA/CNrfQ7p
dzmV9WiMy8hAX14knVOd4rzorYUd+Ym11hOrzleh39qrGkUe3GvsKLQ1eLPDFFjBKWzS/s0rs/g0
Iyeeg2gatil14IR0WTsDT2v0bZ6LcEMvab6sGtXmk0kW6XM9Tm945vItDydvi41z2GaWFn7VmtX4
C8TZYVh2svO3E/w8rLtpC8XKi+ov2LDputKoYl/SOlHczhTmLWNi+Rlds6k2LL2Gs7Cvm+FD5Zf+
fdHw4cDEtfa5S28ljkD2ya1q8ZktjRJYX9cuGvDZapVqvn3imEEMNMnCFMge9rcHu2u9NxHm8isC
aKEv5zKKjkmNG1ejMXWHAZDupiCm0GaNAwUCSBwGuwRF6i4GnmssndT1v6rAtW47c0r2Y41pdzly
6P//89cfmtoYh/5q/vr3/1V0f1xp/jJ78bp/zl62wKYGxQqV5ece9F93mu5PSACEgxxh6STyfl8/
4fEjy8amajq2+pFCR/82fOk/WSCdeR2xIsOktu3v4LEsVy0tfz992ezEPcPQAVQoFJf3p+krtqqI
DU5crgm5t6+ZEzb4cdCvN40HNBqP9F03DuPaniHjU0QxVBvhxxibDYvsxpLtAsYyIOvea9qLeTtZ
lTzANXUXedMFWOcm9GGeNR0Sj/NWpl5LBh7GDznXPOhcqKnkmNDiDdqrM8NJXg2ZnmYvTxapJYHe
00Yk4Z3A3EjBKek27VRICztct8OjZjbOIbEgMtpJ5z9MUoRUCNv+Q4V8eWdU+YA1VS8R1MrmW5TH
g9zOBGkv/Dr2CmUMedrnLkDI1bQoXJK0NUABmaZx2PBG1WARinmjS7Z7bZOQPhiCZYR/I1wmkFd9
tbQIbjTd1D86zt6CZ/QUIASLEUteEpi4vMF+YLKpf0yd/kADxHjuCF+saXLDaEvF07Jl7NgEkS5Q
e9NxaeclU5oTpztrsJDkuDboRfI4WJ1Lc2ZDoEHQbzl03VcuXAnwEFEMuDCxDtz8AVLJYHxsE1y+
dKrpFD92UToYiykl2bx0bZp394msUaPzSp1xk9TAgg7AMlz1dMUiQEelCbMzrcTazX3cO9acpk+B
QE7nQZVUz4UHkbjv+m7PIhX8MwcHNhaGGwOjGfnL1GdWo/hvGt+ZV7PtYyrBY+Xd1ZriuOqF5H4P
xBnnUe7l2A7puQvKjzBrvGMz5WaLE80pMbt1iEq7ErrNriRh9GWFJB2mqdJurHDQb0Vk1Le24Y1k
i6y0WVWVg6/Z0ejUWk2ydIxV2UjxqBOqfsxtdAqMTBkmoyL1bmYc+y81SpyxqnW6BaC3ztH3ONEa
b204oW4tg8Yh6lKyqqVCM8uh5bsObxkrwOipN5JZIR7aHJU/jimpw5vX7cAhDsULkf+JrwNz3Q44
D12sMB/ep5EMLEBzh/6LMo+eSo7cW4Bw4ZHy0fbBy62JyyQyi+c4TBRXJMmQW0IwzeDlwh3lUh4O
Al93ls0A8wJvVV4RboK5hLYc6nSe+a34csOG5xfaPl21lU61dOlk/kafpy5fjIYg5R752bsFfeWG
wz3m+djvu29MqKrWN8NzL2ZrN7MYtdCn0lQuRyokWfLoLcauDBKLNmLsaexA3piGbt65rHnWWR8j
1Im6tklJuPTf9nap34e2j9vPkZP/Sp1X+jCZOqXiyFCJuh+kK0fTqkPV077q8VbQMJhg9ma+GZ7K
jGd9XcXabW8WFUjRcd5muHaARtXEf8CEXbSwkRuMesHBT30efTGqbyTLeR1HYSSWIyWx+3a0SoTN
WN9F/eyfh1I3znYJcW7q6gw7qzvssrorb2iJS27jXrkdW1GtMAiLXaPRYuFh6KBF0kibR99N4O+w
kyoAWUlcuAHbto0ewDo3os69RLXVrFtKxL9gJJRHgg78Cpo0+/DY1Un7yo6kPvWoNneA0mPsmeak
HaHNhHdzoLPbC4xGbqmY6jEbSnnPhJwMi5rY4n5W6J4FSi05MR7jNecYrzvUbmgesoriSNcu6xd1
me+d1rN/BHFCcgMn5H4Gl3XmtF0+D77nPsUMvAeUSdphI2M8EJqItrHFxLSIpyb4bs50aKz8qsUW
ShKK9RAwtjUjTnYXasNFZ3HNBaRPjPzpKjdVJnI4TJ31ZM22+QEwjJPm94QpK0vaQ6/POrY74ga9
FZKj044ISOfMaV+ot4s+5v7JHLkAkuZr1lm0eE2+S3LU9croTnzE45rOJcp5ptJinLW+JUZLUVkL
tDSkrjdDCdYJet+4EKe/6V4ozsOMwRdQVP7k+6jfhBQ8mDskIHGx+gM90oEc8ZgNejW+5qJwNrzl
zjqoHXvdZtz7tgJ7XGDTxAzRgv7iunZH0E+4ITZui7qf+a7xEHcGj5wwsdkA2DAFzC0sspeWBQlE
fJ5gd+xxIn+BLbEAkAcJoWFCzPKLHgPwgxnFpTU0XvMDacJczbVOy5jrIk1YXpW+R33Ynt1My2+5
yTa7eOSbG2bmQx+bub7shl58EKFqnnXCm9/SqPM3gxt5N2EMCXnRVcW73kXZQ2NM6HeeW/4AIzTs
AxYE4QY0L3we/k9gJPqwmA/SnKtvcVzL98Ju+8cJ7fTcWiCBsyn5Dmd6upm44+67cbZV/RBGhl2q
13ILLzFlgI/ZOS0wBB96YeyGCVHdZ27Yjn3Q8pwSTbz3rcI72/PkMR0b3mdHKV+9FlnovhaD0WxC
f2o+oMO231BVypWWxiZRr7Bh2T/iDNIznzpOZAy5LPwRt/McNZ/8dvg2QeuzgNXY2NdOe0W3uT/S
NsiepWIaOjQcPyfxVK2nQJoHPcjz76aYXX4TwSOUQh6yIzOrYo4UvNtloclPN4LSHLBq3ROca3fA
ccNXlpzefSux4eSjhqJTBzJjOz9mMlpypi6fonnWn8peYGE0DLe6Azc28S609Uea2QLTKSGhhW7M
85q3NSCIE2jnxOidjxYmdLyaJ5XUk454ydIUP5L0tMfekbwdVicuHLjzF3Y6yXrqWvtYmynPYCko
fZEtaPuiyr8grlEsqPnNxjZLTiNhHF8AClNm/feH+r90LCrv42+WxeYfV901/CpX7+37H/4Bd3tM
5Kb7won61XBK/se/8cpf/sv/2x/+t6/rn/I4VV//87//yyqXX8ZuGLL/elzf/4cqKS/556RONS9J
IeZqgb9PJUF+ndSdnxBOTaZ1PGvIpX8qckFT9SFBeDpNK2RAfzep4z5kdqfHybJNl0Pi32pyQd77
06SOiMsfRaAUzKvuedef/04nTQsRTABTjPVc5+NTIGeHSlFLeys487FP0UNsCWHFkXMxJ5n1JUIZ
vJRxSUmbYK25g10e7Un6uBDGrbhtNlE3mvmNe8VM1wCnA6B/hERaKNTJFUgd5Cyg6cGEU23gSHsL
8nnauIpiTbOV/SOD+rvTFOPajzxw14ht+kepGNiOomHrXqMB77by17bHP6G2WpiPZK74qoqm3ed6
zOHgCtk2FG97UORtw+zMHYQ9Cs4Ul9upCj3etVdctxd22ZmT/S1irbPWCNhtNVNbuUZd3JQK++0b
E7u51jPu4pYz/aK0C3m0hGJ4ZvanrTjiUnT6BaMCrssYLJhXavGzS596WLN9m5PAOMExooVJ4ck9
BSo3FbI86rL4xlUY87B1k31HimOXFECrOoU7JxhoegtfQdANUI+vjQKj+8NgH0TUT+d+4BPRFUm9
hD9wLCqfhPwI1nHlT6kN5Ejx1wntwzRrCqjs3FPtH36oSO2K2d5z/e14wpc0ThR1tFEPmWwJdxfW
lTriu+qwjw8FUcjMRucuUGKAq2QBlr4oBPYUNugavLk7u0w/NSj6D3ADp0Xtprq76Kl9WBVhIM+c
3ID1aF36kSkRIksc5xEjI51viZ/eeFeRIi11+5RBkH01MwtlKjmT2G8fWEIbF9yd2ArNGPBtiwi+
GUU13ASdn71Cs9W3qUnpSdiZq5aVBP2aiCXebEc3xNlRUOisQk2ZlLDSOEZxW/+sthQBBRlgspbO
aBpPJKyn9ZRMbrrEEeJv9YCzGjb2HthXyy6AJKvI5CLx/WE9cDDc6krysZ0RwrCEv0llBsNKG1UU
7wpzgFzlTGIxthLWLwJS4NScGKXHXzHr26WvNKYyEd3blPXBqRK0CJpXMUpehSmrKVXsxmmXk6Vp
WBAzxheNc+VmnodGrurOQ9WKlcDlQ+YAxc4UOy6taSxPtR3MxwEaRaaksSSf4XzlSjDzrtqZHBpW
apiBxcoYtUE5Up2DFcxEfq7aG6uM4L1RglxHOpTT3ST8y6hEuzw2tGdvnF0wfX5SL0paOFj5Yspb
1FrVfmiYhJ5qZgvsVPC2vLjscQ/TLwPNtWCdDDCMPGDAYjhJgweKf3rOXjxxODWKzDyYWmJcROa8
GA68d3Kcs29sDavUOT9qtgV1SnbYIvWMYAGcwZgERDc2OR0GbZDs4rp3/HNWNYQg0Kmh06d8aN9d
drozIr+dfHDihFrYu+IItlkeeMI4YploqbMj/u4UwFH8cVn6kZEsGHDIFEmpsXoN7O6MRy1+7st2
aOgu8eHwNobtLevSsHa0/phHJ5b0PQe9d/bNrlvr/eSskjCnD4SNzJJwiXkIJ4s1MOUd1SOrofop
oQHvW+w1xg4vdbjQzMp/qf1u5+RklUx3Olqpa1MiEaUHHKS6XCAWxrum7r0DWmZ6bOqq+NS4VHfB
8FkHJfBO3wmQRtrEX2EASb7ou8YjbHBmAjdMZ0JaFWfXcuiZadv5lGti/piong5Xk2sMJtZqXbzJ
zHQ/bTEUCTvtWac3cxw0/JBuiDcYCrIhdnpHxHmBa3e6DWffBuaVR6C5KKFoVqBltB9aWLU3Vgyq
YROmSX/m3MxV1JLheUyTHB9VW4akbnwC49Yrb73Itu4cW5+U31LJMTW6uTByBNL1SPbs0vVDepZd
GlcwI2iMmvs4/TTm0oRf0LZ3ed42Z55OU8iKbpj5ZbzK6BejV3qvWtiNt23iMXm3fkU39czOqZzx
dKVUKCw7P632rFRkvRJdFhzYBo0Anuvyjrv5tNOxXCPfDDb5aqa6ZdX5+jqNSJjxJ8jnkgrkYxHy
TbeKovpy+qL5GXH1t/Id/2+uoNVUozt/qYAeuuLf/3fxRzzTLy/6dagyfzIVQkkHfeWiVnoskf85
VCHS0H9Hzvc6bhHJ+W33rP/kEPpl2HG42FmV8rPf5E/xE8FPXuWYCtKE+vL35M8/48MY2kxftwV/
prABoKrMx++GqiRIEsPLZbv2oiGCL6GWMUHQ/B/2zmS5jWTN0q9S1vtI8xg8hkVvEAGAIAHOIilu
wjgp5nmOp6/PoZtdStXtbLuLWlRbLVNKCRAJhv/+n3O+09yAckWhaUedgD/SKY/eSrLocmTZsf5R
Gg8XjvmmQfaBlDoCWu89671XqpBTdDBClVKUk1GlJdIm2gXBij8+nSWmUqlNtGQa39OzBCXsuNrD
w+2/m7Ii0q8ptSrGxv+gjVN3VzvaRAEWRq5NSeHFt+IseCnpK5u85SpVctgMF/4mmpRG1iq5rGkM
I95WSkSDuJHsIiWuRQPzXBJFBSVbE1usSAlyy1mbs5RMZ+lR9Tor6S6uZ0LC0EpR9NC8eGBHep5e
x6twX2YcVMHcS2WvVLLgmIFwj0hSQEepuScvgCgnB3ONNbO/ocTcPkJnzl8LJTxyiWsCeRYjlSyZ
FGIMeNgZH12mm/6o5EtgLPFVrSRNtlEaarDSORHtQcoO1Gs5hpY+WUkoA9Nok2sRwn6zY7aWthUm
fq5aobAW8UUcqFOWdEyciOxgUVU9UgjX4CFtuqVQU5IjBwP/Ps30GCjQS68SNkXfSEV4fPTpqOIv
IPG2Nvl3jbXQU22OK3lmmacP3rniauiy7DCvRvZFgIHb5hpJfZ8rY2V19liGrca5WyrrZZVn1pVZ
Tvh7zs5M8Fn1xazsmp4yboqzh3NUdk7ahXB2YmFipaHsnlEEfBHEv0kcGJfxDnXVPErefcyKHLto
XLs4R136RQm84ieVoI8t3MySsAmu3OU+O3tPexHVJ0sZUivZ9pQhKJuqQ9vAqVXWVYWiapWZld1R
vOMoHl9sHadspkyv09n/6iorLNYlRO5MGWRnZZVlaBx99iHjoWXquWDeKskpKndtKXVEXO7jxg7z
vbuPU2sUWwj8ZoQ9AoOu5rgpm7HpRlPu3e5s5NVnewn06rUxSEWM+QSsVZ/cwAVcdJnqovRBgfN5
qdyYiZ1iAk9UR44jIL9jnrH99HSDrvayGy+jwuWncZXDD5awU+zrHWTSrnWtx2mM9wRnemObhYAr
0kabQ8goJVjPsbSjG+Ix4zvzMhYygrqfWl4Wl14aDw8g5ogdz91osbAAltztGXwIbBtVJPZx33T3
TbEivuK20a7rddZvqyWyv3VitYYt0Ht3Gwm3fDfovPVFZvNdWmbXWjYuzHPvNMDDutGasc4IIytr
gzdO7r5tqHxNZmfEhVo71UbVfTGJxNILXKA7FklLkgRF4W60hvuXb7nj/OmlkjKRZlqJRYgkzf0B
8DtO8XxPO5B2rPoRi21uW9MX+5ryY+5n94vnr/U69sbIibm4JAK8zNkzISR4RmqLD9tcG630427G
LkIStvzoOHKDambrOBcNz4K1dpLAbdt4H9dN9WWWFDRsrDZKvq9l3b/Siitvc5qHa+Bw4WpQq+0C
Z1mqMQ8kNX95YKVUaA2mvV3x6m20qGKfF+JP9bGYGydddM2LtpT8cNglzUGbxo3DtzWttIuV3fQx
B4PKzRLZ/hJjX7bFhqZfSgkbJhjXuWO/mKbutkm98rs7G8k1fN9xUw2jy43JrR+rpPzykmLMaQ9O
lmKrCUt+7/mI3iSpN30oq9tBZGF5MWf0qA5eKI5l4tofnsQEGZr6CUxuo/vUjHk+WUX9lv2TPHXK
zMwtxHmIu74PqmaVwRKuOYELyRoN7tsgHhehy2uwGp4ZJIAUNnUyop9X8eqqBaVB3DgHW7aTfQjg
oW6o0yCHDTGrLlL7wdJTfiGZ6CDVZzm/eqDYIjDGxKOn1BuCSbPnWYXzczaa43OiusE0rTmVtFr2
7Pb2rIetY1E17rKtrdW8gyYPhdYZmLS28xo7wPGhZjuFbTwUpC+/zbCogdBDtNgWlu5eimZwbh2a
6Q+YlIptR8H0Nm/zJhgdgjmcAbZxkYhR95PMwuLg8P0QLbGmwTKuGw4ZHr9W9aVbYZijW2Wri/Wk
y7GBuRbPxsQ46K6GpjFGKmheVpWgo2qaj/BtuTaOLjSvzRlX1Q/aHCwJdY6MxTFFPkks7xfMAl9d
7NC0V2rgo4oIK8o8YD1q+ZfphAYlqeySvyJGe4yGpde32FipUJBJF5HHnzeA9eYr9oQwkzB7UqYt
MG2ZMrsohNccZgaZDxY2vZ81eclRXGTHqQCw6kvye5coFgO8hSpZ4Bwk3gm8/XLDQjjb6nVqXqRN
5G35YSISkgzthaev3lPmrCVW2cJ4Agc8nIpCyKtwjq7J7vSBaVsG/ifEsm3HFhx7e1NawZIXxlsy
ItpxBtb9sNWH0trro9b4bYqvAFWocHF/esl84/EOwZ0VcltRwHJTDm0P+FsYnNNLcluShv4sTLO+
dlYDvTJegfEuZuy9UPQy+DXEfI71UDoE1ToHO91gv9MhwktOFhgJ2MfW4xI56BJTvzwmKRGkTMuy
YzFLzO9yPNjC1Dz4l04CXtzRnhLHM7gk62YM8I3Kzwpniz4UWyLcOpkCnYqLdGl55OH+0nkIRQZe
GCOrtQfcdThkFmWW0ZVt5l9fg/5/O9hjG/jbwf727T9FtZXV4C+2Bt3kQ2FD9jHPvoZf53pHeUMd
zJye+3OP+udc77EPtT0dS6luGDgcrF9tDbSFKRIrmEJX/Q4x7j8Xxrc/7Qrsmn8ukP/x378ynKn1
+m1ZKm3GesFbUT1i2FvV7/8y1+cEcjGwu822Jzux984PFtkb/GBGFs+bxUgwsLtFGJBkHCBxVACu
5c3c7t28vmdktd8StENfqsfXdH6SZeqhJrRh2kazxk+aeuRlq3Ruc/UYJKljbqfzs3FYYuvbiFj0
oA08OnUWWBttMVeOoKRDV1c4rTt6ANEwi9m0jlqnnsNeah6dtLnHaP+a8aROgaI9WxTcEURVD/LM
EAj756d77ZTL6zKN8ykaDJ7+lToIzGhhOs3P5wOwifUiU4cGP1GCnN2QeWRAiwgRsyunxoKQyplT
qNOnPR9EYDE5lFiQyyBSJ5WIc+dhRYrxyyyJaKbhRCu4MvosoTjmdDeHyFq1zkevTkJ9LozPzsor
dqack0vRzR+dOjsBjNrfWXesxTZma8t5Zkf2B4oVgKIWCPV1goD7nd5wdzucD2mi75kIQo5E1EhO
cSOVzWV2PtrNPNUo6eK8r9XJTy8RQwCeWAYCoWYDBgzjFJLK8nvm7plRQM8e7PNkAdw6D5ihmTfG
Wi7GbuaaYGPEmutPU00oxnlYidTcgjIW780qSoO8owEHDYgJp1WzTqmmnug8ANUJJWe+cLMaL75O
zkdzjJiqBsg5oi+Kgo7RhR1VzwZoNyf8u+c+7H5QN73c6mzjKZFiNw3VbdGcIJZLdy/naDjNDOBU
LXvDHj+yai9Ow0vOFmbX9NWYFj4j1TIodovw9gWk+g+LCo/7vGJpeyJgS7gqG/Qs0LVSvNNKzkZ4
boT2DZuxIKK7WuazWzcZRKm516NgZVV31Q3y024b0+9X4qfUPniqQDSZCU92xLhQB2Ey6q2klxqu
23ibZDmJhJpWLaZ8BHs9bh6n2igOxGvJIU8zTEvaW3rGK8v4JqwGhLkD68ivsDo9hxpj8o7MI/TA
BM04GgBjbGJTZwjGav425Qvs4Ji//8ooSNL76OZNsilLo5mvhnbE2+zaPVQfiOLYXEJGm0e24t12
tPsBEJ5jXmbKFEOkrKeDxxPhvVSmmVLZZxizUSjPnprKLLmuQfLJOHOpeRDKfsP11LjqlCXHSmqu
ndCCIQQzFi3KurPUywM/s9Otezb4MPR4hO5sERsbvkTi3VBuoOxsDOpliklIp5vsCI4EHxGUQDaO
mRat36A1RM/12W/k2Bb35EQbdtPZizQpW5LmDcuNB8K03dcDfJRaGZiEsjKBihjvhqr3HlZldMLS
7j2UnmbvWje16eDAEGWdrVFnlxRNsTimMCfinkLz5scBMGD60sfwbBjuakxXmkWHe2AUCWYsvdPj
ish5uCIV1LV+r57fP8hEuS+CbDkTxCCpOxzWjoi+089jvSt4A09FVhbf49Fphl3Ize5lJaHIg6Yz
4xtbyZR8jlkEVxQjjkrEbHHdoKAjbDZriI6lxM6FoOK2VwJo46XGTWFk2gNPsoV8Z7NupZJMFyWe
DmcdFVd39V4OU3s9iyF8TjKB9I9wap4wlTTvZkTTEpNDfReBKKaVV6m2eAKqb6tOXpqGaSXr5meJ
l6rymQf+5N7D04xeQtfoL1ipD4cxi2hhVEoxGczuNFcE6JQARerVzPnctHXrHAT21c+GBoTLkW3P
dgrph/CFM8KINFaXXvFhje8Z0bKjVQgXApkzONEGuaA+sMWlzW8uSfPZsxFe4gyy72xdIUBzK/xW
t+Bibrq1kC9irpddxPWYatkFPKzRUqxC1ifZxISJW9+a6uY5KVxm3lpmqi0Abiu1JxJc23k+jqWc
Ge4Zmofz/Ey+jVmaygaD5i4G7P8Zmn4aQtmGujygzl+O/1Cx/6FOX78VqNPHt387Ju9fbf/2+dtK
9Oef/HMlav+hEDImzk+UYQO1+T9GJ+8Pm52rISx+uv4xVf05OvGnLMYi3gdbVJXj+WV0cv9QmrX6
q1x+T8cx+q+MToZUzMO/OkLZqxLHsRwBM8lVxtRfR6d06Nc+ySFB1G67joGX0qwSpP3gYVhny8S9
L8/liIOiCTsoHmhoNzUBGBhPRRENG3IZBj2+hY6bsAp7ipA83FLAFEDhLBsvGZtxxxbVIjHc1qXP
UUrKfG7a7k4MY04gus61ZB9PbrdcrH2EIhOZ9ZqScrGdNzEP3cNq1EO/4Rnufu+HTqbBWGlesVvt
AtbgOnb0H1ZaJSofY8p8qYDX0WaqPUQbA4APvk5cbYApEuhrhIekuaFBjllPjLm+A14qMFO1E4vU
uuYIgkBMDm6ZsiRh2WJwpnpII/5sZPB0CvqtBYzUwokOtH13BxlF2WluNf07Z7uGCbU1vthNTjx/
lyJ+xCfWmv5qh0a2HzsBLM5d2B75XkN2fmOxs9i7q5PT/dkZdCqaa2yPl7j+o88Ol24ZEPyrn6uY
WxSt5S5LTh4WvP/BdVai+7PpfMvjOcdmRVkiqmbYUnFYGYV4lfR90PVaalQs2pz1KINm2pRk4Isc
oMtiTaTBtZq+a5MbZ7whi5s92ehvqmk1Hl9TcD+PqRvxW3g0FcKdytyHHt8mX1qSuOGBTU19CkmC
xEHWW/r9qlMlFhSrltxl40Al3pS1mbYvGmE3F7QWsdyZzcGAXFNP0WWXQhre9HAelsDQqEjbJHFo
/zA1a3kM61kQnW3iMiZnvzh2IFelVWs6BaIBMAGoMMyKaRnQo0f+th2a/nvtIYD6LVn6atNDjaA2
qW9qAp+sKL8xoZWw3OqcvoVFMhAGUdna6Xau4snwI+62P7JQTmIzlxBJgjVerZc2SzT9WIqM4WWe
UggUY6+qQGcKfclDagsbTrIAuzFKs1uJD/SlGB2TZ3RhzK+iWOqZKEMGe5A4SETaoRUYPsGX8CLm
XDK5Z3HxPU8nu93UhpOgIMZYcwWihDhxF0jXI4tifhgmd2yiIJuX5LWxrGSh6lbdjHVrkS9644HM
yfVpT5SVNVDVlPNHocvljdjrSvfBFDvaFkV5eO9k23xfsyUhrbtSNHhhDVr5MMXcCdicd8szzaBd
eQElWv5YzdJ80WkPoj0YqsNHOM+4UJqirR7ncKESjgx8fNMR9qQoHSAJbVAh45ufkMh47ufZXYNK
AgOHgCnRKHEMCJJrE348VOWST9DSl+AfWi/Dqdekr7ZMHYAcqRav9KxX45NZVT/WktXzZg0r7lnm
VBOyKhq9/VY0s/mKT6IcglHO2jvBMyJXoEwwdNyvjcH+zbEW/lGYktnmG+xlMXJmgptNjFcWanfE
e8PxjtByGOsSbwHIAJZKaT231fUyKYN05HpNc+zbNtqGFvk+ZzPQIojwXBcSV0NjLe7GTQyHTXXi
WdedB/BZiVjuIcPjRzKKHTXabNgEToltcIPpqUqvI90GJT6Ys+ds0LTjI9QlrCHNmvUliMzc/mLb
0p7McZLR11B5XfU/6iWWM9VTfj6vdapW/u+GsONb8f62fFFA+5+Oa/UH/zyuPUUbdl2O7J+QYs7d
fyiYLiqlAeIBeUUXSt3kJP/zuMb55YrzAkJ3URj/clw7f+gOfwwfFwFOVE73X6LSkST57bi2XEmZ
tWHwJlwitOrN/3pcayJfm7qtak6LaRkvFqcrPcAka7SPM4dSyzZbbyb1o9H2WKtkVMvTNHOkjbHz
LhTehgs/hwfySTF8FUD5iWpUcaCnxJFWWXtbTZ/fuG7ujFxDxxjyH6Nz0WJ2Ym+xE8uTrOMt2NEO
bSa6YfGMjzOJ16fOfNPc9pVHDjethpu4w01o4lIA2H59jRzzh271gNCTHicSowI82ZjIbhlgh+8D
d0rtLdtRmktWiFC4yg69AYy4CR+9KnKDyAE/irBDl4ojt3BDrYB+2gdnZafQLGZDlULtbUahVQFh
A2KU/Tge4rh3yDsmPAIpwt3VZjzdJVbpkF6w8Q2UCvhesxdoDdkBwIs+V8nGI61NqE58EzZQPd0g
G9ePQky33TJph6abqqACmOcb3qjvrWxWMEvCwW0tRpAAEf0o/QpXLx67LZgWTk+bJ48oeCyFLUbw
dSgCq+Ewg6FSMiKJ/KLWvWqvd0a5Lxdpb/k2xBRE5uteCrrtaifD37doAlplk3KYgCRxWpqdh5qo
pynI+FFp3B2WOb5aqKi6mWzoEMKJ74FCLVjkEnm5QsHyWfWYxwkQRGDhw9rlSqhuNQ5arjIMJEb1
EDYADYDbmVzeuydsOyRfbKhHnGpHeBow32PLCGRnP4/KimjxSWPTbGGN6RwOMa1JT96QCz+ddLEr
UktH/V7TQA+r6sCy7TmJjGHjdqZ+qetpc3IHcKd9kdxitxy3ApMePsGeWHdWd9vOSnGPOQuli+YY
xLFjKTTBNbz7BqWq35kTlX39gmDoOBAQRDE/hnECSBuOx35M4x/wrtgcLyXOkojJBHsUmHszJ7PR
yZqUwSLsy2JKaU/xjNQHLh/tx6Z/pTcs2fQNK0I6nB7tXM43KGXpDiwR0O1Rq/0GReNtdh1xWQu+
hOyr7mvAbFiyMwNx2L3P8bZTMs97IeKwbyPd2AqPqUKn9eSiCkOY3EPGYx8MLmU94by3jeWRFrjk
bsmYMgaRmr4p9JAJKGHjGOL/79h38KVebrUp1YAY0lUq86ULOKE4WOvkFejYefEUBuTO7iwxSRBt
w54cKMwUTMU+NIY5KLy1IKUEHJBQ5SEV4Us3Lq9IrOEhieg3Ls30UbRM002DToMnztixkR82Ykjx
m/bRC+2zCauuiG4PZ3WO/WieeLwIRvOkD5bU7PZ8hmrfJsR7rLX61R0BMDnlXWpJcObuhyXL53LI
nppSAsLrw3cjk8ax7LSTpffJSUuXaddp1HsghoeZmxxDdG4eIhS98ba8C0uOejCb7Q0bm/cC3fYq
rnGt2fXlOrj1DcdpdaczbgUrFye0v6XfZK6XXEONuW5xB4GPdk/FMsYBw/lDmyS3RTVdpOaKmlmk
XxP1EyjrM0DFgSt31NwNevHOKnTL1qbYDa24mS3tiiaOKkDlhZA7y/eqwoUbEmK2loJUZ5Kf9HLm
WRBPFsA+nnFtsgiUknzFLIUS1a0wJmEAAFOjkOsoxvY+HvBD1Xn1KnsKzA3YSNgrqnQrWif0nSJd
CRYvl5ZEibepp6J028ffQtUXC6cRK2rh9vWh9BrrNk1Hrjtxbl+FI/4ANyHX2oWYEtbe5jPjUtqc
sSfKqrA7NnHEuJXY3z0Wej5T5iMWM2Rk2pdALz643ND8GGPjpo51PF7ELyJ+5o1nhqMPFfuY2rel
Qw2LQwHAyRQP7AHpnhDF5BvLrPtwgbR9sqbalU1btZrQnp2Cdg7yTxejaxUbq+PRiFuTQyHqsOpi
Hd2TLzQudKAwPrXuwm/ZpwirQjEO06dl6ZP7pYkpSR8oCK9z0CMgGbwpppnM9g7sakigOdMQpF6N
UXUAHC6LfE+ebNp3DaJSG9c1xb1YbYnx2e8dyMVh1E6lKWbf65f8JAfjvg5bikXqbCawABUyt+pq
1yS0fOFgGwza0FaqOvP5qgBldCFmmdykYVZdrSJLAnPCV0eTuHMcS7P+lrlzfN3XTIus5d+6uhPb
sUXM1BcJo87g1iPiRWOj13sHpGDxYbp1u+HmvZ6qud0yK9cppoHFVH2N4WW3op2FZVPfOBPPMAvt
+U5vbPGtyweL+ujG7HmIr3mImFyBJHIH56PD9O3PjubdgOo5UQ4+6ImPCSq+ZYOot09tvJCyYN+6
DtsobTAt9LLg6u+HFd2zN3SZwIzDUmGK07gMuUMeLjJ4/Z7IJnkqepWBLyxbE4vSZjAxpW9iew75
Ik/FE1jR8n12UusWEAGYmYxsYdA5WGPlkr55hXYt2dxKTMQODEsX/UDiB139vsOTvpl0cidePXL0
6VNfXi44MP2BWulNz6eNPDYXuL7VuQdU5k9+9H+Fze+/McLZYufDDPs3I3NS/AU1w5T984/8OSzL
Pwgm6IQkXJ6gf91tOX+47hnvQgci5nNJDPnPYVkXfxgOGpkKNwhTMnj8YvfDQaiqPYXOAC48QtT/
ym7r96wzzkHd1m2yHCzfCHTgK/x1VMZpPq9rbE207X4HdAJOMwnftSG6pRwi+OUr808UyH/yUvSX
6PTfqHCI7vJv+vWl6sgbafjipdhNceMGmqfN20YyChrT5u9fylFv+9eFHf+sv7yWuiH8onW2fPzF
EvFa5uYV48hmDppNsU02j4/a5ubwtd89ng47Z3O6e3q5ebw5PF/uD/zq0d5cHy8vnvy7C3/r3719
tBddMOxoP9tc+g+fV1Hw+fl55wU/Hlh4/p8PzT/50ui/31h4vxDKgAfxOTFI3KgF5C/vtyB1iJsH
4A+x8PaYnYxDeOgvhp19kz/V1/LQ7vT/x0vyMf79K/SXV/ztG29XFlAQi1ecfHs/H5I9vZS7+NI5
/P2/DDrSP3khLmGOg2ee4nn527edQuSB0Jc3b+uhTjPfkA3htzBJRo3JkEVJXphY5Z3GA9MZJxIP
fbG4zxQ/YauvKudCRILoYox/fthURhw9lsqMjxaX85DGoF+FLfs+yNDjyVEG/sRjjUT1OqZ+afXv
WcT+ccN9pEHK4MqDDKCiAE0SPccK7MH/zeLzTPtAzEX+wQVI4RoqW/Y8KjSIyjiytAMXEheTfjKd
QlWGLpZfjiG5aIDA2+rMGoG+W70srFaOjUKR9CtQGE3hSVwFKtGtmZ0UlGUOWVeZONiDGk7QNMrb
0Zx9HolbJTmudeX/ADCoPYVWnp6wEuMPqXGKlDOWkQwm27HpjcZvYnt5tKmRPtBNYT3iAcduYijn
SUHB5Xum7ChTrjvYdJVHRQgXhLK3ui/j2cNSrh29nsrYwh5l/eQsSW5rteyrlAGmcgWtFXokt6Gy
xzCOTzfN2TPT/fTP2Ig7hjLVOGd/TXr22qzKdqPZsRVgzcWLg6O23/KpUMtLU2cADvULDw+XMXry
ylBmnnRdjadcGXzw54dPjTL9RKtDEkUZgbiSmBfYXrPtomxCvU7wf1bWoSpaej64ylA0n71FmbIZ
5cpwZLUL+RNlQsJmSnA4KzBbYVCyzRGS4dm1pPe0meY4mcKzpylx23kbn51OtiizFw70ns2kckLZ
pPI34uyPCod37+yYEhE3Mi6MI3myXt7DHZiOXC6U7KQUqOysRulKmGLQKvxmNJN9pTcEvPG+vTRn
LStXspbN+B04XpLe1aB5rjx4mxfrWQnjUlkfzERDH5NnrUyDh3KZxXn92P3U0pSsZhRReNupzGeu
0p9JETs/EqOqg4i1BB7rCAh3uNjiulfZ0dTFpcuuuMVEq6Kl1A7WPs44AqdRTvbU1rm4uwt5VEpx
+x9W1AHs7WTUcHGLNHnSZOu8VEUuPnMrYz3thE6+i1TawInz3ZJrnb4RcKhfzbQwCEwV2klf6MdY
BKWVRAU9D8BvGPpsjbutWPLmikjct4r/54TzQvc7fcZ1x6LwyURiZvEB8SzQ8wmu8dT3WFgjsnFY
K4wgJh3RUtPuZC+5OdOqa7J4OnaL0Dw25VPFfnAJL2CdV/1B96L104O+TioM24Y/2Yy/bNUnj25Y
HhCbIvXey9mVu3YaG0JTWbQDZkyjppsf25AcfxDZNjPbPKzikGEQe6yLaA4qQwzPjdZ9w0+ubYsW
1Cee1AEnAWVQftJ28RWrFS7fCDrxEULWctmkpveBxy8P+maOHiwjveQdImhnWbq1PYQMf9FXlyba
ia0IXNpuIRMeyYqMj1CYY2EvXwt35I3r4J5P+lVQR5zXGfTDXrTGRkrT2DXZilSUtCCyBlwigVZH
5Q0WRBp93Kqu9r0JKt+x2ip7YL0E6FdqnhaEgBb8sssrvBlV/cjz8MZxaShfJ2Mf6zbhQmDWXI9i
vN7HcNLJB7mFY/CESJHTRVpowZSkXJL5Ed0aJADUkpvH7Io1duK70QO4zeU3ywJ2AD47vmXFjMXP
bLRb02y7W4/UOsn0yIVX3EhnV8cu14BNYU5yeVoLl4DmADo7jHYRD/U2KIehOkZDuPIsBjZ5tbh8
slK6GnZlsTzFViH9hByGT4EjT4mkQ9oqBuvCFL3e+QPM9M3asU8gl5OJu8X0igPf/PYkuzDZWuXi
vDRIFwQaZ3mJti2kbyXDQPmfAcAlt6frDKCuviHVU9U4PsrqUnYxMj+9DoC24PUnNzqbLmJmRbBM
hvOgWS25xFJlJtQmvFvGcBt7lrbR2SZcNI3kM9Itq3M1T/r0nI4ujWHLKN+MkjjelMxVeFyLGZxE
owhrSeNW9JtFwNHXuHparcl8YE3X7zpGvM0KSrRMeW8ANUecQ6VefK2QR7fC7uBfY5LyOYJVbqPV
WBUsbX6hMfVlvhZF7gm7TGhjIurS2/irwvu7EJJMc5c7lxUO9EbV3QMFzFbhR+gKOAfsvJ4ol1oX
utgqs9mBqxfgTcGjAFaGQLMzJUE5Voh1Ya5ffz9d6P85q/LXuem3TW+l0/8amkwxxqs3bMKTueOm
tk2+msA9jFe0bl4OB/dmOqb78wv/V1x//nuCNv9WKHh4K//t9Nb2v2Wd/hE6/0UqUEt/gkmCyY/S
GaGKaP4MOzl/OI5UJTTuT5jTn1cf/oggdk5cghgURkWdawT7wz7+3/9Lc/+gBYdfxBHJdQUL479y
88H4+NtkKnl9Iuq4CNAclPmA3/9l6AZew146ndgi4dk/ZtqIjJrEjk+t2LpvOx047UqbQak4LBHQ
xm+kUeg1WZOyCSig6XF8vVuyag+lArmUeKyx1xSes0vPoBdO5xdSCSQZV12I+2VNuOC3ZW0eeOZC
irEVNCatIuuuVSCZ1bQB5FomdJlxNnlsKuRMD58We1EAC2ZveC3Yn5jVzxUtf4CHbMYav1BNhHVq
Jzeg9uBzJ4l8sQlLPNdamHHEvic0uv2oJxyCfo877mQxxNyEMtPfXFxUr3CnaauY9RFzez8aRgAS
+YIAUXnhJo4Sv1dteITxxM7Thuyx751uftTShj3SMuJ/iMuerc5g1jBAwY+/gC3Kr6TTFCdZpPPz
mDryUKFHj9sBDsehicnE5jgKD2A89R3pDzD9iVt8nyCQX8+AsGividZiCrS4Xazj4MJe3EZTXv5A
ik44kihNQIHv7QWRvtW6dGNmxRpQhsGTXdIiMW9W9mL3cMYxQ2KsooRvpIvHj4fOe0H+0S6S1kM6
IMZMl5ihiSvX61lYEXXwLiNj1pyNDRgMomUC7GJTCkWaaz1MQxl7qSXu+0eTOvbJJ/MLkRFYoban
IY3TCSmay8hrM2bbUhRwXOLkgUTCdayvoFctrfy0Y5AxHrTz7wnE+R/e4G1XM8tvCwxsH1ZHj6Y2
1U+pGYktrcKS12VcH+QKqB6R1AhGfR6fsRWsARZN3/ZGlxnWMupbPSuSLmD5FTGVt27YbNy5XDdG
F46UKOqtK3z6FZ1HUrsGO3H6adCcRX7C+/VGYQ/TVKfBlipoIMD4MC1bOhtGWuvLCp8GwYJbhGs3
DowUikkQW0PPwzWxJy8oK8Cy3JbG9s1tm/FU9BJfrapt5JtkJUTB+QCJK6wKUJGSgo5Cx3GPttNS
N79g6AAUgx8RcpElH1bWtbgDxgbVBDj4fEs3nisvWpwEud8kpmXvcy9JugvQJN0LxyVmtcKpX9IJ
TWEalAcTT7xr+GWIKvEqMJb0fkwivtv0jiyYPxW7cBMzU+3auctaJD6zujRBjjY+JRIGRs2yHDBW
mDGhZeQBZiZsylehVRkn4ZTxHQAE5zNJKrsPitRg95mO6rYGsZukUQVVls0qcX9WfrEitvWDIjz1
VA+ySM3JUbtLyeWHPCPmICpk9OhdGDMAcce49qzlcmSt2Y9ltq8rvcIxhIeTjmMN24Vc6voHHIdx
79KMcw91HrZknh6SYnY+5hX1oMoi65gNpnIEt8MtNLPio6XhqttWXZe22xFYFPdaTWgUQSwDcMaR
0GKHjnqXF7F3vdgeXUVxGX7pwA+8jWM35ueaLmiNne7Yu8Kqqm8Acc2nrjOMEq53cV8jPtwAD61u
0jHGK2iY7WNjutMPNurFSxaJ8RU7kHMn48W4nuv1GmPk6lNRBY3G660VWr1r3lN4EL7Wbg8+jF98
tEYLeoEYM6QGs8sgLsV8VyGol+/sgit2rU4XUuuihcpZ4l5309Lc4pptkCgM2R5J1Vj3RZPoRy3X
vf3aWc4+WqrtWDc70V8nIwt7QYF2GRRZuh7KZmYo9rJP16ydJ30h0oMN2Yzu9NgGTRmN7Y7JvcG0
W7dO4JqYfH1nyGTk1zLtrvlZ7W/CKes84BSmvBzXGGID1nXjLbMMprcW80y+4S1D/MqqZdknObw7
v7DozGnh8Nw2jpOqzP3Kkyruy/7JAWcEp5a72r+zdx47kiNp1n2VeQE2aDTKrbvTZXhokRkbIjIj
kpo00qif/j/Mruquv2cwQC9mMcDsqlAVwsOdZp+499ywyT2YT6NFshctIMGo5FbDhYXLws4T2n5/
djW3KS6pyr2rB6e68pQPLxj61IUMbv8zReR57swI0NyE2T1s7fnQFvFFs9Y4zeOIyUxWJhKhrqkj
ljiLVaECgQY9DQEDFzvh0Mmkp3du5ZLAif2VbNMyZ5sJXCFXG/it5gcPkAm/2VnMg2mkSJtzEjTg
a1Y8cy67qXezx9G/MQo3+BZbY3mL6KraoFtRW3BS816lIyFCdfto8wo7RFs3Y+MGN6kW7VNilD8o
7Iv9GBhkoxWc6JsRTX5Twlkj6ANGYFndRE1WHrzsV8M1lLkx690W16CN00gp94mzlLgXELqHaSFo
Njb0sanae6hFt5Lvz1oAWa1VnBC+M6LPUHHj8YT1a9Uf7J+Hiip9QXO89IdiHNGqAJzGNDDnQJvk
d6U8ts/mXqbTd/B3D8I1syuJa/ltkupbnZT7uENAXdrvQSpfHBR57O7DyBdsmhb9JojX+mAt4TBN
KeNrLMpHVxWvFpajFUfzUBvICOcYlWsesPggo8zF2Fbby0VLWN99IDfDWLtbA4oSFj0MibFXJGwz
G0gcyQt99i6orbPyp3TXVMSg5HbyAioAMhr5CsSDdmSXghMB6AvptnkvjIIODTCiy5M2Rcl3m074
N2ELrANtse1/9Elyl0vnkJX9vSh9spwpFy7IE6t130xTYphfrWSnG8k9YAumYFbxE5Hmg4iNV1nm
x9E+FVGSnQiqkRQHU7KlgbT2Qzsdi7n5yXRmz2OEUwsZXMNaaU8iRbCd6rg+s5bRx0rMz50RP2Jn
OblNfwt04yN1l7ucO3ZDakUoEwujbX3pVHk3Y6OAyuZHh4FviDyAsQFWnnmbIkjZyci/Myx19OTw
SpTrCtk0glAXyX3tdI/URmj3DBKcGtdi6T2528jyr34OKUPR0yQTZHOwDGGn1E2Pl/FOp8VnXAi4
D8PQRiCnmfQNHq7epD5bvv+9EWLPK0I96gzfPKs0vgMVMw+280u6Ax7LLBr3BaFBrWpu8Lieh1Ec
rSbmTjJQbWxGA3yaqG6oKPYWCriNylF9lGmWXHLDt85opuMby4sL6ooiuBrmPVVaw0/E3xxVprkD
p9Od3ZyAIpJyn6u4/alZVO+x1wTvcIwAeyaED4oEpXhmQhtNgn6fjSUXXeIzn+34C84qUzsKt/QU
z8MJFshycLssOtpNLw/gaTqU4DRjQ2E0PP3+eC3mPjh6S9EfciHIdu796I5hccmGXn82tOmfjbDj
/eQM5Y5F7w89z9bBcwlr0rV7cJMMMkYjL8xIn0l804e0syG4WAv6MauZWRfjnUgspotTCm/PJx4p
qP0lzDFk8gsM87p0VPcxpKgwXQGpTpm/BUjp2fbzZlANbgFvRG/CmCaeaNyg8VT8XCKNfqeu3mSO
b9+auaxIhIPLbWfWdpz77JDyi4Vp5LPM7U0A5b71WBUcaQyInxgzhA0Wvl2d+Qhyxia6RpWGk+wk
LfMHj09Nz+ANqNORQeJ2VvWJmUXFTdc193PObr2I0DRyjPY3ZLD5N/5KI8QHL874l0AUYp0MPtmd
Ay6EV43BOIFm2DcCrqEyQA+urEM4J/Ur/cYEcAnHDoPG+OisdETYqfgRV2KiMzpeyEwJVirKhTNE
BYeItJWyOP8GLrqyor35jWGcnS7+WSjCbQluLDN/n+rV+FX1gb/3mix5ICTGuOS/uY59C+KxwlZ2
autqn9s0CF5+jAefPGJknkg+mIBdJu64ciOSoL4oJeOvoEI9TRCYd7esRMlgZUsG+YqZrAoKUxzy
wCdVZbfPqm6NH4lqu3MLNir0au0c0WKoHTYdVCrzVN3NBL9sMtQTF42F4zitsEvhsG8fVgBmvKIw
/RWKqVc8ZuHiXyB4BWZmUDMpcUASXBIEuGHdjOnfhxb/1uzgfxtPjr2mS7v+l+nMSrf7/9X+dfvV
/Uuc7R9f9Mcy1A1Wyb50TXakv8X87Jz+OQ5gPuDDWua++7vX8R/LUPNvpu2uu9CA1SpmJIgFfOFf
ZgIsMCWgZpp4+NDuv+WSdOW/TpTgnvDDmE14jnQse/1Rfx0KgLLtkoWMg9CCl8t9NKUUa7kz4xcb
PV1i65JSBzvJlrPeQkggx9aUOJEPC7Cf+FarqXnRgKbcU0wEXL6dq6YYr2k8OPNKPRm5fBfpqF1t
NqNLo7xwYiDm5YzL52a5dbAD+jcIHZzl1MmeTRceu2n8RsM0pZAyoqb8OVHoudQ9/gyViFsnvhSW
LgmT9dbCaKZGLu90h9B+16GEUJRPwDR++KRxrXzcNEjPfVzO8hZXexVB4sIftpn1KEHNN3oxt3QK
+QdkNISQrHEKfYwCkdPMDKMtjmVnm9EW2nPNpZkszYtUZJ+6NjPSCKnygIgf0LKLdeRhTOY+5aYn
6tAe3OV2CJSHkqcfScqAv5A+9HJMyKqvauPX4qX9iyADJD5KxI/caUHWro40K7KvleF1Wzfz8faX
UXAScYeESM72LnU6sh7bCttYoiugtVFXchHJIfVOUEOQOONFpOFFCfNGoi0QmHLdaxeRxQXdCtkg
tCvH5Y4QAjQWAUu/07yoob3RjI2uXaeK0xw7kXoIonx4zbgAtn6idHaMp/KcNfl17K3FuoF2nBAZ
0JnTObWq+ldm62ULKgNqceJPPdaI3MTAN035JN6E5w0wk+uE0DTT1kzOB6+uB2oJHa3qFrs6MSix
9d42mvoQOeyLydPF8HByRDM/uLHNfbSm6aU7a2pt5h+N75EAOcbdj1FFjKUN2aCcjPN5eB0Ly3nw
JYEanIXNGOIxYAI0w0Xetp4aXuD1kinfDLq8+gHAaoLhU/lkGAZUZiOo+kuTNEn7bawiwGUFZT++
AoWRbhMvseyxXHbxV+fkrFlrZj4bFTseAbFIvimkoNP6iLziuQ39wmngwBoie1imrHzv16CLLU0M
Fi50OEOwaRKTKfrcWcm8ZYGXAxhuhVVuQM1YpL+6zPEh/3tnn+/3bnfOlG3sZsqdcFJdAUolsZth
g6KIyX6BFx4tpEVEilu28x6hkk8Ym2taKA5EFbpO6jzT+NdXkh3Vt25uvTeTydgrF0MVdtXQnRrk
A9/YMNZ3TOtnyF4yrm8m3+QFJWNmPzOzSfdkt/CIMedOvpsjjqB92UOH+y5Q3qFtiJ2OuJPGo/Zk
HPhNGiPDD0A5pCObref7x65FoO/1KXW3iufkrbIbjBnFPLb3QUvIx5a1B4EbyOA1IMk6y66wWfwM
RvKE85a1FsWqnzYvPR44e7t0ua7Yz/jNYw/P0ttG7EaWEDbktMbeVWxrJX/tF1A44F+Voj+DtJe1
yGe72vY2TjRX617WYJskVD/fYDGhEI4y0TtADvwKDbMcZLE1kgyldJtNfJtglrRD2AEMnzfQ4+lI
2nGxeR8KQhmTRb+40FXcsGtK/9ra1PYrP2UkoothQups5UrF8zZprKopFLoPMCL4tRYz8te859jF
WZ0fkiW3qIdMZMbxuIlxlC+hQTBGFLLuZfgSaBNFlKFnduK9q/2R9EKeoy2Zc+mwXSjoPKyeIz82
rToHMA4dAaEgpEVkey4VvzouRSfbA7qpiU/ZwCZn35hm8uWnOBa3xugsMZLYGYpyRq1sbVUr7Xlr
u2zy09g3ow3uDPYhgr1nTvTdKGk2G2Owdr7tFuPB5hw3d/Oiu5pGsZqRs6aYOA9D16dNaBo0dhve
JiZD1ZJXP5Msi/Vugpw/H/xIo5fOVFk9+xA/vzBasFFSeKySzRzMrMUqBZXrNoOqk+yNlGZ1h21q
5ccQ79K+Tm49Zgcrb6YrPMfG35C82X7aDV3mfhJ9fwO2s7uNazbx94YcZwI5BxI0t2VOA7C1cK3n
kInEzB8KmPR8tspqURcEzViaPKP3q10rzeDW82Zh3BEBVabHxm9Vuu34lBn3umYNdcRToiFWj3WU
HxoVA3CXGG9f8spjHukHy7jhlo4fY1RP+UfQ5xYf+hw+PuBxmyli01dDjnR2kfNKmuJObiISJWVd
EeEmq3M5Wc5Iw82SNGwbZcmzl2gmcNqt2VIiYNagoS3lPNmZVMlpbHXPaLcLmMyAxcM/I5XL6Ygt
PwoRU4JelrlHbAmj4Puh9kCy+/VQPiV+ztI1b1tdIGXPFow5sRENd1p15KAjJwb2Qf1tZGFO7DzK
QtflKCZoiVVdnwIB2PgRAXIIrF2CiwARTV98nlO1BTgkxhPOidJlpVaizbQG4Wc3dIL+k6kohw8L
masky4wcmCgEZ91spYhpHUzlkCxM6rDmesboWnJSRQM5BILPnwUn3kleMeV6JtLZJHC2rZvn9whP
KaPZI3pX9qSkujqF9eipbgmOhGfHzGLrOeeA92dmRiItCGce6tr4WFJVz5u2Zea2b7w0gpLlqNep
0iRb4MzRb9DnGzJWXO9ds1N+7D2gRJipJcFbgMVtPt5j6YjH3DAifhWFJcAbU03P2msv3kVZIG+m
eFAfPg6jszuIUbDXxtr+1MhFWg9B5Zbc9ZxWKmydLB1f2gqQ7K1TkfBwTFbSwM7RuInCUTB8dKY+
bHTvpLu4XNi29NxHIXOcuLp2BviBheWLCWJAEM8dZB2esSptr24ZDfdz7GP5N6UPnHfoTeqwOj9q
TKbgtCY5MhlQ476mi4WRhuYDmJRlNGpLq1y9MgnzPuxMNxJ0RC8Q4VqY0TFigarfVdYw2ZfUk4Y8
Qfzx7erKvLZ9IPjGXKDbTaXhPDpZ6U/fhb8g/7t1GzOXW390mKIRFZHm09FrmgXPYWbV08XSRmre
ID1kayII/s2+1YsQ6dkokvjJm9zunACpSt9WAEO6qeeyNI5VXhgDfVsr4M9wgCbI28kYYI2H0Jkg
tl/O7C0lz1fA8N6GxjeePZ0l3VfNwqo6zkHjZ7euch0O27LaRzDJNwOjvzDS7cy4XQ7RNpodpQ+9
Z6A6yCiPOSEnzRhyJOiWOFPSu0ZAbSSO8JwzChfIo5AstDcKiFJ0bFbjY7+mFEEZrso7MJnrNMs0
luExzkTxs0C7/mMEvfzL6yMD+drvETnXQAXPq+jcS0IvT9Vl9+9WYtwutB4UT+7sP9WJZFBPTecu
z/Zk4exJ+kFA7GdIHTuMnYAR7IimZGOQKqwGNQeuvKM0k4A11kqAvZmJMY9jRe5kXr0SI+O5l2Ws
iin0jakprqy5nfipFa3FkLJrzGPlLWRbYu3FTNg7FQFy8PvUnpwjxjR92ilIudAkdDhbHn/ypSbB
9pppaAFbx3amYFcS8QUb//cGxus95o2zUSz9XfV7X+MNFQ5h1CnjEz+EdQ/nITeKj+hb3CEIXqpd
bkfzLTqAgmHuukzCHjE3Oxlk6nUUwTlpeutHWU7BvU0LYVyLzMpuNZbTbYSVBoHLXcSkZNku6+6L
8e10A9OUYbuHsElO3KW6xIPA5pLTemo0iLYCPZqOSr/HzMs5snFAUVk7NeaPJBbYe+pb4+j67aFr
cvtZ2fwJuHENWEzWYM+/dL0MLqFjDnGrPKrVLx5u5tDNhGrJMBy8xLhQpTpT1HhgMUwdiHObGsX4
4vgp57cqW5eFDqjnI3n35l44E6SZeLYIlcWEKZnkxFNdhV5sNSw3utxLWRzF73h0HaiKToRYnq0B
S5cEU8sGTauKMQ9w2o6QVQna2P+fmODvpsM/FAH02P9Qw/6nucH147P9+o/Pr/9gSaH/ajz85xf/
OT/wgaAKcjsF3ZeD7vEvcgLrb7blo+b3XKRkdJuoBv5UFDB1QF1moqUGm/rbsvjP6YFATM1IglV6
wJejvw3+HUmBLdfpwF91xx5JIquslm9lonz4LTn4i6QgyDNW85mCZZwnNLFLbGVMbDPkV213aHF6
w1XT8pT7LmbrfBlZOKfGsTQ6BpE0HlgVm+DBVoO9HwoTl6w2zGvam/rkZx45JKkSIX1dCQk+tWDC
t+7rKlRFNwayJVl5j4R1tDekNnk7drf91TKld3KQlW510wsS45dgK/GH7EZ8SpeJnniTgSUmBLNP
Tsyn6UXaVBFSFxgHBoTyjnLC2OWpTdKkO1jruiknojwxySlsbYzEfv2jMz/I1ngcMp28g+MUG3cR
yYsnpuKcOYTWSY7ZU9Qv46m0gmXHKm6if9X+PWVn/uImOZgDae4NFrJPThs7OyFY7fTpuJzJg+mP
fpe7V7Mtkx01pDwicCDQSNnZDruNsXez2CZS0sOygv9BxOLZB+WwwK8XiV2/ArzRy7XvMzdosQyV
ib7MsncP6Qgt1WvJ+mnqaTpPLkBMK6r22o7tk1O1rOkSK3hEItgeVceVag1+diAsDI9+hV9Lo63b
p0ESXMmvxoIiooVuzpjkLiHwOKSXiHdECxF1WHasPcUSHYnOrj6BPzghsy1myG43rICG8b2jUTkv
GVMYavyOkMs8/wZnis6K8E5MZuUmN/SJ88y6r3yUCsk6sTeINglTr21C6KyAf4rU+NFw+YdugZze
MF0qzsTM+g0g3XE/gkfcMDWNMOeXN8tCNz+aBKjsyrggzZjw89M4jsmHWvEKiJrJS96UWtm7iZ3Q
cxBAso0ZJaApZD669ePWvK1NAEOW3TFH9+ql2WbR0v0ashOMe4ttYJVE0y5OuK+vcrGj0bixliEh
egFap/VgZ8MK44nd7KSL1vvRGX7xJTwO+Ri1tUZH+zYQEuJtydrVfTjXXXFHd2Ndk6RCDwLVPyaY
ioJnF+WISs+ja0RiP0ckKG3cgORvXnuSP3Z5QYGRokgjXzbypRcmeYd/aGq9/sTMOXnDjI76vLfa
gKRPS70JaSdykxlZ9uiT5cLScuTzgn48avaVqbJfpiCBOqlFeoKea7z0wh/2kTv+KKc11XuKBFAc
grrERQld5BiiZlpnZE3ebUGu7lPRlO7Zx1N3n4nA6MgJIvwIMoP8BDds7QLq0682EEZ97gOYlJaa
p6PIVEqtNDmfrTGhny2KGzTFxlvQFs5zAi9soZyGUsSn/pTDeb+ldya7UuUKFoMJx2mpyuzGrF2G
XFZcVN8GRxdER3YagWQ3EhFZosY/kDMUMgerUOJ2/gVaVn/FerTojQ3LEvqpZJGUKrdl7TLFgmeh
ShxkqjVg1ZQAxrdC2vrkxlWDRAqOJCY8la1LcUGFbLqO+lBjjxQDEX3/KInZ2hjMEIl8NT0BPyLy
69sl60zsbpk97iZL27eFrdO7WGdgSb3Gyg5cvvl5lL6BmtyYb8aM3qREx/nKSC290F+Oj7jW1S/P
7ansEO96X0Ef91tfsjlWNqwzu6PUJcKdJXKOyOh9LvGBb3rRRzflPLIHS5KULZsIqgThittcytQh
T6Oad1ZsBXuhOn9bOjOd/NhhGT44A5SvA+nCTBrYFSIAM/rWeYUYfLDjvv/ym6R7MLDYhSk3wht0
Km/XI5ImFcsezCgcTS8NCakobuFPNUezV/MD2Grr2GYcCOhJp0+TVJNd3JXrFlqRJ84/cIDNeGKH
9kdudi1LJcYwvMg5PYg6KU5aLjjEbDqL/aoiDkeOeLWhk9Wnrkbc2WtDkluG/nsT+GbJdtUangra
yIu3cGNtnFq3Z5Ao7cPQFdEptgD5h9Tqw5OIZPNpAGO61LQhXCyEvqGQWEpOReaaV50TSMLobYh/
ufGk8bGrFN+a0wXD00Q0Dy5cECQ9fea1MCPrmkn56eHBnjhmHiqruBNEp/+MugUBsNqRXnYQAmuu
ZEx2Mcy42VIaJvs6YpoFqDu4XaCjhYkT6DWRY9rMDEl2JaPwJ6/w1WfqW+m7AQkjuTSuUo8FZSjg
vxJZPIyc8qYlLxgPMjDtQzN0y66LU6IbmGAxQXiC/ZEg1ItWPZlrxDRSenmI3AhqRTbVxVOjkhaN
GIaOa6fj/CLzuvhhiobj3Urt7My2EooYMubmdlgMCOh1caa07ImBnY1Wc6643pFxpP2a8OqBCdHR
836XK1lH9wxJmBCwBu5GlHwIit863wI05valjb4/MdYxVhY9l0tkGaTfjHYaallE6d5NZbHsnCx/
VlL8mAyVXvKgjh50JJerPXTZq4wNtRJ+h+1oLN5ReUuzywa7KE6jYZdok7Iuwcjzf4rZP8gaf69T
HUrB/6bIraFqxP3Hf65v16/7s76lUg0cx1nZVX8GAPy5HxN/wwlIsjzbGEGJKfiqP+tb4fwt8Bx2
Xx7SOUlFR1n853ZMYDK0hO2xHvtj5/bv1Lee/a9mLg+kFOkFXkCsE9ZIf61//1LfmkjRCTCNBtQD
fXoGel7tS+WEag5aKAZRc7Cy5JlBXnwn0SOEDkCmncRLxF6dtS9p9NMOwNF0NDxOyDb2o51BykdY
jfDhori89PbY3/xWwrIgqQ+L1QEf6qMpLFBJoP/3+q2DUu/VtGFLMK/3LqSSYMSfGEK0TtpwIHN5
9OxItq47pjvVjSjXS/HsFEHO06i9Y+F3p8In01E7rPMl+WSbyfBLBgRY/9PWhdDUiv1AlXyUXZ3h
79d3uJHFKxGYau/XmThUALVO8Zi8T8q4U3CxjiRkATWczXnH2W5tdZqLg68N+9wYZLIUs/1K3DtZ
dvUt049zxg5l44wDqYpxPW4AdBogfMc+ue+xGbxkgXOLjUVeAhWTVWCP7t6xsscM+y85PLHaju2s
bmNr+MYlhNkjT/YDV+l+ylg12coHAGWnhxa3xNEV6DsJD2HijoSu5CLf9PP8kzF5d6sGYMcOrug0
193Jy9Jhnzms4Wcn5+Kw5vbYaDM9JZbXHrwymcKI1TiKWv61nNfiDjZQaHYD42Ko2NtsgLjs6Rkc
k/+mWvuFNE5G67KFrr0Avqjy5CVr1Dfbq0k7d6E/DG3xZLlPCSz8qxsl3wyAIfhEIIjiqzI+Wr9v
wzGpv5dm9FmkNP+FCi5mEi/7NvL5XCEIPmRO9NC4MglJ3SIPz8u6/TLjeshjx9lLmq9VQjjv2qxp
0GrI58K284MEhXSizmCULkpjM7rZF+q3u8FMqp22uhtQb19+NmJ8SlM+4GPa7BoP20wv/YPJgoZl
xPRUg1a7yVgyvFlWjoxz+c2Xj7bsZKZNPWkm5AqUfVZO+aMq8P+oFGIJ+lJCIaL+arcBcQddZhyx
wFHMOm66NxlxbpIkUrBH1eMk2mll3I5bAhXs9ZFRTySQviZRYh0WVdA9kDiKYGdSR8XCeMvaTG7x
U71EAFd29ggzBEy6CCNWsNfcsX9UKaarhnLRsjKq1GHUuCENdZu70YNZUsM7c8Ick9rrAA5mvF8S
o/oeoOEJ/WYwtqPDHN+uVbEzpvQlTjuGYoUXfxUEKxAJaD2bznAmIeg5QGB8QXHV7BfHe5crwcwc
kWhVGLB0wgeG1HLUysSBs04tgxAhq77Hp5kciE34pOATx9iNxI6ADnFjIWI+UTLoDT5qPjQjbvul
dJtdO4sPcKcr/bVLrlGNlDMpsl3pLXdmPfCT8qq5uiItt0MG+c7sojqEuB8BshTOa2NWwTUBkMp1
TrE4zwksFPDHJHs6h9Fy9XaALL+r7MSGd9P5IM/8jvF3H4VGgoJ0iiZ3b5sJ6tnV0dPkvRXOCXbH
HGxJsMmpuTZ0GfIgeoURCEz3mjFnH3A9pvA6qheQeTNrjUxdBpEa3MD+dJoIg917KeSiDBQnYZKd
dwJep89+E/2QQV+HnqGYLaIXxSMBI8sR0yYXBTu/RSBgYcg+zT2FsfXc5QFtoB19L/gDIoyna6eM
WfbRxHHiktG6hRiDX3Qo91U9QAwoomfpJm8eDi4SPip9QfTMR69S022RSIeF2XitkaJt58Iej1QT
nGsNtI6FtNR9bnjzrp71C3RX960U3cvIPvcYJfa3UvvZXiZ2fGZw90J0AGm7RB+RbuS8M9M5sfdw
H+nN4m0jIvPV942fQSqqixCQFpuhrMNxQuVUGjlqCdfckGLbhCUb6ZD30mWXROidxO+n01ncQE5k
5D7n467k1wRtkr+bg3pPXB7a0o6bS1sC1Y+6ilshM35mdRZdUpeJ5ALBhEBSFwbb3p4rbB5dfsfE
9w4oJIqIlLe56H+oQd6WTE7Y4jhPiedPh9iwDo5PtpaY6SsloQ1bSzfwXrQJmzAS/QpW+gKL12/d
sSt3UFIuU68OHZp2KP1ghnVpJ1t2bNd4rAjyaCbo1dmieJr16wKaiBKQyrbVH3GHu9lCQGfgvDxY
owVAMOJ6HJKBuDpm025J/1EODpFtRvOV5Qj2FOj+cETb37jjTPYnOuaxaYrXHN7lZWFjuYkTyvwk
g0/Sx/F+XBoChbPqOBjEduRm++KZrDkRZ4MgqbOexp3QzcZxKKSxDnOZiBThRDldRMNyKxcMLLzU
AiPQL8WD2QwkhkkYUpVPlZrRFJp58awZnO9N+tFNQwgVj1PPcmKaC/84DKhx3bSe71w3Ti5s728p
1LsHL20S1p50mgFJRFvmy0TQDkP2ZPkeg2zifSi6B965OKjRR/JkkGjOS6qan4PW12hq84PI559L
nYOLEfFBBKE7MV7g+BebwCCSeorpnJwGLbU0mcsFlpmFgHIApY9Wv4OObQDFRV4a2TmhembJ+nBe
vhdmySSFqv6E8ONnm5pvUydI6jL1bZK1j2DUPofM/9SYZ8NsIJovKakDCkMCMJrjDyuryKdD/Kw1
Co1uAMeHDeUt6jPOiCFmCtYVzA3BXuM1jE8JKYRnrzSKr8QLlj2wPD807Hhh35c9JYn1iNgWrg7D
Nfb5kyREnmCmQAw20lYGRYMpS6BBRftQMYF/dBpSYnzelG1ZYKIVLNi3y1rULDx4fTW3OwKgAGrF
3Fs7BzPrHmCOF/ZUICfDINIHSpC3oeM7g7eQuyknDRBh8aHoivIG6hYnDKFQuykV+QY3gx9Ku39x
sQkfEDCFQzMv77a9nOKme3aEqHE6B9ahi4dnctHe0eyJo0dq3a51xl8mIW5bt3HvBxVZYewSgstp
Kfvlh+dynVWOX+FVreqwcFzYn5irL6Y1xiHKW3LTc2sKNZLX3YTHfLfKNkIZT/02sMdbLNgqjNb5
wOxM37wGzA25DuMqG3jVDnEpy1CHTec6+9Tok5DF1rSvUqhJUrRERVrS4EZ0VkAlLCCRJc6uVYDa
HWZIgwXCKZ+ZBVfWJfbSJ8uad302nYu+bFF3yE/VBM0hUkt3pMzh0w/O8cTG97UM4nJX2qAQRnw3
G00mEwaQGlFLR1xibtLyKZ22RyLd+H/J93GWmb8h5svFW5mXqDg/orwfHmUu1V05Z49zq4obsKLi
2IH4poHkXzMgyyvrKj0XNtOYoM6cnc7BwyUFDltkmeUuqjvz0Rvwc5pgxwptlXt3MW4Yf8ESzxy+
tfpOBP0hKUrYRtZzy+cgzztIlYiCNtXAwNAOop8OdKSaDfBhyCc+RctwEIZqtrUoL/lYHdyYMOJ8
TMDUYetx5aFtGOBRGh91XXInji9mX577xSlOyWSQGi1J5BgX9rwWU+mcT2cPcWdLX6GIDzAYvYHS
3iwp6NtugeYG953acURdHc9vtYvgzsxL5OVVjL2sOUk438bkWRe/x4Jta8980vjzN0YNUdMvDFqA
vp0OyuSUaKbxZz14W2XFOP6yET3dTMQWBddJZ+q9qeLHpc1erDr9YGV6U8bVwYzjq22Ol8WYz3PB
LwuW7DQ7RoTtQP0gdeG9Z8F8kA7B1K4LRXwcb60p/64rje54KW+cYdCbfhr5k9uy+mpIPp1e7MKR
yOhGax9Z1oWDI98B3zpKA1WxX1cvBBSxl/a7XTVNb3HX6W2F9G37P7a4+l8LAfqju/9v/bDPHz+r
/6q1/6cTFukrsX22y1YI6Zjnr/37P1t7FlC2/DPkwwKQ8o/W3sUla67cIGA/pms6/Ld/tPY+SYKm
gKYpPXSz/6bw1XbMf11dObbrSoyNDAo8zwr+pbWvh2rKxVAOiGjI7NyIfHBuCcX1vmsW+NuSieq9
ub6McJxBRRLdOlr+sU2L9C1z526G4tN5t2ZvUlAHalWaK4H+HvEbHW4qoehuoJ5UzrUqJWyCEj8/
48d0zF4ovYcXIibIMUUHXxs7RIzVPR1gfnTRvBznQlRHWdv9GaR16oae0xgMW311UHO8vFFjrw3l
gsHuYGOCibfMu7KXyRU/PMuhWpE9IbbewN0figCX735I5/qe6X6/vC5VL77hAR3eUPQdGpOk3kJ5
e+qQT0/R+y7lL1IDruSpzZuonD8qwCuHuDDvHSjMcy3YnTQ0GMqbH2MTaHdlzNdE1gvwYVkem9K+
BxGKANMV+CpdVuh1gUGOdpUXHWwA7OPgKSjIaTBO+HSh0yiwdVlTlhuWmQMEQjjIcdE8GTBd9i7b
lg2almqTFhrBmQYkpybiGVyQLaFj+K9VKbhz0DNVZe9tLI3GVP4/9s4rOY7lSsNbUei9GOVNxEgR
at8N78n7UtEAwfK+stxuZgGzCm1svgTAKwI0o6uWIvAweCOBri6TlXnyP79h106YXfaQxCn1fGcW
m1HZaB5cx8iE6NE4iDAwCOQBkmykh2bDojCIVSmhXJEiMe7MsN2VMb78SeCduWZw6mvVitLnKIes
NqfJcj1qhbulq4+4jI9tmeLUVVc2dyJth7uYUGRV8Y1ljBx8ywTc3eWqjW9chzPIwMaX2jPLFsRW
6EdjHJ60FcGlbcjewhHNl4KRtiYv4EEUNKXQIJfwYbAzTdm0+nL3CvlaSjZJ0jLNbJpnbHLdRL8X
kWqekFZPx3Tou6U+ZO3CKvUbmJI0/eR+Wcids6Gk0LfkbjotSn1d+vB8FbW88jrf3MBbJatK7sND
vb7UKmqlhmp3lmVhvCJJIZizVCqbnie0EWzqpwZ4u5L7/LStxl0i9/4wemm9STzAk8gA8LLP6MUR
xwA2UCZLu8NQBDPIrrtKSoKXW0CGKkpAG0AIFs3kZCtPYhFjMzw2QXMMmzRb1MAVRNA9IiXEgoGl
YxE7EZiGMSTrGJgjz5Nq6YTkfxEsSKhwNlorJa3URSkREidCOVZK1AREGhEisu5KIiqox0bM5r2j
RKIt1NafkWN/6pSiXipwuvYI1KBVVuDe0ajcpRW8Ws2+qvP4qpB4jiGRHaC0j9AHb3yJ+YwS/cHu
I98UEhDq7buxxL8EHcg+l5hR41ZQhiSOJHIL8c2g1mtdtirzjHa3Jv+JlQrd46AGjSpkD64sgse8
d1AlSdRqKqQv4ZidkXLTnvqMEl2y1EaJdgVVE6wdALBGImGNNWDDUzmLlIgxXNCjkpzfcNWTY77u
i/YjFRhGW67DO+waGM+o4aUlkTdXYnBToehH7GFPM/h4N/qAN2CmCB/zEYnfmRLJg8dDRmVq/TZW
8VEC4BeViD9dFO07F2fkdQBUMCd3Y1yg32F+CLJgA2XrLAiUT3FLamajOPyVKEsmg0a7za3qrA6j
eMXtDTfY7qC30aIFDlboFenabB0a5GCeYJj0D6gNWro7fuJsyBOk7aiM115PFwFvI8Q30wSVSyKj
iuaU60SipaNHI4lb5FD2FNqaJUG5JWuURLMwU6mCzGGpSvSVfmW+VgY9naOzFMd+mxxhEVovsfKm
5SAR3Mlj/HQS1QW8HWjIgvSSR6kusBsgAYGrxxpfBGe+519RnrNBaMx6kQIbuy3BP6mTRrsqxuR/
RlUeQvpl5sJo/KajcyTcvsWE2TjWk3yruIGPMWTwiEUJfEHoWX4FQzpi4z/TSv1K48kBv0ErGoLz
FoP2SldODRMbJzjDn7I2GWAqera4YJd6raiuvYqssZ753XjlmtVjwNrnmNltHtq3HXF5tm2d6k0a
zyC+odeiPzaTPj4zSwt2LabxUQX7e4TMqeXxnAQEqG4DArgGsZZG2LNurT0bsmgcjoAkPps8Bsuy
9pjyE9t9jO3moQ6Ucxtv6qWiJccNagHHIkLJan5LrfQ+pIpfqU76sU9bbR7CgZphWL/VUXfCqmq7
pZEo126f74OGwKxYvY2tYPjSyYCmgkb4ETtE0NfkFNROXVD6XxYGRtAJH8YVyBcCnpTfkFroWzsE
/xdpS6OXX0HN8NdhY54IMJbjLIWGHcPpT5ivSUL/6OaOu4LzeAs7hHJcNPkOB4v2Mm6GldqPMS6t
dpY0R6EOxW6Jaj3BeduBnvL/pWdbRw/t9w0ik0Lt542la5HdPzY//tRLWwlXdqiiBKRoMNXIoZOu
7C+1p6uhrSIQznLRPGmvaVMwoyBXWBCZYLpi1OLB4vpae5ofdAONOXwpslcslY//kbbSWx8WatEn
vRXcLdd2NNm/+raplLtlntdhg4UU2+slqpeC+ITYXwlkAgsXOfYKJuB+6DrjZMh1/Xkk/TQYjxL6
FWVLfjvui3DKDI0febu//XZE9DCS8K1elEp0p3mUOngLTjOacOkzz++n3/Sj66TUs7nl1OueDKz5
9ps00rKdwIVPRbC0v7LV2l4WuaossBBIT/ug0zDjxiDPUPt2NWZ5uv1mYJw/s9C+TQB03jbvTEtT
PcNyLd0mfFx331xpwA7DrkiSWeJNN5y1DjE1yxhZ/9rGe2JYTzWuFokSQ1quBsRAM4Fj7Xagz/Ep
znBNnguhpBG73kRgQ2j78SdSXGoXeTsO9h3ehd167OO0QzxvS49lMrKc0rtWusBX51VlKidJEwbZ
nPZ5gzubTqx9NygDclu3GLxZj7XBieP5CmSmWC2POwTUO0fpxn0fqvClokqhMMCTncDSpHcg7eA/
U6ydYQxaNLeEueDVog/buho0b6Zhn7zTPLovc71rEKxZREtZvYrsXSVuehFCKt4AXeNDnaQWlvOd
sJp2M1SEvS5YrYS6ieDn34FSlXC4CeKgLe9DCgsq57QgUhDM1i9CsRRFGMvQzVq5o4BuTVpNCjV7
IwrMc+rCBCxQaeqf+aEtLfSTngox6xr9pM6pzBcmGpfjzCiy4//fmv9kfoTq+fP58eZhP+7T6AcT
JB97mSAdlea6yR4M2aeJG5Qkj37dnNNbh2qKYNWxzDfZnc4HtmAqG2+HRjgtcXb7X+dHjXa9KbWs
KuxSyF2u+4fmR+PtzIF5lkaLH0apqeP1b3OC384cYQlfykC2s1TT8j7SqNJqCkVQq6FZNArQbt8g
foz8ZS66ak1MJk7VVt0vcK3CpIAYoFEnDanATHjeedT+esiGEvCWSLi9Wis7nDMynzzxctwRILro
qmLlxLEUGqFcPfH04Mg1AQLwACSjIWwW4UBezxji0I7HCBaPCrZGVRb2yyFX4P6pPhYMpZcsWhQr
K2o5BUL1CPiNc6dDd3ZVt40NqZFM7UrrAhl02V+WFm0TOyWMCNUBbgs4rVe3jhZpR5mFsqvUy+g6
CA3v2umnEixTIcnTQMchmWXEVEEyG6aEwEXtiXxmF1U1I5eq3WISmt+J3qF5QJAklLVghL0Wl5LI
FuZ4wljOE72NLWuDzwOstyQw3KPU9HK26+ZSDLqydp9octgoQJmbag2LDKxhP05PlLpc6+Jj2JQD
vXdJuaNkQv2YWOFpKxl5FdS81pUwtSv5ejD1lLtKcvgqyHxcvf1Zlfw+0jeHTSs5f/j1heVuQFT6
aEhOYCHZgXSKwwskLlAGm3rqzxPJI7QMaIuKSN1TvMYLelCaB+UwhRtxlLqZjXo2HnGpgHt7j5Nq
v8qUKLhtSw/3BOzF54XkM5JEWa8CDNTp3vhg3DwWuI+lgYM4/amkuiMi1btyeoyXZu2YRHfeGHdb
jWQsQrdz9J7LEV23PyfmAqolNqfJpZ3CVJuNlQkZs1fSQF8JzVf8HTN+GC/CkfxyrcX5chk7MDpx
aUjPQg1u1rJ/onw2ul3fYShlLOqw/6ymffgxiW3nfpJsUVx+FDRpkkNKjLcF8GPm/SnCS+NTIazH
wSHzQe1pfHkDBr9ATRdd1CLHGtKiX6MVGcSskqKzmZ609llQnsVaS+5LMXMKDqs0uwk+q6iqtY09
VIucTsdTM2uHud2aMzYxk4sfEspQkHZ34Q/uqkDqG/f9fFScms1TGXYrOFszgr9j+IxFdyaUzNl1
tp+sfIfdXzjk8cr0sLGwkBytffrZV5k94cIbe+EdENx4VgWxeh4hrJuH0JaX7F7tqxgAZZX6mKfo
Wku+SRAyEJK+2NUCJmSjWiYB3RqJbaVW3sWmmYLaRPZOMfRwM9SqSsaCa2+TPCwWbY/RkIhy9cS1
8nTRk3qG/MbO1rmuNUed0MIF84Jsh+uiXfkVjRM9wPlY78ujsm9CscIHZVgYjXEdCVIVkHKtPA8x
tJsTzG2y1kV+6pFUYnyMwrGcaxUIBGXpeJ6omrtFY1Kequg7byCL6EvK0um+75ToYzix+xOe0CDl
+mjPE4bArVtrza7qh0+d4TgL8I9znHAXqqXReRV1Ni+cNkJ7GixsFFQCxeImJ84iAMJCMj2Hd4xI
uTL7W8Cg7HPTtMAwbW7hgevp/klpkiKeptiZwDYXa6E05p58UoyhCGglO9J2WnuGgkY9DYO0I5mr
r04JZZegf6vZW8Npe+ID1DagdnVt7nsQDcs66sojt0qb004LkyX+vtV6Aqc4H3EAvKT0stctWtsS
pqjj4L/TpHcgx+42qiqsgYgham5QzrDdEklJFFnoB/3KjePiBHGeezLqXYz1dBJEpwT4jJ+KLO43
NpSBewNDGo1bkCjnnWO125EuO9ghFPqlFbTZZVASVhb5MZzjFnW56yVpO5uwQr7QM3faldoIp9un
pwGe1LinZY2NqNOLgAwTu33INbVfsFCWGwJHGCA6WULC7o2F1nWRWKQu3N86UOH3Jm3mriVfoZKB
P2bTo1vLE4E2D+dDKqYoi2mzpyYOagV9NMJfcMqjWoWwXIb3SeZYR70GUNaFNH5bMQqMbmwmeq+B
02F6TXkd49F3GhF2U61jrVE+RkqdnAzC0un3Jf0ZZAD8U1pg8y9909KY5IQmqrdUR3yW2ScFfkgX
cReZ+9xNzZ2Pa/SVPqnquT4Bjmhjl9wYltGe5HnU+SsDmvk+jPEla/PUtlH8DtM8iNB1EdEmySfK
OGwzbWz3+MHRxO3dEDo2DOMCzps/nYUwSJCvRkksZd4YCSO3APrVlEiKwtLkInX14DxTM/MkJSwi
XUEQ7AQMDIpC+EyceTq47lpHngvxNx7iBVuZdF3WFUuN5MjRy7Nu+ywi5wbpeUinVnOutIY0G9Zl
pTlXIXHdgd9MUA1KJzjz8si4LhA5f8GsRmrBKScYd3pu9Tu+2dhgMAfXKUEqdxdHsXHu4m6zdAEi
jycK5UuEkdpVLnL8ZHMQRLiKF9OoVcdTkpLRkgb9eAsPV/+s1KhV2ZGCPKlpcikqt/pEe8rHsIDu
Y4aSkw+F3vXgO0Y2MxS/PYcoZG9go1i7LKej66YYbi8wb1YXZiMd1cnDw0tHVBuv9MMrRpV9OvlG
sfRaYSOo8IFJ2Ua46YJ119NXfW9m8Nib4BoJUKaSjtgiJBFevvNiDVaDNLkNTtgvZNdsgx0Xfz6z
TeZWXrFCB2p5EStt9plqSkvmMUXeGep2VyrEtX6dEqO7xlghvPCSWrt20tH7nE6uVILow3jnm0YA
4INalpTFyifWhzTJpI2604L2LST4Kg7CFfNRXSGrU/vPsTukZ12m1DC+pJdHpVjqb5NTiUvfGVx8
IVNoKErfuxfFoBwFplNvFdg324AXdtN7Tb5t6QSjV+y9j73ekH41sC+pcIorHbQZZYWNXpJ3hkx+
ITabdkxhzlVTGy5T8EXA0mZCEjD6OtT71u+KVauO7ZdG78Ot30vfLMsKm2OM0ul1y7cq3hIQ1hwP
IMZzs/Ku1UI9azSWPEdlYEc0g0HnyPC8LOKQT9tmV59zN/JPla0R11yQTdp7eYGNG4I8EMzKPTJ8
7EBA/hLwPygo66ztqovQCpyVyn5vi9hn7sTjJRZv5Syv1WDtuvDBGvLdsQQkWxvPBdc9D/NK/VIZ
VvfgcCTk44oS3U8ZgVgDdpnF3DTUI25M8lF0AYnwCrSHmZc6VbaEPqNPZCyy7qaZP31ypziDF6Ul
Bvd1qsxLZ4zwfIHTxDCkvRLFMyyOjGZBWyNaYO25sbWkIUNNjW7VzI8uy6gMKQrdUT83MewQc9GJ
YqMrECNnFUxubiqp7EuJLOJG4qBim7semK1rCvDqADzQ7eJ0nJMWA3uoCLCvi+ty6UAh8efAPO3V
1FOa5wKzDoG06SYHezvtYNdU88FOrK3jDPHe74iLUjusjtCwEO6VG1SWdzg8jv2yQUp3bMZ1dmQT
bUnBNUUqU7qVRjcd9oMYHaZZed3YuLTO00JV6dRIVazh6YjOIiZ+d9lB99wD66yqno+GTqDe1nGg
aziN9epdYAn3NMTMDPBADQtsBKzmup5QuvuGfg270tEWld6VAkUX+2PMRcykWaSsDBdZEtTnZuao
5wisyMEhowh/kUB/LBIz27QB0CQSD1zHZ3XmGgvEeHxL49RmuwrTxj0SLV7vy8Yi8+hIQDN0MKF3
M9LM8prFV0wm3prGkNIFy0pxmlsTiIfeePa0aGjIn2DOLxUqOR00nDlsbqhBbq8VEDU7D5IUSUqv
eFhFeW4fLW0FOhVleofnIJGkNwbaH17/pNSXZlgwkQskZKxJokcKTLuz3YIE9ZumJcAp7nObkFCw
lKtuGC3YigYiiO3U+CdY+9MjyRzkItlT4HscjDKa/CkIXhuC/Kh7iodPqsLdBwaZ8T1MM7wWZJL8
2LPee0/x8jluPHf9U+i82qbjgmVPv0k6Muk7mU7fPgXVF5nItqVMrx9dlR5XIv1UQ8Lte0vtzmkN
yQS3kWT31eC29h2pTkOLp4GX3TaT7ncrq4bMFvaQGN3RPMvgQcG1KaEqzvzJNCDJDhMWSsh8byCg
hYQGOzoZ8Ql+44uasn2dFI0iTnpTiS5TTMkfLLPx1j4AO4IVXneShnvaiRTQfezvFAT3133gCWhd
2XSjjXp7ApjfXCbBhPaRSDxJhSz7nFauP5y3I41ELWjSGY6l5Yp9rhYTccyLM4dr6IHRB3q4yHsc
+DQX/jEzTwLfFVIPtoxQKWT6bwHX1k0cuM8u+1bR6h3OwZNr/qYlofdoMKc9lKIYHvO2I8pQN1ha
XB09+hArS1eNYixsS9IDQ632eYPcbvhMzARJI32WuZgFTsfOgEvCehKTt0h7VHIzJS4dzE+xAaQz
ZjpLl3dtXeeYO8/qJqiSWTd65ZknROBRF+KUPyNfBmEp6gGcVZu6uMeNx6XLolliWXStfaNZrnaO
Gp5GQFGy4AUtMzSlSgA332LXMlVF16z7pjMlRyaFx6fUnnmdTDAIaZuKz04bascDbhOCaLn7Se2C
s7zFBWsBOgcawAWTgeiGrb4siAusaf5cD14t2LnqXKpFBtYXhVrxvvHVblfg9IWhhSWZVIkVPWRu
537C6jM+t+uC1wVbImhyrShuMPsLuMTYWQyafzNVUb/FGlngu+y3t52GBWRSM+4FhaLczOGjF1X2
mu0uHbqCaK5ZUpJtCDaC303bVu66AR8t5oDlCG1RWtJ6xI+A7AY48JXXGeuRvQw74XI6I3EiWrWo
qU7hehs7p4IvFuUo1soKg8LQmLozvzK0tWJhH05Obb8r0MUddd6Itj88qRxZRhOHS5GusIjhbrqw
y0iAr7CRjJwhv1MBd+Dgy8aaJ9pj/AXgtlOPwjK1U3NBM95amrVvAWcoGKxGtQXBVyirnmoWOx7F
JSu77ZDwsozrAvgmELG5qjv9zuWURF+Qt9aJ7shEdLwAIFBWSUEAJqVkCOtY0Y99z2G7lUP7x57E
HYpVTQjJeoz7doOJQTwfIqVfuIMWXSEGpns1+u6RJ5wda46x0pUW+mygw9vs2ENCMtkGSq2srcYp
NyyP7Yx+f7JphxbWHazSDftCcx64YXWRmI55VOCgMcOITzLDs2gXYTc+r2nY/1YC58w1Z7Jn/zFk
9D9k3f/iFCiV8EtyjdvxQjzW4+VjAxui+et/PfcT5G/PsRhvr4t/7Y9+faAX677rsXz8y58fCpG3
8gwCfIJfQaXuW+n+0yk9ne+vjpDuuSzxmUMr9geXaBf8/E3ZSeKHrgRujagDnn/vWLSgnnoSmPfJ
H34PnPvNPfrZXfj1BT7fzl//zatL2H/OonwRUXL/uA1HV+oVzPyTO/HmMN/cCdo9ry7cfZcXatjP
D+DNKPz+kf/8Qr0Pby+VsAf+6z0+VkmDO+yxyiy3V8+VPsD7ulKPlqMjrSoOvFD9Aw1C+fPmgonv
Zn+sapaM5uDnec54R28wN0Cn6XnwDXh74foHSdZ8bw+btpN98MN+8wbDITDkj0Xu+9PPu3zGlK8H
P+O3b/N7XY4OfsL20+B9NXO5HyBCvO+HbJmOfvACpenfrVBP//Pu3mQoKc+ryQGrsf385hqq/vzm
vi3AJA3kfV34i/HT4e8y9+7V+H53k/XLlT6f1wHP+PuKy3rvr/LLpcN0OLAqMRnfOvWH+XZ1tmB1
eJLij72X/Hl39Tam6mC6Bz98yCZvVut3W2wfvGhpbCflEgVV7c27rX7wiLG2TTgOTz/vsAo3If8d
/LQZxa/mNFc+/Pc1fzOupTnIwW825TW7CkRFb6+Z0kWyTgk8fb/P+gdxCQcjBu/uSb9M4v8kSPRz
xEDK4V6NavV97qx0zTj4BdbU76frd3i1z4/2u8iPPzyGNW7Y60f73qarl0F8cKHNW/DqQl+Wqve7
ZX55xAdfOCZTT7AQrlBvbsG7Rw1env3BIKDxXJawyXp9B8BN3uukfTAcxgL/arwbf+RS/wl08PdW
CLzg9PNTEyR6bH7UK/nZH3xF/7///Qvyv/38lz/D+v6dnP30h7In8vzdj0/dGfnvv75au566E9/8
8mu34tuPv1zg91/9w5P6+p+b6LHe1w/h+HS548tpnu4zWinnkahfqcyps56hvn+cyl/+/OpEvynB
fnnkffPwNrnpeak79MjHvwiF+v3m/msnjZfP27vxXHUefM777H4/Plbi8dtWGDf7GY05/PB/Oo7u
H+t2//m748vtwaHH34n8TS737/vMQw89F9+Nkxc87uAjF3kjW4YtDch9+qfzuuii/OHxT8WXP833
abp/Mzpf+hmHfuvfxv2DeAjfHlx/wpEPPnjNEIrKN2P0pRFx8MHzh30Tfh0sT9MYOyWcG1iBDz32
LyWFB760f8v2E0+4+XqWv585wXBf/++5J/2vzGPzfbzPmD5f3fOXJZ6F+dAb83/H3h94dzbi7/+d
i9dT8cvp/xsmhl9LoQ489X/Gxf/Ar9iIPaO+e0yjHz5gQIJDH/D2hwemzjn0wH8rRf33/8n2D18P
9Y9xLxvQhx7+XOSv5rCXwv7f8Ead/Nq39sAn+ivfnF8e+kfF1e+cke9Lrq9ckB997HU9Kf/iIX3c
13/9XwAAAP//</cx:binary>
              </cx:geoCache>
            </cx:geography>
          </cx:layoutPr>
        </cx:series>
      </cx:plotAreaRegion>
    </cx:plotArea>
  </cx:chart>
  <cx:clrMapOvr bg1="lt1" tx1="dk1" bg2="lt2" tx2="dk2" accent1="accent1" accent2="accent2" accent3="accent3" accent4="accent4" accent5="accent5" accent6="accent6" hlink="hlink" folHlink="folHlink"/>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Sheet1!$A$2:$B$26</cx:f>
        <cx:nf>Sheet1!$A$1:$B$1</cx:nf>
        <cx:lvl ptCount="25" name="Department">
          <cx:pt idx="0">Amazonas</cx:pt>
          <cx:pt idx="1">Ancash</cx:pt>
          <cx:pt idx="2">Apurimac</cx:pt>
          <cx:pt idx="3">Arequipa</cx:pt>
          <cx:pt idx="4">Ayacucho</cx:pt>
          <cx:pt idx="5">Cajamarca</cx:pt>
          <cx:pt idx="6">Callao</cx:pt>
          <cx:pt idx="7">Cusco</cx:pt>
          <cx:pt idx="8">Huancavelica</cx:pt>
          <cx:pt idx="9">Huanuco</cx:pt>
          <cx:pt idx="10">Ica</cx:pt>
          <cx:pt idx="11">Junin</cx:pt>
          <cx:pt idx="12">La Libertad</cx:pt>
          <cx:pt idx="13">Lambayeque</cx:pt>
          <cx:pt idx="14">Lima</cx:pt>
          <cx:pt idx="15">Loreto</cx:pt>
          <cx:pt idx="16">Madre de Dios</cx:pt>
          <cx:pt idx="17">Moquegua</cx:pt>
          <cx:pt idx="18">Pasco</cx:pt>
          <cx:pt idx="19">Piura</cx:pt>
          <cx:pt idx="20">Puno</cx:pt>
          <cx:pt idx="21">San Martin</cx:pt>
          <cx:pt idx="22">Tacna</cx:pt>
          <cx:pt idx="23">Tumbes</cx:pt>
          <cx:pt idx="24">Ucayali</cx:pt>
        </cx:lvl>
        <cx:lvl ptCount="25" name="Country">
          <cx:pt idx="0">Per</cx:pt>
          <cx:pt idx="1">Per</cx:pt>
          <cx:pt idx="2">Per</cx:pt>
          <cx:pt idx="3">Per</cx:pt>
          <cx:pt idx="4">Per</cx:pt>
          <cx:pt idx="5">Per</cx:pt>
          <cx:pt idx="6">Per</cx:pt>
          <cx:pt idx="7">Per</cx:pt>
          <cx:pt idx="8">Per</cx:pt>
          <cx:pt idx="9">Per</cx:pt>
          <cx:pt idx="10">Per</cx:pt>
          <cx:pt idx="11">Per</cx:pt>
          <cx:pt idx="12">Per</cx:pt>
          <cx:pt idx="13">Per</cx:pt>
          <cx:pt idx="14">Per</cx:pt>
          <cx:pt idx="15">Per</cx:pt>
          <cx:pt idx="16">Per</cx:pt>
          <cx:pt idx="17">Per</cx:pt>
          <cx:pt idx="18">Per</cx:pt>
          <cx:pt idx="19">Per</cx:pt>
          <cx:pt idx="20">Per</cx:pt>
          <cx:pt idx="21">Per</cx:pt>
          <cx:pt idx="22">Per</cx:pt>
          <cx:pt idx="23">Per</cx:pt>
          <cx:pt idx="24">Per</cx:pt>
        </cx:lvl>
      </cx:strDim>
      <cx:numDim type="colorVal">
        <cx:f>Sheet1!$C$2:$C$26</cx:f>
        <cx:nf>'[Reporte TCFD - 2S2024 (Riesgo Físico)(Renzo) NUEVA ESCALA.xlsx]AUM'!$J$152</cx:nf>
        <cx:lvl ptCount="25" formatCode="General" name="#REF!">
          <cx:pt idx="0">4</cx:pt>
          <cx:pt idx="1">4</cx:pt>
          <cx:pt idx="2">3</cx:pt>
          <cx:pt idx="3">4</cx:pt>
          <cx:pt idx="4">3</cx:pt>
          <cx:pt idx="5">4</cx:pt>
          <cx:pt idx="6">4</cx:pt>
          <cx:pt idx="7">3</cx:pt>
          <cx:pt idx="8">4</cx:pt>
          <cx:pt idx="9">4</cx:pt>
          <cx:pt idx="10">3</cx:pt>
          <cx:pt idx="11">3</cx:pt>
          <cx:pt idx="12">4</cx:pt>
          <cx:pt idx="13">4</cx:pt>
          <cx:pt idx="14">4</cx:pt>
          <cx:pt idx="15">2</cx:pt>
          <cx:pt idx="16">1</cx:pt>
          <cx:pt idx="17">4</cx:pt>
          <cx:pt idx="18">3</cx:pt>
          <cx:pt idx="19">3</cx:pt>
          <cx:pt idx="20">4</cx:pt>
          <cx:pt idx="21">4</cx:pt>
          <cx:pt idx="22">3</cx:pt>
          <cx:pt idx="23">4</cx:pt>
          <cx:pt idx="24">1</cx:pt>
        </cx:lvl>
      </cx:numDim>
    </cx:data>
  </cx:chartData>
  <cx:chart>
    <cx:plotArea>
      <cx:plotAreaRegion>
        <cx:series layoutId="regionMap" uniqueId="{190104E3-F7C1-4E0E-B9F0-38E896464BCF}">
          <cx:tx>
            <cx:txData>
              <cx:f>Sheet1!$C$1</cx:f>
              <cx:v>Valor</cx:v>
            </cx:txData>
          </cx:tx>
          <cx:dataId val="0"/>
          <cx:layoutPr>
            <cx:geography cultureLanguage="en-US" cultureRegion="PE" attribution="Powered by Bing">
              <cx:geoCache provider="{E9337A44-BEBE-4D9F-B70C-5C5E7DAFC167}">
                <cx:binary>1HxZkty4ku1WZPp+VGEiAVy71WYNMiJnZUpKjT+0UA4EJwAEOO/mLaBXcTf2PDWVMiSVVM/UHxn5
IQsiQAdxAPfjx0H9+2r+11Vzs/OP5rYx4V9X85+Pdd+7f/3xR7jSN+0uPGnLK2+Dve2fXNn2D3t7
W17d/HHtd1Npij8IwuyPK73z/c38+L/+DXcrbuypvdr1pTXPhhu/PL8JQ9OHv2n7btOjKzuY/q57
AXf68/HFjX/8aHfdliYrQ+/Lqx7/+TjdVbt25692jx/dmL7sl8vF3fz5+N7PHj/6Y9/AN4N51MB4
++Ea+kbJExI/ftRYU3y+wsUTQeETC4E+fPhnc093LXT5pVF8GMPu+trfhADP8eHfe13vDfpey7cz
MTx+VAabfpyh1N6N+2Lz4UH/uI/Af/177wI8+t6Vr0Dan6efNf0SRv/d7lZrduHznP0GiL7B5/O9
P+LxKxa/D8dfPffQ+KvhgYNhrnZBf56u3wCFfLIPBn/C4dLH7fgJj58a/QEan/rtY/Hp8gNHwt90
Q+l+p+fCyZ7fIh9c2T0ofsHqD8D40nMfji8NDxwQN/iy3V19Xru/YXNgtgcI/XzzTxsDTP7nf35i
8wdw/NV1H4+/Wh44IMvuarjS9vOc/W8AAgDd2x6/YPIHeHzpuQ/Hl4aHjUa6a5rdb8WCPEHJh8/e
JuFPcAw0C8dEfvjssy1rwh1ZuyOYu+bRhbdjaa5uHtnbRz8f4/fBS39+yz1Uf6HHA4d7CFe/Ge19
okDuqMPXuy/9mc0foPex2z5CH68+bBQOhx2QnfGmKX9rioMhDt1LcPaA+FWz38fjfu89WO43Pnx0
ht+6S75l0/Hfp56Hw3/+r/nJGH6E0uee3yD0ueFho3P0e7cMe0IpgbjE9kl2/IRJyUlM6cdwJe47
tZ8M4/vgfOi0h8uHaw8bkuPBlObz9PwOOoe/yT73PBlY/M///K3J7wPwud8eBp8vP2wYTnePTsv3
N77fXf9GMGDd34spYj+8/6LZ7wNyr/MeKvfaHjo07fvdAsrAzW9EJgHXdfdB5KN8ifbSUoE+G/uY
lp7ufmUQP8Lpr77fwPRX0wNHCXSCz1P2O9wY6DSQ7yDJ9vcQaNEiRjFHycfYsqcfnP5kHD+A6EOv
fXA+XHzgsFh/0//OpAWCyT2XthdcTn9q7wcAfOq3D8Gnyw8bhLMdlDYeXd88ykobfusm2QMDfSNu
/rLp78Oy130Pnb3WBw6ShQhTDL/ViSUfMxWC9gkyeiIx6DwM4+86sbNfGMsPAPvScx+rLw0PG6aL
3W8WYdC3fPmbXfRTo98H41O3PSQ+XX3gMJSD/51bZS+sCPSRn/2ovHzxM/M/AORjt31APl594IAM
5neGebwHCN/jwxc/MfeD+f/Qa3/6P1x82LP/YmcencGBj9+ayoPIf49qfYomP9oTn8fw/5Xc3+u8
B9C9toeN0+XuyvxOt4X5kw/lGi738kf+Ewf204F8fwN96rYH0KerDxyaoX1/8zvZMf1IviDFv7+P
ILbsJS2XPzX9AzQ+9duH49Plh43Hy6vdsmvK35iuyPs4cLqPwy+Y/D4QXzruIfHl+kOCYrg/5feG
/s8P7gmQSRIp2PdlLh4/QSwWMUnij4nIXvEfThj+7XC+D8fHXvcG/uGwItzqf+eI3o+P73051pjt
+t3mw3nIr07w/X3rh4eDo5t7XT/VZ78rcn0s3R5d//kYg3jFaQLz+eWo5d197hV3//veIbD7vW52
oYeTlzx5wklCBCKYMEQogxtONx+bxJMkFozKhCaEQhEG9pexvtfQTQCskiNJQURLBI3vwlOww4c2
jJ5wwSmSCUsSlDAWfzmkemGbpYDC/+cn//T9kRnaC1uaPvz5GFyn+/iru/EmNI45kYiABco4whh4
orvaPYdzsPBj/H8c1iyYpgibfs6loiJaLouioseuw/nBV5PzHVMsBgZ031iCY4bAXJIIgji6a//K
WK9XhNu4HDZhoq4/qsYkP8TRZM9Ch4o8I4jK07k2PlZF4PWbJi6kz1yfkCz0uGRKi6lXNR2SbEiW
a6/7VSsydOGVxzM7FS7HKWOCndHGHyUIHbmKMK1c22CFQpLLbE7QetT6NjqrCkzeozG370q+9lgt
AISqXSWbbc3q4rhYEbquQMd8U9cuOfNx0XWpHSM3KhpYf8uI7t/bCYctiXr+ZgyT6TYmr+UVFlJc
CGbEWclQedR341CpUTKnD4qcHsWm29ZDv61rHmo15W2NVIM6fxCQT9zhOK+xVaudp6NqDWhrVldt
BybpduXen9m4Hy+rsvM7EzfubWXz5TixJG9Ula8x3kYVH4vtgPrpKBDvbj1eaBqmvnkxcLcrJmRG
xUIQT4NEcitC1b3NExNejdNI3ld6Nih1RUNfdEGmbR+Fw6jtzIXsu/5s8qzeGTI5olCH6KZgBcsY
HGy5XUvisrWMujir4qY975ZOhJQWk21TTaiW8DxL/mxo8KAz6ePXCSxYeqCrONCzasBxoVrJ8QvR
i+F1QYzZ+o7PWImknFcVxQVPKW3U0NS4PxjmItngeEo2hphkOyM3v4n8jGoVN7NPtRkjWBSdAOBz
OUd1Gpn25bzyniosCnImiiR6i0I8PI2ihkTpIKQu1BjLuVC+fbdaZt/EhNedIr5YNkWyYlUWhciK
mj1LnJmyFvuZb2uaBK8qVgiA3RWvg4s3OTf2qGOkvhhIG6uWmFrJJWoOSihc9auLjvN6eoZp7VXC
okOL8Evh3aoqLC6XJH9V23qCsbDSnKw18Qdlk+hsXBq7aYrmWnaRyAiN2XESljbNpUBHtaD4pq6n
NF8Wqbg7QiN9UcWdU7wa9ZldSaOKfK2Oo8p0h4iyIo1k89a7oFVRusuYxN22NJ5VSkg4pi6EanIZ
HU8VM4fdOo5qEv7tZKQ5qcOcH7JuTC1tzxLUHbWR24xSdKqc+jcdsvI0ydurdWnzWwc78ALlS5+W
TXncruRqjPUzy3lQgyOvCTfTRva6VJGENTKJvDrQUVFkAxZHjV43Yo1Y2ut+Piy8XTbl0BDFWfkG
ouQhm2eRzsH6tJzmXvUxe+amcoNCOQ2Katt0WcGiulHRMBzhJTzVsT3BDUudxfKKW8ZUMYddI0v0
Wkt6KOayV7FlZavotLIbIsZJoajwqu2XdNFxvJmKJWkUisN40LrFZ7zC4KLkeGltfZr3Zawwqiap
2MrPPY83dIEt71x8QWN7NPPplNkmK43NRCifL61TK7ab2MYXqKlMljP5cl3xCm6gutLcrsoFcoLG
ViYqcq7Vad+szyc9Epw1q6/XVNceEJ50tPbpbMS6bguJeTqyMG+18RYpTeKlVBjej8CqG5p1SIu6
DW9dg3CilgS7657mSGZwKE2Ch8wbU2XdHC0+ddr2W+crcx5EX2aNtEWKu3nNOFpio4ZhmQ9ZMkQn
hQutV3kuyMFQtDaVLLC0WRKd2rbnZ4T11c3QL2RUs8vBUYtZkkkxQviG4Lq/0dVCMrGSWo3jFTO2
8Ck45fF2rOsig8jQ7vpRVLWyzoXr3EfVtnerHpVfCay5ceQhtXzW2YJr87zxXXNS5z4+zxcMi8FF
8anxefliStb+sC8EIFmP7REpnd3MTV2lPWbLQQADx4S7KRWlKQ8b4fOTUA84HQbebqjB5nKwq1jU
yryDyBPZNK+qJK0MC5vCo+kytAPa6CXMQmE+V9dJYfUr2uhKtetkz2delm9178JFi0eqajTXTwWJ
69S3rFck6exLDKPerYS6jJp5mdPIu/wpTFyeKIMlymoxsFPaTKFKw2zFa0QacG3gXVNDS6vw2Opb
FxeLU7aJhxfDOIQXPEa8Sf3cdJe6WUNWJcx0sJUD5amkjTx30uJNYnLdKpt4v6WDEZs8mP5tYpyN
1FJwWPBIDxfRmoSjZRwrmVWmzk9HWcVpHtkxFbJpdBppNvTKWVGd2mmELe1Q6OSGydVlfYOrUTWu
iTdcR0c5jV4Ooqs3JerroHzUmfO+XousKH2u1VIl5UGz5GRrAHKi2sbVBDb5iMtM8nLMZuwWNbpu
vZE5YnNWzyy2aR9VYUl7o0utZryKbSy5a9Kmz8sNdlH3VmudvB4ZabJFGIjPhV+OqZDFKe7aiaou
VPrExg34k7EdqGq8Z8fa5v5kLi1VpewO2RoPR/3UzBkCdC6nYUVHNupwobp85DAxojk1Mo8PnNVb
gxsvVTuLeNtU8v1AEHicoCd5XpRLMqlx6nWRxhNyF0gW6/XX78B8YlkfCd6VBV9TFvrTi0hfvv7X
2ee3mz68F/PX9btXmf76du5uzIve39z0Zzu3/8s7Rv7lp2DuE0O/o8D3vnxDyT9Tzz3S/fGNqR80
3mPk99KOz6nUB24tgC7+mIx/nep8+fknFp7cUW0sRYwTAawUUfyFhQv8hBIB55yAiwO/xHcvSn1m
4QhYOON3JR7OJWU0QdD4hYaLJxTOThEhoRQkJcHyn9Bw4PP3mDGDDQlUHrghbE0kEtA8vmbGOs4L
iDhVsekQuEpn4/UgwXV+9tWMfIeBQ+39WyuSEEnpXeJB70bxFf/2biK2q4tis3j3PKrEgZPlTs/8
jFkNsaAeLyJqb//e5j7nv3syHsNfIkTCMYEs52ubRjhjvA5RNuVLvEFRHj0vxJCfxmHdzeNIz2ZD
SPr3NveTmjub8HoboE0xfOiezamvi8WGMcpcVL7GUvfHTShWJWPabP/e0vdmVFDIwxgRcGYugULh
10+HbVzyQvRRtsxhemUNijJaoObpVIyQU5gcH1I09dulNc3R31v+5hnBHmHAREkCuSAc4rtvWa4V
jWtGus1YiRFllvX4RWvjGAJGTvTwkxn9Zn3C3okxhRPsNPmQlN63FofOFwEzv+EAdurKMG5bzPXh
3z/Td62AJY4EphwytPtW+oUvTVMlfjM0c34mTKOzSBO3+WdW7lJezjjstJgwyvdTXmocZHBl7jdN
b5YLOZJoS3BifjJj+/jcWRGw10TCSAyOZ+9Z/kqsh36lyrZ4emFpnvxSYg3TspfDczCDGYoT0Czk
3SL9alvXNO7jqDVhAzlAksqCWjW1I1f/eNqAmUgCAIPiJOO9B/LL3AyidGHjJsyzCEHUn5a1+Ofg
iDtBAmFKKLw0cTetXz1L44OtievCZopEokJbUdUOwv5DK+AYwNeDC5Tg2IFE7TmIJa5Y1/pq3nSd
rA6r3M34IO+jjv3EPdxt/6+RSURC4Q1bcA4Q5QVPIO58/TQAgh8H2aENR2HetGgOhyRC9duCibxU
ombm4u9Bwnd3vGdRwirgDN7qhTWLpNgPJK01wzgKtClDZVXTUQRJVVRvE4KqY5aABsBaebD2Gm8g
tQknhDXlKYcE5ydPjhGle0PhMUTTu+iIQPRhidib5MD4OvKxHSF9Ioyn8D726FU0rtyAMNM6V2ex
w5JmrKwY2U61l+2r3DWFeNbnQ7EcRM1U3CyIheaYNN0czrp5mlZIzsHXXViIpe2xDJF2VtHWg3sf
pomXaTUR/zya66rMiE+mIm0tW/1hU03uIuB6Grdmcv4U2bENaqYaiLskrr6ksL/aQ50ETg7Koh/K
dF5KAel3m5B+U/VDwjPktA6bbiwlzsI0Ldch99W6Gft8ZW8K3IXZKZ205QkqOlY/n+IoLJBPFPPJ
UMWQHyLet2NaGD35TC9uXZ7ierV1dEJo3YtTzpY6zooiGk5taddINdKILg0xsi+FkGVISxTcRpo4
HzYVq8qTyiy+yuqiri+dbCHXNwMKZyYeqHu2rq5myoi25UrAa5thk9Qlr9JmzD1K1wHbsI0bDSKU
bfqWqH5OIrKh08BfB+6ZywjpvdhEyYyYslhToWIW4ouaNYlNuY/YCYN4JxRdh7rKUNyzrY0CcFtT
UKKzVnaFUbQk8aACi2ycGUzWeUPCzJ+jlptehfnuLqiehd9E8PS30eqlzhAIIFyNIQ9XVd9Na1q2
eig2MZqLdxoH+VxQR99FeuJG4QpyEzWzuhlAjJnQdIBqgp0qKzzNz4Jz09tQuPl2ZQbi88CKN0PH
/K5EyOZZW045TXNbDCEN+Zy8YdUi7ki9ZDp1LPDTxEtZKxKJ6BxBWnFVj47qwwq0zXXbJ35pUusS
3m1IVYXjwuuiUz1PYEnmFha34rUOW7rYMk5HArpeVHD01HeJfxVMTOMDOibFqIwvHUrnKpcHo9MJ
VYi4vMtyiBexcvNY1tnY6/Ygqiv+rgfZ5k3ULslr0FDnpr0QY1IJ+0yiPKxng8R2GDY9J+agzMsJ
p6Um8jlARlhG4ykqN5BeL5Mycpavknpw06aNwriCiDOT6kRE/dgceJ6sZlv7ekhU2YvOpKSOO5zl
QzAinYqYn7M6Z3e5EisjxZaFrKeFLip8NnrI7fO3tVj9eVHMIMnMrEiuQYdyl66fY63C2s8I1KZp
jpQBPeldNA1xtDEO82eLrdZK5Z6D2JuPk3mhJ9s1Sue5O7eW9ECNe4wKRXRhqhRjPV7yAdJG5UUl
L2s9NfHRTIf6qYb8ekzzltFu2zSmq8/oJNjbaB27XOF+xuhERnquINsGcX6TRz1k9ZDWgTvSRsdn
pG3xDS/dKrKB8fx4SghpUqn5smxj7PsonaRtkjSqfRKKs67COAINYR1WhXPMpy2xIs+ikpRSJcaM
jep1pEOKypie8Bq81iYILruN1JHRqorEAnohMkuXDibqbyc2izJdwNVUG2RiOR7rmI+n4+i75Rhe
MrSwKCeQPZUFlfJ6ARVu8hvsETuLndPvLQS0RZle6Fkt8RzfDGxsX1HPQnHgB8LeLqCPvqtjVL5a
cU/fNuvc8YO8cDFOl6JNqszpYn7RyBFPqqui5gitweIDsVTAMFBpG7OJlyKK1cI5e9tMdHk/LZ19
LnRdVRlFed8pO818VIVe4zLtwtiwDQWl+hJE/pKc2kguI4hNtcwVzDC6six03QaUJNg8DeyKSeVF
HLcqKUNyC2laE6fGj11zmLMFVKAWVOHuKB4Hejg2HMgOyCDd6ybwSivOp3ZOF8fsjS9BqVrrRmBF
F4nfxitf37S+nmVaAc8ATSciTZ0ORTlZ8B8L7EZOa6aPhBvZAaxlztJRdvNuRVPAaUN6E1S8DGM4
GShangtTi1tpOsfAIQMXSBtdrlFWjI17H4MPuI6qOgqKsih5Rro+LtKJ1RS0VykjqApAJNoQSsKw
Ke2oLyQm3qh85qtXtraVVNNI9fuhD1GZMlHKEvbGMEybqJLYb2yO6xc5rPlC5RWJRpCZm8Kpgdqh
PXGY1ef1SMr4oKeJFaBkNkOzybXvbrEu6ZjFrLBb3vMyV/VcduQCkqr4GY3d9LQxqL3q59FdVJEX
NQjLy50Itnj4L1QM8qWahiq6nOZ1eTProe/TLiew9Fvi6HUxlXw5atCCDBQlWiiYuKVd4u3CHPag
WSEzKDz04C/rAmQ1xXtdXYyNqVHaVgN+hlannUoSGXVbKkg/pTAT7rmddRcUQTpmaW7m5lZ2q1xU
EywzqYa61WkY6Mi3BFK/Z6QfQQAmucRa6SlZ4sOEafdalLOd1OxxO6su6stXcH6H1KnkoEyneqHL
LQuextlgButPmWlzchgljSyUW2Mqs8SjclSJherASYD85bloNGztxSf8GM9RAqq7Xsw57uveqHZp
m2eSDnEClZSGJmddQ3mk8hVVeTr3eDxpBxn1gIvOn80Q4nrwtQM685xjpro6Dy/B59QgGha1fFpN
iKIU8TG56RCZDhrnw01CV+lVszTVclDYfHgxgtTLlW56XZ9xqeegrM+tVEuYoneeteubAfHVpQsb
wvOcluycdXMdb9bZQ2QRujla1hHilEkwiWCPYf9uSRY0ZMnM+hwmtGevE2LJ1Ypyezg0bDApiHTk
lV1MUqarL6NzZ5ckKF5SfcOAyJ8DDUDvGa1Jp1q4t1aUwHLIXM7QexwYvnBl390AwwNBtCji/mWU
dw0IzTkwGQIis9/0QuRr1o392qpuZfQZ7vPoMmpxi49AU3ang+drkw4gkb9fWzF12UAm2GSBLvVR
3vWiymbeA/2rBdQ5+l72NTBjPByZYiQ5RNu8fg5p5rqqpHLsRdTMiU/zfLXrZvKoBvqURMuqGLxM
ZzLnxrZRULntJpVMsjoKXiMoEQVQOUDjrmC98lyIi4aDh0uBZSVuszJZX0LNAAZZY9a8bwluezXn
AV/oqVujtF5pLpT2UH9QoqrKShG6GJStUwgv+64VZ541S3fQRV3ebFgbcHc5rDkJadWifDiMgDeU
G4AqLIq1+ZhkeR0IhRgaNRrorDPzho2yLSEMCY1UUYeyzWIb5LphLBrijR8Sp1VsLBTDZO9ZB8Qj
ElBe0GF+VVDuejKrJO+gGlGTuh2VlVNSqJWa+G0venTer1YGJaYKiNgyeNgAMPvRe4Rcx1Q0T+3L
wbfyWdNj3Kq5wyZkKCHjBW8LnG9iEJ9GNZrabv0yrH4D2n1TbY2etd0i0IihtNPVLoK8s8ZITXK0
Z4IlM8mowP6q85qCzyBdCyJ5vEAFsJr4SiC6yxLyLODG1x0fhzUdHWPXtizWJO06HAtlBdCoTUgm
zlXCo9EqNpMab1lPB5Qta+ghvSgqt2zrruPPgc8NKM07U74cIUfoNhY09SNm23xWpJgXo8xamysf
Rn8axUhaqIhy36g4sfommWZzPlof3iDq55cwa+1NV7qOpAVUb51iXLv3a9D+eSHzPElzrYEHl42R
76wF6U6FxYdYmYXKp5ADoT6ViTU6m8qKgBy/zHxRhM1tyHLaI5xVKJiX47i0l4iD+qYk6virvBXN
9ZyTNlGDLbojOQpwwjXt4+aoiO/qXKSZ4DlK8E1nZPAoVkzX/IXrtMYK9HQ6qjgqmzWlZW7eYc+m
NWuGuXMp83EiVMCNfN8gRIdUNiOB3KEa5pewv6BEW0VmvtXNCNS3lmvYJVDXECmFHA5cbD025bbr
puqUet6Cp6znBaoCUbXs3DAJKEWu1fB27YR/w7Wva7WuZLkuoALcQ9lX4DODa3QSUbJcxpWbGBTs
amJPeigQ8I0ZC3Et6q49pmxdA0QjMrwb4sXE4NWK/DQKdXNeLDG9ZNJN5zpJhiTFvOoudNFDgKMk
osCrIRs91Cxub2URzSGNxmBzFXs7v9ZW5lAtMCublKdGD8qNgV4NsBIgGynhiIjiiBS7sqij88g2
I5xfABKg+sEAoR3bCgALRRVv2r5sgbtNfrpczMAvx+puZ7ZVpG8FJK0vZjw0+jgsxaCBik8MUhd5
V6lbetsSqIa1xisTLeZZxVCbb7iwc5HOxTRVaTtZeWS63LyvxTI68GtJh1UV26WG0tTiF4WhSDqq
2uRmSXXEzVVcDzVOSeIFMKakR3PaDgXwkDj4ZZdzW1UqEoV8Q6PSBwic68I2Pm55C3gSBiCWTh4v
EwcSUZXlepIIM5aKQtnwampy5FXXYA9ZO27Qcex8jzKeL1CBbya9nFQODkYpiJID2dSjHI3yI4aF
kLjeQIFVCPzSrU3yrLLVAicgYEx1Zj2N3jo+hRvZ0QHIoK2Hc4gos9uCo27PdeeXt2uQ7UtO7dIq
0s7lbe47D8Xs2fRXtO+Lm2GcoUBVm9X0mSiiEsr4ydTdLjClGkqPCbcQvxIImZ6wFxOGtCb1UME8
JC3FOhV8Gd/xROrXA2JNpQpfgNYejNQ4RQKOs4DXkXm5TYbAiyyvJD3tDQPtIgG6jdNo6dYFgheV
03HvsJtToQsO4aGMgSNIk4Bw4XvL3CaB4L5s6qTVkIpZiyEpaAbuMxLMzDO/hPEFqJ3VoDocQXie
ZgxJHO1csGrMQwwbGRZDfehFW0xbPodmfVVDGT5ka9KiJi2mmveQYQh+wyHDeYZ4Od9EkatC2sTz
VCo4kLEGWPMFcmCZwWGNsWy7Ju3GhFVp7NfqXd4hvmNV6KiCqjH2KhBRJRkC4k/TwrVjs7FUdzod
IIOBYfG+aTNadVDPPC0lnA9JWpe/ZFU+GXrZ4y5PyEte9GjNpmGUfijVMAstLtc+Lv0z0CA0zWRl
+mrDofU176BUp2sNZwsi5Lv3a81mnEmCQnE6/j/2zm25Uhzd1q+yX4AKhECgW2AePT19tjN9Q2Sm
0wghTkIgwdOvgXvV7uresTqiI/aKWDti90V1V1U7nbZB+scY3/izGnEhJo0aog1TMEe/s73LnSBO
ZPOSbLGm7kJ3DmXPqh1jxjNpW4oAbyOi3l8skErhAmYIl6tVtjytRIu/8jl2bcor59963TK8ev7g
40Lvl+7Vd2v4JMcmiTLDthfVd0X15mqhOdzBbrnMUrvPgHvBh5EtLrpgUdBAYeLAmvQjpH4qpFQ1
5ploalNFrJyzQA4TaB1W23tDxb3xSIiZuxH6Xi2U1Wk5IeM/NAkJv7nJi+qd72JV4oGBZ5yVuG4i
6PhFhDscAxz3LGiL9oT8lw3fiJwS/8LXNqp2XdgsOAFHZFi7JSb4SYGQUS3T2/264uwIA7/y93BN
LI4WxTxJoQkL5MKNbItZ52vSzMlp9sWspzRKmiI8JJNwbsGVbQF4FEuZfLYKt17WdbQzEJ4iOdve
cv3sKjF1V9nSLsnB+Sh4m0A0RnMu1iSanrWwrm9h5znZ5GsNHzDtuQmnh9bxtbjpXSzMRS/NrKvc
Y20y3sE2Gv05XQYDwznrlpDKe23idXygBpDPezIypq5lb81c7G1Q0PgQCoY4nkz49u2mwmoYm3hp
DaaZti4TD++B4AvIHtWu1UM/msQ/EGVivp9iSiAvzcI5MilTCIdr0gt7f2gupF9nvWRoyxZuBvYw
xBA1BgzHXGWlqBy+UM1L6WKMnFBtH27C3/p7xE4a3zJf2JHuk3DtFWQ0dTxOo9rTYj+smwTxlWK/
ReDrWzrbCMfa0LbrjkzWi36JQIbrYZk6DI6uK/BNQBgOdzKqwhjiG19FC7OmGqrF+NncQSW84DiU
MQCiNVxMfTD1JGaa6R5nKcG3vo6aj8TOVQz3c2lhFpqoa34Hc5FQnUvXsPiGtDFXN34wSHzXxrJD
gCRHfCN+VfFIaNb6c0UCPNuVGy4uKQf7HM1dxCa4aQgC0GkJ/RieWaCiIusIKSkYsU56Ezg6L2yr
J9xbY/2KTUssyGrBVgE+LRrky+LxoDsUdEiGm1pHUfXopFtISpijgB7DqUhuXLesDnpymsamzpYC
YUDetn4XLCkO+Y7RfMI41xbpMBgSH2nHPHqqkbUEWdTAe/3WFLp4BEzZ0WDnRspVdSgjLWt3WsgI
MGFnZubK5FBNxHhzmY5VSWEe11RPBUxlCCYgG9QfjT+ki2U4bAHO9EpfbKwpLuXZiwZW70q8CeO6
Y3GDWPpvmdV/hvf3f8sJ/u/AAzN2LUxoxYIdGP/Xfmo/vraj/s/BCP6BJP8rRgBslkBY/CVW2VCF
f+B6/6GdtrEE//tj/qR6+R8BAo8AQhw5+rYb8j+Z3n9FE4R/+DFnAQf+6SMHTziimz9hAqwziAMf
/waoMCBhpEb/FkywLeX7hxQojELEWwkQ5i0NCuItmvlLilbXJsCwQfqd7SdCMdbBgSFVhoEmovvA
75siXUQTeWe9UkyfYyiinIECzgFXhZv2LM5LEtHDQvRqb/wimTB926LAgNFqe4dL0ev25MvHBkt1
Vxi2HhF24+RquMfzefZdmhSD23tAKz5wcQS7mRlJ9yyxBO6RL3BQukHY782kvbd14+PqaIrTMRnO
PJR5V85TqkIT3uBuUwebCNkjY+9WOMeBWQ5RqezFjRH9pV2yJ6X9Blk54eO0qrIorpARRK25TEUA
Q1O0gAD9qV/3flPu6mbd0cijsJLBzjZyzeshLO8Sr4Xe4X64m5UWH3r1xKmEu4PUphfbRISkJbUV
kUHKlsKdg6gajohfMJtDAmJ/cDM3ceYvRn0KH/cw7MtlJbkIvPV3aKw8gun1P4sl1L9JM1o/9XB5
ehmtZX1tCRmSrO+T6LHz4n0ZwNraNcnkDsJA8md2qqusL6TOkFFNl6X1xpcRAuoWJ12lcnym4LGC
sXgsJm+472Ea/mzDaMgFVUuSQs7SEjPkGOX+wOePFnPzEWdwuFnTJez/lmeW1TFcP558hzUqrm5N
uk/FavcWy66Nsq7EpNDZC21leMAsYvezDgGJYzCu1Gfti1JlYvTpdwz96wu8RHiKc8fBwNbjqCCL
ujLahdFYPAV8kievCDtEJEqFt7VXBNcxWHWRYnQMVsRQSWNyEdWuy0eccs9lxNarsBZndsVuMKPy
S+WBFE6jxk2fqlL2VoqhvMFYK/YeBREYDgm8vsApzE9NEuD7YBgQ8LEg/ZiyRrd7qo38pDWSsWqK
R5oh3YrmHYZCl3urDEXu/BiPdSSCXaWoVWnMA6/FBMu6Xecz5E7eGC/3EVIGhzyPTD0uAVBfC5/7
d90iX4tj0f7uZFLiOitsNiJX2YMNxOQDCZFcSlatp20IPsR+ZfLGU/rVdqXL5obg4uay6m4neNXn
ynfh92Q1zUFFXvi97Yo5XwYnz/1aEpe2kpZH1UZRzp31cYeXye8+nIDJB4HQcwo2xGWsBZ89FVz4
IASkXg8wbBhmLMKHfaLo+B0AIvKKo1f6b2sQzY/VuuD1VlV5Xl1whjka3tcgbVLN0GaAu6O8J69f
yL6ZW3MMG2iGPazc8d7XpD3M3NJPv4sQ2AV9c7VL/BC74I5zTNUR738U45BKBnNAvtW6BLjXP4Ac
fSxUV+6SYPztCrqTS5tDt+W+hnHf2KhP5bAwfGjxPeyDkxeYfSiDI5PzARX9A1Umm+lzF/MbcCXn
VSS7MPEuMQFmywaXzsDV4aGnMwFP6C333LfDrg4YRvUpq4rZ308BQNxQ1/eR615qPKyFX721ZQ0b
FznRTqzzTVUnGNAITkq3sn3gQLvTcoJvYbz67AX1x0LMbkUMjqN1PLMICnVCMHY0ATsV8wDiXuzc
NvHBteuqeW9XjB4SirCaco6TYGnBIobR7TKNw620wLmRq+M31uShuQPGkhdV1aZ9G0twyurodHgg
vL91zfTdjP3tPBcIWyJ1hgO6J0zfaFxHYCqr35Mo8wjOA+BPmrtgXPcN7+cP6k+PgwgRRA+feu5J
Xmt901uHgRPZKEekUAz7PrTmgOxwgrLz5xy62ODR1wh3+iK4nzrF87WQxwSHfw4KZueR4Vvrt+8L
HMp8mAJ6wJvGjgvp5hRnVcYX9WPw3E05wDWrYacyGz6oemzA2Ev1FAbdHMBnmH21k03U5TUYyHfq
vAiv4CzInImh1ocEY9dHL1CpSGdlzJoGHI5WKniRID8nobsg4eMXE2hXnb2Yg88GDf8L9lm95INu
NFomoEObehbBrziUDBblLOAypjHSuyUrooDKrENGdmRrw9+k8vidXMv56LpK3XUxfOK0KSy5AoGd
v484LF7XwZPPSRHYvW0BrR8BPiz4FMHIz+1UVF3G0L2oL3B7UDExNgqandGUJ5dopd07K3yMhBXp
qD73rpYmpeBGZOpLabvMGwIi9nHUMpmhQTOAfijCGzHMYHp9sAbZ6vH1FMQivNVeBfOO2d6IU934
vDgRJAM8gQXl9cVH0o/+9PE1HP13TI3/M5HT/3JW/CqB8fBfDov/x6b8L/h0a499feCfEyNWiIc4
ewgKUEjRSARS6M8eGP8DFT4gi5TEyLMSgk/3J4Ea/oH0GagV8L4ojhlloCv/nBnxKzIaRhxVqpDh
vzn7d2ZG7F/655kxYRFQNQyLwJUi5Nn/ODP6vUqYWOZmR9qG7AZHkOp1DrRJR4HWFN7JWuitsJ+H
XKt4yJirf9d2FSddls+TTm5m2lRvfa26rJ3bq0JimpWhBKovBqRrYNeu0Tg3+aQjnc4lqb/Psg9e
0EzT17r15amVzodRnsXA5ktPHoJR6ZepI+GP2a/oXgy2P2kJcUtWq26StWAH+DjgNFq4G1LXu5Yz
+MfeO1DN1GwHWd/AMVzNcAgc0IGC3czFhDcBbZFJwenv+s+V2iyg7ZH3auciGu+09Q+2REAUd+19
t84/VrVc0QsyRKbjYHDkY5KAaQ9sVcDMKuchQ5Gr2IezGnblFBYHX/UPZJ6OsfBfdDIj2iBvZdev
OYXwxgnaswwZQRYqnfOJ/LJd8NhVon4cUXk7Tqjj5bC/h+MytT8bIGVpOPD13JfTRUwkhocs55tF
wMZw/C20Acj3oBF3tOBPVdFP+46W+rbCiJIZXBRyjYdHvxrOaPhcki2Ul7Is3hH/pd7K+zvKbHIx
c3y/eMNn0uC8Ikj0hnUo4Z7y/kaXeoQvw7oDHcVLsvT7WMhkl4yG4tyqeLbC4t+ptbpigntzyhuu
icc6kAxC5WExXtkYPojCPumYWhiY8ltjOpu5alYzWmSkzoZgODBvhaMl4yeFIsoeFF2QUV0WcNe3
lFrZ/er1QQbqKS98OIgsNM8JHxr8xvB3IU3WvDXdEQWuG9+DKlhBIC0YbfRCfgjhfMQQS/1GpBrB
vQXmeR1XxA2REW5nPEUeCQnb09oz5BPxgonEQ8a8l/jGjYJHz/NkPqSYKN15y5w8dX7pPzq9Asta
OsTcoKguCwdCXcPqexJr80wRlNxGldd8w2hVP3U1EnAAyegSlVL4WbWRNDBzyvHg9b7EXe0FeT/F
7dOIIk+KTIXC6iOggBY9YGTS4eK9RnOFearq4vI1qk39i0pv6OA7vWOOjNkRvrzJIvgy+0V27NtM
SJJ3ZBzf5rm3S87QIUQ3As2kj6Fp6zvtw8Kc6gY/qHJxyQPIDoT3a9VZmyJqdacKubZOdSTq3SBk
9z6a4NNXa+Ehlh4DP3XJxv/aEpU5ZUOFsS7qRRbTEZ0jN87+EdxbcVil7/9gqAuqcZ1t3m6wGpp5
lffpx+38QlUxpXEb1XUWrFNwhdge80V45oKmEotQ9Gicf+Krg3k61GT6TWVc/Ir7eL1HmlwBYVJR
jAByatY0KulCcrAeRd67qDquZuV3I8x4iMFuAyE1ToKCj/7rUDh9PzjFkydWiuitnusHHRpou8Lz
cL06UZPTiFLukFKvWPBFyC5rkqJ/LVTP0R/i9qZBRbXPR0nhTFVwWD9q6qu3dfJhw9ddpFFn9Bea
V2KDJsrOaORrRjGZhii0vkJvfCyUzlnriO1x+sR+JpNkeu8gi+68aGkemmYwvwfZ4mQYVi0vGCB+
KMzV6Mb57bmJ1vHaLDYf61Xe6mqY8gonwan3gk6m6L0g4G+NAohn+n594X1Dv4/1gCqkHw653YTb
skm4FS3jA2+XZ280TYRKHbVvJsKfmlMPKySgnBMM24xd1SYQIyhF8qUZm00+1tAzH/EmKcmXuiy/
lGaziU60gOhPvglRsUnSpm6CRwgw6FTwUevtuolX13BzGTmZssGUUH5fKjfwW3fAAAnt20IFG22j
x3VmfZLFyO2vcdg3HvqkY3Lf43k5NWZKEA9uqtrCBTyWm9Ke9IoHAS4EnvAx4vWnH3jqIeThbRmT
zFJ95wXBIbZdnDqvaH423bQ+F3Kxe1UHUKsDxm0EUPt6RNCZ8USCQcGFdSq9vrlB/IgJO4ZFXMb1
3Ryv8UU4GPxDJIozcidcEUlnSrTPzD0S0d8NXI7L3Gqk6JVbvuHKGZ8SHALfQrtET1x6+HFNCPYa
1PBEeEBa1SMqjx3L+hUPkV/iNeYuUYguwuW7UFCyNOB9DYPDj86T6hGq2ZLEdzDuT1pDNvF4/R6C
NvsWsmXeCdIJcD/omd/5TZeLeL5jQKOyScbsuhhg9iVjZwzTc45GKdAzv6qii1hBb6YN6f0n9N3Y
tfLB0SOIgIBMmQiDXIH1zeNl7S8tHV9DBZ41Q945PFazDC8r+govBBPyswOQcTduSq+iMLWBBdEP
jyiyU0hQfwZeFD2PA+sf0SjEZQymM8CnKe38JhK/2q8bMWNG9H3bHVAMchiFhMJZQ4OuoeXgH+dx
Ce9IG8wPbVyUryhKxZfazPNJ81b9auemfiB67HMXPSQFAncU9PAT0pNjL/ghymNE3fJM3FBfUC73
cOYOPrLq0N/bJsSoIBjZWxaU8IiKJ+svV45fCAY2YlrBnpASoz4OTdlWLjwFrD7JCaBXodXJc6FK
Mf7MOYbwa4hzc48mK27sWZscKVVyKHhj9y4pfrSyZo+RLz2UXTE/rPX6POta3lJHIyiwZKIZjSd2
jpa4frBe8RMBNL5VUSNzU4OmMjFcCTiO+3BDcAE9NfsC2cGRlAuOr3XZSd11MI1m7zyy8fuasO8w
lx6jBNCTmub9FLk7IKAZkLprU8ohX9cIXIBMrrimmqyaQnNciQQtrA6mlK9FUMqfUJ7kCuYuq529
xSXOHrhDaLarcCUZX+A0Dtv6npZF8x6Yaj10XfHWVPUlaeowR3qEYNUVGAvXBpkwSqa7XkAKo+uJ
qNeS57ocm70d2AoEZZA/8K5lQC0Q9yIJe0yq7vs4B3e0w2sQ8orh1QntuVzUvWqATfFIcWR3uJPm
CiAK9bx1N/TE4IZteNZ52qodqD6SI3lKTTLaW2QD8hgPAv5nFO/bln0niUF7fYYb2Sm3Zng9AMXV
QG1E0NxQKQBZ1FL9xp09HIfgAcPpg5XIZ3WtX70mEJnCBgWAV7zPpJaPaxu6W2WCE1lRNG4AzeE1
KjNfQkpjI0K9h1m8x5yCq2Bm095O/aP20LRVgfNzhQbTFdLhfgz68NZzJGtqc5Sirb6JDpVPSHG3
BwXJ7mRXnnq0ZO9bNM1SJ+gv004RviFei4m+fE8aDH3rjGd0LpE3E4+f4O3i/cI6hqqyryip3jTe
8m6KOD5Ynei7ilnENIXHzQEdijqlcbKr2Lq840qUaTz5USbh5kGSy/dqjQVG7eg70pkTsx5K3aK/
5Ym3r81401nqZZo1800CYyvrl6hjYJPEVZHl26T3ZvUPMQW33ODNz8TkYDew4AoOMjyMWA2QjiPp
z4Hn+meN0+JtWYEKm+FGVfxnFy5kh7vYHWgHv3GsJnY7C+32WIghjxQ1zlGveDAT6o7LcGsmUh6r
aNC3hIEQxrkXpclK2HUCILL3p2rdo4Zd7YrWsycgrbBFjD8e3VbM17rZXEdxndsuyG2y+oDp6/6U
uC7ehVAGKRzE3RIE3+OJ7/g4YM+Aw0Ci7pqFXoDr9k//X3mb5S8CGhHJf934/PsfYPZPa1t4iI/7
u/DemkQ+wa7oiLFwk71/Cu/kD7xaqBolSEmQulD0pv4U3sEfyGIQuqI2z+IEXcK/6262/asYuptt
i102zf7v6O4w3LKYvzZ2IvzWOMwBwiKGCiH9p8ZTnGDDgK6VxFtqvR8sUcM3XigscdBXHUSf8zC1
eVNE95YkuCRjjer4cKuWWV69CDQj+Pw7pJ5V1nEG27wwtzP2JaZDVJq8SMIG+gKy2A2cgG9T9H1p
G45num1VRrwKQhSYSGkPM0MLIF3UWKPCUgTxBmpgLk5ZqdydG2P6naN+cZwqx88KpiAYXh8W08LB
OmXROhW7oPWnOkNFh6u8HSLy0NgK9xeQ7eRjnkV/AzR1fikxjd8u9cLu4hELbnKHGPkcAA+CV10o
HHvShHC/rFOwdzu9wBTDvBvvqLTtLz775nVoawD/SHLmS4tNI3OmY9WnpDXRCfyCvGJOqhx2nkTL
QXnjdF48Il6RZiW/hOdhwK9oZlx79cbOf4KQrk6QedWYz4pGZ7SGxk/BDQxnCmWQDnYxj7z3NayM
xUb7vm+7m7V38sE3Nj4WiVpQyikciFMfVD8C97F8CJYGGonTPn61vgfEBEVepEyN7t0trp3jZGL7
icvKvywNjO9ZWX1BGDyUMC2W4V7PYXwVxiv2oNGKOyIW7HNgQVODA1oZ+JJoDg0HFWDCZ8NxJQ2D
Kt670NLHkFXQaMZDwO37KH1xmwRXK+v4oe4ri6MdohRIo/vUsFyfwaibIwUtfsftpO48r3k0YxC0
uzJI6GuLiOalxtC2p2OFjQMJG+iHAAnB01a0xW82NcMZq0rKFBQmS8Ht2xMw+qLJor4CyTMpIOk5
aJvymSZuvq7C9jcwwsRBuAgPKFYf7Kq21ti9EUfhDV9nrKqIIzee6dzyfVuFWIYT1/Y8xCaIU5iq
YjdZuKJ4SBvw20LY9Qnwh79TeFrfUVXwDig+9fWeGOtNaSD52zQ15REAh76jxgVhtiqsmMlIGZBf
TDn/2ox6JOmKwfrnMotDHGHEiVrXXB3HD7tsvelNsYWeJ9ImecN4CK6x8XGHSNIcELCUYFwRwz8s
g8a8TrwpxBVjvHtw4w0qdx4sq6NoNZw0r8KCFjzs0wh1O4WvA8g7gMJgdvZT02wYkj/2176dZHsM
ypE1+8Qxcy4bUT4FrFGfsQpmVEFgmZwks7U4EQjzLuckAvlG0Q/wL1AO7majS9wBxRv8P2LWngno
53dAChpERKzdsdICt2FhEUII6gp4GWgG3jRxZ3YwHvxn2yYY0lSz7MFdgR9vvYK+JB6A97mN47xR
qGNNAGEQ3EIllKUtMJgH6gb9uO6qlmYF96sSlMmHVnWXRin/ozG002lUufYwFbG5cfWwrDnBEECz
aBgZHCya7JdezAcchT45gS5CuwW5IJnNwXUTetVUZw0VIR62LwprjkL3QNsBiYRnAKr/HcdCs7c/
8L4MbSZQh8G6kEqiuBPU+sPvAcihenNRobhqL1ZHqgfx8AVqBUoFh9mUiJXwRboVSatZCKxN6h8G
LM/YeYHtnr/wrXYaQTBjBRNSwtobbtCIhu0xqYa/JoOJM6aT4Fgj7AQCXka3LvHrkyn95gBiE8Lg
C+7yex8olxd1oJNDgMZY/fItkgbtkz5wOARB5k9YTQSH2cIxidgHSBX7Y2Q/7TSCQGyrBf6EP3Nx
ZvU6v/0F9mq6omoz6uGHapPaPyFn9L6JcY0OAgL3HmuqNEKTqaM/ceInMyjozjxphkNxsn5xEoOb
fgXw5ehkfpVYGvapvsyOqWvcDd8ckIm5/nXZXJFg80d82eG3YjfXhH8ZKG2RILeQsFWizV8Z8A+T
JzxK+p5v/gv1m5Tg8wFmxraXCh5fx+9MuVRHFsHgM3rj85YvU2dFIyylf7N6YDTfB5v/029OUPJl
Ck1fBpH8MouWmZgL2xwksnlJFD0k2Eqbw4TO4/RCNtcpNr7bKLrNhgUkh/aN8n/oYigOBqz9kUps
AsJ9KmFl1ZurhfopDC4sTZmBU1HAeIlLAOyOE3lGp2r8Cdlf78SXVVb7ATCfLwNNf5lpnoOvZr4s
NtQ1th1k8N3s5sBFX2Yc1iu5BYVIeHTT5taB80L7cHPwos3LwwkOW89E34Mvoy/cPD+xuX/hlxE4
bJ6g+7IH+VhQXNibaTjOdE27zUn0YSkWX+aiS9oRP/nNcgyB2GYoo8KIrCuNOoOru0fU95pvsaXl
bQnrUm4eZhW1cDM3X1NvDqcRsLiBKPuPxeZ/gj6CFaqV/fAnGz1XsEmLzS8FHlFmVG2QN/545fY0
bs4q6De7W77sVlr05tnfPFjcmfVbMEXyUiaq+hFp3+xA5rmr6Nnrf9t8/P8sz/S3jGpr4/+LSbn/
pz+U8+8j9vaBf47K+NMLoyDEfyLUx+OvIOrPURnLWMMY4T7u0638/9dRmdA/sLABJhLq5lixQiME
R39mVCTEx2FFBQf4DxwJv/K/MyvT4J8zKsYJD1B1xpaobT0i+acFggzzB4APbnYebaKzBFoCqh4+
tsglwZGUuwLKDHR1halwWcXdtp/5V28HeUKHz4qUF6Pdzm5UQfGlsL0KAvc8kE6/yMX5P1Q4VG86
ECxf6ejv2gZXWNdW9gkdnRWL/1BGul/Gof42asA4aU+D6sdQVsMbG3xg6ZhG41c+G7S1iI6xi8+h
YLISok+kgVUcdhVMB+UOPbFvCZEJimFrX3o7LHgyjz2WPrq0742/xy6j+BVkSfMQQL3vBzQXUXGv
imxY2vWW8I32xQa1IQVcpfe1jyo/qW59A6ap1Px9rpMq7Vqts0irDsE5SjkiLyPPHbBfbYFnDWof
0K3sR/QycXuuiGt2ljIS7/ymT86gNMRBVjV24GFwbcI0HuLuMcBFdNEWRnVcoLGRwrFge8xzA0tR
FzyiP8QFlk/AdAr8xo5paPVwh5V/1Y/EVnyHLVcBVlRV0AiBHxXzsU9w9S/dExTA/HvEgyl2Ve3i
49qjWy1dkHwsoYsPnt9Ne9621S2Z6fIi/c1TmFC6hUk6wQzTvvQvQznE+F+687JBE/FYNZN3mk3v
3SjjxLbpIFxT9NjLWwzW+g0++PoNEU2yc8hrT3ik2ixscDP1s6TAV8foXQ5Dc0RhZzpNHbYEWgo2
9SATrbGuQDt4173FCLMWLgOduVzhb6G+B/z4rhJVcm0BxWSj6Q3mD5r0e+By8kSHLr4W/mAPjVeF
ZzsO7a0NwuC1STTfmxFcAroUQGZmjl5cjoZ1/Dlq4h/j0bJX64nm6AXa5hJrS041bZcbAa10BqEo
99gVue4nHs0ic9CsB8AU/DvKLTHPFrj7J6wCS1eDJC9FTxTujdGlV6dOOcATbnDmoOG+n+p4Xj9C
1LmPriDkd4dC1J0WlTo3yMSuQgagn4BK7Xwwlk9VHM2HNerNZe6G7jQPQ3XAErWuzqt+Eo89vu6c
oJ15M2FUItnYdfOuWQd+5MEK+sYBH4b/Vb2rCVVIxKsK7eJYovqk2wOGr6FPURqr7uGc01PMud7U
mEGwCzI2PAx05JdkqadbFpbVS7EocxLFQA6mX2SJRaH+fFRj/xR0rN0n3pz8Ip7szxJrFj4sWbqU
9/197MFzxVSGxxxG/0sB32ovkGH+xHsFxAv+vP1cSc2wIu0FNUCghPgZjTsK9YGlUUDfOl4jN2Ls
YbW8epBTRJacr03EDqDK3seRjgfpOFIK3fZJn3lh2DzSJBa71aPrtR7iKYcEsXkAW27J9Ojpo3Ts
sxrHrz0Q42yALsn5cwRoh7EJGeuvCcCASUND6vc2FmLI8DxXrwywWaW1eqMD8Z+gwtjJC5vx1UFf
oUrJO5THJlZY6G0Z/TKxjxZzBV/bbS8/9ABkLb+PAzm+SIo2GVLAVlyKGQYrinSGxqDV1XCzRGV0
YLPRL9wuY7pOtruR0jNXPujpYiFGr1gqxd5Qb5xvoMW8BOmbJd/npEcYP1sYuZEQB510j1UwHWvu
zpNxwK7ANrXdXrgJPxcPn1KBymqnvCCvBpsLKXZxxMDYJMepY5P/oO5MdiNJzi39KkKv2wtu5vOi
NxHhMXMIzsyNg8wkfTafx6fvz6lWVVZeXV3UQkAL0EJSoRhkRLjZP5zzHf16npO9RHDPevRdYf6q
B7P1ZZG9p4OxlkF/UI51o01wBpXtT6a5A365FSOW7Zb/GCbAS29a+ux4U9kTjsG632RMai0FCiUo
jown5s9UTeXD7FbV5q/XJP+fotf+Wx3MMuvCDPkvS4zfM6H/GMb9/q/9UWDgyeT40QXELDQwVAr/
KDCs38B0getCgkKVsUiq/zGKE/I3YTsms7iF6YVA5afywvoN+JUOlIiCwFxqj79SXnBI/TKKA1Hm
Uv5w/zD8Ra3ziwQGrkndQSubaIXFjxpne7SZWw8ZZZYGbs0ZqcV3UgnGbjrHxAh01WRvGldsjDNd
3bjBIsFtch5llsBcUF0vHqwUNCLuHKVfBldU296NF7SMlSRr11bFY9KjEtimRZ5ZSILBs7El7op7
p8ki+mtZccpPczr62ESxZI9U7icZcD+3oef6RYkRczVNof4YOmX4JNFacNMW5m2cselbSUhAuH3b
Rg+oIJS465quYnQXWvLJEeBMhyLrngKnnre9oVfvTt5rp6jI1cQiezGzpF6OqxvWYjs6xjqGIpn5
joGIHA30R4TL5GLZA+M4z8zpK/FAKiQdbYxHuZripzJt5b1VaEpuvZhu0ofSOV4hqNfoD4bBd1LG
Vbkdy8aHZarWWiHsA7iL4KaP3IMmQI3iVUlv6JO5LORSROlLORWmS2XFAszZlkHsXddL4eV81WBA
xcrnainM2q8arbLc5CVBq3OLopsaLoxlf58vhR2dqO43S7GXL2WfFsT6W+w51WO+FIVljMgT/6X5
WrZAjFaI2akfqWaSA4ilEC0h5WXYBYuOdVZyZVh5XDD3DPDjavbAANDA0n4YLKhBAVOB7Os4WQ4W
lxPG5qTpqeWyDElRsxxE2Mem24KGcWd2wi8pTWyZXnOJt22yT8Phqmuao16Z68FCpIG8U6uacNua
07rqAF1jA4TdjRJd23QsKXQtO6bLcTmOACa84j1xvzmTt46XIxac0CbyvqN7PWc2OGzugsau/IZj
2YZ4sl8KURYmVSBei69DXC3n+ayXzrPpKuM6WE77dDn3aQGLk8UXCXEmt0KVFRaeF26K9OvSAP4A
5QpAc3RWPb41nJND89gifL0FmMS1k3xdQd3XddRazneor1xR/dd1NX1dXaHFLRYt99nMivF+7lT5
vVtuPLxDXH6J6ZYGHUBISWzNiV0ySzKNeJPzRBztIRkTDHsCtqjRIlNdq+Wy1YF8wPHkAk5mvE+h
xaXMc1Lmm4zZwY2K0+FQNGjTt1GDIni7ADfuAan3HhIaoUUbDHPaXjnm8MmqjDohXkqGzjS0bYCu
+HFcCoq8HbyL0/XpLUs0tAZzUx5xl1OGLAUJ90921XxVKq2eiB2q2PZQEQ//6CwlTbkUN81XnQOW
Vf+o0yi5HpZiSP+qi0LcvTvP9Jj/qb7PWAgvFVUwTt6edS9VVpvF6IqX2qtYqjAbIfsdK0NKM2bX
8a77qtcQxp1zqx5QQQsWa+EQ2VflHOur2LSy9SAUWhoavneEbsMh9Bz4MqXefsYlzJUVW0JWdlbg
rY1ksg+Tm/WH2fOCYs0F0D23QRmsTN76c6ikccVpia5v7GdtP7Z2vdFa9PpJkSW3VVF0N6Cpy20A
gHmTd11Fl4bKGuF7HZ+SrIruh2DMH8021zdmF7bntmjdI+IYcW8lk3E3hXNMHlvc3+WNUT6kXRP5
ThUP322MvCx0g2whA4Sj8abFnrqThcjOE0OhAnurQDnWV2a7Nru+WGM5nHc1Kt/3tAzZrkAj2HYo
mw+zywPuMsbQfOmwyI8m+FR+icQGcQQycD3g8101bWqa+04rx900Anxq+w6HeGC76S6hDbqHO15j
ThSe9SEYfH90lZtAp5g7FISmFd+37dKbOQA5ngzppq9cNJgoVJDvrdpxj0kxaI81cKUTGyPYvoHg
fuB5Bbtrt953dBNq3XWh/GT83vo2gNsrZ/bMY5YNaJW7uHi3nThZe6nJ7DUYNK6kEnGhrONrV+CC
x+7FOLZIFhDvYOGKt3rDryDYrtNSZyvjGe9VMRnflQibiwvMuVqPZaVbrBuk/jo0qnyMzdH8Xpge
Dx3si7tQzs1jPhZqYPe7GG6iIdBPyWTpd4MxFE9JF0YHrzH5qvaueyNjfXocm4Dqs2q6CV2523PR
Ml/45upTdOu6mnacqqb/hrfOPGG37h87pmV7sy7zc1w5tNmtU7JwivSL4FqgkEz79hLJWDtWeLi/
5UPK2MpO3dMo8+ImkhVefd22E79XCPHp5LX7rG4lx3gi77V+0s8y0yigVZ3rz3TVKB/dbv4EH+E+
6iVP1aaJx0iynpbJvusdldMVR7qzplxwXuzMANKja7CTGWcn6g5RoqBp74bmyUurwWLGXBc/OlY3
YJxti2JfVp9lNKzyKOnvE8dqb8MSI6XjHBsOCPrXuj7HaRXeAvHrrzKgtPCXHVzjjFTj6oetT86t
laXREQp+fed0dficzqb+XNCaH3QX5fsa5xj9yBBb1rFumhXchIGjE2TL3kzFeI2vW3zkwmvfhhLV
2zoucUXNUdXu0ziniXDdNIBhNBbVGnh/6gPkFt9iNHfGxq5C51tmpZKlgQsNy25zaDzj0GxT2b9P
KH3AvasMnUCsh9qNi43dN+tm3uhZW36bWhQXm1zp07G1oxzgnrcrYi88cA4Fb4OtXlOmP2zcBtb+
uuyh88SMeoxmnD+Ba87AkGqsW6mhXQMKc/FtpHV/skpdP9GVd1sYKOWmyAtnXg3ahCvKamT+NFlI
2ih1mPlu89xS8NNsc99mxC1gP5XrLmitz1rl5i7BmFtuXO4UJGiwxTZDmUDYYP9lrkNNeKfZqMwb
FPhIlFwsbr0VAIXt+hfhsSKp42D+HINOf3FDzsjOHaS7aqmJdgrR4XVbK0j3fZIeMMlRUeROhKBW
NDsndJp9mU7hPnGZatTy1jNUfl2nVYqi2uxfzV5Ul4KDb28Mln6D/i4GbeH4DYoQt+LsZmRTUTcO
7lCf7GqyEN9Qjl2s2Xb2RCX0bPdCdZ3o5iaz4IaUebPLnEXvO08sQ1rUs42eQ/yuDJcZ/Uh/d0Js
hSPGzY19j8/3rMsu3wsvpnFDbcXbmZXCOo2mU1qgrAZyGEZLk2czq/OXJoi0G3Y31k4ZY3YgD0J/
L83SKVeBCuPtaLI6iWJhfdoBYr58bKatPqbltz7qPR8CR5zhE1Et7BF2RrtO1gBCStdYs7w2Kl7Y
EPl1rmsATVQbhEdUMNN6nLX80YjpxQ076x5NZ9DeNa9DC81W3TrEelYcwppPd1VEhTp47RAfyIQw
jbU+yPEjttPpAcqQfHZKW5ymppTUNMKobtusmDbs9KPnITPDnetGCygy0YJ1Lo3hzk2BnRWMxENm
H2wEOdrT+YzmE/DTWLZbhx/1kRicen4vx+ql7OLoZLMMvRAvYJ84aCaYybHCDjgFe89tnD1s9u6O
7Wa5H1TWr4WMK1xW/RDthqhJduZM9gdrXPHJe0pxKOrw1TZYj284AD7dbkqvEkvP/w7t/XfYP/7T
h+z/Uo6C/fz3BMef5ut/SFGgkGM1wtyL14NbHtb4H+2v+E0IdCYCKx3wW8PE0Pt7/2v8hv1DSM+E
MAnoeaFZ/z5fd35jti4X2YjLyUTz+lcaYHchqv9Ji+JIg0aaXwLPMIFA1i++YR4q9OQtZJFahcjo
x4Kci7lxFbyXftYvBdjWYzJoOOmGeTgHQeKieKavQm+CTzJey/oX4mqh3PAbJnqEFwrz1akyABet
WrbI6LwGFdwOsQFSDcDmtNEU3oFVpbQQQXygZOdj56Lvo1NHzK8LtZnUkHb+AHKfdBajBUXMoCHa
/wRkTS0ron6O5DVWl1OTqPoz7NwUZa/E4rZCJu5um8kwnwSHAW7m1HDuREST2zODePEaZLghLMDX
qMNttkrJuQB7N9vZm61MZDOp1u+6XMZno+KpYrTc+f08kODSNa3th8p2j16Xp++Sf4QYNCF0xus9
68pJkZZLUYnPWp+XqgtdYdWV0z7PtNQ3I2yTrkchOEnNPtdO393K2iNhohq0HbN26wI1dybGYi63
5CBhq1ZDFq5TeGY7K6OdyWAP+IPKPzUoWVs03MmmZmexjDAZ/MazNQZbx51ZsEc4HpOR+lqORrPG
rW5tMnY3b0HqpueyqBikTYm1qqT11gc54KN2sjt9y7JxuDbauNk6MEfPgHDGB6ktR3zuLgr/MEdw
Opj1VcZvuxfZNGDKEylvnlLGMS/C4KbGLXkLECOkInMJQOiC4KppLKBjS8NURJq7m2Uud9OcO9ed
5bZnM9FQKg5FdJkYHt7wHjYIQXJBNAQOggfbK/i+xIrcofVkt/XeUJIts17N4WLnSPp91dUSEWhY
NbtR66KD7NzQXaFNirZB1iFf5Kb3gSxYJy1iiIK53QoO7Ovbb0acO5sKQpu7KRFVXjTqs2l54+pT
Rut4Expuv0PB66j1qOXjdZGkxprvRLaODTNf12JkHdRK3a+bar506DzqjRuBpMDiCeG2NU17jxay
gzuXspyxp7yDRVnS2tI6inSL2sk7DHGFf8BqsdxqRckzJuMBJclkAJS0k+5kTiVeKxhF9wN8CyCb
WRCcTU/1d3h77FesfgyThgLOUzP0R2MaQWb13GtKM9GQ08EeIah5yXaSmH4ismIYq+vq2u1FtxED
xk+R4I2WZeNiWiYZys0LxM96TtGQxCZk4Gw+Y2q6Qj5Fyx2Fsd8ieD2h3e0uxTx3W8uJRqa4ub4X
hd7egsa0AiTCpoUaiiFCtNK8vkNgQYBUwdsVOL5dAh7dZ5HgDwUntuSijD7qT2YUUUmZXJm65uPc
yZHHT1aAknrst7EJRpH5l3nsoyAJN41Bs5Gg0zgkEF+8DZWaR9SLY++8xvY+1OQYV0OfW3tL6GAi
g6jD1xTqzk3SVdNZMFwpRifZROXEJI/XgvUMQyGVKjkHWdOus4QlVyv5o72sqJ9qMxS7om/G75by
nkUF3Go1pqnyXcON/aSbkPdoSf4wwse5mjW6SEJPhq1WYrrR3cL0I6+EQpxW3YdmFu2NpopunXbM
eRhAUC5PY5LsymYG9loqead7TAM1tAeroSntWzsLnFudtxtAbjvu3dqyDxERI6S7uAVGY1Ouh+Uj
SygvNqbexGu9yKgC0zRg2q4m8zO2pLXtMoOim//6BJ/TemY7yX7DIpQmyqPxytPtCbl1qI6siYqP
VMc/PqUu/i5pjYe6bXiAJfLsseumXS8dKMgQxvaTwXfXTrx6F3nzREeA1jeFM73qYr7jjcjTHaiJ
/DBAI+OPdawVR4O+sQH0HWVR4KlJg3Kr5dl4yCyMPxycUbuFQBFc2V7b0p5Wg48iZL7RxnZ4zfig
UbtbgFpHzYn3TeRKxmGxvXZZJW1m2ROMlNpGuV6ize6Rvi32xqT7DIXS9kEigpsAxRKsOEKryHMZ
zzUhTyfoR9lG5yuHBjCOkeAv6CvLTtU7NrD5WsbudMYnkEG/xi1npZHEBRnhTdaEY97YUW3c8AWP
DjG+yi0Hkoa5coi2AC8t+DR5Bb1UFmddjMlGw2t/yOqgXOk5IUEOXCG4CYZxwKAEgTL2onoL9ajb
d1XR3NDuM64JVEcPEhV3qfYM6ZXcquafAsNRbmt+Y5jNwWCBexBxKO4BvxdMF8GHSydM7zQv0Pif
nXVVubQZ82hy09nV6CdEOnUXzZ44j3jGVti0imPRucuNKgkS0gdtY+NaWodMWTd67Ba7RMY/iGGj
WxydZcdCCh8qQdzV4YZdQ/bsZMULYSeKLfVPEHKGC8HEyVLOL04oF3FhV8avJma93rfdRvJ/RPbg
C93LwW3JYL4uWqcYGbCVbMgcILr6SnCqbbs4s6Cf9wU9PACzDSCMIYAoMjo3jGvHXdLO5cUVArfn
YHKeM2JdhK9ggfy8F94TOIcRO8rCKofU7V6Xuq0d9JEhDcKZpBEbLbdGWHzwkAaCKtB16U55B/I3
XavETk/hzKwKYCZPKPwjdlS4I85aZWZnlEnJKSh654Q7T9/g/u3OFiLcYw3TxK+9nqFlEOE7g03h
yXfGIMVrxpt7VLllnDOPDgNRm9mfxrAqdkNGB0iMoK5t44oNMQLN4UGpYVy3nbB9r5PFbWUazCBj
/F07k+bpxTL75FEKIHNaOgcH5VrzM+fokpiHwPaY2R6jpVYmchNBegJrHQfnApFfiXXAtFdtYvVX
bpDlW6+wGnBL/bQvqGgeuJ8D4hBJdMNGFh2Z4vVrr5+zfVoxVQqE5VzjIQBvjtCSHphl9Ozk7THi
hfsQcUJH4t1s30TMarfcYBgeG1kR38aiZArXFXYbBPpNtnfId1s5sm/uzayZjk1jj+tMZ5qVV6nm
A/wKV9OCWpb64G2MksASVzALx6pfbIuOTKnK7Id13rCWmPTKOMoWOx9tevh99KzhRJbYwI+3i0vU
JnR4TMM3XY05BjEgJ7YXFVdOVfRnmy8o1lRXYLBhgDnDTl3XXgDlwSbWSZFruJFlMmzthmDGJqzK
S+XZysdB2W91YzA2VRTa95nG/BHOhdwRK8VnXtnJsQqm5qyZkf4CAS0+1mZv+VFnIYidZL2Jk8Jb
Q2WfrjKEYSe1hFZx+jIKismG02JjBlMnE7dqcZiOoNM3g1HBuU3biK0XlRAMGYqN3syyQ0Z85sbk
6N17MWrAuquqSzggg60DY74i08+7eAoQuQ4p0Ymsm5Le9C3IwuqxYKx+1Iom3icNVxVDyIs3JPNe
ijFy0f9hSctofm+UtOb7HsfXITc87HdwaPZkdRkU8yq9bhL3VkJU1UYCHj0nH5+QcnpvcJv5+IDL
w+EodJDNogTA0ZRRAmgEVgzQxBE838LZNFed3s/rMQOMAiEbsGgxMJ3FhD8eFbODW6uzJuaTI/Ai
j8iPmxmNx/VU1oulSLHGbtuo++b1jdpanCG4l2Cp4Z5WibQhq2rPXvqBXnJPMEl2qEJyacQQ7DOZ
r1DzEcJob71gvkqCIn41FB48rbXld7OkMp2wBcITgyMkwP2eK6/ScQla1V0SsPEO7WB6L6zRTfyk
rLcZgTS7oAm1jwD1wUeuzOk6NKG1FXnqwteIhx9MBaJvYZil1ywJhvumGcJ7ILy8cfSagpt/dO9Z
4AWHhFCHS8ej/86wCYSFdBtfUwZpe3lnfbdBpb066AoOleE1G7PQUJM7YUzCZxuPW0PD2y1qhlQB
gXXo9Dz2cnYrXseExSALQVHyy4Kgxyw5W2vQaMaLlwXVeQC+So2R+9nkEUjYsfuUvSePDry2Ky90
+32Byp8hNS/1nYzF+kB5Px7joEpdClz48xpSD7mp4zzZC/64te1o19A3CjYOL56NImCt4ya9KLst
dmWiyquWddWZryu9WDiVHgpNJ+v2OI8g/3jAgKknUkkPlmTUhpDZmcsBhm27tUblimqx3IvaHSnt
Yrv/rlxudJSoameGMj+1fBlvpLsMtOamKd6SuRIvmo7aGlIUWPo2TSAIGK352oaqf9UtpW5GjQ0H
QmbnW5Ow8CAJgsyOboyyBnFHLBfMbg2IoLdies8JPOllzprxSgS2AS4WAAx5imFSMzjsvem7JrhL
427MzuhDtGxruCp5sHRCDbVmSA96M1f7zDC6A5uKfuOI6SrQbetNj8bsqjWIOxENjsbZjHLkE4ke
bW3DsLZ9j7kBBVhwshalsAIEvTbKySjoAPgN63gS5wgG/hFGJPdvxtWyEmmmNhaEU4fsyFo8RVbk
frbGBPGo00SyZVr2kmdBduXqFb5MoknqDe8h0Klu3kxokXaGZxbYthResHKotRW0InsLWiH+UYUa
erlRA8RA3kLhl71gKtC3ziGeknHXq7j0tbFqL5RK0XsfqMCvqOBEmcYomnAwowrOgF7bxyywTHGQ
hjUV8ElNm7M+j55Y+iZPvbSb9UhA3xw6nt+TprQrdeVduSHQng06d+91LnoErKVnsPxLSiBaev8j
6bX6jlZLwHIGcKPVCY8ZGvwz9299S4UGGxPKwUYIkmIgYpfsDAu9ORmF88AI5yhL3OIJwnkkt4nR
7a2pcmH3j+q14/crVx57UhZH3NtrvD8pIDavif0aM9sqIeQAiAxOO+A9WDn3XFwQGKgLnhnFCFJH
3WZtysmBjg1ecDXmKQTmVMXqWjacOZjVDHA5GuFJKMUp1Z9jvNTd6ieNx+3fXUp/U93v6dG/6jGX
eRFWKOSfBrh7a6Ga/MyZKyCpu2kkUmIsvPYunzTHb1nOf7OHJrzFGh0//vXXA0ospVy8Uo7+SwYV
ph6i0kuP10PNtHHMSF15xThfBF7XzRjDI1r/6xf8FaTHH0iWEgYUx3HBhri/vCAflYYFc0r8NhDI
M6EBTTsWZ7r7l18H3Yu5hH67fPIEJ/35jYxgPhdtGaY4GSvDL8mbu+7o1S7/+q/5r+M9XgWFjUnj
gdjG/WW8h/6x75gepL4Ty3I7AKwmKWXJKxqAUGjPhUXLY1SDG/4Pr/tf38XldR2bdTgTRMv75V1s
W5zgjK0Tv+t1rFppQv6mdf762/4dY+j/MArRIqOyFin0vxB41x8VEU5vfwZd/r9/7R/qK/03F2GT
yY+CIyS+NFZ/qK9AUnrkoNk2jMo/y69gEPGQ2x6MIiwYziLa+nn8jCKcVBzXFFAAnL+EreQR/nX8
bC7SbsNaFGJ0A1Aw/3ScCMidndEC1iVjhO6rQ7d7yYOyz7dl3DWPSuoz0ysR2i+JISa5dgM137LV
HjfKC6EomDYEALOfP9ocrIzl5cUxkKQSewCZkW264dVszw+RyE1Y4zn4+abqfixiCXzUGfHyaWVs
kX/oN3KokcDo/WCfrGmIX8NwQaETFkX+hMK35jTmbV/PB8Za8bwhTYC0sSwYkhtixVwf2175wOij
7NZzPLYkes2BH5RFeXCQLPmp43hMsaU57aFawgEBQM2SN5+PXROntR+I3nyygU1cwzarr1hihU+2
NIdqnZmWA+gtJM4kMfIXhShpZ+IkenNSffgAbpQe2EB22xqU0qEFwXzHorHbdHHcPJr6PECl65m2
z6GEZOL5YW3OPqTD+JryC242nzRzOHiL7aExKw2nYVxMN6MyS+FTZKv7XC9KvM3DY9rN2UWl43il
kmE8OVMVXsdaSCyENoTdI5v9cJsAPvHjtjfv6y6kINMjYpH6thJXsRNPdxE7PfT6kgwgJ7/oY1xe
CK5OHoyvWmdiU3xGQEAphLL5e9ugxN6kczNIlvEwngG7DU/B3Itb2LviRuYKIlsTu1RXzVelBXbe
grFJzEfAvNNRR1NQ2LSao+3FUqp1S9FWLuWb81XJuWwJd02GyWHVidLxhQDcpodMFyMNZhE5RwYZ
ElqfUPfHXvc4ujKnDk+8a7TR+L/Ib6Wh8KASK4as1vTe4ZQ8UFe9pchxfCMk1341hskV45R+BzND
PE8kZpkQG3sTkGbUXroSwAfsqV2oFZ8Qn8+uJKHQacDgTV7pXYYwLQ6qB+ChKqDGWArDi9eV2kND
yveuZ6RF2V20cs07kJ/Tppku+dxqB34scdeFRn2QkAPzWNYZa9MA2JboUbK72PAUNfcJamR8DBHV
9FC+ZHeid4QKJLvi0smsvSebg6CHcRyztaZZw7BBgmKC6dOChtatEvLaq3PW2qGdo89hBBWsFAZ+
nKpQA68xg8odYmO4hGjuDgjJ+MB6+PfzkXEuvwoahG3WI39e987klNsmcJibNq2ZMeyaKvahTP0i
RahRUjvtYxsuTAgCr6NTXel1vkIuGTykdL9sk1oZvdgDBMKBgdPbpGlG6BuVJ59VOQAawt/Cursp
03A9M1dlr6R718B7Ll2bVt/DJo+vPPxaaOXj2XwMa60wod/OZItgZBjvqraaN/zB+tmsarXJKg8s
YzCWD9T1/XMTsGLgrHwKvHJaG8180vh016VU3ZVRWYYv8jjPt5krVXooEHzesPi9hrekvukNj21Y
SO+sOMk+SicbbkoN0bKgp/wcmtm9knWJSCiy8HJo2OfYJCS6ymhkcXvYpXHfwNZ3reilyehbOM93
pPUdkanVW/XlGImSylvXvTdeTyja1raFnxYYrtoCqcgv3WI8aadc59crKHe8DmNK4GVaAKYa6uG6
j6JvKL/Smxo/zd5tMrF2q6jYhyziDgLj7jqrp6z0KafYHC0Sz7oZtYNGHsOVBZ3G9Gk3GbsUKcLQ
Albvk627qd+6xD8hl5WIv8wvPWkbKKSlaEzxGHIm0+xlfrdIUKdFjNpkOaTdCn2qIGWJMZadaac6
yKp3fJzzdlxErQjj+p1chK5d6pT4gRf5K53dTP7blyoWCtbwbOmgZ2x73EjyCG5z3Hy0QcQEAHk/
y3x6c6GBH3KNTj80rAOIkm7nJa28RKZ0/dxj8z4tilzP0AQiC4stwlpkofCLQTdveX8YpIWktN+H
zaLsVQCN75l0tKflZF3r45QGeJ6D5MxgqHicvlTBc5AT1UDU2VYtomH7Sz/subF4qL5UxXBRo01u
WcWWuPV1vQiPMbSKgzYhRiZ8BV0yczA0ysQyxHeMBpx6x4WEirnrHHgWxAMFN4bVxgcFedJcMTFo
cDijFfDiIdzWqIo+h0CEW1aYyQ5VWITVeREaYBFhdheE5oE8IXOL1zUlYDl19qasgr3Zu/lWZ9ux
oV+yTzbUVjB4VniquVZf0i+dgxF6xYdaxA+s04CBLIIIYgIS7l94oqhWrXKgKUI3gWpwuAPGEsBg
WmQV46Kw8BIAg92iukgx4dyiqUSKgbpHntBYAW/zWnHN7HV6aNx8/PC+NBzBIucoF2FH9KXxiAdP
HdQi/AiDDg1I6EXau7kIQxxmQCwfEYtMi2ykWAQk5FuiJal1r0bF1PMUrpw2jw5D7WXhfhBpx7vn
ec9GK4yP0JhsolMmy2F6GTc6GfAE9wRzYAlsPcN4L4KS0a3TYm5ZOVk7f4vJKBJHLVAOWFoWTUdB
PsFBmq2sDpjkw2FPqFKKHSXHc7ZNsyG/w3EyMOzQHMj7A9PAu3YZBuoE+XxHVJriEZmGsxNmD3MW
ZffY+ll9k6OZvHpzEctNUluJ/k3VSFpR2enRVQpX8pGjwb4GfDYGqzCJ+71RSgZ5bjtO95HlhZih
1PJW9VqkH4jbsXxCN/GhDUP3jsU8uodHnNabsRHxJkbnpQ6B9BApacwmXkG1qbuuGKtt4ZQ1yU1V
Zm+MgdAiC6FTqV0Cw32gFls3/Q+3+tG5KG77IZHbLmn0PWPcYuPUnr2vQqJaNwmyPuaFg/ZQs2Nk
dGCdZpEnKMklEZJe0rXtijTsjBM9mG+iAswFo6U5+Qypwxh6Kt5ENMI06dqJlOy4fWiGxhu24Bmz
O7DauAkjTafEqhBK9dQka2bL7TVjnm5i+zK2B8605CBLQ6N64ohIINq57kXrrtgxxJG3FpWGg2wQ
vW8yW7gfCgRhTGk5Zeih7V0F2W3jZLGLaWUo9iZwYR4kM+IBRDCg8TS9NVUyMIgQJLNzeK+0wOPJ
s7m60g+rNphg2xDYCXrWTqIm22lF+IY93SZtG2vXCncQ7K48a5Zpmxs9mVBzpzew1foD+bvtjW0a
SDDddvp7h/fv6L76/9zkACTXBu3Pf9+HrQvVQFxBqV2ot+xvtzUxHer7x9+Kz7+t37Ls7U8CIZqt
v/+8fzRoDgkBNjYy4QH/oHn7Qx6EzAdmrCnwpNCIfSmHfpcHid9cTLG0bUxhhIVD5qf+DOuMhPWJ
isMygJP/JVKN92t39hWaraNConcUjuWKP3dnxKomjUmJQlTrQLb97COvZxfDShBxSzrjq3WhVrCQ
LG898shC40GFh5oBfaN/n1DvxESvasPOUSBFQDMJA/Jenp0cfTrE3eTz1oBprE4VF7E5FW9DX5+k
o/tl7O5C3VhHhPIx69vAxWDz7Rzx6B8nCz++YjssHlxRGlywmBpBWThdtk/M7m5Mqx9qkDdh0ewU
HcdKsoZumvzKm/fkE9+143PI0kWLUA8GJLahB7bM71pIGUIumegVvhRoCn1xC2F0BfYWH8dTBQ++
T+ttMrJsbhE9RWRlGTtd7hVxbRohQV79Wpi7rnmysppNoH0TE+2RFx9M0K/LwvB2Wv05iFf2DTY1
8nAzj+AxGQGnIRTNEvfw6acv4T8Z04klAf5nxtCveefLP//+dkcyU/N//pf435USSYjydsTtkG2a
ketmftUYrJqpeRtk5q3TGlt9qf4j8k+rA2kvYC12bsM82sGpy9oLr+tG1P/DOI9Z2j/7xWwPyw9D
PQ7pXyZDoSenpdUffN7fMzNc2whe/i97Z5IcubVm6a2U1Rwy4KIvy3oD71s6ezI4gZEMBvruosdu
agG1itxYfdfVPEmWT1kaZlkNJcpDQXc48N/zn/OdqAuWVRHtMMW+cLY4jvmcYoI1FvaIXTsH1TIy
7ps0efbYjNOmvdUpbKXTCWXeW7bJQ+M27EnZYEy72Kq3vaSul/6qZYsIjIyxih2KVfPRXyfiqZlG
uazCHiuwpPiw27Z6sTLxFgTGAZF6OYSvsn+Sobecw4L+CHoYEtjHGQqr0MPtYPibXkenrbbYxz/L
hCIu9sCptL7meW9r7q6jQmwMrLNr7VOdS9dgEwfegbd5O1jeSzv8cLz9MLJHDe3F2HnrPhaQ1O4r
Rz7FbFn0zHvI++poiPZmhA8nenkuMViUrn5JW+NYzPP9TGezmll60TxVnQUhlMSZnd21obWoQsF4
FWnQ72h/43ua/ChSn/as9tZiFSWCbezhEXMgbuJyZ8uH2436Df8hzOf3kjZRaA6XLCvvg1I8Tw3n
36ZoH700plqtgLKWxK8JcGNcYid8OscgndGeGxcGy7jqSIalDrbo+dbpLpr13ayfBFJ284K/iy+7
tQ5EsOrMftNbXxP+oaosnoI+XPsGaseQGPYyNbuVJjxqpZx4RynqMqnr3diUa7oDPie7u8PTf5FZ
ejAttZeqN6C+FpEOSLMT9t6Q/rHVThp96awvVpQY0IT30nd3rc3GgqjBGD/m6UQe94c5PmU6kGtC
6TrtJY17NihZzjGr+Mr5gfNJQOKswn0zT1umBmq1tpD0iNVN8SaLfFA0XXFiPCoIBdTW0RWBWIku
3Q7pEwbeBQP3rtfGRUjqnvgHdBGLJtkLzQDFas7oUsvUcm1r4S+SIPase80LUggh3wSFD8SXlgnQ
xKVVWmLhZ5IDqJk+00x7H+VJtrGAcOnt1ou3VQjD8mEu6lNSW8YOZYoc1ADsJ3tOSCBKuUuN/Ez2
DNKteTYtA8dl6bkLK54PtHStPM24mfU3Kzha3NGp6T1NFFGzOHxsM6LPeA0TO18RbtIchxLn+VT3
YIu8DQShOxocNkbxQcBiD0dzOWSPNjggVAVWHI+hphBY+PA/e+PbPOU/wLus2ziG4RTigEmXSXxH
kwSmjhtVNesz3zuEA9tzyVpdMy5wMym2HZe1p39Lspi3Oz0l6SemQEiJFiyzaQkNihN6eAmb+zGv
fpTuvSMOwfQsp/vY+YqTI+0KOpUO7L6cMV42RX9XSv1JsNYc2KJC97uEEazNQwy31TTupXeL5f69
ZVqb0nu9YaGkPhyB0LjOu2FbwsVtuolGxFeCUyucfuyO5o1dT0vWQot5epz6dxgAW9M7jNW8t8Ak
lRF1skO4qqkTZ2XetFvGeJ6cz15/X2OW8UgZSEpyG5Qszcsx2tbLGB+fI791zs7mzSFnyT75m5TS
WUnZhDf/ybNC3XL//KzA++vYng/D3vD+tIqw9NpzBAf2NR3uJ1cfz3F808Q/HLaKfjO/mMGXa3Ml
+M3t9X/8t0bIvwxGf47/47OsJhlDcv3H5b/wGMk2STBc/cUY2TWffxoVf3nNr6Oi/pMJj8UzbBgo
vwj2v2r5JnxCXTFcHMMzfgYe/m5WNDxe6Ju6r3sc1xnhftPybVVDoGqpaBMQpvn3nOQqHP6Hq8jl
r+DrBisBD3+VcP60GSTxUFUe3QFrezJ8rEBIqo05usjAFJRutcY31720jNfec8p3ElrIVY3auJPB
yo+d2sLjFig+MrWZr/oB4xnNK9WOh9IprdQKPxJATxap2uxzP8QCE1wX/mXvozV7Ex656GoJiK72
AFtM3KqUZwCjSglpos/vgqulIJyj7rWv80ehLAcFfYy7cFI+hKmZ3C0dKLgTUmVU0A1L7gPOkZ+D
7aF02VZCHimK2i0glSfwFsyJ2B0GzYVhqywQWD2SjRjlxhYF9xNllNDxwSzzq3tCb+GCTFdPBSBu
45t5dVrgyjIXdkKXrrJhDCSrMGRIboKdgVJXKcOGiWVk7yoTh9749qfk3V85lAitI2X26JXtwySa
dWcaZrD3lSnEmHxjF/lUSAMo9cIHPEbDQ1j2FE9htXzD4DN8L3kI0GzLVF8o64nq7foS6aB9wZ2R
2xSHilVOfrIejHb+6CWQrkpZWWhs0g9C2VsgrmB0ueIU4oLHXIcNBtSgueZMGn8LQvc51JMtzO2F
jn+mUkaahHTrqXeNDwKVprOyfjbejNSUY0TDj9MpZ05Ge95ivtp1dOXcocV+vFhTDL6E+Xz+liuP
j6nH08HrZzisYBudLaZSzvRRvKhVtFHY5afGaRiti8oXdXqYm2Dl9LC+NpNyFuWNh8moHQnIQpfE
LqY8SFGoj889rSkLiUmJYQC/SdYVa3eqcDApLxNrDmfvepn+kCqnU6o8T+bV/sQqaN5xWRoLoGq0
SOKSsrIiPoCgr5+govuvdVsdStMKlhPy8FGby4+gLx8pAczmVQsaP94AisH/VNDyra0LFJXHEH1p
iQkKU26HY5QmQr1IXpp2GF64uEhINx1ObZ4NrCC0Bgjxwp+bcOX2jvlMrtrdVSa8w8UkWgoTe8gx
3awxV44ZpQ1pQjqvG/vkYBiEOjkYlNlH14TpEcuxe6blTBrwnsvsQXOChrx/ZM13WCLDAzYQxqVe
K6K9Fz1UqT0fIojLW0ld+6oBTbzFjk0CrfP7/DR2OWeJ3AYfKrF634c5rZZHGuXjNy/zqu955ZQM
BLQAw+UdyYnEsNCqplpHsvJ5H0uQ1+WMd3YIWGa4ZnwUBubKOPT2dCeTu6W8LtP0z1Jkl46s2VsK
W4GGdAESuB7OQ5DCwwm09o3IbP8gAVVSB6L5QChL8P9futO17DKG0T0PWZJjgiRlSJWoW9f7kHJ7
yAtm/X2K0v4hEpQXr2l69/duO8s7w9flgQKHkHBC3gRHPrvhgcqFfMOIVahVh2ZiItXCtTaIaDMm
xsy/1JJmrZLj2KIzTGyijDLIPna8NUcOOUuaXygrGAL5kZjRvCUxUq6NIHjJes/cFE2SMmp3Etog
K6i7drBrrrIxuxl8Q+Xaez1Y9wz9+SKRjrtKyjR6kVGUrf2abVOp+91XNlBS2Uv7uSkmpOrCF5Cz
nL7zh+3YNinKr5VCDBiTiZZutoYbr4BaF9uAPWenPo6GD/sdkTvOaSUfgEgYXXCqs9Rhd2BZMVRQ
Lbor+k5QH2gCxkyzmg6oIXZI7aXYsHruMp7TMWEahqh+hKyV7sklxEfsxsXzmMDIrCUer1HBDQj/
MObXPkE3jg2UF0szvkzsd298rIkE+xOaStuyqG5alBJ6rfFR2wh6Rrbo6qgHbhph9/Np+mZbR8d3
2Nb+Yy2q+DHogN+T2jQQq/3quXR8sSByMgBXsLFQCSsb7qXBuYSu0YLRrIHd6Ja0sCZjfIw6kW6U
KYXEsgX+GRVxCZAR8J3djUeZearZriFKO3IaE5knV+xD+fIKGHyqE8ywHSxrVrzsdE9HK7ScpR/h
pStac14lQ9at3Yw+4QG3Ho3UlIPq7livmfyaVdNVeNmjKd/C4A92PbVibzVX55JQL4MsOdtlWVcE
Iy3XOg6dqO4CzbWWVq85O1y2FSiPPt2VquU5s+ZqVxZltpN1Pt0GFExz6w28oywJ0/qjET8YTcrq
RXC2jMng75pEn7c0E5cIISNQERHWOOK0tDJPPRZcrjdOOjat6BtGFYt4cAbmiTCPAmbFp9wPTRpi
6CewPQpSeOx7PPOcfElYF8AXMum5xcq8qPQIEFAz2mvhZECxZl3HfD+oAm4ynKc6FenRMDXOBUNa
vBB+5FiKWWATWeyJXFdz95TzEp2qcr6tdC2d+xambCINhzKZwNjilu0vNb/yCiicgWGcm01KzzBk
IouHjXQ53GnVfIEBoMPc7c0tENluM4O4B4CUZSMQ0MHa6PRCIji0NXB/mhQKGgVpsiVZAmsrYL9G
o19BzLwd23Vb8oCqGtPZl97YPqdy7rZQCZKdzuePuuUXbyDoAMPkzbAzdGt4weGOCEU9z0HCVnmE
4fjpGMpk62j5jVXN0TG2sn5FYjgASC67PW1I3op4FJkrjipT9FblkKkoDg7LZZAHwb1fIDZoMFpP
qecmwFp8nPWZbnT6uo4LglhWmInNrDfdccgDehWrcSr4ZsphZ/tNvzdZJy2HShJg9T3mjWQicYNk
mL+Bq65BlDmD9VrzUR5NO+lfbXyhm1qb5nXPGr824v6oJbN2rvqxPwxSNDak/sw+AdQrz0leagYH
3U6d2nTKGn1sINbSpvMvdWbuz5lZsKWH1ZdusrZHh/DLQJyqJCO0Dfwz4n2tm6PILPnR1w0o05Eb
x2IAPPAEvoMLMCh8840JwrvnPFztEpiC1HOOkfY+0Mx65M7Yfwsw0WEQ1poRekI0BWtTjMbW63M+
UCZa+0uzFc4hVmQHBvR0m5WUOK26yXPIwygSxChpSufCrvJ9pvfRDeAa01jjzHdX7pUl4WraSx+C
yyLPsk+w0m0SxZ0gvtZ/CMWiMBWVIr8CKgLJHbiqM3qQckdmJ9j/+V7LgDWS0qFpOCdLcLavxIuw
r6LX2hL6ObATzt04QO7jvIKfl+fmfQSW5thg5HgYwhqYhp7VhLuc17I1VtIYtHuTgP9DpOAbVYjD
O7sSOYRT5MgwSbWpFLAjjGdVxl2El0HhPIwupSin0Oh5DtPGPGP8eJyGLtgS4oM7pIAgASR2tLc+
2JFCBDqseCFm2JpbJ2n7NTvKfG3GRn0IgCqs5yQU7bKUlk3OGfgILnTvo1dAEiBRwHw1fAmeHU/a
Aqd2ueaBH93UClNX4Bi++PCcv5iVpl2icHZkMov9oBB3RpeRuLLHUY2OVwoenYakMcn6LZzeyPcT
30AfAz3UHVBN7ra98vT6ap43pGWTDRvB9JAo8F6RaiNbLmgy6oPYOQrQJxWqj3fP/dFd+X0urOib
5kr166wJmVBY4rlX0L/AlhZL+XHYCoUEHBQcUCuompEtasEiV/DAemq8GwjNySVTaEFHQQb1K2/Q
o998ZSoIoRaNcgW3CTJhqyCFMeSoveaN+Y5IhP1WMi4fy9pkReTS3zoo1GHrWN56VvjDUIEQB4VE
HPl6zaQDACV2CpkYMcrvK4VRxFgBUbFScEUq7PVTOSviomcm0BdjBWLUe5CMY+tHZzfipjtJXNzx
CLqxoIFpw0bR3TUTK6n1oCCPk3dfKuijUNPXjrt0ShUN3aQLVwEiIwgA76UT1pfAmnvSs1eUpDt5
0TJyp53BGEiASEEnWfcT52gUijLQQvtkTn1533FpgHK4UitbLY62cDI8Mkqm7lJQlkO4rGBdSgW9
jPUqRixVfopoqMWPjG3s0Yjd/kLxi/s19OB3gEuN+1S5MkrsGXSq1Jf0atkYOb/mG3F1chhjd05k
Hi0p1TzmeCuXbcoshQC2mPOhfymVK6TqwxIRbChWnvKMTBETfq98JGSosZRotbKXGMppEtHL4qBM
D7F6StWfmUOuTmKy1q8ulYiW3XAJKsWyVtKiH0MoS8t4dbeEbW+828ryghAXvSZXH0yqLDH11R3j
SplsLK1/b66+mVhioTFocb/g5grOEOnro1RWG49zFweBqwMH8PyAGKqMOeSecJI7OGFxbirnDkcI
Z1mL4WGg8JLxTh5jZfCpO6w++dX1U10dQJqNGci7+oL47QEzlwN38MIQdrYOri6iKK2mbFkqcxFB
gfZBV4YjGVav8ZA3N5ql7Eg5DJcDthmypTqAi0o4z0BDtPdY2Zmaq7PJsGkiyZTdKWkwPmG3z080
Ogv2KXzrN62ySOEU0B4DZZtKqF5/ypWVqlemqlHZq8whKFe4ljDz2Jq9xY1FXkdTXa3Km5XhGUQ0
0MxlqrxbbUGaTCYl0Ss8XXMOIX5BGtleDKN17nLjiQotyQswgnlXT5h/9Ydxq8Irxmft0YznDXcd
M+xddXWVkScsvodXr9msbGd/X1w7x5+SJe+P9s8t7X8U1v6LuWN/5h+rxdK/1tN23Xvx+d5/ZfHn
Hyyy/3ztr7qa9ZNw2Jb6iCO/8BR+Ryj0lNHVJciHcKa2s7+T1bCd8wrQgZaFF5a/zG+ymsUK1mf5
pOs2e9i/J6uZV9nsD+IsHl3ls1X7YcejcQDZ7XeLPHcYi6xL2JfZXkb0oajdF6NNiuf+yrQprnyb
Ou2qlVDQm2z09WOWAsLhKselxikyvBQKlGMBwlmTbpx/DDHtAHCAwuGESwW4jsLsWDKDPwV4x6L6
YV+YwbZTUB6IntNhbk1IPV7jVm+2wvewE27WeLG0yywM4srzlfRDXcEHg1ezcQhobkoFBKoIE0CK
U5ig5EoM6pw+bRYJ6uGy8rCALbMrY0iPwA0lCjw0VopBVCgcEWlLg6e6Nt44ClbUTuYItwhpiCHF
OZhXqpGH7SbnxJPF+0Rhj5wOANLsTRVnKcKLPJU5FF0ZSbR+fQ89HvrUOyuIkmUO/dmJjfDWJ1dG
aVs1jQszSLvbngbfu07422Rof0SFT7SuzCmFGnpah/BCPemK4cTpb0Q2UmQnmfXVqaoscaGhezwx
aIB/mmZLyHWiqFDhFRBF5yYhIs+ne6qtIidauZb3HAYueKGGaeHkK85UF3qSyHsXs1R3/DliRu3F
A1w8xMm60x5iUDNCC1fO2NNhP3+bDMLXVrmy/FEtCXroRoveTPydYDUxwKkb0zd/ltohRQW7E1dE
1uw2+p1o4WaJLiq2sdu9WZip9r0ia5WKsTXnvXWcFXcrdcvw6CsWlw7V4U3/GdAVdy2er1Z/SsiW
t4n16ABrvuCx8yD9zMayJC24y5Kmf8Ebpd8bpaEfGU84MARuRBkoMScwYQoYhp/3y5SvE5ajzzLV
q6fmiharFGWsaWrWX6WCj02U5X2mCkhGMWG5EoFhrmeFLOMMS860ViAzRy+nl6YbkttShO0SBYqc
Y0jDInRKrzkHRFyPQ+CmWxCGYM/aVnzi6u1X9IO5G6cywieo4DUgML+/swgYvaF7OqcJZzfHJPtS
591DTF3GnvmO4lhPE2eNzlG4D36/zCuZIKpWHKnQIQ0Cb9hbrdx7HVqs1pzqMC2Y0kJvySo7KGBX
aP5L2E/Fm20F7scMsaHaIng1d3OEK7vKGjrL8CcvRneahgXkgmxBlx+bI9KyKz/ojgVdOlR9cyWv
66EQax4oLX0kc0KJ1ziUt9RNTMc5DHG9Ah34rssoPIUGNWuEtigJx4w3QPLKGmUnrh6CinKQZBYt
gWjXar41lsOFAX4LkjA1QkAhp+EwWqasFoI4J03yLKlWePefO57fQmY0xARu+Jpruf+I1au6dEKv
jmLorI8QLDBFWrbHTrQZsSHW04vmlZIwLM0lDkQOdvVRbJAErsZhN3p5Dx0RwPuiK+P6AqKrv6PK
kn41UXdiT0+9SVYdEYJdsxc8GGGK08qt3YgspTY82Brk6aqu5s1U9NPJzLrylQNBYB+4suVaTg7i
vt1aSynQLvAXGudijmDPaagTgz4VO+bl5CUxrC5CiQoaFzBGSiGpjetzGWKsOw1ZE91UAPYuGNTc
B5uahgsnP/8thGH/LrGBs5F1LfrdnZoiPzEP9106wJiDsokLgMbvdJHJ2Ia4FaD/oMUA/CNrfQ7p
dzmV9WiMy8hAX14knVOd4rzorYUd+Ym11hOrzleh39qrGkUe3GvsKLQ1eLPDFFjBKWzS/s0rs/g0
Iyeeg2gatil14IR0WTsDT2v0bZ6LcEMvab6sGtXmk0kW6XM9Tm945vItDydvi41z2GaWFn7VmtX4
C8TZYVh2svO3E/w8rLtpC8XKi+ov2LDputKoYl/SOlHczhTmLWNi+Rlds6k2LL2Gs7Cvm+FD5Zf+
fdHw4cDEtfa5S28ljkD2ya1q8ZktjRJYX9cuGvDZapVqvn3imEEMNMnCFMge9rcHu2u9NxHm8isC
aKEv5zKKjkmNG1ejMXWHAZDupiCm0GaNAwUCSBwGuwRF6i4GnmssndT1v6rAtW47c0r2Y41pdzly
6P//89cfmtoYh/5q/vr3/1V0f1xp/jJ78bp/zl62wKYGxQqV5ece9F93mu5PSACEgxxh6STyfl8/
4fEjy8amajq2+pFCR/82fOk/WSCdeR2xIsOktu3v4LEsVy0tfz992ezEPcPQAVQoFJf3p+krtqqI
DU5crgm5t6+ZEzb4cdCvN40HNBqP9F03DuPaniHjU0QxVBvhxxibDYvsxpLtAsYyIOvea9qLeTtZ
lTzANXUXedMFWOcm9GGeNR0Sj/NWpl5LBh7GDznXPOhcqKnkmNDiDdqrM8NJXg2ZnmYvTxapJYHe
00Yk4Z3A3EjBKek27VRICztct8OjZjbOIbEgMtpJ5z9MUoRUCNv+Q4V8eWdU+YA1VS8R1MrmW5TH
g9zOBGkv/Dr2CmUMedrnLkDI1bQoXJK0NUABmaZx2PBG1WARinmjS7Z7bZOQPhiCZYR/I1wmkFd9
tbQIbjTd1D86zt6CZ/QUIASLEUteEpi4vMF+YLKpf0yd/kADxHjuCF+saXLDaEvF07Jl7NgEkS5Q
e9NxaeclU5oTpztrsJDkuDboRfI4WJ1Lc2ZDoEHQbzl03VcuXAnwEFEMuDCxDtz8AVLJYHxsE1y+
dKrpFD92UToYiykl2bx0bZp394msUaPzSp1xk9TAgg7AMlz1dMUiQEelCbMzrcTazX3cO9acpk+B
QE7nQZVUz4UHkbjv+m7PIhX8MwcHNhaGGwOjGfnL1GdWo/hvGt+ZV7PtYyrBY+Xd1ZriuOqF5H4P
xBnnUe7l2A7puQvKjzBrvGMz5WaLE80pMbt1iEq7ErrNriRh9GWFJB2mqdJurHDQb0Vk1Le24Y1k
i6y0WVWVg6/Z0ejUWk2ydIxV2UjxqBOqfsxtdAqMTBkmoyL1bmYc+y81SpyxqnW6BaC3ztH3ONEa
b204oW4tg8Yh6lKyqqVCM8uh5bsObxkrwOipN5JZIR7aHJU/jimpw5vX7cAhDsULkf+JrwNz3Q44
D12sMB/ep5EMLEBzh/6LMo+eSo7cW4Bw4ZHy0fbBy62JyyQyi+c4TBRXJMmQW0IwzeDlwh3lUh4O
Al93ls0A8wJvVV4RboK5hLYc6nSe+a34csOG5xfaPl21lU61dOlk/kafpy5fjIYg5R752bsFfeWG
wz3m+djvu29MqKrWN8NzL2ZrN7MYtdCn0lQuRyokWfLoLcauDBKLNmLsaexA3piGbt65rHnWWR8j
1Im6tklJuPTf9nap34e2j9vPkZP/Sp1X+jCZOqXiyFCJuh+kK0fTqkPV077q8VbQMJhg9ma+GZ7K
jGd9XcXabW8WFUjRcd5muHaARtXEf8CEXbSwkRuMesHBT30efTGqbyTLeR1HYSSWIyWx+3a0SoTN
WN9F/eyfh1I3znYJcW7q6gw7qzvssrorb2iJS27jXrkdW1GtMAiLXaPRYuFh6KBF0kibR99N4O+w
kyoAWUlcuAHbto0ewDo3os69RLXVrFtKxL9gJJRHgg78Cpo0+/DY1Un7yo6kPvWoNneA0mPsmeak
HaHNhHdzoLPbC4xGbqmY6jEbSnnPhJwMi5rY4n5W6J4FSi05MR7jNecYrzvUbmgesoriSNcu6xd1
me+d1rN/BHFCcgMn5H4Gl3XmtF0+D77nPsUMvAeUSdphI2M8EJqItrHFxLSIpyb4bs50aKz8qsUW
ShKK9RAwtjUjTnYXasNFZ3HNBaRPjPzpKjdVJnI4TJ31ZM22+QEwjJPm94QpK0vaQ6/POrY74ga9
FZKj044ISOfMaV+ot4s+5v7JHLkAkuZr1lm0eE2+S3LU9croTnzE45rOJcp5ptJinLW+JUZLUVkL
tDSkrjdDCdYJet+4EKe/6V4ozsOMwRdQVP7k+6jfhBQ8mDskIHGx+gM90oEc8ZgNejW+5qJwNrzl
zjqoHXvdZtz7tgJ7XGDTxAzRgv7iunZH0E+4ITZui7qf+a7xEHcGj5wwsdkA2DAFzC0sspeWBQlE
fJ5gd+xxIn+BLbEAkAcJoWFCzPKLHgPwgxnFpTU0XvMDacJczbVOy5jrIk1YXpW+R33Ynt1My2+5
yTa7eOSbG2bmQx+bub7shl58EKFqnnXCm9/SqPM3gxt5N2EMCXnRVcW73kXZQ2NM6HeeW/4AIzTs
AxYE4QY0L3we/k9gJPqwmA/SnKtvcVzL98Ju+8cJ7fTcWiCBsyn5Dmd6upm44+67cbZV/RBGhl2q
13ILLzFlgI/ZOS0wBB96YeyGCVHdZ27Yjn3Q8pwSTbz3rcI72/PkMR0b3mdHKV+9FlnovhaD0WxC
f2o+oMO231BVypWWxiZRr7Bh2T/iDNIznzpOZAy5LPwRt/McNZ/8dvg2QeuzgNXY2NdOe0W3uT/S
NsiepWIaOjQcPyfxVK2nQJoHPcjz76aYXX4TwSOUQh6yIzOrYo4UvNtloclPN4LSHLBq3ROca3fA
ccNXlpzefSux4eSjhqJTBzJjOz9mMlpypi6fonnWn8peYGE0DLe6Azc28S609Uea2QLTKSGhhW7M
85q3NSCIE2jnxOidjxYmdLyaJ5XUk454ydIUP5L0tMfekbwdVicuHLjzF3Y6yXrqWvtYmynPYCko
fZEtaPuiyr8grlEsqPnNxjZLTiNhHF8AClNm/feH+r90LCrv42+WxeYfV901/CpX7+37H/4Bd3tM
5Kb7won61XBK/se/8cpf/sv/2x/+t6/rn/I4VV//87//yyqXX8ZuGLL/elzf/4cqKS/556RONS9J
IeZqgb9PJUF+ndSdnxBOTaZ1PGvIpX8qckFT9SFBeDpNK2RAfzep4z5kdqfHybJNl0Pi32pyQd77
06SOiMsfRaAUzKvuedef/04nTQsRTABTjPVc5+NTIGeHSlFLeys487FP0UNsCWHFkXMxJ5n1JUIZ
vJRxSUmbYK25g10e7Un6uBDGrbhtNlE3mvmNe8VM1wCnA6B/hERaKNTJFUgd5Cyg6cGEU23gSHsL
8nnauIpiTbOV/SOD+rvTFOPajzxw14ht+kepGNiOomHrXqMB77by17bHP6G2WpiPZK74qoqm3ed6
zOHgCtk2FG97UORtw+zMHYQ9Cs4Ul9upCj3etVdctxd22ZmT/S1irbPWCNhtNVNbuUZd3JQK++0b
E7u51jPu4pYz/aK0C3m0hGJ4ZvanrTjiUnT6BaMCrssYLJhXavGzS596WLN9m5PAOMExooVJ4ck9
BSo3FbI86rL4xlUY87B1k31HimOXFECrOoU7JxhoegtfQdANUI+vjQKj+8NgH0TUT+d+4BPRFUm9
hD9wLCqfhPwI1nHlT6kN5Ejx1wntwzRrCqjs3FPtH36oSO2K2d5z/e14wpc0ThR1tFEPmWwJdxfW
lTriu+qwjw8FUcjMRucuUGKAq2QBlr4oBPYUNugavLk7u0w/NSj6D3ADp0Xtprq76Kl9WBVhIM+c
3ID1aF36kSkRIksc5xEjI51viZ/eeFeRIi11+5RBkH01MwtlKjmT2G8fWEIbF9yd2ArNGPBtiwi+
GUU13ASdn71Cs9W3qUnpSdiZq5aVBP2aiCXebEc3xNlRUOisQk2ZlLDSOEZxW/+sthQBBRlgspbO
aBpPJKyn9ZRMbrrEEeJv9YCzGjb2HthXyy6AJKvI5CLx/WE9cDDc6krysZ0RwrCEv0llBsNKG1UU
7wpzgFzlTGIxthLWLwJS4NScGKXHXzHr26WvNKYyEd3blPXBqRK0CJpXMUpehSmrKVXsxmmXk6Vp
WBAzxheNc+VmnodGrurOQ9WKlcDlQ+YAxc4UOy6taSxPtR3MxwEaRaaksSSf4XzlSjDzrtqZHBpW
apiBxcoYtUE5Up2DFcxEfq7aG6uM4L1RglxHOpTT3ST8y6hEuzw2tGdvnF0wfX5SL0paOFj5Yspb
1FrVfmiYhJ5qZgvsVPC2vLjscQ/TLwPNtWCdDDCMPGDAYjhJgweKf3rOXjxxODWKzDyYWmJcROa8
GA68d3Kcs29sDavUOT9qtgV1SnbYIvWMYAGcwZgERDc2OR0GbZDs4rp3/HNWNYQg0Kmh06d8aN9d
drozIr+dfHDihFrYu+IItlkeeMI4YploqbMj/u4UwFH8cVn6kZEsGHDIFEmpsXoN7O6MRy1+7st2
aOgu8eHwNobtLevSsHa0/phHJ5b0PQe9d/bNrlvr/eSskjCnD4SNzJJwiXkIJ4s1MOUd1SOrofop
oQHvW+w1xg4vdbjQzMp/qf1u5+RklUx3Olqpa1MiEaUHHKS6XCAWxrum7r0DWmZ6bOqq+NS4VHfB
8FkHJfBO3wmQRtrEX2EASb7ou8YjbHBmAjdMZ0JaFWfXcuiZadv5lGti/piong5Xk2sMJtZqXbzJ
zHQ/bTEUCTvtWac3cxw0/JBuiDcYCrIhdnpHxHmBa3e6DWffBuaVR6C5KKFoVqBltB9aWLU3Vgyq
YROmSX/m3MxV1JLheUyTHB9VW4akbnwC49Yrb73Itu4cW5+U31LJMTW6uTByBNL1SPbs0vVDepZd
GlcwI2iMmvs4/TTm0oRf0LZ3ed42Z55OU8iKbpj5ZbzK6BejV3qvWtiNt23iMXm3fkU39czOqZzx
dKVUKCw7P632rFRkvRJdFhzYBo0Anuvyjrv5tNOxXCPfDDb5aqa6ZdX5+jqNSJjxJ8jnkgrkYxHy
TbeKovpy+qL5GXH1t/Id/2+uoNVUozt/qYAeuuLf/3fxRzzTLy/6dagyfzIVQkkHfeWiVnoskf85
VCHS0H9Hzvc6bhHJ+W33rP/kEPpl2HG42FmV8rPf5E/xE8FPXuWYCtKE+vL35M8/48MY2kxftwV/
prABoKrMx++GqiRIEsPLZbv2oiGCL6GWMUHQ/B/2zmS5jWTN0q9S1vtI8xg8hkVvEAGAIAHOIilu
wjgp5nmOp6/PoZtdStXtbLuLWlRbLVNKCRAJhv/+n3O+09yAckWhaUedgD/SKY/eSrLocmTZsf5R
Gg8XjvmmQfaBlDoCWu89671XqpBTdDBClVKUk1GlJdIm2gXBij8+nSWmUqlNtGQa39OzBCXsuNrD
w+2/m7Ii0q8ptSrGxv+gjVN3VzvaRAEWRq5NSeHFt+IseCnpK5u85SpVctgMF/4mmpRG1iq5rGkM
I95WSkSDuJHsIiWuRQPzXBJFBSVbE1usSAlyy1mbs5RMZ+lR9Tor6S6uZ0LC0EpR9NC8eGBHep5e
x6twX2YcVMHcS2WvVLLgmIFwj0hSQEepuScvgCgnB3ONNbO/ocTcPkJnzl8LJTxyiWsCeRYjlSyZ
FGIMeNgZH12mm/6o5EtgLPFVrSRNtlEaarDSORHtQcoO1Gs5hpY+WUkoA9Nok2sRwn6zY7aWthUm
fq5aobAW8UUcqFOWdEyciOxgUVU9UgjX4CFtuqVQU5IjBwP/Ps30GCjQS68SNkXfSEV4fPTpqOIv
IPG2Nvl3jbXQU22OK3lmmacP3rniauiy7DCvRvZFgIHb5hpJfZ8rY2V19liGrca5WyrrZZVn1pVZ
Tvh7zs5M8Fn1xazsmp4yboqzh3NUdk7ahXB2YmFipaHsnlEEfBHEv0kcGJfxDnXVPErefcyKHLto
XLs4R136RQm84ieVoI8t3MySsAmu3OU+O3tPexHVJ0sZUivZ9pQhKJuqQ9vAqVXWVYWiapWZld1R
vOMoHl9sHadspkyv09n/6iorLNYlRO5MGWRnZZVlaBx99iHjoWXquWDeKskpKndtKXVEXO7jxg7z
vbuPU2sUWwj8ZoQ9AoOu5rgpm7HpRlPu3e5s5NVnewn06rUxSEWM+QSsVZ/cwAVcdJnqovRBgfN5
qdyYiZ1iAk9UR44jIL9jnrH99HSDrvayGy+jwuWncZXDD5awU+zrHWTSrnWtx2mM9wRnemObhYAr
0kabQ8goJVjPsbSjG+Ix4zvzMhYygrqfWl4Wl14aDw8g5ogdz91osbAAltztGXwIbBtVJPZx33T3
TbEivuK20a7rddZvqyWyv3VitYYt0Ht3Gwm3fDfovPVFZvNdWmbXWjYuzHPvNMDDutGasc4IIytr
gzdO7r5tqHxNZmfEhVo71UbVfTGJxNILXKA7FklLkgRF4W60hvuXb7nj/OmlkjKRZlqJRYgkzf0B
8DtO8XxPO5B2rPoRi21uW9MX+5ryY+5n94vnr/U69sbIibm4JAK8zNkzISR4RmqLD9tcG630427G
LkIStvzoOHKDambrOBcNz4K1dpLAbdt4H9dN9WWWFDRsrDZKvq9l3b/Siitvc5qHa+Bw4WpQq+0C
Z1mqMQ8kNX95YKVUaA2mvV3x6m20qGKfF+JP9bGYGydddM2LtpT8cNglzUGbxo3DtzWttIuV3fQx
B4PKzRLZ/hJjX7bFhqZfSgkbJhjXuWO/mKbutkm98rs7G8k1fN9xUw2jy43JrR+rpPzykmLMaQ9O
lmKrCUt+7/mI3iSpN30oq9tBZGF5MWf0qA5eKI5l4tofnsQEGZr6CUxuo/vUjHk+WUX9lv2TPHXK
zMwtxHmIu74PqmaVwRKuOYELyRoN7tsgHhehy2uwGp4ZJIAUNnUyop9X8eqqBaVB3DgHW7aTfQjg
oW6o0yCHDTGrLlL7wdJTfiGZ6CDVZzm/eqDYIjDGxKOn1BuCSbPnWYXzczaa43OiusE0rTmVtFr2
7Pb2rIetY1E17rKtrdW8gyYPhdYZmLS28xo7wPGhZjuFbTwUpC+/zbCogdBDtNgWlu5eimZwbh2a
6Q+YlIptR8H0Nm/zJhgdgjmcAbZxkYhR95PMwuLg8P0QLbGmwTKuGw4ZHr9W9aVbYZijW2Wri/Wk
y7GBuRbPxsQ46K6GpjFGKmheVpWgo2qaj/BtuTaOLjSvzRlX1Q/aHCwJdY6MxTFFPkks7xfMAl9d
7NC0V2rgo4oIK8o8YD1q+ZfphAYlqeySvyJGe4yGpde32FipUJBJF5HHnzeA9eYr9oQwkzB7UqYt
MG2ZMrsohNccZgaZDxY2vZ81eclRXGTHqQCw6kvye5coFgO8hSpZ4Bwk3gm8/XLDQjjb6nVqXqRN
5G35YSISkgzthaev3lPmrCVW2cJ4Agc8nIpCyKtwjq7J7vSBaVsG/ifEsm3HFhx7e1NawZIXxlsy
ItpxBtb9sNWH0trro9b4bYqvAFWocHF/esl84/EOwZ0VcltRwHJTDm0P+FsYnNNLcluShv4sTLO+
dlYDvTJegfEuZuy9UPQy+DXEfI71UDoE1ToHO91gv9MhwktOFhgJ2MfW4xI56BJTvzwmKRGkTMuy
YzFLzO9yPNjC1Dz4l04CXtzRnhLHM7gk62YM8I3Kzwpniz4UWyLcOpkCnYqLdGl55OH+0nkIRQZe
GCOrtQfcdThkFmWW0ZVt5l9fg/5/O9hjG/jbwf727T9FtZXV4C+2Bt3kQ2FD9jHPvoZf53pHeUMd
zJye+3OP+udc77EPtT0dS6luGDgcrF9tDbSFKRIrmEJX/Q4x7j8Xxrc/7Qrsmn8ukP/x378ynKn1
+m1ZKm3GesFbUT1i2FvV7/8y1+cEcjGwu822Jzux984PFtkb/GBGFs+bxUgwsLtFGJBkHCBxVACu
5c3c7t28vmdktd8StENfqsfXdH6SZeqhJrRh2kazxk+aeuRlq3Ruc/UYJKljbqfzs3FYYuvbiFj0
oA08OnUWWBttMVeOoKRDV1c4rTt6ANEwi9m0jlqnnsNeah6dtLnHaP+a8aROgaI9WxTcEURVD/LM
EAj756d77ZTL6zKN8ykaDJ7+lToIzGhhOs3P5wOwifUiU4cGP1GCnN2QeWRAiwgRsyunxoKQyplT
qNOnPR9EYDE5lFiQyyBSJ5WIc+dhRYrxyyyJaKbhRCu4MvosoTjmdDeHyFq1zkevTkJ9LozPzsor
dqack0vRzR+dOjsBjNrfWXesxTZma8t5Zkf2B4oVgKIWCPV1goD7nd5wdzucD2mi75kIQo5E1EhO
cSOVzWV2PtrNPNUo6eK8r9XJTy8RQwCeWAYCoWYDBgzjFJLK8nvm7plRQM8e7PNkAdw6D5ihmTfG
Wi7GbuaaYGPEmutPU00oxnlYidTcgjIW780qSoO8owEHDYgJp1WzTqmmnug8ANUJJWe+cLMaL75O
zkdzjJiqBsg5oi+Kgo7RhR1VzwZoNyf8u+c+7H5QN73c6mzjKZFiNw3VbdGcIJZLdy/naDjNDOBU
LXvDHj+yai9Ow0vOFmbX9NWYFj4j1TIodovw9gWk+g+LCo/7vGJpeyJgS7gqG/Qs0LVSvNNKzkZ4
boT2DZuxIKK7WuazWzcZRKm516NgZVV31Q3y024b0+9X4qfUPniqQDSZCU92xLhQB2Ey6q2klxqu
23ibZDmJhJpWLaZ8BHs9bh6n2igOxGvJIU8zTEvaW3rGK8v4JqwGhLkD68ivsDo9hxpj8o7MI/TA
BM04GgBjbGJTZwjGav425Qvs4Ji//8ooSNL76OZNsilLo5mvhnbE2+zaPVQfiOLYXEJGm0e24t12
tPsBEJ5jXmbKFEOkrKeDxxPhvVSmmVLZZxizUSjPnprKLLmuQfLJOHOpeRDKfsP11LjqlCXHSmqu
ndCCIQQzFi3KurPUywM/s9Otezb4MPR4hO5sERsbvkTi3VBuoOxsDOpliklIp5vsCI4EHxGUQDaO
mRat36A1RM/12W/k2Bb35EQbdtPZizQpW5LmDcuNB8K03dcDfJRaGZiEsjKBihjvhqr3HlZldMLS
7j2UnmbvWje16eDAEGWdrVFnlxRNsTimMCfinkLz5scBMGD60sfwbBjuakxXmkWHe2AUCWYsvdPj
ish5uCIV1LV+r57fP8hEuS+CbDkTxCCpOxzWjoi+089jvSt4A09FVhbf49Fphl3Ize5lJaHIg6Yz
4xtbyZR8jlkEVxQjjkrEbHHdoKAjbDZriI6lxM6FoOK2VwJo46XGTWFk2gNPsoV8Z7NupZJMFyWe
DmcdFVd39V4OU3s9iyF8TjKB9I9wap4wlTTvZkTTEpNDfReBKKaVV6m2eAKqb6tOXpqGaSXr5meJ
l6rymQf+5N7D04xeQtfoL1ipD4cxi2hhVEoxGczuNFcE6JQARerVzPnctHXrHAT21c+GBoTLkW3P
dgrph/CFM8KINFaXXvFhje8Z0bKjVQgXApkzONEGuaA+sMWlzW8uSfPZsxFe4gyy72xdIUBzK/xW
t+Bibrq1kC9irpddxPWYatkFPKzRUqxC1ifZxISJW9+a6uY5KVxm3lpmqi0Abiu1JxJc23k+jqWc
Ge4Zmofz/Ey+jVmaygaD5i4G7P8Zmn4aQtmGujygzl+O/1Cx/6FOX78VqNPHt387Ju9fbf/2+dtK
9Oef/HMlav+hEDImzk+UYQO1+T9GJ+8Pm52rISx+uv4xVf05OvGnLMYi3gdbVJXj+WV0cv9QmrX6
q1x+T8cx+q+MToZUzMO/OkLZqxLHsRwBM8lVxtRfR6d06Nc+ySFB1G67joGX0qwSpP3gYVhny8S9
L8/liIOiCTsoHmhoNzUBGBhPRRENG3IZBj2+hY6bsAp7ipA83FLAFEDhLBsvGZtxxxbVIjHc1qXP
UUrKfG7a7k4MY04gus61ZB9PbrdcrH2EIhOZ9ZqScrGdNzEP3cNq1EO/4Rnufu+HTqbBWGlesVvt
AtbgOnb0H1ZaJSofY8p8qYDX0WaqPUQbA4APvk5cbYApEuhrhIekuaFBjllPjLm+A14qMFO1E4vU
uuYIgkBMDm6ZsiRh2WJwpnpII/5sZPB0CvqtBYzUwokOtH13BxlF2WluNf07Z7uGCbU1vthNTjx/
lyJ+xCfWmv5qh0a2HzsBLM5d2B75XkN2fmOxs9i7q5PT/dkZdCqaa2yPl7j+o88Ol24ZEPyrn6uY
WxSt5S5LTh4WvP/BdVai+7PpfMvjOcdmRVkiqmbYUnFYGYV4lfR90PVaalQs2pz1KINm2pRk4Isc
oMtiTaTBtZq+a5MbZ7whi5s92ehvqmk1Hl9TcD+PqRvxW3g0FcKdytyHHt8mX1qSuOGBTU19CkmC
xEHWW/r9qlMlFhSrltxl40Al3pS1mbYvGmE3F7QWsdyZzcGAXFNP0WWXQhre9HAelsDQqEjbJHFo
/zA1a3kM61kQnW3iMiZnvzh2IFelVWs6BaIBMAGoMMyKaRnQo0f+th2a/nvtIYD6LVn6atNDjaA2
qW9qAp+sKL8xoZWw3OqcvoVFMhAGUdna6Xau4snwI+62P7JQTmIzlxBJgjVerZc2SzT9WIqM4WWe
UggUY6+qQGcKfclDagsbTrIAuzFKs1uJD/SlGB2TZ3RhzK+iWOqZKEMGe5A4SETaoRUYPsGX8CLm
XDK5Z3HxPU8nu93UhpOgIMZYcwWihDhxF0jXI4tifhgmd2yiIJuX5LWxrGSh6lbdjHVrkS9644HM
yfVpT5SVNVDVlPNHocvljdjrSvfBFDvaFkV5eO9k23xfsyUhrbtSNHhhDVr5MMXcCdicd8szzaBd
eQElWv5YzdJ80WkPoj0YqsNHOM+4UJqirR7ncKESjgx8fNMR9qQoHSAJbVAh45ufkMh47ufZXYNK
AgOHgCnRKHEMCJJrE348VOWST9DSl+AfWi/Dqdekr7ZMHYAcqRav9KxX45NZVT/WktXzZg0r7lnm
VBOyKhq9/VY0s/mKT6IcglHO2jvBMyJXoEwwdNyvjcH+zbEW/lGYktnmG+xlMXJmgptNjFcWanfE
e8PxjtByGOsSbwHIAJZKaT231fUyKYN05HpNc+zbNtqGFvk+ZzPQIojwXBcSV0NjLe7GTQyHTXXi
WdedB/BZiVjuIcPjRzKKHTXabNgEToltcIPpqUqvI90GJT6Ys+ds0LTjI9QlrCHNmvUliMzc/mLb
0p7McZLR11B5XfU/6iWWM9VTfj6vdapW/u+GsONb8f62fFFA+5+Oa/UH/zyuPUUbdl2O7J+QYs7d
fyiYLiqlAeIBeUUXSt3kJP/zuMb55YrzAkJ3URj/clw7f+gOfwwfFwFOVE73X6LSkST57bi2XEmZ
tWHwJlwitOrN/3pcayJfm7qtak6LaRkvFqcrPcAka7SPM4dSyzZbbyb1o9H2WKtkVMvTNHOkjbHz
LhTehgs/hwfySTF8FUD5iWpUcaCnxJFWWXtbTZ/fuG7ujFxDxxjyH6Nz0WJ2Ym+xE8uTrOMt2NEO
bSa6YfGMjzOJ16fOfNPc9pVHDjethpu4w01o4lIA2H59jRzzh271gNCTHicSowI82ZjIbhlgh+8D
d0rtLdtRmktWiFC4yg69AYy4CR+9KnKDyAE/irBDl4ojt3BDrYB+2gdnZafQLGZDlULtbUahVQFh
A2KU/Tge4rh3yDsmPAIpwt3VZjzdJVbpkF6w8Q2UCvhesxdoDdkBwIs+V8nGI61NqE58EzZQPd0g
G9ePQky33TJph6abqqACmOcb3qjvrWxWMEvCwW0tRpAAEf0o/QpXLx67LZgWTk+bJ48oeCyFLUbw
dSgCq+Ewg6FSMiKJ/KLWvWqvd0a5Lxdpb/k2xBRE5uteCrrtaifD37doAlplk3KYgCRxWpqdh5qo
pynI+FFp3B2WOb5aqKi6mWzoEMKJ74FCLVjkEnm5QsHyWfWYxwkQRGDhw9rlSqhuNQ5arjIMJEb1
EDYADYDbmVzeuydsOyRfbKhHnGpHeBow32PLCGRnP4/KimjxSWPTbGGN6RwOMa1JT96QCz+ddLEr
UktH/V7TQA+r6sCy7TmJjGHjdqZ+qetpc3IHcKd9kdxitxy3ApMePsGeWHdWd9vOSnGPOQuli+YY
xLFjKTTBNbz7BqWq35kTlX39gmDoOBAQRDE/hnECSBuOx35M4x/wrtgcLyXOkojJBHsUmHszJ7PR
yZqUwSLsy2JKaU/xjNQHLh/tx6Z/pTcs2fQNK0I6nB7tXM43KGXpDiwR0O1Rq/0GReNtdh1xWQu+
hOyr7mvAbFiyMwNx2L3P8bZTMs97IeKwbyPd2AqPqUKn9eSiCkOY3EPGYx8MLmU94by3jeWRFrjk
bsmYMgaRmr4p9JAJKGHjGOL/79h38KVebrUp1YAY0lUq86ULOKE4WOvkFejYefEUBuTO7iwxSRBt
w54cKMwUTMU+NIY5KLy1IKUEHJBQ5SEV4Us3Lq9IrOEhieg3Ls30UbRM002DToMnztixkR82Ykjx
m/bRC+2zCauuiG4PZ3WO/WieeLwIRvOkD5bU7PZ8hmrfJsR7rLX61R0BMDnlXWpJcObuhyXL53LI
nppSAsLrw3cjk8ax7LSTpffJSUuXaddp1HsghoeZmxxDdG4eIhS98ba8C0uOejCb7Q0bm/cC3fYq
rnGt2fXlOrj1DcdpdaczbgUrFye0v6XfZK6XXEONuW5xB4GPdk/FMsYBw/lDmyS3RTVdpOaKmlmk
XxP1EyjrM0DFgSt31NwNevHOKnTL1qbYDa24mS3tiiaOKkDlhZA7y/eqwoUbEmK2loJUZ5Kf9HLm
WRBPFsA+nnFtsgiUknzFLIUS1a0wJmEAAFOjkOsoxvY+HvBD1Xn1KnsKzA3YSNgrqnQrWif0nSJd
CRYvl5ZEibepp6J028ffQtUXC6cRK2rh9vWh9BrrNk1Hrjtxbl+FI/4ANyHX2oWYEtbe5jPjUtqc
sSfKqrA7NnHEuJXY3z0Wej5T5iMWM2Rk2pdALz643ND8GGPjpo51PF7ELyJ+5o1nhqMPFfuY2rel
Qw2LQwHAyRQP7AHpnhDF5BvLrPtwgbR9sqbalU1btZrQnp2Cdg7yTxejaxUbq+PRiFuTQyHqsOpi
Hd2TLzQudKAwPrXuwm/ZpwirQjEO06dl6ZP7pYkpSR8oCK9z0CMgGbwpppnM9g7sakigOdMQpF6N
UXUAHC6LfE+ebNp3DaJSG9c1xb1YbYnx2e8dyMVh1E6lKWbf65f8JAfjvg5bikXqbCawABUyt+pq
1yS0fOFgGwza0FaqOvP5qgBldCFmmdykYVZdrSJLAnPCV0eTuHMcS7P+lrlzfN3XTIus5d+6uhPb
sUXM1BcJo87g1iPiRWOj13sHpGDxYbp1u+HmvZ6qud0yK9cppoHFVH2N4WW3op2FZVPfOBPPMAvt
+U5vbPGtyweL+ujG7HmIr3mImFyBJHIH56PD9O3PjubdgOo5UQ4+6ImPCSq+ZYOot09tvJCyYN+6
DtsobTAt9LLg6u+HFd2zN3SZwIzDUmGK07gMuUMeLjJ4/Z7IJnkqepWBLyxbE4vSZjAxpW9iew75
Ik/FE1jR8n12UusWEAGYmYxsYdA5WGPlkr55hXYt2dxKTMQODEsX/UDiB139vsOTvpl0cidePXL0
6VNfXi44MP2BWulNz6eNPDYXuL7VuQdU5k9+9H+Fze+/McLZYufDDPs3I3NS/AU1w5T984/8OSzL
Pwgm6IQkXJ6gf91tOX+47hnvQgci5nNJDPnPYVkXfxgOGpkKNwhTMnj8YvfDQaiqPYXOAC48QtT/
ym7r96wzzkHd1m2yHCzfCHTgK/x1VMZpPq9rbE207X4HdAJOMwnftSG6pRwi+OUr808UyH/yUvSX
6PTfqHCI7vJv+vWl6sgbafjipdhNceMGmqfN20YyChrT5u9fylFv+9eFHf+sv7yWuiH8onW2fPzF
EvFa5uYV48hmDppNsU02j4/a5ubwtd89ng47Z3O6e3q5ebw5PF/uD/zq0d5cHy8vnvy7C3/r3719
tBddMOxoP9tc+g+fV1Hw+fl55wU/Hlh4/p8PzT/50ui/31h4vxDKgAfxOTFI3KgF5C/vtyB1iJsH
4A+x8PaYnYxDeOgvhp19kz/V1/LQ7vT/x0vyMf79K/SXV/ztG29XFlAQi1ecfHs/H5I9vZS7+NI5
/P2/DDrSP3khLmGOg2ee4nn527edQuSB0Jc3b+uhTjPfkA3htzBJRo3JkEVJXphY5Z3GA9MZJxIP
fbG4zxQ/YauvKudCRILoYox/fthURhw9lsqMjxaX85DGoF+FLfs+yNDjyVEG/sRjjUT1OqZ+afXv
WcT+ccN9pEHK4MqDDKCiAE0SPccK7MH/zeLzTPtAzEX+wQVI4RoqW/Y8KjSIyjiytAMXEheTfjKd
QlWGLpZfjiG5aIDA2+rMGoG+W70srFaOjUKR9CtQGE3hSVwFKtGtmZ0UlGUOWVeZONiDGk7QNMrb
0Zx9HolbJTmudeX/ADCoPYVWnp6wEuMPqXGKlDOWkQwm27HpjcZvYnt5tKmRPtBNYT3iAcduYijn
SUHB5Xum7ChTrjvYdJVHRQgXhLK3ui/j2cNSrh29nsrYwh5l/eQsSW5rteyrlAGmcgWtFXokt6Gy
xzCOTzfN2TPT/fTP2Ig7hjLVOGd/TXr22qzKdqPZsRVgzcWLg6O23/KpUMtLU2cADvULDw+XMXry
ylBmnnRdjadcGXzw54dPjTL9RKtDEkUZgbiSmBfYXrPtomxCvU7wf1bWoSpaej64ylA0n71FmbIZ
5cpwZLUL+RNlQsJmSnA4KzBbYVCyzRGS4dm1pPe0meY4mcKzpylx23kbn51OtiizFw70ns2kckLZ
pPI34uyPCod37+yYEhE3Mi6MI3myXt7DHZiOXC6U7KQUqOysRulKmGLQKvxmNJN9pTcEvPG+vTRn
LStXspbN+B04XpLe1aB5rjx4mxfrWQnjUlkfzERDH5NnrUyDh3KZxXn92P3U0pSsZhRReNupzGeu
0p9JETs/EqOqg4i1BB7rCAh3uNjiulfZ0dTFpcuuuMVEq6Kl1A7WPs44AqdRTvbU1rm4uwt5VEpx
+x9W1AHs7WTUcHGLNHnSZOu8VEUuPnMrYz3thE6+i1TawInz3ZJrnb4RcKhfzbQwCEwV2klf6MdY
BKWVRAU9D8BvGPpsjbutWPLmikjct4r/54TzQvc7fcZ1x6LwyURiZvEB8SzQ8wmu8dT3WFgjsnFY
K4wgJh3RUtPuZC+5OdOqa7J4OnaL0Dw25VPFfnAJL2CdV/1B96L104O+TioM24Y/2Yy/bNUnj25Y
HhCbIvXey9mVu3YaG0JTWbQDZkyjppsf25AcfxDZNjPbPKzikGEQe6yLaA4qQwzPjdZ9w0+ubYsW
1Cee1AEnAWVQftJ28RWrFS7fCDrxEULWctmkpveBxy8P+maOHiwjveQdImhnWbq1PYQMf9FXlyba
ia0IXNpuIRMeyYqMj1CYY2EvXwt35I3r4J5P+lVQR5zXGfTDXrTGRkrT2DXZilSUtCCyBlwigVZH
5Q0WRBp93Kqu9r0JKt+x2ip7YL0E6FdqnhaEgBb8sssrvBlV/cjz8MZxaShfJ2Mf6zbhQmDWXI9i
vN7HcNLJB7mFY/CESJHTRVpowZSkXJL5Ed0aJADUkpvH7Io1duK70QO4zeU3ywJ2AD47vmXFjMXP
bLRb02y7W4/UOsn0yIVX3EhnV8cu14BNYU5yeVoLl4DmADo7jHYRD/U2KIehOkZDuPIsBjZ5tbh8
slK6GnZlsTzFViH9hByGT4EjT4mkQ9oqBuvCFL3e+QPM9M3asU8gl5OJu8X0igPf/PYkuzDZWuXi
vDRIFwQaZ3mJti2kbyXDQPmfAcAlt6frDKCuviHVU9U4PsrqUnYxMj+9DoC24PUnNzqbLmJmRbBM
hvOgWS25xFJlJtQmvFvGcBt7lrbR2SZcNI3kM9Itq3M1T/r0nI4ujWHLKN+MkjjelMxVeFyLGZxE
owhrSeNW9JtFwNHXuHparcl8YE3X7zpGvM0KSrRMeW8ANUecQ6VefK2QR7fC7uBfY5LyOYJVbqPV
WBUsbX6hMfVlvhZF7gm7TGhjIurS2/irwvu7EJJMc5c7lxUO9EbV3QMFzFbhR+gKOAfsvJ4ol1oX
utgqs9mBqxfgTcGjAFaGQLMzJUE5Voh1Ya5ffz9d6P85q/LXuem3TW+l0/8amkwxxqs3bMKTueOm
tk2+msA9jFe0bl4OB/dmOqb78wv/V1x//nuCNv9WKHh4K//t9Nb2v2Wd/hE6/0UqUEt/gkmCyY/S
GaGKaP4MOzl/OI5UJTTuT5jTn1cf/oggdk5cghgURkWdawT7wz7+3/9Lc/+gBYdfxBHJdQUL479y
88H4+NtkKnl9Iuq4CNAclPmA3/9l6AZew146ndgi4dk/ZtqIjJrEjk+t2LpvOx047UqbQak4LBHQ
xm+kUeg1WZOyCSig6XF8vVuyag+lArmUeKyx1xSes0vPoBdO5xdSCSQZV12I+2VNuOC3ZW0eeOZC
irEVNCatIuuuVSCZ1bQB5FomdJlxNnlsKuRMD58We1EAC2ZveC3Yn5jVzxUtf4CHbMYav1BNhHVq
Jzeg9uBzJ4l8sQlLPNdamHHEvic0uv2oJxyCfo877mQxxNyEMtPfXFxUr3CnaauY9RFzez8aRgAS
+YIAUXnhJo4Sv1dteITxxM7Thuyx751uftTShj3SMuJ/iMuerc5g1jBAwY+/gC3Kr6TTFCdZpPPz
mDryUKFHj9sBDsehicnE5jgKD2A89R3pDzD9iVt8nyCQX8+AsGividZiCrS4Xazj4MJe3EZTXv5A
ik44kihNQIHv7QWRvtW6dGNmxRpQhsGTXdIiMW9W9mL3cMYxQ2KsooRvpIvHj4fOe0H+0S6S1kM6
IMZMl5ihiSvX61lYEXXwLiNj1pyNDRgMomUC7GJTCkWaaz1MQxl7qSXu+0eTOvbJJ/MLkRFYoban
IY3TCSmay8hrM2bbUhRwXOLkgUTCdayvoFctrfy0Y5AxHrTz7wnE+R/e4G1XM8tvCwxsH1ZHj6Y2
1U+pGYktrcKS12VcH+QKqB6R1AhGfR6fsRWsARZN3/ZGlxnWMupbPSuSLmD5FTGVt27YbNy5XDdG
F46UKOqtK3z6FZ1HUrsGO3H6adCcRX7C+/VGYQ/TVKfBlipoIMD4MC1bOhtGWuvLCp8GwYJbhGs3
DowUikkQW0PPwzWxJy8oK8Cy3JbG9s1tm/FU9BJfrapt5JtkJUTB+QCJK6wKUJGSgo5Cx3GPttNS
N79g6AAUgx8RcpElH1bWtbgDxgbVBDj4fEs3nisvWpwEud8kpmXvcy9JugvQJN0LxyVmtcKpX9IJ
TWEalAcTT7xr+GWIKvEqMJb0fkwivtv0jiyYPxW7cBMzU+3auctaJD6zujRBjjY+JRIGRs2yHDBW
mDGhZeQBZiZsylehVRkn4ZTxHQAE5zNJKrsPitRg95mO6rYGsZukUQVVls0qcX9WfrEitvWDIjz1
VA+ySM3JUbtLyeWHPCPmICpk9OhdGDMAcce49qzlcmSt2Y9ltq8rvcIxhIeTjmMN24Vc6voHHIdx
79KMcw91HrZknh6SYnY+5hX1oMoi65gNpnIEt8MtNLPio6XhqttWXZe22xFYFPdaTWgUQSwDcMaR
0GKHjnqXF7F3vdgeXUVxGX7pwA+8jWM35ueaLmiNne7Yu8Kqqm8Acc2nrjOMEq53cV8jPtwAD61u
0jHGK2iY7WNjutMPNurFSxaJ8RU7kHMn48W4nuv1GmPk6lNRBY3G660VWr1r3lN4EL7Wbg8+jF98
tEYLeoEYM6QGs8sgLsV8VyGol+/sgit2rU4XUuuihcpZ4l5309Lc4pptkCgM2R5J1Vj3RZPoRy3X
vf3aWc4+WqrtWDc70V8nIwt7QYF2GRRZuh7KZmYo9rJP16ydJ30h0oMN2Yzu9NgGTRmN7Y7JvcG0
W7dO4JqYfH1nyGTk1zLtrvlZ7W/CKes84BSmvBzXGGID1nXjLbMMprcW80y+4S1D/MqqZdknObw7
v7DozGnh8Nw2jpOqzP3Kkyruy/7JAWcEp5a72r+zdx47kiNp1n2VeQE2aDTKrbvTZXhokRkbIjIj
kpo00qif/j/Mruquv2cwQC9mMcDsqlAVwsOdZp+499ywyT2YT6NFshctIMGo5FbDhYXLws4T2n5/
djW3KS6pyr2rB6e68pQPLxj61IUMbv8zReR57swI0NyE2T1s7fnQFvFFs9Y4zeOIyUxWJhKhrqkj
ljiLVaECgQY9DQEDFzvh0Mmkp3du5ZLAif2VbNMyZ5sJXCFXG/it5gcPkAm/2VnMg2mkSJtzEjTg
a1Y8cy67qXezx9G/MQo3+BZbY3mL6KraoFtRW3BS816lIyFCdfto8wo7RFs3Y+MGN6kW7VNilD8o
7Iv9GBhkoxWc6JsRTX5Twlkj6ANGYFndRE1WHrzsV8M1lLkx690W16CN00gp94mzlLgXELqHaSFo
Njb0sanae6hFt5Lvz1oAWa1VnBC+M6LPUHHj8YT1a9Uf7J+Hiip9QXO89IdiHNGqAJzGNDDnQJvk
d6U8ts/mXqbTd/B3D8I1syuJa/ltkupbnZT7uENAXdrvQSpfHBR57O7DyBdsmhb9JojX+mAt4TBN
KeNrLMpHVxWvFpajFUfzUBvICOcYlWsesPggo8zF2Fbby0VLWN99IDfDWLtbA4oSFj0MibFXJGwz
G0gcyQt99i6orbPyp3TXVMSg5HbyAioAMhr5CsSDdmSXghMB6AvptnkvjIIODTCiy5M2Rcl3m074
N2ELrANtse1/9Elyl0vnkJX9vSh9spwpFy7IE6t130xTYphfrWSnG8k9YAumYFbxE5Hmg4iNV1nm
x9E+FVGSnQiqkRQHU7KlgbT2Qzsdi7n5yXRmz2OEUwsZXMNaaU8iRbCd6rg+s5bRx0rMz50RP2Jn
OblNfwt04yN1l7ucO3ZDakUoEwujbX3pVHk3Y6OAyuZHh4FviDyAsQFWnnmbIkjZyci/Myx19OTw
SpTrCtk0glAXyX3tdI/URmj3DBKcGtdi6T2528jyr34OKUPR0yQTZHOwDGGn1E2Pl/FOp8VnXAi4
D8PQRiCnmfQNHq7epD5bvv+9EWLPK0I96gzfPKs0vgMVMw+280u6Ax7LLBr3BaFBrWpu8Lieh1Ec
rSbmTjJQbWxGA3yaqG6oKPYWCriNylF9lGmWXHLDt85opuMby4sL6ooiuBrmPVVaw0/E3xxVprkD
p9Od3ZyAIpJyn6u4/alZVO+x1wTvcIwAeyaED4oEpXhmQhtNgn6fjSUXXeIzn+34C84qUzsKt/QU
z8MJFshycLssOtpNLw/gaTqU4DRjQ2E0PP3+eC3mPjh6S9EfciHIdu796I5hccmGXn82tOmfjbDj
/eQM5Y5F7w89z9bBcwlr0rV7cJMMMkYjL8xIn0l804e0syG4WAv6MauZWRfjnUgspotTCm/PJx4p
qP0lzDFk8gsM87p0VPcxpKgwXQGpTpm/BUjp2fbzZlANbgFvRG/CmCaeaNyg8VT8XCKNfqeu3mSO
b9+auaxIhIPLbWfWdpz77JDyi4Vp5LPM7U0A5b71WBUcaQyInxgzhA0Wvl2d+Qhyxia6RpWGk+wk
LfMHj09Nz+ANqNORQeJ2VvWJmUXFTdc193PObr2I0DRyjPY3ZLD5N/5KI8QHL874l0AUYp0MPtmd
Ay6EV43BOIFm2DcCrqEyQA+urEM4J/Ur/cYEcAnHDoPG+OisdETYqfgRV2KiMzpeyEwJVirKhTNE
BYeItJWyOP8GLrqyor35jWGcnS7+WSjCbQluLDN/n+rV+FX1gb/3mix5ICTGuOS/uY59C+KxwlZ2
autqn9s0CF5+jAefPGJknkg+mIBdJu64ciOSoL4oJeOvoEI9TRCYd7esRMlgZUsG+YqZrAoKUxzy
wCdVZbfPqm6NH4lqu3MLNir0au0c0WKoHTYdVCrzVN3NBL9sMtQTF42F4zitsEvhsG8fVgBmvKIw
/RWKqVc8ZuHiXyB4BWZmUDMpcUASXBIEuGHdjOnfhxb/1uzgfxtPjr2mS7v+l+nMSrf7/9X+dfvV
/Uuc7R9f9Mcy1A1Wyb50TXakv8X87Jz+OQ5gPuDDWua++7vX8R/LUPNvpu2uu9CA1SpmJIgFfOFf
ZgIsMCWgZpp4+NDuv+WSdOW/TpTgnvDDmE14jnQse/1Rfx0KgLLtkoWMg9CCl8t9NKUUa7kz4xcb
PV1i65JSBzvJlrPeQkggx9aUOJEPC7Cf+FarqXnRgKbcU0wEXL6dq6YYr2k8OPNKPRm5fBfpqF1t
NqNLo7xwYiDm5YzL52a5dbAD+jcIHZzl1MmeTRceu2n8RsM0pZAyoqb8OVHoudQ9/gyViFsnvhSW
LgmT9dbCaKZGLu90h9B+16GEUJRPwDR++KRxrXzcNEjPfVzO8hZXexVB4sIftpn1KEHNN3oxt3QK
+QdkNISQrHEKfYwCkdPMDKMtjmVnm9EW2nPNpZkszYtUZJ+6NjPSCKnygIgf0LKLdeRhTOY+5aYn
6tAe3OV2CJSHkqcfScqAv5A+9HJMyKqvauPX4qX9iyADJD5KxI/caUHWro40K7KvleF1Wzfz8faX
UXAScYeESM72LnU6sh7bCttYoiugtVFXchHJIfVOUEOQOONFpOFFCfNGoi0QmHLdaxeRxQXdCtkg
tCvH5Y4QAjQWAUu/07yoob3RjI2uXaeK0xw7kXoIonx4zbgAtn6idHaMp/KcNfl17K3FuoF2nBAZ
0JnTObWq+ldm62ULKgNqceJPPdaI3MTAN035JN6E5w0wk+uE0DTT1kzOB6+uB2oJHa3qFrs6MSix
9d42mvoQOeyLydPF8HByRDM/uLHNfbSm6aU7a2pt5h+N75EAOcbdj1FFjKUN2aCcjPN5eB0Ly3nw
JYEanIXNGOIxYAI0w0Xetp4aXuD1kinfDLq8+gHAaoLhU/lkGAZUZiOo+kuTNEn7bawiwGUFZT++
AoWRbhMvseyxXHbxV+fkrFlrZj4bFTseAbFIvimkoNP6iLziuQ39wmngwBoie1imrHzv16CLLU0M
Fi50OEOwaRKTKfrcWcm8ZYGXAxhuhVVuQM1YpL+6zPEh/3tnn+/3bnfOlG3sZsqdcFJdAUolsZth
g6KIyX6BFx4tpEVEilu28x6hkk8Ym2taKA5EFbpO6jzT+NdXkh3Vt25uvTeTydgrF0MVdtXQnRrk
A9/YMNZ3TOtnyF4yrm8m3+QFJWNmPzOzSfdkt/CIMedOvpsjjqB92UOH+y5Q3qFtiJ2OuJPGo/Zk
HPhNGiPDD0A5pCObref7x65FoO/1KXW3iufkrbIbjBnFPLb3QUvIx5a1B4EbyOA1IMk6y66wWfwM
RvKE85a1FsWqnzYvPR44e7t0ua7Yz/jNYw/P0ttG7EaWEDbktMbeVWxrJX/tF1A44F+Voj+DtJe1
yGe72vY2TjRX617WYJskVD/fYDGhEI4y0TtADvwKDbMcZLE1kgyldJtNfJtglrRD2AEMnzfQ4+lI
2nGxeR8KQhmTRb+40FXcsGtK/9ra1PYrP2UkoothQups5UrF8zZprKopFLoPMCL4tRYz8te859jF
WZ0fkiW3qIdMZMbxuIlxlC+hQTBGFLLuZfgSaBNFlKFnduK9q/2R9EKeoy2Zc+mwXSjoPKyeIz82
rToHMA4dAaEgpEVkey4VvzouRSfbA7qpiU/ZwCZn35hm8uWnOBa3xugsMZLYGYpyRq1sbVUr7Xlr
u2zy09g3ow3uDPYhgr1nTvTdKGk2G2Owdr7tFuPB5hw3d/Oiu5pGsZqRs6aYOA9D16dNaBo0dhve
JiZD1ZJXP5Msi/Vugpw/H/xIo5fOVFk9+xA/vzBasFFSeKySzRzMrMUqBZXrNoOqk+yNlGZ1h21q
5ccQ79K+Tm49Zgcrb6YrPMfG35C82X7aDV3mfhJ9fwO2s7uNazbx94YcZwI5BxI0t2VOA7C1cK3n
kInEzB8KmPR8tspqURcEzViaPKP3q10rzeDW82Zh3BEBVabHxm9Vuu34lBn3umYNdcRToiFWj3WU
HxoVA3CXGG9f8spjHukHy7jhlo4fY1RP+UfQ5xYf+hw+PuBxmyli01dDjnR2kfNKmuJObiISJWVd
EeEmq3M5Wc5Iw82SNGwbZcmzl2gmcNqt2VIiYNagoS3lPNmZVMlpbHXPaLcLmMyAxcM/I5XL6Ygt
PwoRU4JelrlHbAmj4Puh9kCy+/VQPiV+ztI1b1tdIGXPFow5sRENd1p15KAjJwb2Qf1tZGFO7DzK
QtflKCZoiVVdnwIB2PgRAXIIrF2CiwARTV98nlO1BTgkxhPOidJlpVaizbQG4Wc3dIL+k6kohw8L
masky4wcmCgEZ91spYhpHUzlkCxM6rDmesboWnJSRQM5BILPnwUn3kleMeV6JtLZJHC2rZvn9whP
KaPZI3pX9qSkujqF9eipbgmOhGfHzGLrOeeA92dmRiItCGce6tr4WFJVz5u2Zea2b7w0gpLlqNep
0iRb4MzRb9DnGzJWXO9ds1N+7D2gRJipJcFbgMVtPt5j6YjH3DAifhWFJcAbU03P2msv3kVZIG+m
eFAfPg6jszuIUbDXxtr+1MhFWg9B5Zbc9ZxWKmydLB1f2gqQ7K1TkfBwTFbSwM7RuInCUTB8dKY+
bHTvpLu4XNi29NxHIXOcuLp2BviBheWLCWJAEM8dZB2esSptr24ZDfdz7GP5N6UPnHfoTeqwOj9q
TKbgtCY5MhlQ476mi4WRhuYDmJRlNGpLq1y9MgnzPuxMNxJ0RC8Q4VqY0TFigarfVdYw2ZfUk4Y8
Qfzx7erKvLZ9IPjGXKDbTaXhPDpZ6U/fhb8g/7t1GzOXW390mKIRFZHm09FrmgXPYWbV08XSRmre
ID1kayII/s2+1YsQ6dkokvjJm9zunACpSt9WAEO6qeeyNI5VXhgDfVsr4M9wgCbI28kYYI2H0Jkg
tl/O7C0lz1fA8N6GxjeePZ0l3VfNwqo6zkHjZ7euch0O27LaRzDJNwOjvzDS7cy4XQ7RNpodpQ+9
Z6A6yCiPOSEnzRhyJOiWOFPSu0ZAbSSO8JwzChfIo5AstDcKiFJ0bFbjY7+mFEEZrso7MJnrNMs0
luExzkTxs0C7/mMEvfzL6yMD+drvETnXQAXPq+jcS0IvT9Vl9+9WYtwutB4UT+7sP9WJZFBPTecu
z/Zk4exJ+kFA7GdIHTuMnYAR7IimZGOQKqwGNQeuvKM0k4A11kqAvZmJMY9jRe5kXr0SI+O5l2Ws
iin0jakprqy5nfipFa3FkLJrzGPlLWRbYu3FTNg7FQFy8PvUnpwjxjR92ilIudAkdDhbHn/ypSbB
9pppaAFbx3amYFcS8QUb//cGxus95o2zUSz9XfV7X+MNFQ5h1CnjEz+EdQ/nITeKj+hb3CEIXqpd
bkfzLTqAgmHuukzCHjE3Oxlk6nUUwTlpeutHWU7BvU0LYVyLzMpuNZbTbYSVBoHLXcSkZNku6+6L
8e10A9OUYbuHsElO3KW6xIPA5pLTemo0iLYCPZqOSr/HzMs5snFAUVk7NeaPJBbYe+pb4+j67aFr
cvtZ2fwJuHENWEzWYM+/dL0MLqFjDnGrPKrVLx5u5tDNhGrJMBy8xLhQpTpT1HhgMUwdiHObGsX4
4vgp57cqW5eFDqjnI3n35l44E6SZeLYIlcWEKZnkxFNdhV5sNSw3utxLWRzF73h0HaiKToRYnq0B
S5cEU8sGTauKMQ9w2o6QVQna2P+fmODvpsM/FAH02P9Qw/6nucH147P9+o/Pr/9gSaH/ajz85xf/
OT/wgaAKcjsF3ZeD7vEvcgLrb7blo+b3XKRkdJuoBv5UFDB1QF1moqUGm/rbsvjP6YFATM1IglV6
wJejvw3+HUmBLdfpwF91xx5JIquslm9lonz4LTn4i6QgyDNW85mCZZwnNLFLbGVMbDPkV213aHF6
w1XT8pT7LmbrfBlZOKfGsTQ6BpE0HlgVm+DBVoO9HwoTl6w2zGvam/rkZx45JKkSIX1dCQk+tWDC
t+7rKlRFNwayJVl5j4R1tDekNnk7drf91TKld3KQlW510wsS45dgK/GH7EZ8SpeJnniTgSUmBLNP
Tsyn6UXaVBFSFxgHBoTyjnLC2OWpTdKkO1jruiknojwxySlsbYzEfv2jMz/I1ngcMp28g+MUG3cR
yYsnpuKcOYTWSY7ZU9Qv46m0gmXHKm6if9X+PWVn/uImOZgDae4NFrJPThs7OyFY7fTpuJzJg+mP
fpe7V7Mtkx01pDwicCDQSNnZDruNsXez2CZS0sOygv9BxOLZB+WwwK8XiV2/ArzRy7XvMzdosQyV
ib7MsncP6Qgt1WvJ+mnqaTpPLkBMK6r22o7tk1O1rOkSK3hEItgeVceVag1+diAsDI9+hV9Lo63b
p0ESXMmvxoIiooVuzpjkLiHwOKSXiHdECxF1WHasPcUSHYnOrj6BPzghsy1myG43rICG8b2jUTkv
GVMYavyOkMs8/wZnis6K8E5MZuUmN/SJ88y6r3yUCsk6sTeINglTr21C6KyAf4rU+NFw+YdugZze
MF0qzsTM+g0g3XE/gkfcMDWNMOeXN8tCNz+aBKjsyrggzZjw89M4jsmHWvEKiJrJS96UWtm7iZ3Q
cxBAso0ZJaApZD669ePWvK1NAEOW3TFH9+ql2WbR0v0ashOMe4ttYJVE0y5OuK+vcrGj0bixliEh
egFap/VgZ8MK44nd7KSL1vvRGX7xJTwO+Ri1tUZH+zYQEuJtydrVfTjXXXFHd2Ndk6RCDwLVPyaY
ioJnF+WISs+ja0RiP0ckKG3cgORvXnuSP3Z5QYGRokgjXzbypRcmeYd/aGq9/sTMOXnDjI76vLfa
gKRPS70JaSdykxlZ9uiT5cLScuTzgn48avaVqbJfpiCBOqlFeoKea7z0wh/2kTv+KKc11XuKBFAc
grrERQld5BiiZlpnZE3ebUGu7lPRlO7Zx1N3n4nA6MgJIvwIMoP8BDds7QLq0682EEZ97gOYlJaa
p6PIVEqtNDmfrTGhny2KGzTFxlvQFs5zAi9soZyGUsSn/pTDeb+ldya7UuUKFoMJx2mpyuzGrF2G
XFZcVN8GRxdER3YagWQ3EhFZosY/kDMUMgerUOJ2/gVaVn/FerTojQ3LEvqpZJGUKrdl7TLFgmeh
ShxkqjVg1ZQAxrdC2vrkxlWDRAqOJCY8la1LcUGFbLqO+lBjjxQDEX3/KInZ2hjMEIl8NT0BPyLy
69sl60zsbpk97iZL27eFrdO7WGdgSb3Gyg5cvvl5lL6BmtyYb8aM3qREx/nKSC290F+Oj7jW1S/P
7ansEO96X0Ef91tfsjlWNqwzu6PUJcKdJXKOyOh9LvGBb3rRRzflPLIHS5KULZsIqgThittcytQh
T6Oad1ZsBXuhOn9bOjOd/NhhGT44A5SvA+nCTBrYFSIAM/rWeYUYfLDjvv/ym6R7MLDYhSk3wht0
Km/XI5ImFcsezCgcTS8NCakobuFPNUezV/MD2Grr2GYcCOhJp0+TVJNd3JXrFlqRJ84/cIDNeGKH
9kdudi1LJcYwvMg5PYg6KU5aLjjEbDqL/aoiDkeOeLWhk9Wnrkbc2WtDkluG/nsT+GbJdtUangra
yIu3cGNtnFq3Z5Ao7cPQFdEptgD5h9Tqw5OIZPNpAGO61LQhXCyEvqGQWEpOReaaV50TSMLobYh/
ufGk8bGrFN+a0wXD00Q0Dy5cECQ9fea1MCPrmkn56eHBnjhmHiqruBNEp/+MugUBsNqRXnYQAmuu
ZEx2Mcy42VIaJvs6YpoFqDu4XaCjhYkT6DWRY9rMDEl2JaPwJ6/w1WfqW+m7AQkjuTSuUo8FZSjg
vxJZPIyc8qYlLxgPMjDtQzN0y66LU6IbmGAxQXiC/ZEg1ItWPZlrxDRSenmI3AhqRTbVxVOjkhaN
GIaOa6fj/CLzuvhhiobj3Urt7My2EooYMubmdlgMCOh1caa07ImBnY1Wc6643pFxpP2a8OqBCdHR
836XK1lH9wxJmBCwBu5GlHwIit863wI05valjb4/MdYxVhY9l0tkGaTfjHYaallE6d5NZbHsnCx/
VlL8mAyVXvKgjh50JJerPXTZq4wNtRJ+h+1oLN5ReUuzywa7KE6jYZdok7Iuwcjzf4rZP8gaf69T
HUrB/6bIraFqxP3Hf65v16/7s76lUg0cx1nZVX8GAPy5HxN/wwlIsjzbGEGJKfiqP+tb4fwt8Bx2
Xx7SOUlFR1n853ZMYDK0hO2xHvtj5/bv1Lee/a9mLg+kFOkFXkCsE9ZIf61//1LfmkjRCTCNBtQD
fXoGel7tS+WEag5aKAZRc7Cy5JlBXnwn0SOEDkCmncRLxF6dtS9p9NMOwNF0NDxOyDb2o51BykdY
jfDhori89PbY3/xWwrIgqQ+L1QEf6qMpLFBJoP/3+q2DUu/VtGFLMK/3LqSSYMSfGEK0TtpwIHN5
9OxItq47pjvVjSjXS/HsFEHO06i9Y+F3p8In01E7rPMl+WSbyfBLBgRY/9PWhdDUiv1AlXyUXZ3h
79d3uJHFKxGYau/XmThUALVO8Zi8T8q4U3CxjiRkATWczXnH2W5tdZqLg68N+9wYZLIUs/1K3DtZ
dvUt049zxg5l44wDqYpxPW4AdBogfMc+ue+xGbxkgXOLjUVeAhWTVWCP7t6xsscM+y85PLHaju2s
bmNr+MYlhNkjT/YDV+l+ylg12coHAGWnhxa3xNEV6DsJD2HijoSu5CLf9PP8kzF5d6sGYMcOrug0
193Jy9Jhnzms4Wcn5+Kw5vbYaDM9JZbXHrwymcKI1TiKWv61nNfiDjZQaHYD42Ko2NtsgLjs6Rkc
k/+mWvuFNE5G67KFrr0Avqjy5CVr1Dfbq0k7d6E/DG3xZLlPCSz8qxsl3wyAIfhEIIjiqzI+Wr9v
wzGpv5dm9FmkNP+FCi5mEi/7NvL5XCEIPmRO9NC4MglJ3SIPz8u6/TLjeshjx9lLmq9VQjjv2qxp
0GrI58K284MEhXSizmCULkpjM7rZF+q3u8FMqp22uhtQb19+NmJ8SlM+4GPa7BoP20wv/YPJgoZl
xPRUg1a7yVgyvFlWjoxz+c2Xj7bsZKZNPWkm5AqUfVZO+aMq8P+oFGIJ+lJCIaL+arcBcQddZhyx
wFHMOm66NxlxbpIkUrBH1eMk2mll3I5bAhXs9ZFRTySQviZRYh0WVdA9kDiKYGdSR8XCeMvaTG7x
U71EAFd29ggzBEy6CCNWsNfcsX9UKaarhnLRsjKq1GHUuCENdZu70YNZUsM7c8Ick9rrAA5mvF8S
o/oeoOEJ/WYwtqPDHN+uVbEzpvQlTjuGYoUXfxUEKxAJaD2bznAmIeg5QGB8QXHV7BfHe5crwcwc
kWhVGLB0wgeG1HLUysSBs04tgxAhq77Hp5kciE34pOATx9iNxI6ADnFjIWI+UTLoDT5qPjQjbvul
dJtdO4sPcKcr/bVLrlGNlDMpsl3pLXdmPfCT8qq5uiItt0MG+c7sojqEuB8BshTOa2NWwTUBkMp1
TrE4zwksFPDHJHs6h9Fy9XaALL+r7MSGd9P5IM/8jvF3H4VGgoJ0iiZ3b5sJ6tnV0dPkvRXOCXbH
HGxJsMmpuTZ0GfIgeoURCEz3mjFnH3A9pvA6qheQeTNrjUxdBpEa3MD+dJoIg917KeSiDBQnYZKd
dwJep89+E/2QQV+HnqGYLaIXxSMBI8sR0yYXBTu/RSBgYcg+zT2FsfXc5QFtoB19L/gDIoyna6eM
WfbRxHHiktG6hRiDX3Qo91U9QAwoomfpJm8eDi4SPip9QfTMR69S022RSIeF2XitkaJt58Iej1QT
nGsNtI6FtNR9bnjzrp71C3RX960U3cvIPvcYJfa3UvvZXiZ2fGZw90J0AGm7RB+RbuS8M9M5sfdw
H+nN4m0jIvPV942fQSqqixCQFpuhrMNxQuVUGjlqCdfckGLbhCUb6ZD30mWXROidxO+n01ncQE5k
5D7n467k1wRtkr+bg3pPXB7a0o6bS1sC1Y+6ilshM35mdRZdUpeJ5ALBhEBSFwbb3p4rbB5dfsfE
9w4oJIqIlLe56H+oQd6WTE7Y4jhPiedPh9iwDo5PtpaY6SsloQ1bSzfwXrQJmzAS/QpW+gKL12/d
sSt3UFIuU68OHZp2KP1ghnVpJ1t2bNd4rAjyaCbo1dmieJr16wKaiBKQyrbVH3GHu9lCQGfgvDxY
owVAMOJ6HJKBuDpm025J/1EODpFtRvOV5Qj2FOj+cETb37jjTPYnOuaxaYrXHN7lZWFjuYkTyvwk
g0/Sx/F+XBoChbPqOBjEduRm++KZrDkRZ4MgqbOexp3QzcZxKKSxDnOZiBThRDldRMNyKxcMLLzU
AiPQL8WD2QwkhkkYUpVPlZrRFJp58awZnO9N+tFNQwgVj1PPcmKaC/84DKhx3bSe71w3Ti5s728p
1LsHL20S1p50mgFJRFvmy0TQDkP2ZPkeg2zifSi6B965OKjRR/JkkGjOS6qan4PW12hq84PI559L
nYOLEfFBBKE7MV7g+BebwCCSeorpnJwGLbU0mcsFlpmFgHIApY9Wv4OObQDFRV4a2TmhembJ+nBe
vhdmySSFqv6E8ONnm5pvUydI6jL1bZK1j2DUPofM/9SYZ8NsIJovKakDCkMCMJrjDyuryKdD/Kw1
Co1uAMeHDeUt6jPOiCFmCtYVzA3BXuM1jE8JKYRnrzSKr8QLlj2wPD807Hhh35c9JYn1iNgWrg7D
Nfb5kyREnmCmQAw20lYGRYMpS6BBRftQMYF/dBpSYnzelG1ZYKIVLNi3y1rULDx4fTW3OwKgAGrF
3Fs7BzPrHmCOF/ZUICfDINIHSpC3oeM7g7eQuyknDRBh8aHoivIG6hYnDKFQuykV+QY3gx9Ku39x
sQkfEDCFQzMv77a9nOKme3aEqHE6B9ahi4dnctHe0eyJo0dq3a51xl8mIW5bt3HvBxVZYewSgstp
Kfvlh+dynVWOX+FVreqwcFzYn5irL6Y1xiHKW3LTc2sKNZLX3YTHfLfKNkIZT/02sMdbLNgqjNb5
wOxM37wGzA25DuMqG3jVDnEpy1CHTec6+9Tok5DF1rSvUqhJUrRERVrS4EZ0VkAlLCCRJc6uVYDa
HWZIgwXCKZ+ZBVfWJfbSJ8uad302nYu+bFF3yE/VBM0hUkt3pMzh0w/O8cTG97UM4nJX2qAQRnw3
G00mEwaQGlFLR1xibtLyKZ22RyLd+H/J93GWmb8h5svFW5mXqDg/orwfHmUu1V05Z49zq4obsKLi
2IH4poHkXzMgyyvrKj0XNtOYoM6cnc7BwyUFDltkmeUuqjvz0Rvwc5pgxwptlXt3MW4Yf8ESzxy+
tfpOBP0hKUrYRtZzy+cgzztIlYiCNtXAwNAOop8OdKSaDfBhyCc+RctwEIZqtrUoL/lYHdyYMOJ8
TMDUYetx5aFtGOBRGh91XXInji9mX577xSlOyWSQGi1J5BgX9rwWU+mcT2cPcWdLX6GIDzAYvYHS
3iwp6NtugeYG953acURdHc9vtYvgzsxL5OVVjL2sOUk438bkWRe/x4Jta8980vjzN0YNUdMvDFqA
vp0OyuSUaKbxZz14W2XFOP6yET3dTMQWBddJZ+q9qeLHpc1erDr9YGV6U8bVwYzjq22Ol8WYz3PB
LwuW7DQ7RoTtQP0gdeG9Z8F8kA7B1K4LRXwcb60p/64rje54KW+cYdCbfhr5k9uy+mpIPp1e7MKR
yOhGax9Z1oWDI98B3zpKA1WxX1cvBBSxl/a7XTVNb3HX6W2F9G37P7a4+l8LAfqju/9v/bDPHz+r
/6q1/6cTFukrsX22y1YI6Zjnr/37P1t7FlC2/DPkwwKQ8o/W3sUla67cIGA/pms6/Ld/tPY+SYKm
gKYpPXSz/6bw1XbMf11dObbrSoyNDAo8zwr+pbWvh2rKxVAOiGjI7NyIfHBuCcX1vmsW+NuSieq9
ub6McJxBRRLdOlr+sU2L9C1z526G4tN5t2ZvUlAHalWaK4H+HvEbHW4qoehuoJ5UzrUqJWyCEj8/
48d0zF4ovYcXIibIMUUHXxs7RIzVPR1gfnTRvBznQlRHWdv9GaR16oae0xgMW311UHO8vFFjrw3l
gsHuYGOCibfMu7KXyRU/PMuhWpE9IbbewN0figCX735I5/qe6X6/vC5VL77hAR3eUPQdGpOk3kJ5
e+qQT0/R+y7lL1IDruSpzZuonD8qwCuHuDDvHSjMcy3YnTQ0GMqbH2MTaHdlzNdE1gvwYVkem9K+
BxGKANMV+CpdVuh1gUGOdpUXHWwA7OPgKSjIaTBO+HSh0yiwdVlTlhuWmQMEQjjIcdE8GTBd9i7b
lg2almqTFhrBmQYkpybiGVyQLaFj+K9VKbhz0DNVZe9tLI3GVP4/9s4rOY7lSsNbUei9GOVNxEgR
at8N78n7UtEAwfK+stxuZgGzCm1svgTAKwI0o6uWIvAweCOBri6TlXnyP79h106YXfaQxCn1fGcW
m1HZaB5cx8iE6NE4iDAwCOQBkmykh2bDojCIVSmhXJEiMe7MsN2VMb78SeCduWZw6mvVitLnKIes
NqfJcj1qhbulq4+4jI9tmeLUVVc2dyJth7uYUGRV8Y1ljBx8ywTc3eWqjW9chzPIwMaX2jPLFsRW
6EdjHJ60FcGlbcjewhHNl4KRtiYv4EEUNKXQIJfwYbAzTdm0+nL3CvlaSjZJ0jLNbJpnbHLdRL8X
kWqekFZPx3Tou6U+ZO3CKvUbmJI0/eR+Wcids6Gk0LfkbjotSn1d+vB8FbW88jrf3MBbJatK7sND
vb7UKmqlhmp3lmVhvCJJIZizVCqbnie0EWzqpwZ4u5L7/LStxl0i9/4wemm9STzAk8gA8LLP6MUR
xwA2UCZLu8NQBDPIrrtKSoKXW0CGKkpAG0AIFs3kZCtPYhFjMzw2QXMMmzRb1MAVRNA9IiXEgoGl
YxE7EZiGMSTrGJgjz5Nq6YTkfxEsSKhwNlorJa3URSkREidCOVZK1AREGhEisu5KIiqox0bM5r2j
RKIt1NafkWN/6pSiXipwuvYI1KBVVuDe0ajcpRW8Ws2+qvP4qpB4jiGRHaC0j9AHb3yJ+YwS/cHu
I98UEhDq7buxxL8EHcg+l5hR41ZQhiSOJHIL8c2g1mtdtirzjHa3Jv+JlQrd46AGjSpkD64sgse8
d1AlSdRqKqQv4ZidkXLTnvqMEl2y1EaJdgVVE6wdALBGImGNNWDDUzmLlIgxXNCjkpzfcNWTY77u
i/YjFRhGW67DO+waGM+o4aUlkTdXYnBToehH7GFPM/h4N/qAN2CmCB/zEYnfmRLJg8dDRmVq/TZW
8VEC4BeViD9dFO07F2fkdQBUMCd3Y1yg32F+CLJgA2XrLAiUT3FLamajOPyVKEsmg0a7za3qrA6j
eMXtDTfY7qC30aIFDlboFenabB0a5GCeYJj0D6gNWro7fuJsyBOk7aiM115PFwFvI8Q30wSVSyKj
iuaU60SipaNHI4lb5FD2FNqaJUG5JWuURLMwU6mCzGGpSvSVfmW+VgY9naOzFMd+mxxhEVovsfKm
5SAR3Mlj/HQS1QW8HWjIgvSSR6kusBsgAYGrxxpfBGe+519RnrNBaMx6kQIbuy3BP6mTRrsqxuR/
RlUeQvpl5sJo/KajcyTcvsWE2TjWk3yruIGPMWTwiEUJfEHoWX4FQzpi4z/TSv1K48kBv0ErGoLz
FoP2SldODRMbJzjDn7I2GWAqera4YJd6raiuvYqssZ753XjlmtVjwNrnmNltHtq3HXF5tm2d6k0a
zyC+odeiPzaTPj4zSwt2LabxUQX7e4TMqeXxnAQEqG4DArgGsZZG2LNurT0bsmgcjoAkPps8Bsuy
9pjyE9t9jO3moQ6Ucxtv6qWiJccNagHHIkLJan5LrfQ+pIpfqU76sU9bbR7CgZphWL/VUXfCqmq7
pZEo126f74OGwKxYvY2tYPjSyYCmgkb4ETtE0NfkFNROXVD6XxYGRtAJH8YVyBcCnpTfkFroWzsE
/xdpS6OXX0HN8NdhY54IMJbjLIWGHcPpT5ivSUL/6OaOu4LzeAs7hHJcNPkOB4v2Mm6GldqPMS6t
dpY0R6EOxW6Jaj3BeduBnvL/pWdbRw/t9w0ik0Lt542la5HdPzY//tRLWwlXdqiiBKRoMNXIoZOu
7C+1p6uhrSIQznLRPGmvaVMwoyBXWBCZYLpi1OLB4vpae5ofdAONOXwpslcslY//kbbSWx8WatEn
vRXcLdd2NNm/+raplLtlntdhg4UU2+slqpeC+ITYXwlkAgsXOfYKJuB+6DrjZMh1/Xkk/TQYjxL6
FWVLfjvui3DKDI0febu//XZE9DCS8K1elEp0p3mUOngLTjOacOkzz++n3/Sj66TUs7nl1OueDKz5
9ps00rKdwIVPRbC0v7LV2l4WuaossBBIT/ug0zDjxiDPUPt2NWZ5uv1mYJw/s9C+TQB03jbvTEtT
PcNyLd0mfFx331xpwA7DrkiSWeJNN5y1DjE1yxhZ/9rGe2JYTzWuFokSQ1quBsRAM4Fj7Xagz/Ep
znBNnguhpBG73kRgQ2j78SdSXGoXeTsO9h3ehd167OO0QzxvS49lMrKc0rtWusBX51VlKidJEwbZ
nPZ5gzubTqx9NygDclu3GLxZj7XBieP5CmSmWC2POwTUO0fpxn0fqvClokqhMMCTncDSpHcg7eA/
U6ydYQxaNLeEueDVog/buho0b6Zhn7zTPLovc71rEKxZREtZvYrsXSVuehFCKt4AXeNDnaQWlvOd
sJp2M1SEvS5YrYS6ieDn34FSlXC4CeKgLe9DCgsq57QgUhDM1i9CsRRFGMvQzVq5o4BuTVpNCjV7
IwrMc+rCBCxQaeqf+aEtLfSTngox6xr9pM6pzBcmGpfjzCiy4//fmv9kfoTq+fP58eZhP+7T6AcT
JB97mSAdlea6yR4M2aeJG5Qkj37dnNNbh2qKYNWxzDfZnc4HtmAqG2+HRjgtcXb7X+dHjXa9KbWs
KuxSyF2u+4fmR+PtzIF5lkaLH0apqeP1b3OC384cYQlfykC2s1TT8j7SqNJqCkVQq6FZNArQbt8g
foz8ZS66ak1MJk7VVt0vcK3CpIAYoFEnDanATHjeedT+esiGEvCWSLi9Wis7nDMynzzxctwRILro
qmLlxLEUGqFcPfH04Mg1AQLwACSjIWwW4UBezxji0I7HCBaPCrZGVRb2yyFX4P6pPhYMpZcsWhQr
K2o5BUL1CPiNc6dDd3ZVt40NqZFM7UrrAhl02V+WFm0TOyWMCNUBbgs4rVe3jhZpR5mFsqvUy+g6
CA3v2umnEixTIcnTQMchmWXEVEEyG6aEwEXtiXxmF1U1I5eq3WISmt+J3qF5QJAklLVghL0Wl5LI
FuZ4wljOE72NLWuDzwOstyQw3KPU9HK26+ZSDLqydp9octgoQJmbag2LDKxhP05PlLpc6+Jj2JQD
vXdJuaNkQv2YWOFpKxl5FdS81pUwtSv5ejD1lLtKcvgqyHxcvf1Zlfw+0jeHTSs5f/j1heVuQFT6
aEhOYCHZgXSKwwskLlAGm3rqzxPJI7QMaIuKSN1TvMYLelCaB+UwhRtxlLqZjXo2HnGpgHt7j5Nq
v8qUKLhtSw/3BOzF54XkM5JEWa8CDNTp3vhg3DwWuI+lgYM4/amkuiMi1btyeoyXZu2YRHfeGHdb
jWQsQrdz9J7LEV23PyfmAqolNqfJpZ3CVJuNlQkZs1fSQF8JzVf8HTN+GC/CkfxyrcX5chk7MDpx
aUjPQg1u1rJ/onw2ul3fYShlLOqw/6ymffgxiW3nfpJsUVx+FDRpkkNKjLcF8GPm/SnCS+NTIazH
wSHzQe1pfHkDBr9ATRdd1CLHGtKiX6MVGcSskqKzmZ609llQnsVaS+5LMXMKDqs0uwk+q6iqtY09
VIucTsdTM2uHud2aMzYxk4sfEspQkHZ34Q/uqkDqG/f9fFScms1TGXYrOFszgr9j+IxFdyaUzNl1
tp+sfIfdXzjk8cr0sLGwkBytffrZV5k94cIbe+EdENx4VgWxeh4hrJuH0JaX7F7tqxgAZZX6mKfo
Wku+SRAyEJK+2NUCJmSjWiYB3RqJbaVW3sWmmYLaRPZOMfRwM9SqSsaCa2+TPCwWbY/RkIhy9cS1
8nTRk3qG/MbO1rmuNUed0MIF84Jsh+uiXfkVjRM9wPlY78ujsm9CscIHZVgYjXEdCVIVkHKtPA8x
tJsTzG2y1kV+6pFUYnyMwrGcaxUIBGXpeJ6omrtFY1Kequg7byCL6EvK0um+75ToYzix+xOe0CDl
+mjPE4bArVtrza7qh0+d4TgL8I9znHAXqqXReRV1Ni+cNkJ7GixsFFQCxeImJ84iAMJCMj2Hd4xI
uTL7W8Cg7HPTtMAwbW7hgevp/klpkiKeptiZwDYXa6E05p58UoyhCGglO9J2WnuGgkY9DYO0I5mr
r04JZZegf6vZW8Npe+ID1DagdnVt7nsQDcs66sojt0qb004LkyX+vtV6Aqc4H3EAvKT0stctWtsS
pqjj4L/TpHcgx+42qiqsgYgham5QzrDdEklJFFnoB/3KjePiBHGeezLqXYz1dBJEpwT4jJ+KLO43
NpSBewNDGo1bkCjnnWO125EuO9ghFPqlFbTZZVASVhb5MZzjFnW56yVpO5uwQr7QM3faldoIp9un
pwGe1LinZY2NqNOLgAwTu33INbVfsFCWGwJHGCA6WULC7o2F1nWRWKQu3N86UOH3Jm3mriVfoZKB
P2bTo1vLE4E2D+dDKqYoi2mzpyYOagV9NMJfcMqjWoWwXIb3SeZYR70GUNaFNH5bMQqMbmwmeq+B
02F6TXkd49F3GhF2U61jrVE+RkqdnAzC0un3Jf0ZZAD8U1pg8y9909KY5IQmqrdUR3yW2ScFfkgX
cReZ+9xNzZ2Pa/SVPqnquT4Bjmhjl9wYltGe5HnU+SsDmvk+jPEla/PUtlH8DtM8iNB1EdEmySfK
OGwzbWz3+MHRxO3dEDo2DOMCzps/nYUwSJCvRkksZd4YCSO3APrVlEiKwtLkInX14DxTM/MkJSwi
XUEQ7AQMDIpC+EyceTq47lpHngvxNx7iBVuZdF3WFUuN5MjRy7Nu+ywi5wbpeUinVnOutIY0G9Zl
pTlXIXHdgd9MUA1KJzjz8si4LhA5f8GsRmrBKScYd3pu9Tu+2dhgMAfXKUEqdxdHsXHu4m6zdAEi
jycK5UuEkdpVLnL8ZHMQRLiKF9OoVcdTkpLRkgb9eAsPV/+s1KhV2ZGCPKlpcikqt/pEe8rHsIDu
Y4aSkw+F3vXgO0Y2MxS/PYcoZG9go1i7LKej66YYbi8wb1YXZiMd1cnDw0tHVBuv9MMrRpV9OvlG
sfRaYSOo8IFJ2Ua46YJ119NXfW9m8Nib4BoJUKaSjtgiJBFevvNiDVaDNLkNTtgvZNdsgx0Xfz6z
TeZWXrFCB2p5EStt9plqSkvmMUXeGep2VyrEtX6dEqO7xlghvPCSWrt20tH7nE6uVILow3jnm0YA
4INalpTFyifWhzTJpI2604L2LST4Kg7CFfNRXSGrU/vPsTukZ12m1DC+pJdHpVjqb5NTiUvfGVx8
IVNoKErfuxfFoBwFplNvFdg324AXdtN7Tb5t6QSjV+y9j73ekH41sC+pcIorHbQZZYWNXpJ3hkx+
ITabdkxhzlVTGy5T8EXA0mZCEjD6OtT71u+KVauO7ZdG78Ot30vfLMsKm2OM0ul1y7cq3hIQ1hwP
IMZzs/Ku1UI9azSWPEdlYEc0g0HnyPC8LOKQT9tmV59zN/JPla0R11yQTdp7eYGNG4I8EMzKPTJ8
7EBA/hLwPygo66ztqovQCpyVyn5vi9hn7sTjJRZv5Syv1WDtuvDBGvLdsQQkWxvPBdc9D/NK/VIZ
VvfgcCTk44oS3U8ZgVgDdpnF3DTUI25M8lF0AYnwCrSHmZc6VbaEPqNPZCyy7qaZP31ypziDF6Ul
Bvd1qsxLZ4zwfIHTxDCkvRLFMyyOjGZBWyNaYO25sbWkIUNNjW7VzI8uy6gMKQrdUT83MewQc9GJ
YqMrECNnFUxubiqp7EuJLOJG4qBim7semK1rCvDqADzQ7eJ0nJMWA3uoCLCvi+ty6UAh8efAPO3V
1FOa5wKzDoG06SYHezvtYNdU88FOrK3jDPHe74iLUjusjtCwEO6VG1SWdzg8jv2yQUp3bMZ1dmQT
bUnBNUUqU7qVRjcd9oMYHaZZed3YuLTO00JV6dRIVazh6YjOIiZ+d9lB99wD66yqno+GTqDe1nGg
aziN9epdYAn3NMTMDPBADQtsBKzmup5QuvuGfg270tEWld6VAkUX+2PMRcykWaSsDBdZEtTnZuao
5wisyMEhowh/kUB/LBIz27QB0CQSD1zHZ3XmGgvEeHxL49RmuwrTxj0SLV7vy8Yi8+hIQDN0MKF3
M9LM8prFV0wm3prGkNIFy0pxmlsTiIfeePa0aGjIn2DOLxUqOR00nDlsbqhBbq8VEDU7D5IUSUqv
eFhFeW4fLW0FOhVleofnIJGkNwbaH17/pNSXZlgwkQskZKxJokcKTLuz3YIE9ZumJcAp7nObkFCw
lKtuGC3YigYiiO3U+CdY+9MjyRzkItlT4HscjDKa/CkIXhuC/Kh7iodPqsLdBwaZ8T1MM7wWZJL8
2LPee0/x8jluPHf9U+i82qbjgmVPv0k6Muk7mU7fPgXVF5nItqVMrx9dlR5XIv1UQ8Lte0vtzmkN
yQS3kWT31eC29h2pTkOLp4GX3TaT7ncrq4bMFvaQGN3RPMvgQcG1KaEqzvzJNCDJDhMWSsh8byCg
hYQGOzoZ8Ql+44uasn2dFI0iTnpTiS5TTMkfLLPx1j4AO4IVXneShnvaiRTQfezvFAT3133gCWhd
2XSjjXp7ApjfXCbBhPaRSDxJhSz7nFauP5y3I41ELWjSGY6l5Yp9rhYTccyLM4dr6IHRB3q4yHsc
+DQX/jEzTwLfFVIPtoxQKWT6bwHX1k0cuM8u+1bR6h3OwZNr/qYlofdoMKc9lKIYHvO2I8pQN1ha
XB09+hArS1eNYixsS9IDQ632eYPcbvhMzARJI32WuZgFTsfOgEvCehKTt0h7VHIzJS4dzE+xAaQz
ZjpLl3dtXeeYO8/qJqiSWTd65ZknROBRF+KUPyNfBmEp6gGcVZu6uMeNx6XLolliWXStfaNZrnaO
Gp5GQFGy4AUtMzSlSgA332LXMlVF16z7pjMlRyaFx6fUnnmdTDAIaZuKz04bascDbhOCaLn7Se2C
s7zFBWsBOgcawAWTgeiGrb4siAusaf5cD14t2LnqXKpFBtYXhVrxvvHVblfg9IWhhSWZVIkVPWRu
537C6jM+t+uC1wVbImhyrShuMPsLuMTYWQyafzNVUb/FGlngu+y3t52GBWRSM+4FhaLczOGjF1X2
mu0uHbqCaK5ZUpJtCDaC303bVu66AR8t5oDlCG1RWtJ6xI+A7AY48JXXGeuRvQw74XI6I3EiWrWo
qU7hehs7p4IvFuUo1soKg8LQmLozvzK0tWJhH05Obb8r0MUddd6Itj88qRxZRhOHS5GusIjhbrqw
y0iAr7CRjJwhv1MBd+Dgy8aaJ9pj/AXgtlOPwjK1U3NBM95amrVvAWcoGKxGtQXBVyirnmoWOx7F
JSu77ZDwsozrAvgmELG5qjv9zuWURF+Qt9aJ7shEdLwAIFBWSUEAJqVkCOtY0Y99z2G7lUP7x57E
HYpVTQjJeoz7doOJQTwfIqVfuIMWXSEGpns1+u6RJ5wda46x0pUW+mygw9vs2ENCMtkGSq2srcYp
NyyP7Yx+f7JphxbWHazSDftCcx64YXWRmI55VOCgMcOITzLDs2gXYTc+r2nY/1YC58w1Z7Jn/zFk
9D9k3f/iFCiV8EtyjdvxQjzW4+VjAxui+et/PfcT5G/PsRhvr4t/7Y9+faAX677rsXz8y58fCpG3
8gwCfIJfQaXuW+n+0yk9ne+vjpDuuSzxmUMr9geXaBf8/E3ZSeKHrgRujagDnn/vWLSgnnoSmPfJ
H34PnPvNPfrZXfj1BT7fzl//zatL2H/OonwRUXL/uA1HV+oVzPyTO/HmMN/cCdo9ry7cfZcXatjP
D+DNKPz+kf/8Qr0Pby+VsAf+6z0+VkmDO+yxyiy3V8+VPsD7ulKPlqMjrSoOvFD9Aw1C+fPmgonv
Zn+sapaM5uDnec54R28wN0Cn6XnwDXh74foHSdZ8bw+btpN98MN+8wbDITDkj0Xu+9PPu3zGlK8H
P+O3b/N7XY4OfsL20+B9NXO5HyBCvO+HbJmOfvACpenfrVBP//Pu3mQoKc+ryQGrsf385hqq/vzm
vi3AJA3kfV34i/HT4e8y9+7V+H53k/XLlT6f1wHP+PuKy3rvr/LLpcN0OLAqMRnfOvWH+XZ1tmB1
eJLij72X/Hl39Tam6mC6Bz98yCZvVut3W2wfvGhpbCflEgVV7c27rX7wiLG2TTgOTz/vsAo3If8d
/LQZxa/mNFc+/Pc1fzOupTnIwW825TW7CkRFb6+Z0kWyTgk8fb/P+gdxCQcjBu/uSb9M4v8kSPRz
xEDK4V6NavV97qx0zTj4BdbU76frd3i1z4/2u8iPPzyGNW7Y60f73qarl0F8cKHNW/DqQl+Wqve7
ZX55xAdfOCZTT7AQrlBvbsG7Rw1env3BIKDxXJawyXp9B8BN3uukfTAcxgL/arwbf+RS/wl08PdW
CLzg9PNTEyR6bH7UK/nZH3xF/7///Qvyv/38lz/D+v6dnP30h7In8vzdj0/dGfnvv75au566E9/8
8mu34tuPv1zg91/9w5P6+p+b6LHe1w/h+HS548tpnu4zWinnkahfqcyps56hvn+cyl/+/OpEvynB
fnnkffPwNrnpeak79MjHvwiF+v3m/msnjZfP27vxXHUefM777H4/Plbi8dtWGDf7GY05/PB/Oo7u
H+t2//m748vtwaHH34n8TS737/vMQw89F9+Nkxc87uAjF3kjW4YtDch9+qfzuuii/OHxT8WXP833
abp/Mzpf+hmHfuvfxv2DeAjfHlx/wpEPPnjNEIrKN2P0pRFx8MHzh30Tfh0sT9MYOyWcG1iBDz32
LyWFB760f8v2E0+4+XqWv585wXBf/++5J/2vzGPzfbzPmD5f3fOXJZ6F+dAb83/H3h94dzbi7/+d
i9dT8cvp/xsmhl9LoQ489X/Gxf/Ar9iIPaO+e0yjHz5gQIJDH/D2hwemzjn0wH8rRf33/8n2D18P
9Y9xLxvQhx7+XOSv5rCXwv7f8Ead/Nq39sAn+ivfnF8e+kfF1e+cke9Lrq9ckB997HU9Kf/iIX3c
13/9XwAAAP//</cx:binary>
              </cx:geoCache>
            </cx:geography>
          </cx:layoutPr>
        </cx:series>
      </cx:plotAreaRegion>
    </cx:plotArea>
  </cx:chart>
  <cx:clrMapOvr bg1="lt1" tx1="dk1" bg2="lt2" tx2="dk2" accent1="accent1" accent2="accent2" accent3="accent3" accent4="accent4" accent5="accent5" accent6="accent6" hlink="hlink" folHlink="folHlink"/>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Sheet1!$A$2:$B$26</cx:f>
        <cx:nf>Sheet1!$A$1:$B$1</cx:nf>
        <cx:lvl ptCount="25" name="Department">
          <cx:pt idx="0">Amazonas</cx:pt>
          <cx:pt idx="1">Ancash</cx:pt>
          <cx:pt idx="2">Apurimac</cx:pt>
          <cx:pt idx="3">Arequipa</cx:pt>
          <cx:pt idx="4">Ayacucho</cx:pt>
          <cx:pt idx="5">Cajamarca</cx:pt>
          <cx:pt idx="6">Callao</cx:pt>
          <cx:pt idx="7">Cusco</cx:pt>
          <cx:pt idx="8">Huancavelica</cx:pt>
          <cx:pt idx="9">Huanuco</cx:pt>
          <cx:pt idx="10">Ica</cx:pt>
          <cx:pt idx="11">Junin</cx:pt>
          <cx:pt idx="12">La Libertad</cx:pt>
          <cx:pt idx="13">Lambayeque</cx:pt>
          <cx:pt idx="14">Lima</cx:pt>
          <cx:pt idx="15">Loreto</cx:pt>
          <cx:pt idx="16">Madre de Dios</cx:pt>
          <cx:pt idx="17">Moquegua</cx:pt>
          <cx:pt idx="18">Pasco</cx:pt>
          <cx:pt idx="19">Piura</cx:pt>
          <cx:pt idx="20">Puno</cx:pt>
          <cx:pt idx="21">San Martin</cx:pt>
          <cx:pt idx="22">Tacna</cx:pt>
          <cx:pt idx="23">Tumbes</cx:pt>
          <cx:pt idx="24">Ucayali</cx:pt>
        </cx:lvl>
        <cx:lvl ptCount="25" name="Country">
          <cx:pt idx="0">Per</cx:pt>
          <cx:pt idx="1">Per</cx:pt>
          <cx:pt idx="2">Per</cx:pt>
          <cx:pt idx="3">Per</cx:pt>
          <cx:pt idx="4">Per</cx:pt>
          <cx:pt idx="5">Per</cx:pt>
          <cx:pt idx="6">Per</cx:pt>
          <cx:pt idx="7">Per</cx:pt>
          <cx:pt idx="8">Per</cx:pt>
          <cx:pt idx="9">Per</cx:pt>
          <cx:pt idx="10">Per</cx:pt>
          <cx:pt idx="11">Per</cx:pt>
          <cx:pt idx="12">Per</cx:pt>
          <cx:pt idx="13">Per</cx:pt>
          <cx:pt idx="14">Per</cx:pt>
          <cx:pt idx="15">Per</cx:pt>
          <cx:pt idx="16">Per</cx:pt>
          <cx:pt idx="17">Per</cx:pt>
          <cx:pt idx="18">Per</cx:pt>
          <cx:pt idx="19">Per</cx:pt>
          <cx:pt idx="20">Per</cx:pt>
          <cx:pt idx="21">Per</cx:pt>
          <cx:pt idx="22">Per</cx:pt>
          <cx:pt idx="23">Per</cx:pt>
          <cx:pt idx="24">Per</cx:pt>
        </cx:lvl>
      </cx:strDim>
      <cx:numDim type="colorVal">
        <cx:f>Sheet1!$C$2:$C$26</cx:f>
        <cx:nf>'[Reporte TCFD - 2S2024 (Riesgo Físico)(Renzo) NUEVA ESCALA.xlsx]AUM'!$L$152</cx:nf>
        <cx:lvl ptCount="25" formatCode="General" name="#REF!">
          <cx:pt idx="0">1</cx:pt>
          <cx:pt idx="1">4</cx:pt>
          <cx:pt idx="2">1</cx:pt>
          <cx:pt idx="3">4</cx:pt>
          <cx:pt idx="4">1</cx:pt>
          <cx:pt idx="5">1</cx:pt>
          <cx:pt idx="6">4</cx:pt>
          <cx:pt idx="7">1</cx:pt>
          <cx:pt idx="8">1</cx:pt>
          <cx:pt idx="9">1</cx:pt>
          <cx:pt idx="10">4</cx:pt>
          <cx:pt idx="11">1</cx:pt>
          <cx:pt idx="12">4</cx:pt>
          <cx:pt idx="13">4</cx:pt>
          <cx:pt idx="14">4</cx:pt>
          <cx:pt idx="15">1</cx:pt>
          <cx:pt idx="16">1</cx:pt>
          <cx:pt idx="17">4</cx:pt>
          <cx:pt idx="18">1</cx:pt>
          <cx:pt idx="19">4</cx:pt>
          <cx:pt idx="20">1</cx:pt>
          <cx:pt idx="21">1</cx:pt>
          <cx:pt idx="22">4</cx:pt>
          <cx:pt idx="23">4</cx:pt>
          <cx:pt idx="24">1</cx:pt>
        </cx:lvl>
      </cx:numDim>
    </cx:data>
  </cx:chartData>
  <cx:chart>
    <cx:plotArea>
      <cx:plotAreaRegion>
        <cx:series layoutId="regionMap" uniqueId="{C6E143D9-D2DE-4EFE-A5FF-25533BC95968}">
          <cx:tx>
            <cx:txData>
              <cx:f>Sheet1!$C$1</cx:f>
              <cx:v>Valor</cx:v>
            </cx:txData>
          </cx:tx>
          <cx:dataId val="0"/>
          <cx:layoutPr>
            <cx:geography cultureLanguage="en-US" cultureRegion="PE" attribution="Powered by Bing">
              <cx:geoCache provider="{E9337A44-BEBE-4D9F-B70C-5C5E7DAFC167}">
                <cx:binary>1HxZkty4ku1WZPp+VGEiAVy71WYNMiJnZUpKjT+0UA4EJwAEOO/mLaBXcTf2PDWVMiSVVM/UHxn5
IQsiQAdxAPfjx0H9+2r+11Vzs/OP5rYx4V9X85+Pdd+7f/3xR7jSN+0uPGnLK2+Dve2fXNn2D3t7
W17d/HHtd1Npij8IwuyPK73z/c38+L/+DXcrbuypvdr1pTXPhhu/PL8JQ9OHv2n7btOjKzuY/q57
AXf68/HFjX/8aHfdliYrQ+/Lqx7/+TjdVbt25692jx/dmL7sl8vF3fz5+N7PHj/6Y9/AN4N51MB4
++Ea+kbJExI/ftRYU3y+wsUTQeETC4E+fPhnc093LXT5pVF8GMPu+trfhADP8eHfe13vDfpey7cz
MTx+VAabfpyh1N6N+2Lz4UH/uI/Af/177wI8+t6Vr0Dan6efNf0SRv/d7lZrduHznP0GiL7B5/O9
P+LxKxa/D8dfPffQ+KvhgYNhrnZBf56u3wCFfLIPBn/C4dLH7fgJj58a/QEan/rtY/Hp8gNHwt90
Q+l+p+fCyZ7fIh9c2T0ofsHqD8D40nMfji8NDxwQN/iy3V19Xru/YXNgtgcI/XzzTxsDTP7nf35i
8wdw/NV1H4+/Wh44IMvuarjS9vOc/W8AAgDd2x6/YPIHeHzpuQ/Hl4aHjUa6a5rdb8WCPEHJh8/e
JuFPcAw0C8dEfvjssy1rwh1ZuyOYu+bRhbdjaa5uHtnbRz8f4/fBS39+yz1Uf6HHA4d7CFe/Ge19
okDuqMPXuy/9mc0foPex2z5CH68+bBQOhx2QnfGmKX9rioMhDt1LcPaA+FWz38fjfu89WO43Pnx0
ht+6S75l0/Hfp56Hw3/+r/nJGH6E0uee3yD0ueFho3P0e7cMe0IpgbjE9kl2/IRJyUlM6cdwJe47
tZ8M4/vgfOi0h8uHaw8bkuPBlObz9PwOOoe/yT73PBlY/M///K3J7wPwud8eBp8vP2wYTnePTsv3
N77fXf9GMGDd34spYj+8/6LZ7wNyr/MeKvfaHjo07fvdAsrAzW9EJgHXdfdB5KN8ifbSUoE+G/uY
lp7ufmUQP8Lpr77fwPRX0wNHCXSCz1P2O9wY6DSQ7yDJ9vcQaNEiRjFHycfYsqcfnP5kHD+A6EOv
fXA+XHzgsFh/0//OpAWCyT2XthdcTn9q7wcAfOq3D8Gnyw8bhLMdlDYeXd88ykobfusm2QMDfSNu
/rLp78Oy130Pnb3WBw6ShQhTDL/ViSUfMxWC9gkyeiIx6DwM4+86sbNfGMsPAPvScx+rLw0PG6aL
3W8WYdC3fPmbXfRTo98H41O3PSQ+XX3gMJSD/51bZS+sCPSRn/2ovHzxM/M/AORjt31APl594IAM
5neGebwHCN/jwxc/MfeD+f/Qa3/6P1x82LP/YmcencGBj9+ayoPIf49qfYomP9oTn8fw/5Xc3+u8
B9C9toeN0+XuyvxOt4X5kw/lGi738kf+Ewf204F8fwN96rYH0KerDxyaoX1/8zvZMf1IviDFv7+P
ILbsJS2XPzX9AzQ+9duH49Plh43Hy6vdsmvK35iuyPs4cLqPwy+Y/D4QXzruIfHl+kOCYrg/5feG
/s8P7gmQSRIp2PdlLh4/QSwWMUnij4nIXvEfThj+7XC+D8fHXvcG/uGwItzqf+eI3o+P73051pjt
+t3mw3nIr07w/X3rh4eDo5t7XT/VZ78rcn0s3R5d//kYg3jFaQLz+eWo5d197hV3//veIbD7vW52
oYeTlzx5wklCBCKYMEQogxtONx+bxJMkFozKhCaEQhEG9pexvtfQTQCskiNJQURLBI3vwlOww4c2
jJ5wwSmSCUsSlDAWfzmkemGbpYDC/+cn//T9kRnaC1uaPvz5GFyn+/iru/EmNI45kYiABco4whh4
orvaPYdzsPBj/H8c1iyYpgibfs6loiJaLouioseuw/nBV5PzHVMsBgZ031iCY4bAXJIIgji6a//K
WK9XhNu4HDZhoq4/qsYkP8TRZM9Ch4o8I4jK07k2PlZF4PWbJi6kz1yfkCz0uGRKi6lXNR2SbEiW
a6/7VSsydOGVxzM7FS7HKWOCndHGHyUIHbmKMK1c22CFQpLLbE7QetT6NjqrCkzeozG370q+9lgt
AISqXSWbbc3q4rhYEbquQMd8U9cuOfNx0XWpHSM3KhpYf8uI7t/bCYctiXr+ZgyT6TYmr+UVFlJc
CGbEWclQedR341CpUTKnD4qcHsWm29ZDv61rHmo15W2NVIM6fxCQT9zhOK+xVaudp6NqDWhrVldt
BybpduXen9m4Hy+rsvM7EzfubWXz5TixJG9Ula8x3kYVH4vtgPrpKBDvbj1eaBqmvnkxcLcrJmRG
xUIQT4NEcitC1b3NExNejdNI3ld6Nih1RUNfdEGmbR+Fw6jtzIXsu/5s8qzeGTI5olCH6KZgBcsY
HGy5XUvisrWMujir4qY975ZOhJQWk21TTaiW8DxL/mxo8KAz6ePXCSxYeqCrONCzasBxoVrJ8QvR
i+F1QYzZ+o7PWImknFcVxQVPKW3U0NS4PxjmItngeEo2hphkOyM3v4n8jGoVN7NPtRkjWBSdAOBz
OUd1Gpn25bzyniosCnImiiR6i0I8PI2ihkTpIKQu1BjLuVC+fbdaZt/EhNedIr5YNkWyYlUWhciK
mj1LnJmyFvuZb2uaBK8qVgiA3RWvg4s3OTf2qGOkvhhIG6uWmFrJJWoOSihc9auLjvN6eoZp7VXC
okOL8Evh3aoqLC6XJH9V23qCsbDSnKw18Qdlk+hsXBq7aYrmWnaRyAiN2XESljbNpUBHtaD4pq6n
NF8Wqbg7QiN9UcWdU7wa9ZldSaOKfK2Oo8p0h4iyIo1k89a7oFVRusuYxN22NJ5VSkg4pi6EanIZ
HU8VM4fdOo5qEv7tZKQ5qcOcH7JuTC1tzxLUHbWR24xSdKqc+jcdsvI0ydurdWnzWwc78ALlS5+W
TXncruRqjPUzy3lQgyOvCTfTRva6VJGENTKJvDrQUVFkAxZHjV43Yo1Y2ut+Piy8XTbl0BDFWfkG
ouQhm2eRzsH6tJzmXvUxe+amcoNCOQ2Katt0WcGiulHRMBzhJTzVsT3BDUudxfKKW8ZUMYddI0v0
Wkt6KOayV7FlZavotLIbIsZJoajwqu2XdNFxvJmKJWkUisN40LrFZ7zC4KLkeGltfZr3Zawwqiap
2MrPPY83dIEt71x8QWN7NPPplNkmK43NRCifL61TK7ab2MYXqKlMljP5cl3xCm6gutLcrsoFcoLG
ViYqcq7Vad+szyc9Epw1q6/XVNceEJ50tPbpbMS6bguJeTqyMG+18RYpTeKlVBjej8CqG5p1SIu6
DW9dg3CilgS7657mSGZwKE2Ch8wbU2XdHC0+ddr2W+crcx5EX2aNtEWKu3nNOFpio4ZhmQ9ZMkQn
hQutV3kuyMFQtDaVLLC0WRKd2rbnZ4T11c3QL2RUs8vBUYtZkkkxQviG4Lq/0dVCMrGSWo3jFTO2
8Ck45fF2rOsig8jQ7vpRVLWyzoXr3EfVtnerHpVfCay5ceQhtXzW2YJr87zxXXNS5z4+zxcMi8FF
8anxefliStb+sC8EIFmP7REpnd3MTV2lPWbLQQADx4S7KRWlKQ8b4fOTUA84HQbebqjB5nKwq1jU
yryDyBPZNK+qJK0MC5vCo+kytAPa6CXMQmE+V9dJYfUr2uhKtetkz2delm9178JFi0eqajTXTwWJ
69S3rFck6exLDKPerYS6jJp5mdPIu/wpTFyeKIMlymoxsFPaTKFKw2zFa0QacG3gXVNDS6vw2Opb
FxeLU7aJhxfDOIQXPEa8Sf3cdJe6WUNWJcx0sJUD5amkjTx30uJNYnLdKpt4v6WDEZs8mP5tYpyN
1FJwWPBIDxfRmoSjZRwrmVWmzk9HWcVpHtkxFbJpdBppNvTKWVGd2mmELe1Q6OSGydVlfYOrUTWu
iTdcR0c5jV4Ooqs3JerroHzUmfO+XousKH2u1VIl5UGz5GRrAHKi2sbVBDb5iMtM8nLMZuwWNbpu
vZE5YnNWzyy2aR9VYUl7o0utZryKbSy5a9Kmz8sNdlH3VmudvB4ZabJFGIjPhV+OqZDFKe7aiaou
VPrExg34k7EdqGq8Z8fa5v5kLi1VpewO2RoPR/3UzBkCdC6nYUVHNupwobp85DAxojk1Mo8PnNVb
gxsvVTuLeNtU8v1AEHicoCd5XpRLMqlx6nWRxhNyF0gW6/XX78B8YlkfCd6VBV9TFvrTi0hfvv7X
2ee3mz68F/PX9btXmf76du5uzIve39z0Zzu3/8s7Rv7lp2DuE0O/o8D3vnxDyT9Tzz3S/fGNqR80
3mPk99KOz6nUB24tgC7+mIx/nep8+fknFp7cUW0sRYwTAawUUfyFhQv8hBIB55yAiwO/xHcvSn1m
4QhYOON3JR7OJWU0QdD4hYaLJxTOThEhoRQkJcHyn9Bw4PP3mDGDDQlUHrghbE0kEtA8vmbGOs4L
iDhVsekQuEpn4/UgwXV+9tWMfIeBQ+39WyuSEEnpXeJB70bxFf/2biK2q4tis3j3PKrEgZPlTs/8
jFkNsaAeLyJqb//e5j7nv3syHsNfIkTCMYEs52ubRjhjvA5RNuVLvEFRHj0vxJCfxmHdzeNIz2ZD
SPr3NveTmjub8HoboE0xfOiezamvi8WGMcpcVL7GUvfHTShWJWPabP/e0vdmVFDIwxgRcGYugULh
10+HbVzyQvRRtsxhemUNijJaoObpVIyQU5gcH1I09dulNc3R31v+5hnBHmHAREkCuSAc4rtvWa4V
jWtGus1YiRFllvX4RWvjGAJGTvTwkxn9Zn3C3okxhRPsNPmQlN63FofOFwEzv+EAdurKMG5bzPXh
3z/Td62AJY4EphwytPtW+oUvTVMlfjM0c34mTKOzSBO3+WdW7lJezjjstJgwyvdTXmocZHBl7jdN
b5YLOZJoS3BifjJj+/jcWRGw10TCSAyOZ+9Z/kqsh36lyrZ4emFpnvxSYg3TspfDczCDGYoT0Czk
3SL9alvXNO7jqDVhAzlAksqCWjW1I1f/eNqAmUgCAIPiJOO9B/LL3AyidGHjJsyzCEHUn5a1+Ofg
iDtBAmFKKLw0cTetXz1L44OtievCZopEokJbUdUOwv5DK+AYwNeDC5Tg2IFE7TmIJa5Y1/pq3nSd
rA6r3M34IO+jjv3EPdxt/6+RSURC4Q1bcA4Q5QVPIO58/TQAgh8H2aENR2HetGgOhyRC9duCibxU
ombm4u9Bwnd3vGdRwirgDN7qhTWLpNgPJK01wzgKtClDZVXTUQRJVVRvE4KqY5aABsBaebD2Gm8g
tQknhDXlKYcE5ydPjhGle0PhMUTTu+iIQPRhidib5MD4OvKxHSF9Ioyn8D726FU0rtyAMNM6V2ex
w5JmrKwY2U61l+2r3DWFeNbnQ7EcRM1U3CyIheaYNN0czrp5mlZIzsHXXViIpe2xDJF2VtHWg3sf
pomXaTUR/zya66rMiE+mIm0tW/1hU03uIuB6Grdmcv4U2bENaqYaiLskrr6ksL/aQ50ETg7Koh/K
dF5KAel3m5B+U/VDwjPktA6bbiwlzsI0Ldch99W6Gft8ZW8K3IXZKZ205QkqOlY/n+IoLJBPFPPJ
UMWQHyLet2NaGD35TC9uXZ7ierV1dEJo3YtTzpY6zooiGk5taddINdKILg0xsi+FkGVISxTcRpo4
HzYVq8qTyiy+yuqiri+dbCHXNwMKZyYeqHu2rq5myoi25UrAa5thk9Qlr9JmzD1K1wHbsI0bDSKU
bfqWqH5OIrKh08BfB+6ZywjpvdhEyYyYslhToWIW4ouaNYlNuY/YCYN4JxRdh7rKUNyzrY0CcFtT
UKKzVnaFUbQk8aACi2ycGUzWeUPCzJ+jlptehfnuLqiehd9E8PS30eqlzhAIIFyNIQ9XVd9Na1q2
eig2MZqLdxoH+VxQR99FeuJG4QpyEzWzuhlAjJnQdIBqgp0qKzzNz4Jz09tQuPl2ZQbi88CKN0PH
/K5EyOZZW045TXNbDCEN+Zy8YdUi7ki9ZDp1LPDTxEtZKxKJ6BxBWnFVj47qwwq0zXXbJ35pUusS
3m1IVYXjwuuiUz1PYEnmFha34rUOW7rYMk5HArpeVHD01HeJfxVMTOMDOibFqIwvHUrnKpcHo9MJ
VYi4vMtyiBexcvNY1tnY6/Ygqiv+rgfZ5k3ULslr0FDnpr0QY1IJ+0yiPKxng8R2GDY9J+agzMsJ
p6Um8jlARlhG4ykqN5BeL5Mycpavknpw06aNwriCiDOT6kRE/dgceJ6sZlv7ekhU2YvOpKSOO5zl
QzAinYqYn7M6Z3e5EisjxZaFrKeFLip8NnrI7fO3tVj9eVHMIMnMrEiuQYdyl66fY63C2s8I1KZp
jpQBPeldNA1xtDEO82eLrdZK5Z6D2JuPk3mhJ9s1Sue5O7eW9ECNe4wKRXRhqhRjPV7yAdJG5UUl
L2s9NfHRTIf6qYb8ekzzltFu2zSmq8/oJNjbaB27XOF+xuhERnquINsGcX6TRz1k9ZDWgTvSRsdn
pG3xDS/dKrKB8fx4SghpUqn5smxj7PsonaRtkjSqfRKKs67COAINYR1WhXPMpy2xIs+ikpRSJcaM
jep1pEOKypie8Bq81iYILruN1JHRqorEAnohMkuXDibqbyc2izJdwNVUG2RiOR7rmI+n4+i75Rhe
MrSwKCeQPZUFlfJ6ARVu8hvsETuLndPvLQS0RZle6Fkt8RzfDGxsX1HPQnHgB8LeLqCPvqtjVL5a
cU/fNuvc8YO8cDFOl6JNqszpYn7RyBFPqqui5gitweIDsVTAMFBpG7OJlyKK1cI5e9tMdHk/LZ19
LnRdVRlFed8pO818VIVe4zLtwtiwDQWl+hJE/pKc2kguI4hNtcwVzDC6six03QaUJNg8DeyKSeVF
HLcqKUNyC2laE6fGj11zmLMFVKAWVOHuKB4Hejg2HMgOyCDd6ybwSivOp3ZOF8fsjS9BqVrrRmBF
F4nfxitf37S+nmVaAc8ATSciTZ0ORTlZ8B8L7EZOa6aPhBvZAaxlztJRdvNuRVPAaUN6E1S8DGM4
GShangtTi1tpOsfAIQMXSBtdrlFWjI17H4MPuI6qOgqKsih5Rro+LtKJ1RS0VykjqApAJNoQSsKw
Ke2oLyQm3qh85qtXtraVVNNI9fuhD1GZMlHKEvbGMEybqJLYb2yO6xc5rPlC5RWJRpCZm8Kpgdqh
PXGY1ef1SMr4oKeJFaBkNkOzybXvbrEu6ZjFrLBb3vMyV/VcduQCkqr4GY3d9LQxqL3q59FdVJEX
NQjLy50Itnj4L1QM8qWahiq6nOZ1eTProe/TLiew9Fvi6HUxlXw5atCCDBQlWiiYuKVd4u3CHPag
WSEzKDz04C/rAmQ1xXtdXYyNqVHaVgN+hlannUoSGXVbKkg/pTAT7rmddRcUQTpmaW7m5lZ2q1xU
EywzqYa61WkY6Mi3BFK/Z6QfQQAmucRa6SlZ4sOEafdalLOd1OxxO6su6stXcH6H1KnkoEyneqHL
LQuextlgButPmWlzchgljSyUW2Mqs8SjclSJherASYD85bloNGztxSf8GM9RAqq7Xsw57uveqHZp
m2eSDnEClZSGJmddQ3mk8hVVeTr3eDxpBxn1gIvOn80Q4nrwtQM685xjpro6Dy/B59QgGha1fFpN
iKIU8TG56RCZDhrnw01CV+lVszTVclDYfHgxgtTLlW56XZ9xqeegrM+tVEuYoneeteubAfHVpQsb
wvOcluycdXMdb9bZQ2QRujla1hHilEkwiWCPYf9uSRY0ZMnM+hwmtGevE2LJ1Ypyezg0bDApiHTk
lV1MUqarL6NzZ5ckKF5SfcOAyJ8DDUDvGa1Jp1q4t1aUwHLIXM7QexwYvnBl390AwwNBtCji/mWU
dw0IzTkwGQIis9/0QuRr1o392qpuZfQZ7vPoMmpxi49AU3ang+drkw4gkb9fWzF12UAm2GSBLvVR
3vWiymbeA/2rBdQ5+l72NTBjPByZYiQ5RNu8fg5p5rqqpHLsRdTMiU/zfLXrZvKoBvqURMuqGLxM
ZzLnxrZRULntJpVMsjoKXiMoEQVQOUDjrmC98lyIi4aDh0uBZSVuszJZX0LNAAZZY9a8bwluezXn
AV/oqVujtF5pLpT2UH9QoqrKShG6GJStUwgv+64VZ541S3fQRV3ebFgbcHc5rDkJadWifDiMgDeU
G4AqLIq1+ZhkeR0IhRgaNRrorDPzho2yLSEMCY1UUYeyzWIb5LphLBrijR8Sp1VsLBTDZO9ZB8Qj
ElBe0GF+VVDuejKrJO+gGlGTuh2VlVNSqJWa+G0venTer1YGJaYKiNgyeNgAMPvRe4Rcx1Q0T+3L
wbfyWdNj3Kq5wyZkKCHjBW8LnG9iEJ9GNZrabv0yrH4D2n1TbY2etd0i0IihtNPVLoK8s8ZITXK0
Z4IlM8mowP6q85qCzyBdCyJ5vEAFsJr4SiC6yxLyLODG1x0fhzUdHWPXtizWJO06HAtlBdCoTUgm
zlXCo9EqNpMab1lPB5Qta+ghvSgqt2zrruPPgc8NKM07U74cIUfoNhY09SNm23xWpJgXo8xamysf
Rn8axUhaqIhy36g4sfommWZzPlof3iDq55cwa+1NV7qOpAVUb51iXLv3a9D+eSHzPElzrYEHl42R
76wF6U6FxYdYmYXKp5ADoT6ViTU6m8qKgBy/zHxRhM1tyHLaI5xVKJiX47i0l4iD+qYk6virvBXN
9ZyTNlGDLbojOQpwwjXt4+aoiO/qXKSZ4DlK8E1nZPAoVkzX/IXrtMYK9HQ6qjgqmzWlZW7eYc+m
NWuGuXMp83EiVMCNfN8gRIdUNiOB3KEa5pewv6BEW0VmvtXNCNS3lmvYJVDXECmFHA5cbD025bbr
puqUet6Cp6znBaoCUbXs3DAJKEWu1fB27YR/w7Wva7WuZLkuoALcQ9lX4DODa3QSUbJcxpWbGBTs
amJPeigQ8I0ZC3Et6q49pmxdA0QjMrwb4sXE4NWK/DQKdXNeLDG9ZNJN5zpJhiTFvOoudNFDgKMk
osCrIRs91Cxub2URzSGNxmBzFXs7v9ZW5lAtMCublKdGD8qNgV4NsBIgGynhiIjiiBS7sqij88g2
I5xfABKg+sEAoR3bCgALRRVv2r5sgbtNfrpczMAvx+puZ7ZVpG8FJK0vZjw0+jgsxaCBik8MUhd5
V6lbetsSqIa1xisTLeZZxVCbb7iwc5HOxTRVaTtZeWS63LyvxTI68GtJh1UV26WG0tTiF4WhSDqq
2uRmSXXEzVVcDzVOSeIFMKakR3PaDgXwkDj4ZZdzW1UqEoV8Q6PSBwic68I2Pm55C3gSBiCWTh4v
EwcSUZXlepIIM5aKQtnwampy5FXXYA9ZO27Qcex8jzKeL1CBbya9nFQODkYpiJID2dSjHI3yI4aF
kLjeQIFVCPzSrU3yrLLVAicgYEx1Zj2N3jo+hRvZ0QHIoK2Hc4gos9uCo27PdeeXt2uQ7UtO7dIq
0s7lbe47D8Xs2fRXtO+Lm2GcoUBVm9X0mSiiEsr4ydTdLjClGkqPCbcQvxIImZ6wFxOGtCb1UME8
JC3FOhV8Gd/xROrXA2JNpQpfgNYejNQ4RQKOs4DXkXm5TYbAiyyvJD3tDQPtIgG6jdNo6dYFgheV
03HvsJtToQsO4aGMgSNIk4Bw4XvL3CaB4L5s6qTVkIpZiyEpaAbuMxLMzDO/hPEFqJ3VoDocQXie
ZgxJHO1csGrMQwwbGRZDfehFW0xbPodmfVVDGT5ka9KiJi2mmveQYQh+wyHDeYZ4Od9EkatC2sTz
VCo4kLEGWPMFcmCZwWGNsWy7Ju3GhFVp7NfqXd4hvmNV6KiCqjH2KhBRJRkC4k/TwrVjs7FUdzod
IIOBYfG+aTNadVDPPC0lnA9JWpe/ZFU+GXrZ4y5PyEte9GjNpmGUfijVMAstLtc+Lv0z0CA0zWRl
+mrDofU176BUp2sNZwsi5Lv3a81mnEmCQnE6/j/2zm25Uhzd1q+yX4AKhECgW2AePT19tjN9Q2Sm
0wghTkIgwdOvgXvV7uresTqiI/aKWDti90V1V1U7nbZB+scY3/izGnEhJo0aog1TMEe/s73LnSBO
ZPOSbLGm7kJ3DmXPqh1jxjNpW4oAbyOi3l8skErhAmYIl6tVtjytRIu/8jl2bcor59963TK8ev7g
40Lvl+7Vd2v4JMcmiTLDthfVd0X15mqhOdzBbrnMUrvPgHvBh5EtLrpgUdBAYeLAmvQjpH4qpFQ1
5ploalNFrJyzQA4TaB1W23tDxb3xSIiZuxH6Xi2U1Wk5IeM/NAkJv7nJi+qd72JV4oGBZ5yVuG4i
6PhFhDscAxz3LGiL9oT8lw3fiJwS/8LXNqp2XdgsOAFHZFi7JSb4SYGQUS3T2/264uwIA7/y93BN
LI4WxTxJoQkL5MKNbItZ52vSzMlp9sWspzRKmiI8JJNwbsGVbQF4FEuZfLYKt17WdbQzEJ4iOdve
cv3sKjF1V9nSLsnB+Sh4m0A0RnMu1iSanrWwrm9h5znZ5GsNHzDtuQmnh9bxtbjpXSzMRS/NrKvc
Y20y3sE2Gv05XQYDwznrlpDKe23idXygBpDPezIypq5lb81c7G1Q0PgQCoY4nkz49u2mwmoYm3hp
DaaZti4TD++B4AvIHtWu1UM/msQ/EGVivp9iSiAvzcI5MilTCIdr0gt7f2gupF9nvWRoyxZuBvYw
xBA1BgzHXGWlqBy+UM1L6WKMnFBtH27C3/p7xE4a3zJf2JHuk3DtFWQ0dTxOo9rTYj+smwTxlWK/
ReDrWzrbCMfa0LbrjkzWi36JQIbrYZk6DI6uK/BNQBgOdzKqwhjiG19FC7OmGqrF+NncQSW84DiU
MQCiNVxMfTD1JGaa6R5nKcG3vo6aj8TOVQz3c2lhFpqoa34Hc5FQnUvXsPiGtDFXN34wSHzXxrJD
gCRHfCN+VfFIaNb6c0UCPNuVGy4uKQf7HM1dxCa4aQgC0GkJ/RieWaCiIusIKSkYsU56Ezg6L2yr
J9xbY/2KTUssyGrBVgE+LRrky+LxoDsUdEiGm1pHUfXopFtISpijgB7DqUhuXLesDnpymsamzpYC
YUDetn4XLCkO+Y7RfMI41xbpMBgSH2nHPHqqkbUEWdTAe/3WFLp4BEzZ0WDnRspVdSgjLWt3WsgI
MGFnZubK5FBNxHhzmY5VSWEe11RPBUxlCCYgG9QfjT+ki2U4bAHO9EpfbKwpLuXZiwZW70q8CeO6
Y3GDWPpvmdV/hvf3f8sJ/u/AAzN2LUxoxYIdGP/Xfmo/vraj/s/BCP6BJP8rRgBslkBY/CVW2VCF
f+B6/6GdtrEE//tj/qR6+R8BAo8AQhw5+rYb8j+Z3n9FE4R/+DFnAQf+6SMHTziimz9hAqwziAMf
/waoMCBhpEb/FkywLeX7hxQojELEWwkQ5i0NCuItmvlLilbXJsCwQfqd7SdCMdbBgSFVhoEmovvA
75siXUQTeWe9UkyfYyiinIECzgFXhZv2LM5LEtHDQvRqb/wimTB926LAgNFqe4dL0ev25MvHBkt1
Vxi2HhF24+RquMfzefZdmhSD23tAKz5wcQS7mRlJ9yyxBO6RL3BQukHY782kvbd14+PqaIrTMRnO
PJR5V85TqkIT3uBuUwebCNkjY+9WOMeBWQ5RqezFjRH9pV2yJ6X9Blk54eO0qrIorpARRK25TEUA
Q1O0gAD9qV/3flPu6mbd0cijsJLBzjZyzeshLO8Sr4Xe4X64m5UWH3r1xKmEu4PUphfbRISkJbUV
kUHKlsKdg6gajohfMJtDAmJ/cDM3ceYvRn0KH/cw7MtlJbkIvPV3aKw8gun1P4sl1L9JM1o/9XB5
ehmtZX1tCRmSrO+T6LHz4n0ZwNraNcnkDsJA8md2qqusL6TOkFFNl6X1xpcRAuoWJ12lcnym4LGC
sXgsJm+472Ea/mzDaMgFVUuSQs7SEjPkGOX+wOePFnPzEWdwuFnTJez/lmeW1TFcP558hzUqrm5N
uk/FavcWy66Nsq7EpNDZC21leMAsYvezDgGJYzCu1Gfti1JlYvTpdwz96wu8RHiKc8fBwNbjqCCL
ujLahdFYPAV8kievCDtEJEqFt7VXBNcxWHWRYnQMVsRQSWNyEdWuy0eccs9lxNarsBZndsVuMKPy
S+WBFE6jxk2fqlL2VoqhvMFYK/YeBREYDgm8vsApzE9NEuD7YBgQ8LEg/ZiyRrd7qo38pDWSsWqK
R5oh3YrmHYZCl3urDEXu/BiPdSSCXaWoVWnMA6/FBMu6Xecz5E7eGC/3EVIGhzyPTD0uAVBfC5/7
d90iX4tj0f7uZFLiOitsNiJX2YMNxOQDCZFcSlatp20IPsR+ZfLGU/rVdqXL5obg4uay6m4neNXn
ynfh92Q1zUFFXvi97Yo5XwYnz/1aEpe2kpZH1UZRzp31cYeXye8+nIDJB4HQcwo2xGWsBZ89FVz4
IASkXg8wbBhmLMKHfaLo+B0AIvKKo1f6b2sQzY/VuuD1VlV5Xl1whjka3tcgbVLN0GaAu6O8J69f
yL6ZW3MMG2iGPazc8d7XpD3M3NJPv4sQ2AV9c7VL/BC74I5zTNUR738U45BKBnNAvtW6BLjXP4Ac
fSxUV+6SYPztCrqTS5tDt+W+hnHf2KhP5bAwfGjxPeyDkxeYfSiDI5PzARX9A1Umm+lzF/MbcCXn
VSS7MPEuMQFmywaXzsDV4aGnMwFP6C333LfDrg4YRvUpq4rZ308BQNxQ1/eR615qPKyFX721ZQ0b
FznRTqzzTVUnGNAITkq3sn3gQLvTcoJvYbz67AX1x0LMbkUMjqN1PLMICnVCMHY0ATsV8wDiXuzc
NvHBteuqeW9XjB4SirCaco6TYGnBIobR7TKNw620wLmRq+M31uShuQPGkhdV1aZ9G0twyurodHgg
vL91zfTdjP3tPBcIWyJ1hgO6J0zfaFxHYCqr35Mo8wjOA+BPmrtgXPcN7+cP6k+PgwgRRA+feu5J
Xmt901uHgRPZKEekUAz7PrTmgOxwgrLz5xy62ODR1wh3+iK4nzrF87WQxwSHfw4KZueR4Vvrt+8L
HMp8mAJ6wJvGjgvp5hRnVcYX9WPw3E05wDWrYacyGz6oemzA2Ev1FAbdHMBnmH21k03U5TUYyHfq
vAiv4CzInImh1ocEY9dHL1CpSGdlzJoGHI5WKniRID8nobsg4eMXE2hXnb2Yg88GDf8L9lm95INu
NFomoEObehbBrziUDBblLOAypjHSuyUrooDKrENGdmRrw9+k8vidXMv56LpK3XUxfOK0KSy5AoGd
v484LF7XwZPPSRHYvW0BrR8BPiz4FMHIz+1UVF3G0L2oL3B7UDExNgqandGUJ5dopd07K3yMhBXp
qD73rpYmpeBGZOpLabvMGwIi9nHUMpmhQTOAfijCGzHMYHp9sAbZ6vH1FMQivNVeBfOO2d6IU934
vDgRJAM8gQXl9cVH0o/+9PE1HP13TI3/M5HT/3JW/CqB8fBfDov/x6b8L/h0a499feCfEyNWiIc4
ewgKUEjRSARS6M8eGP8DFT4gi5TEyLMSgk/3J4Ea/oH0GagV8L4ojhlloCv/nBnxKzIaRhxVqpDh
vzn7d2ZG7F/655kxYRFQNQyLwJUi5Nn/ODP6vUqYWOZmR9qG7AZHkOp1DrRJR4HWFN7JWuitsJ+H
XKt4yJirf9d2FSddls+TTm5m2lRvfa26rJ3bq0JimpWhBKovBqRrYNeu0Tg3+aQjnc4lqb/Psg9e
0EzT17r15amVzodRnsXA5ktPHoJR6ZepI+GP2a/oXgy2P2kJcUtWq26StWAH+DjgNFq4G1LXu5Yz
+MfeO1DN1GwHWd/AMVzNcAgc0IGC3czFhDcBbZFJwenv+s+V2iyg7ZH3auciGu+09Q+2REAUd+19
t84/VrVc0QsyRKbjYHDkY5KAaQ9sVcDMKuchQ5Gr2IezGnblFBYHX/UPZJ6OsfBfdDIj2iBvZdev
OYXwxgnaswwZQRYqnfOJ/LJd8NhVon4cUXk7Tqjj5bC/h+MytT8bIGVpOPD13JfTRUwkhocs55tF
wMZw/C20Acj3oBF3tOBPVdFP+46W+rbCiJIZXBRyjYdHvxrOaPhcki2Ul7Is3hH/pd7K+zvKbHIx
c3y/eMNn0uC8Ikj0hnUo4Z7y/kaXeoQvw7oDHcVLsvT7WMhkl4yG4tyqeLbC4t+ptbpigntzyhuu
icc6kAxC5WExXtkYPojCPumYWhiY8ltjOpu5alYzWmSkzoZgODBvhaMl4yeFIsoeFF2QUV0WcNe3
lFrZ/er1QQbqKS98OIgsNM8JHxr8xvB3IU3WvDXdEQWuG9+DKlhBIC0YbfRCfgjhfMQQS/1GpBrB
vQXmeR1XxA2REW5nPEUeCQnb09oz5BPxgonEQ8a8l/jGjYJHz/NkPqSYKN15y5w8dX7pPzq9Asta
OsTcoKguCwdCXcPqexJr80wRlNxGldd8w2hVP3U1EnAAyegSlVL4WbWRNDBzyvHg9b7EXe0FeT/F
7dOIIk+KTIXC6iOggBY9YGTS4eK9RnOFearq4vI1qk39i0pv6OA7vWOOjNkRvrzJIvgy+0V27NtM
SJJ3ZBzf5rm3S87QIUQ3As2kj6Fp6zvtw8Kc6gY/qHJxyQPIDoT3a9VZmyJqdacKubZOdSTq3SBk
9z6a4NNXa+Ehlh4DP3XJxv/aEpU5ZUOFsS7qRRbTEZ0jN87+EdxbcVil7/9gqAuqcZ1t3m6wGpp5
lffpx+38QlUxpXEb1XUWrFNwhdge80V45oKmEotQ9Gicf+Krg3k61GT6TWVc/Ir7eL1HmlwBYVJR
jAByatY0KulCcrAeRd67qDquZuV3I8x4iMFuAyE1ToKCj/7rUDh9PzjFkydWiuitnusHHRpou8Lz
cL06UZPTiFLukFKvWPBFyC5rkqJ/LVTP0R/i9qZBRbXPR0nhTFVwWD9q6qu3dfJhw9ddpFFn9Bea
V2KDJsrOaORrRjGZhii0vkJvfCyUzlnriO1x+sR+JpNkeu8gi+68aGkemmYwvwfZ4mQYVi0vGCB+
KMzV6Mb57bmJ1vHaLDYf61Xe6mqY8gonwan3gk6m6L0g4G+NAohn+n594X1Dv4/1gCqkHw653YTb
skm4FS3jA2+XZ280TYRKHbVvJsKfmlMPKySgnBMM24xd1SYQIyhF8qUZm00+1tAzH/EmKcmXuiy/
lGaziU60gOhPvglRsUnSpm6CRwgw6FTwUevtuolX13BzGTmZssGUUH5fKjfwW3fAAAnt20IFG22j
x3VmfZLFyO2vcdg3HvqkY3Lf43k5NWZKEA9uqtrCBTyWm9Ke9IoHAS4EnvAx4vWnH3jqIeThbRmT
zFJ95wXBIbZdnDqvaH423bQ+F3Kxe1UHUKsDxm0EUPt6RNCZ8USCQcGFdSq9vrlB/IgJO4ZFXMb1
3Ryv8UU4GPxDJIozcidcEUlnSrTPzD0S0d8NXI7L3Gqk6JVbvuHKGZ8SHALfQrtET1x6+HFNCPYa
1PBEeEBa1SMqjx3L+hUPkV/iNeYuUYguwuW7UFCyNOB9DYPDj86T6hGq2ZLEdzDuT1pDNvF4/R6C
NvsWsmXeCdIJcD/omd/5TZeLeL5jQKOyScbsuhhg9iVjZwzTc45GKdAzv6qii1hBb6YN6f0n9N3Y
tfLB0SOIgIBMmQiDXIH1zeNl7S8tHV9DBZ41Q945PFazDC8r+govBBPyswOQcTduSq+iMLWBBdEP
jyiyU0hQfwZeFD2PA+sf0SjEZQymM8CnKe38JhK/2q8bMWNG9H3bHVAMchiFhMJZQ4OuoeXgH+dx
Ce9IG8wPbVyUryhKxZfazPNJ81b9auemfiB67HMXPSQFAncU9PAT0pNjL/ghymNE3fJM3FBfUC73
cOYOPrLq0N/bJsSoIBjZWxaU8IiKJ+svV45fCAY2YlrBnpASoz4OTdlWLjwFrD7JCaBXodXJc6FK
Mf7MOYbwa4hzc48mK27sWZscKVVyKHhj9y4pfrSyZo+RLz2UXTE/rPX6POta3lJHIyiwZKIZjSd2
jpa4frBe8RMBNL5VUSNzU4OmMjFcCTiO+3BDcAE9NfsC2cGRlAuOr3XZSd11MI1m7zyy8fuasO8w
lx6jBNCTmub9FLk7IKAZkLprU8ohX9cIXIBMrrimmqyaQnNciQQtrA6mlK9FUMqfUJ7kCuYuq529
xSXOHrhDaLarcCUZX+A0Dtv6npZF8x6Yaj10XfHWVPUlaeowR3qEYNUVGAvXBpkwSqa7XkAKo+uJ
qNeS57ocm70d2AoEZZA/8K5lQC0Q9yIJe0yq7vs4B3e0w2sQ8orh1QntuVzUvWqATfFIcWR3uJPm
CiAK9bx1N/TE4IZteNZ52qodqD6SI3lKTTLaW2QD8hgPAv5nFO/bln0niUF7fYYb2Sm3Zng9AMXV
QG1E0NxQKQBZ1FL9xp09HIfgAcPpg5XIZ3WtX70mEJnCBgWAV7zPpJaPaxu6W2WCE1lRNG4AzeE1
KjNfQkpjI0K9h1m8x5yCq2Bm095O/aP20LRVgfNzhQbTFdLhfgz68NZzJGtqc5Sirb6JDpVPSHG3
BwXJ7mRXnnq0ZO9bNM1SJ+gv004RviFei4m+fE8aDH3rjGd0LpE3E4+f4O3i/cI6hqqyryip3jTe
8m6KOD5Ynei7ilnENIXHzQEdijqlcbKr2Lq840qUaTz5USbh5kGSy/dqjQVG7eg70pkTsx5K3aK/
5Ym3r81401nqZZo1800CYyvrl6hjYJPEVZHl26T3ZvUPMQW33ODNz8TkYDew4AoOMjyMWA2QjiPp
z4Hn+meN0+JtWYEKm+FGVfxnFy5kh7vYHWgHv3GsJnY7C+32WIghjxQ1zlGveDAT6o7LcGsmUh6r
aNC3hIEQxrkXpclK2HUCILL3p2rdo4Zd7YrWsycgrbBFjD8e3VbM17rZXEdxndsuyG2y+oDp6/6U
uC7ehVAGKRzE3RIE3+OJ7/g4YM+Aw0Ci7pqFXoDr9k//X3mb5S8CGhHJf934/PsfYPZPa1t4iI/7
u/DemkQ+wa7oiLFwk71/Cu/kD7xaqBolSEmQulD0pv4U3sEfyGIQuqI2z+IEXcK/6262/asYuptt
i102zf7v6O4w3LKYvzZ2IvzWOMwBwiKGCiH9p8ZTnGDDgK6VxFtqvR8sUcM3XigscdBXHUSf8zC1
eVNE95YkuCRjjer4cKuWWV69CDQj+Pw7pJ5V1nEG27wwtzP2JaZDVJq8SMIG+gKy2A2cgG9T9H1p
G45num1VRrwKQhSYSGkPM0MLIF3UWKPCUgTxBmpgLk5ZqdydG2P6naN+cZwqx88KpiAYXh8W08LB
OmXROhW7oPWnOkNFh6u8HSLy0NgK9xeQ7eRjnkV/AzR1fikxjd8u9cLu4hELbnKHGPkcAA+CV10o
HHvShHC/rFOwdzu9wBTDvBvvqLTtLz775nVoawD/SHLmS4tNI3OmY9WnpDXRCfyCvGJOqhx2nkTL
QXnjdF48Il6RZiW/hOdhwK9oZlx79cbOf4KQrk6QedWYz4pGZ7SGxk/BDQxnCmWQDnYxj7z3NayM
xUb7vm+7m7V38sE3Nj4WiVpQyikciFMfVD8C97F8CJYGGonTPn61vgfEBEVepEyN7t0trp3jZGL7
icvKvywNjO9ZWX1BGDyUMC2W4V7PYXwVxiv2oNGKOyIW7HNgQVODA1oZ+JJoDg0HFWDCZ8NxJQ2D
Kt670NLHkFXQaMZDwO37KH1xmwRXK+v4oe4ri6MdohRIo/vUsFyfwaibIwUtfsftpO48r3k0YxC0
uzJI6GuLiOalxtC2p2OFjQMJG+iHAAnB01a0xW82NcMZq0rKFBQmS8Ht2xMw+qLJor4CyTMpIOk5
aJvymSZuvq7C9jcwwsRBuAgPKFYf7Kq21ti9EUfhDV9nrKqIIzee6dzyfVuFWIYT1/Y8xCaIU5iq
YjdZuKJ4SBvw20LY9Qnwh79TeFrfUVXwDig+9fWeGOtNaSD52zQ15REAh76jxgVhtiqsmMlIGZBf
TDn/2ox6JOmKwfrnMotDHGHEiVrXXB3HD7tsvelNsYWeJ9ImecN4CK6x8XGHSNIcELCUYFwRwz8s
g8a8TrwpxBVjvHtw4w0qdx4sq6NoNZw0r8KCFjzs0wh1O4WvA8g7gMJgdvZT02wYkj/2176dZHsM
ypE1+8Qxcy4bUT4FrFGfsQpmVEFgmZwks7U4EQjzLuckAvlG0Q/wL1AO7majS9wBxRv8P2LWngno
53dAChpERKzdsdICt2FhEUII6gp4GWgG3jRxZ3YwHvxn2yYY0lSz7MFdgR9vvYK+JB6A97mN47xR
qGNNAGEQ3EIllKUtMJgH6gb9uO6qlmYF96sSlMmHVnWXRin/ozG002lUufYwFbG5cfWwrDnBEECz
aBgZHCya7JdezAcchT45gS5CuwW5IJnNwXUTetVUZw0VIR62LwprjkL3QNsBiYRnAKr/HcdCs7c/
8L4MbSZQh8G6kEqiuBPU+sPvAcihenNRobhqL1ZHqgfx8AVqBUoFh9mUiJXwRboVSatZCKxN6h8G
LM/YeYHtnr/wrXYaQTBjBRNSwtobbtCIhu0xqYa/JoOJM6aT4Fgj7AQCXka3LvHrkyn95gBiE8Lg
C+7yex8olxd1oJNDgMZY/fItkgbtkz5wOARB5k9YTQSH2cIxidgHSBX7Y2Q/7TSCQGyrBf6EP3Nx
ZvU6v/0F9mq6omoz6uGHapPaPyFn9L6JcY0OAgL3HmuqNEKTqaM/ceInMyjozjxphkNxsn5xEoOb
fgXw5ehkfpVYGvapvsyOqWvcDd8ckIm5/nXZXJFg80d82eG3YjfXhH8ZKG2RILeQsFWizV8Z8A+T
JzxK+p5v/gv1m5Tg8wFmxraXCh5fx+9MuVRHFsHgM3rj85YvU2dFIyylf7N6YDTfB5v/029OUPJl
Ck1fBpH8MouWmZgL2xwksnlJFD0k2Eqbw4TO4/RCNtcpNr7bKLrNhgUkh/aN8n/oYigOBqz9kUps
AsJ9KmFl1ZurhfopDC4sTZmBU1HAeIlLAOyOE3lGp2r8Cdlf78SXVVb7ATCfLwNNf5lpnoOvZr4s
NtQ1th1k8N3s5sBFX2Yc1iu5BYVIeHTT5taB80L7cHPwos3LwwkOW89E34Mvoy/cPD+xuX/hlxE4
bJ6g+7IH+VhQXNibaTjOdE27zUn0YSkWX+aiS9oRP/nNcgyB2GYoo8KIrCuNOoOru0fU95pvsaXl
bQnrUm4eZhW1cDM3X1NvDqcRsLiBKPuPxeZ/gj6CFaqV/fAnGz1XsEmLzS8FHlFmVG2QN/545fY0
bs4q6De7W77sVlr05tnfPFjcmfVbMEXyUiaq+hFp3+xA5rmr6Nnrf9t8/P8sz/S3jGpr4/+LSbn/
pz+U8+8j9vaBf47K+NMLoyDEfyLUx+OvIOrPURnLWMMY4T7u0638/9dRmdA/sLABJhLq5lixQiME
R39mVCTEx2FFBQf4DxwJv/K/MyvT4J8zKsYJD1B1xpaobT0i+acFggzzB4APbnYebaKzBFoCqh4+
tsglwZGUuwLKDHR1halwWcXdtp/5V28HeUKHz4qUF6Pdzm5UQfGlsL0KAvc8kE6/yMX5P1Q4VG86
ECxf6ejv2gZXWNdW9gkdnRWL/1BGul/Gof42asA4aU+D6sdQVsMbG3xg6ZhG41c+G7S1iI6xi8+h
YLISok+kgVUcdhVMB+UOPbFvCZEJimFrX3o7LHgyjz2WPrq0742/xy6j+BVkSfMQQL3vBzQXUXGv
imxY2vWW8I32xQa1IQVcpfe1jyo/qW59A6ap1Px9rpMq7Vqts0irDsE5SjkiLyPPHbBfbYFnDWof
0K3sR/QycXuuiGt2ljIS7/ymT86gNMRBVjV24GFwbcI0HuLuMcBFdNEWRnVcoLGRwrFge8xzA0tR
FzyiP8QFlk/AdAr8xo5paPVwh5V/1Y/EVnyHLVcBVlRV0AiBHxXzsU9w9S/dExTA/HvEgyl2Ve3i
49qjWy1dkHwsoYsPnt9Ne9621S2Z6fIi/c1TmFC6hUk6wQzTvvQvQznE+F+687JBE/FYNZN3mk3v
3SjjxLbpIFxT9NjLWwzW+g0++PoNEU2yc8hrT3ik2ixscDP1s6TAV8foXQ5Dc0RhZzpNHbYEWgo2
9SATrbGuQDt4173FCLMWLgOduVzhb6G+B/z4rhJVcm0BxWSj6Q3mD5r0e+By8kSHLr4W/mAPjVeF
ZzsO7a0NwuC1STTfmxFcAroUQGZmjl5cjoZ1/Dlq4h/j0bJX64nm6AXa5hJrS041bZcbAa10BqEo
99gVue4nHs0ic9CsB8AU/DvKLTHPFrj7J6wCS1eDJC9FTxTujdGlV6dOOcATbnDmoOG+n+p4Xj9C
1LmPriDkd4dC1J0WlTo3yMSuQgagn4BK7Xwwlk9VHM2HNerNZe6G7jQPQ3XAErWuzqt+Eo89vu6c
oJ15M2FUItnYdfOuWQd+5MEK+sYBH4b/Vb2rCVVIxKsK7eJYovqk2wOGr6FPURqr7uGc01PMud7U
mEGwCzI2PAx05JdkqadbFpbVS7EocxLFQA6mX2SJRaH+fFRj/xR0rN0n3pz8Ip7szxJrFj4sWbqU
9/197MFzxVSGxxxG/0sB32ovkGH+xHsFxAv+vP1cSc2wIu0FNUCghPgZjTsK9YGlUUDfOl4jN2Ls
YbW8epBTRJacr03EDqDK3seRjgfpOFIK3fZJn3lh2DzSJBa71aPrtR7iKYcEsXkAW27J9Ojpo3Ts
sxrHrz0Q42yALsn5cwRoh7EJGeuvCcCASUND6vc2FmLI8DxXrwywWaW1eqMD8Z+gwtjJC5vx1UFf
oUrJO5THJlZY6G0Z/TKxjxZzBV/bbS8/9ABkLb+PAzm+SIo2GVLAVlyKGQYrinSGxqDV1XCzRGV0
YLPRL9wuY7pOtruR0jNXPujpYiFGr1gqxd5Qb5xvoMW8BOmbJd/npEcYP1sYuZEQB510j1UwHWvu
zpNxwK7ANrXdXrgJPxcPn1KBymqnvCCvBpsLKXZxxMDYJMepY5P/oO5MdiNJzi39KkKv2wtu5vOi
NxHhMXMIzsyNg8wkfTafx6fvz6lWVVZeXV3UQkAL0EJSoRhkRLjZP5zzHf16npO9RHDPevRdYf6q
B7P1ZZG9p4OxlkF/UI51o01wBpXtT6a5A365FSOW7Zb/GCbAS29a+ux4U9kTjsG632RMai0FCiUo
jown5s9UTeXD7FbV5q/XJP+fotf+Wx3MMuvCDPkvS4zfM6H/GMb9/q/9UWDgyeT40QXELDQwVAr/
KDCs38B0getCgkKVsUiq/zGKE/I3YTsms7iF6YVA5afywvoN+JUOlIiCwFxqj79SXnBI/TKKA1Hm
Uv5w/zD8Ra3ziwQGrkndQSubaIXFjxpne7SZWw8ZZZYGbs0ZqcV3UgnGbjrHxAh01WRvGldsjDNd
3bjBIsFtch5llsBcUF0vHqwUNCLuHKVfBldU296NF7SMlSRr11bFY9KjEtimRZ5ZSILBs7El7op7
p8ki+mtZccpPczr62ESxZI9U7icZcD+3oef6RYkRczVNof4YOmX4JNFacNMW5m2cselbSUhAuH3b
Rg+oIJS465quYnQXWvLJEeBMhyLrngKnnre9oVfvTt5rp6jI1cQiezGzpF6OqxvWYjs6xjqGIpn5
joGIHA30R4TL5GLZA+M4z8zpK/FAKiQdbYxHuZripzJt5b1VaEpuvZhu0ofSOV4hqNfoD4bBd1LG
Vbkdy8aHZarWWiHsA7iL4KaP3IMmQI3iVUlv6JO5LORSROlLORWmS2XFAszZlkHsXddL4eV81WBA
xcrnainM2q8arbLc5CVBq3OLopsaLoxlf58vhR2dqO43S7GXL2WfFsT6W+w51WO+FIVljMgT/6X5
WrZAjFaI2akfqWaSA4ilEC0h5WXYBYuOdVZyZVh5XDD3DPDjavbAANDA0n4YLKhBAVOB7Os4WQ4W
lxPG5qTpqeWyDElRsxxE2Mem24KGcWd2wi8pTWyZXnOJt22yT8Phqmuao16Z68FCpIG8U6uacNua
07rqAF1jA4TdjRJd23QsKXQtO6bLcTmOACa84j1xvzmTt46XIxac0CbyvqN7PWc2OGzugsau/IZj
2YZ4sl8KURYmVSBei69DXC3n+ayXzrPpKuM6WE77dDn3aQGLk8UXCXEmt0KVFRaeF26K9OvSAP4A
5QpAc3RWPb41nJND89gifL0FmMS1k3xdQd3XddRazneor1xR/dd1NX1dXaHFLRYt99nMivF+7lT5
vVtuPLxDXH6J6ZYGHUBISWzNiV0ySzKNeJPzRBztIRkTDHsCtqjRIlNdq+Wy1YF8wPHkAk5mvE+h
xaXMc1Lmm4zZwY2K0+FQNGjTt1GDIni7ADfuAan3HhIaoUUbDHPaXjnm8MmqjDohXkqGzjS0bYCu
+HFcCoq8HbyL0/XpLUs0tAZzUx5xl1OGLAUJ90921XxVKq2eiB2q2PZQEQ//6CwlTbkUN81XnQOW
Vf+o0yi5HpZiSP+qi0LcvTvP9Jj/qb7PWAgvFVUwTt6edS9VVpvF6IqX2qtYqjAbIfsdK0NKM2bX
8a77qtcQxp1zqx5QQQsWa+EQ2VflHOur2LSy9SAUWhoavneEbsMh9Bz4MqXefsYlzJUVW0JWdlbg
rY1ksg+Tm/WH2fOCYs0F0D23QRmsTN76c6ikccVpia5v7GdtP7Z2vdFa9PpJkSW3VVF0N6Cpy20A
gHmTd11Fl4bKGuF7HZ+SrIruh2DMH8021zdmF7bntmjdI+IYcW8lk3E3hXNMHlvc3+WNUT6kXRP5
ThUP322MvCx0g2whA4Sj8abFnrqThcjOE0OhAnurQDnWV2a7Nru+WGM5nHc1Kt/3tAzZrkAj2HYo
mw+zywPuMsbQfOmwyI8m+FR+icQGcQQycD3g8101bWqa+04rx900Anxq+w6HeGC76S6hDbqHO15j
ThSe9SEYfH90lZtAp5g7FISmFd+37dKbOQA5ngzppq9cNJgoVJDvrdpxj0kxaI81cKUTGyPYvoHg
fuB5Bbtrt953dBNq3XWh/GT83vo2gNsrZ/bMY5YNaJW7uHi3nThZe6nJ7DUYNK6kEnGhrONrV+CC
x+7FOLZIFhDvYOGKt3rDryDYrtNSZyvjGe9VMRnflQibiwvMuVqPZaVbrBuk/jo0qnyMzdH8Xpge
Dx3si7tQzs1jPhZqYPe7GG6iIdBPyWTpd4MxFE9JF0YHrzH5qvaueyNjfXocm4Dqs2q6CV2523PR
Ml/45upTdOu6mnacqqb/hrfOPGG37h87pmV7sy7zc1w5tNmtU7JwivSL4FqgkEz79hLJWDtWeLi/
5UPK2MpO3dMo8+ImkhVefd22E79XCPHp5LX7rG4lx3gi77V+0s8y0yigVZ3rz3TVKB/dbv4EH+E+
6iVP1aaJx0iynpbJvusdldMVR7qzplxwXuzMANKja7CTGWcn6g5RoqBp74bmyUurwWLGXBc/OlY3
YJxti2JfVp9lNKzyKOnvE8dqb8MSI6XjHBsOCPrXuj7HaRXeAvHrrzKgtPCXHVzjjFTj6oetT86t
laXREQp+fed0dficzqb+XNCaH3QX5fsa5xj9yBBb1rFumhXchIGjE2TL3kzFeI2vW3zkwmvfhhLV
2zoucUXNUdXu0ziniXDdNIBhNBbVGnh/6gPkFt9iNHfGxq5C51tmpZKlgQsNy25zaDzj0GxT2b9P
KH3AvasMnUCsh9qNi43dN+tm3uhZW36bWhQXm1zp07G1oxzgnrcrYi88cA4Fb4OtXlOmP2zcBtb+
uuyh88SMeoxmnD+Ba87AkGqsW6mhXQMKc/FtpHV/skpdP9GVd1sYKOWmyAtnXg3ahCvKamT+NFlI
2ih1mPlu89xS8NNsc99mxC1gP5XrLmitz1rl5i7BmFtuXO4UJGiwxTZDmUDYYP9lrkNNeKfZqMwb
FPhIlFwsbr0VAIXt+hfhsSKp42D+HINOf3FDzsjOHaS7aqmJdgrR4XVbK0j3fZIeMMlRUeROhKBW
NDsndJp9mU7hPnGZatTy1jNUfl2nVYqi2uxfzV5Ul4KDb28Mln6D/i4GbeH4DYoQt+LsZmRTUTcO
7lCf7GqyEN9Qjl2s2Xb2RCX0bPdCdZ3o5iaz4IaUebPLnEXvO08sQ1rUs42eQ/yuDJcZ/Uh/d0Js
hSPGzY19j8/3rMsu3wsvpnFDbcXbmZXCOo2mU1qgrAZyGEZLk2czq/OXJoi0G3Y31k4ZY3YgD0J/
L83SKVeBCuPtaLI6iWJhfdoBYr58bKatPqbltz7qPR8CR5zhE1Et7BF2RrtO1gBCStdYs7w2Kl7Y
EPl1rmsATVQbhEdUMNN6nLX80YjpxQ076x5NZ9DeNa9DC81W3TrEelYcwppPd1VEhTp47RAfyIQw
jbU+yPEjttPpAcqQfHZKW5ymppTUNMKobtusmDbs9KPnITPDnetGCygy0YJ1Lo3hzk2BnRWMxENm
H2wEOdrT+YzmE/DTWLZbhx/1kRicen4vx+ql7OLoZLMMvRAvYJ84aCaYybHCDjgFe89tnD1s9u6O
7Wa5H1TWr4WMK1xW/RDthqhJduZM9gdrXPHJe0pxKOrw1TZYj284AD7dbkqvEkvP/w7t/XfYP/7T
h+z/Uo6C/fz3BMef5ut/SFGgkGM1wtyL14NbHtb4H+2v+E0IdCYCKx3wW8PE0Pt7/2v8hv1DSM+E
MAnoeaFZ/z5fd35jti4X2YjLyUTz+lcaYHchqv9Ji+JIg0aaXwLPMIFA1i++YR4q9OQtZJFahcjo
x4Kci7lxFbyXftYvBdjWYzJoOOmGeTgHQeKieKavQm+CTzJey/oX4mqh3PAbJnqEFwrz1akyABet
WrbI6LwGFdwOsQFSDcDmtNEU3oFVpbQQQXygZOdj56Lvo1NHzK8LtZnUkHb+AHKfdBajBUXMoCHa
/wRkTS0ron6O5DVWl1OTqPoz7NwUZa/E4rZCJu5um8kwnwSHAW7m1HDuREST2zODePEaZLghLMDX
qMNttkrJuQB7N9vZm61MZDOp1u+6XMZno+KpYrTc+f08kODSNa3th8p2j16Xp++Sf4QYNCF0xus9
68pJkZZLUYnPWp+XqgtdYdWV0z7PtNQ3I2yTrkchOEnNPtdO393K2iNhohq0HbN26wI1dybGYi63
5CBhq1ZDFq5TeGY7K6OdyWAP+IPKPzUoWVs03MmmZmexjDAZ/MazNQZbx51ZsEc4HpOR+lqORrPG
rW5tMnY3b0HqpueyqBikTYm1qqT11gc54KN2sjt9y7JxuDbauNk6MEfPgHDGB6ktR3zuLgr/MEdw
Opj1VcZvuxfZNGDKEylvnlLGMS/C4KbGLXkLECOkInMJQOiC4KppLKBjS8NURJq7m2Uud9OcO9ed
5bZnM9FQKg5FdJkYHt7wHjYIQXJBNAQOggfbK/i+xIrcofVkt/XeUJIts17N4WLnSPp91dUSEWhY
NbtR66KD7NzQXaFNirZB1iFf5Kb3gSxYJy1iiIK53QoO7Ovbb0acO5sKQpu7KRFVXjTqs2l54+pT
Rut4Expuv0PB66j1qOXjdZGkxprvRLaODTNf12JkHdRK3a+bar506DzqjRuBpMDiCeG2NU17jxay
gzuXspyxp7yDRVnS2tI6inSL2sk7DHGFf8BqsdxqRckzJuMBJclkAJS0k+5kTiVeKxhF9wN8CyCb
WRCcTU/1d3h77FesfgyThgLOUzP0R2MaQWb13GtKM9GQ08EeIah5yXaSmH4ismIYq+vq2u1FtxED
xk+R4I2WZeNiWiYZys0LxM96TtGQxCZk4Gw+Y2q6Qj5Fyx2Fsd8ieD2h3e0uxTx3W8uJRqa4ub4X
hd7egsa0AiTCpoUaiiFCtNK8vkNgQYBUwdsVOL5dAh7dZ5HgDwUntuSijD7qT2YUUUmZXJm65uPc
yZHHT1aAknrst7EJRpH5l3nsoyAJN41Bs5Gg0zgkEF+8DZWaR9SLY++8xvY+1OQYV0OfW3tL6GAi
g6jD1xTqzk3SVdNZMFwpRifZROXEJI/XgvUMQyGVKjkHWdOus4QlVyv5o72sqJ9qMxS7om/G75by
nkUF3Go1pqnyXcON/aSbkPdoSf4wwse5mjW6SEJPhq1WYrrR3cL0I6+EQpxW3YdmFu2NpopunXbM
eRhAUC5PY5LsymYG9loqead7TAM1tAeroSntWzsLnFudtxtAbjvu3dqyDxERI6S7uAVGY1Ouh+Uj
SygvNqbexGu9yKgC0zRg2q4m8zO2pLXtMoOim//6BJ/TemY7yX7DIpQmyqPxytPtCbl1qI6siYqP
VMc/PqUu/i5pjYe6bXiAJfLsseumXS8dKMgQxvaTwXfXTrx6F3nzREeA1jeFM73qYr7jjcjTHaiJ
/DBAI+OPdawVR4O+sQH0HWVR4KlJg3Kr5dl4yCyMPxycUbuFQBFc2V7b0p5Wg48iZL7RxnZ4zfig
UbtbgFpHzYn3TeRKxmGxvXZZJW1m2ROMlNpGuV6ize6Rvi32xqT7DIXS9kEigpsAxRKsOEKryHMZ
zzUhTyfoR9lG5yuHBjCOkeAv6CvLTtU7NrD5WsbudMYnkEG/xi1npZHEBRnhTdaEY97YUW3c8AWP
DjG+yi0Hkoa5coi2AC8t+DR5Bb1UFmddjMlGw2t/yOqgXOk5IUEOXCG4CYZxwKAEgTL2onoL9ajb
d1XR3NDuM64JVEcPEhV3qfYM6ZXcquafAsNRbmt+Y5jNwWCBexBxKO4BvxdMF8GHSydM7zQv0Pif
nXVVubQZ82hy09nV6CdEOnUXzZ44j3jGVti0imPRucuNKgkS0gdtY+NaWodMWTd67Ba7RMY/iGGj
WxydZcdCCh8qQdzV4YZdQ/bsZMULYSeKLfVPEHKGC8HEyVLOL04oF3FhV8avJma93rfdRvJ/RPbg
C93LwW3JYL4uWqcYGbCVbMgcILr6SnCqbbs4s6Cf9wU9PACzDSCMIYAoMjo3jGvHXdLO5cUVArfn
YHKeM2JdhK9ggfy8F94TOIcRO8rCKofU7V6Xuq0d9JEhDcKZpBEbLbdGWHzwkAaCKtB16U55B/I3
XavETk/hzKwKYCZPKPwjdlS4I85aZWZnlEnJKSh654Q7T9/g/u3OFiLcYw3TxK+9nqFlEOE7g03h
yXfGIMVrxpt7VLllnDOPDgNRm9mfxrAqdkNGB0iMoK5t44oNMQLN4UGpYVy3nbB9r5PFbWUazCBj
/F07k+bpxTL75FEKIHNaOgcH5VrzM+fokpiHwPaY2R6jpVYmchNBegJrHQfnApFfiXXAtFdtYvVX
bpDlW6+wGnBL/bQvqGgeuJ8D4hBJdMNGFh2Z4vVrr5+zfVoxVQqE5VzjIQBvjtCSHphl9Ozk7THi
hfsQcUJH4t1s30TMarfcYBgeG1kR38aiZArXFXYbBPpNtnfId1s5sm/uzayZjk1jj+tMZ5qVV6nm
A/wKV9OCWpb64G2MksASVzALx6pfbIuOTKnK7Id13rCWmPTKOMoWOx9tevh99KzhRJbYwI+3i0vU
JnR4TMM3XY05BjEgJ7YXFVdOVfRnmy8o1lRXYLBhgDnDTl3XXgDlwSbWSZFruJFlMmzthmDGJqzK
S+XZysdB2W91YzA2VRTa95nG/BHOhdwRK8VnXtnJsQqm5qyZkf4CAS0+1mZv+VFnIYidZL2Jk8Jb
Q2WfrjKEYSe1hFZx+jIKismG02JjBlMnE7dqcZiOoNM3g1HBuU3biK0XlRAMGYqN3syyQ0Z85sbk
6N17MWrAuquqSzggg60DY74i08+7eAoQuQ4p0Ymsm5Le9C3IwuqxYKx+1Iom3icNVxVDyIs3JPNe
ijFy0f9hSctofm+UtOb7HsfXITc87HdwaPZkdRkU8yq9bhL3VkJU1UYCHj0nH5+QcnpvcJv5+IDL
w+EodJDNogTA0ZRRAmgEVgzQxBE838LZNFed3s/rMQOMAiEbsGgxMJ3FhD8eFbODW6uzJuaTI/Ai
j8iPmxmNx/VU1oulSLHGbtuo++b1jdpanCG4l2Cp4Z5WibQhq2rPXvqBXnJPMEl2qEJyacQQ7DOZ
r1DzEcJob71gvkqCIn41FB48rbXld7OkMp2wBcITgyMkwP2eK6/ScQla1V0SsPEO7WB6L6zRTfyk
rLcZgTS7oAm1jwD1wUeuzOk6NKG1FXnqwteIhx9MBaJvYZil1ywJhvumGcJ7ILy8cfSagpt/dO9Z
4AWHhFCHS8ej/86wCYSFdBtfUwZpe3lnfbdBpb066AoOleE1G7PQUJM7YUzCZxuPW0PD2y1qhlQB
gXXo9Dz2cnYrXseExSALQVHyy4Kgxyw5W2vQaMaLlwXVeQC+So2R+9nkEUjYsfuUvSePDry2Ky90
+32Byp8hNS/1nYzF+kB5Px7joEpdClz48xpSD7mp4zzZC/64te1o19A3CjYOL56NImCt4ya9KLst
dmWiyquWddWZryu9WDiVHgpNJ+v2OI8g/3jAgKknUkkPlmTUhpDZmcsBhm27tUblimqx3IvaHSnt
Yrv/rlxudJSoameGMj+1fBlvpLsMtOamKd6SuRIvmo7aGlIUWPo2TSAIGK352oaqf9UtpW5GjQ0H
QmbnW5Ow8CAJgsyOboyyBnFHLBfMbg2IoLdies8JPOllzprxSgS2AS4WAAx5imFSMzjsvem7JrhL
427MzuhDtGxruCp5sHRCDbVmSA96M1f7zDC6A5uKfuOI6SrQbetNj8bsqjWIOxENjsbZjHLkE4ke
bW3DsLZ9j7kBBVhwshalsAIEvTbKySjoAPgN63gS5wgG/hFGJPdvxtWyEmmmNhaEU4fsyFo8RVbk
frbGBPGo00SyZVr2kmdBduXqFb5MoknqDe8h0Klu3kxokXaGZxbYthResHKotRW0InsLWiH+UYUa
erlRA8RA3kLhl71gKtC3ziGeknHXq7j0tbFqL5RK0XsfqMCvqOBEmcYomnAwowrOgF7bxyywTHGQ
hjUV8ElNm7M+j55Y+iZPvbSb9UhA3xw6nt+TprQrdeVduSHQng06d+91LnoErKVnsPxLSiBaev8j
6bX6jlZLwHIGcKPVCY8ZGvwz9299S4UGGxPKwUYIkmIgYpfsDAu9ORmF88AI5yhL3OIJwnkkt4nR
7a2pcmH3j+q14/crVx57UhZH3NtrvD8pIDavif0aM9sqIeQAiAxOO+A9WDn3XFwQGKgLnhnFCFJH
3WZtysmBjg1ecDXmKQTmVMXqWjacOZjVDHA5GuFJKMUp1Z9jvNTd6ieNx+3fXUp/U93v6dG/6jGX
eRFWKOSfBrh7a6Ga/MyZKyCpu2kkUmIsvPYunzTHb1nOf7OHJrzFGh0//vXXA0ospVy8Uo7+SwYV
ph6i0kuP10PNtHHMSF15xThfBF7XzRjDI1r/6xf8FaTHH0iWEgYUx3HBhri/vCAflYYFc0r8NhDI
M6EBTTsWZ7r7l18H3Yu5hH67fPIEJ/35jYxgPhdtGaY4GSvDL8mbu+7o1S7/+q/5r+M9XgWFjUnj
gdjG/WW8h/6x75gepL4Ty3I7AKwmKWXJKxqAUGjPhUXLY1SDG/4Pr/tf38XldR2bdTgTRMv75V1s
W5zgjK0Tv+t1rFppQv6mdf762/4dY+j/MArRIqOyFin0vxB41x8VEU5vfwZd/r9/7R/qK/03F2GT
yY+CIyS+NFZ/qK9AUnrkoNk2jMo/y69gEPGQ2x6MIiwYziLa+nn8jCKcVBzXFFAAnL+EreQR/nX8
bC7SbsNaFGJ0A1Aw/3ScCMidndEC1iVjhO6rQ7d7yYOyz7dl3DWPSuoz0ysR2i+JISa5dgM137LV
HjfKC6EomDYEALOfP9ocrIzl5cUxkKQSewCZkW264dVszw+RyE1Y4zn4+abqfixiCXzUGfHyaWVs
kX/oN3KokcDo/WCfrGmIX8NwQaETFkX+hMK35jTmbV/PB8Za8bwhTYC0sSwYkhtixVwf2175wOij
7NZzPLYkes2BH5RFeXCQLPmp43hMsaU57aFawgEBQM2SN5+PXROntR+I3nyygU1cwzarr1hihU+2
NIdqnZmWA+gtJM4kMfIXhShpZ+IkenNSffgAbpQe2EB22xqU0qEFwXzHorHbdHHcPJr6PECl65m2
z6GEZOL5YW3OPqTD+JryC242nzRzOHiL7aExKw2nYVxMN6MyS+FTZKv7XC9KvM3DY9rN2UWl43il
kmE8OVMVXsdaSCyENoTdI5v9cJsAPvHjtjfv6y6kINMjYpH6thJXsRNPdxE7PfT6kgwgJ7/oY1xe
CK5OHoyvWmdiU3xGQEAphLL5e9ugxN6kczNIlvEwngG7DU/B3Itb2LviRuYKIlsTu1RXzVelBXbe
grFJzEfAvNNRR1NQ2LSao+3FUqp1S9FWLuWb81XJuWwJd02GyWHVidLxhQDcpodMFyMNZhE5RwYZ
ElqfUPfHXvc4ujKnDk+8a7TR+L/Ib6Wh8KASK4as1vTe4ZQ8UFe9pchxfCMk1341hskV45R+BzND
PE8kZpkQG3sTkGbUXroSwAfsqV2oFZ8Qn8+uJKHQacDgTV7pXYYwLQ6qB+ChKqDGWArDi9eV2kND
yveuZ6RF2V20cs07kJ/Tppku+dxqB34scdeFRn2QkAPzWNYZa9MA2JboUbK72PAUNfcJamR8DBHV
9FC+ZHeid4QKJLvi0smsvSebg6CHcRyztaZZw7BBgmKC6dOChtatEvLaq3PW2qGdo89hBBWsFAZ+
nKpQA68xg8odYmO4hGjuDgjJ+MB6+PfzkXEuvwoahG3WI39e987klNsmcJibNq2ZMeyaKvahTP0i
RahRUjvtYxsuTAgCr6NTXel1vkIuGTykdL9sk1oZvdgDBMKBgdPbpGlG6BuVJ59VOQAawt/Cursp
03A9M1dlr6R718B7Ll2bVt/DJo+vPPxaaOXj2XwMa60wod/OZItgZBjvqraaN/zB+tmsarXJKg8s
YzCWD9T1/XMTsGLgrHwKvHJaG8180vh016VU3ZVRWYYv8jjPt5krVXooEHzesPi9hrekvukNj21Y
SO+sOMk+SicbbkoN0bKgp/wcmtm9knWJSCiy8HJo2OfYJCS6ymhkcXvYpXHfwNZ3reilyehbOM93
pPUdkanVW/XlGImSylvXvTdeTyja1raFnxYYrtoCqcgv3WI8aadc59crKHe8DmNK4GVaAKYa6uG6
j6JvKL/Smxo/zd5tMrF2q6jYhyziDgLj7jqrp6z0KafYHC0Sz7oZtYNGHsOVBZ3G9Gk3GbsUKcLQ
Albvk627qd+6xD8hl5WIv8wvPWkbKKSlaEzxGHIm0+xlfrdIUKdFjNpkOaTdCn2qIGWJMZadaac6
yKp3fJzzdlxErQjj+p1chK5d6pT4gRf5K53dTP7blyoWCtbwbOmgZ2x73EjyCG5z3Hy0QcQEAHk/
y3x6c6GBH3KNTj80rAOIkm7nJa28RKZ0/dxj8z4tilzP0AQiC4stwlpkofCLQTdveX8YpIWktN+H
zaLsVQCN75l0tKflZF3r45QGeJ6D5MxgqHicvlTBc5AT1UDU2VYtomH7Sz/subF4qL5UxXBRo01u
WcWWuPV1vQiPMbSKgzYhRiZ8BV0yczA0ysQyxHeMBpx6x4WEirnrHHgWxAMFN4bVxgcFedJcMTFo
cDijFfDiIdzWqIo+h0CEW1aYyQ5VWITVeREaYBFhdheE5oE8IXOL1zUlYDl19qasgr3Zu/lWZ9ux
oV+yTzbUVjB4VniquVZf0i+dgxF6xYdaxA+s04CBLIIIYgIS7l94oqhWrXKgKUI3gWpwuAPGEsBg
WmQV46Kw8BIAg92iukgx4dyiqUSKgbpHntBYAW/zWnHN7HV6aNx8/PC+NBzBIucoF2FH9KXxiAdP
HdQi/AiDDg1I6EXau7kIQxxmQCwfEYtMi2ykWAQk5FuiJal1r0bF1PMUrpw2jw5D7WXhfhBpx7vn
ec9GK4yP0JhsolMmy2F6GTc6GfAE9wRzYAlsPcN4L4KS0a3TYm5ZOVk7f4vJKBJHLVAOWFoWTUdB
PsFBmq2sDpjkw2FPqFKKHSXHc7ZNsyG/w3EyMOzQHMj7A9PAu3YZBuoE+XxHVJriEZmGsxNmD3MW
ZffY+ll9k6OZvHpzEctNUluJ/k3VSFpR2enRVQpX8pGjwb4GfDYGqzCJ+71RSgZ5bjtO95HlhZih
1PJW9VqkH4jbsXxCN/GhDUP3jsU8uodHnNabsRHxJkbnpQ6B9BApacwmXkG1qbuuGKtt4ZQ1yU1V
Zm+MgdAiC6FTqV0Cw32gFls3/Q+3+tG5KG77IZHbLmn0PWPcYuPUnr2vQqJaNwmyPuaFg/ZQs2Nk
dGCdZpEnKMklEZJe0rXtijTsjBM9mG+iAswFo6U5+Qypwxh6Kt5ENMI06dqJlOy4fWiGxhu24Bmz
O7DauAkjTafEqhBK9dQka2bL7TVjnm5i+zK2B8605CBLQ6N64ohIINq57kXrrtgxxJG3FpWGg2wQ
vW8yW7gfCgRhTGk5Zeih7V0F2W3jZLGLaWUo9iZwYR4kM+IBRDCg8TS9NVUyMIgQJLNzeK+0wOPJ
s7m60g+rNphg2xDYCXrWTqIm22lF+IY93SZtG2vXCncQ7K48a5Zpmxs9mVBzpzew1foD+bvtjW0a
SDDddvp7h/fv6L76/9zkACTXBu3Pf9+HrQvVQFxBqV2ot+xvtzUxHer7x9+Kz7+t37Ls7U8CIZqt
v/+8fzRoDgkBNjYy4QH/oHn7Qx6EzAdmrCnwpNCIfSmHfpcHid9cTLG0bUxhhIVD5qf+DOuMhPWJ
isMygJP/JVKN92t39hWaraNConcUjuWKP3dnxKomjUmJQlTrQLb97COvZxfDShBxSzrjq3WhVrCQ
LG898shC40GFh5oBfaN/n1DvxESvasPOUSBFQDMJA/Jenp0cfTrE3eTz1oBprE4VF7E5FW9DX5+k
o/tl7O5C3VhHhPIx69vAxWDz7Rzx6B8nCz++YjssHlxRGlywmBpBWThdtk/M7m5Mqx9qkDdh0ewU
HcdKsoZumvzKm/fkE9+143PI0kWLUA8GJLahB7bM71pIGUIumegVvhRoCn1xC2F0BfYWH8dTBQ++
T+ttMrJsbhE9RWRlGTtd7hVxbRohQV79Wpi7rnmysppNoH0TE+2RFx9M0K/LwvB2Wv05iFf2DTY1
8nAzj+AxGQGnIRTNEvfw6acv4T8Z04klAf5nxtCveefLP//+dkcyU/N//pf435USSYjydsTtkG2a
ketmftUYrJqpeRtk5q3TGlt9qf4j8k+rA2kvYC12bsM82sGpy9oLr+tG1P/DOI9Z2j/7xWwPyw9D
PQ7pXyZDoSenpdUffN7fMzNc2whe/i97Z5IcubVm6a2U1Rwy4KIvy3oD71s6ezI4gZEMBvruosdu
agG1itxYfdfVPEmWT1kaZlkNJcpDQXc48N/zn/OdqAuWVRHtMMW+cLY4jvmcYoI1FvaIXTsH1TIy
7ps0efbYjNOmvdUpbKXTCWXeW7bJQ+M27EnZYEy72Kq3vaSul/6qZYsIjIyxih2KVfPRXyfiqZlG
uazCHiuwpPiw27Z6sTLxFgTGAZF6OYSvsn+Sobecw4L+CHoYEtjHGQqr0MPtYPibXkenrbbYxz/L
hCIu9sCptL7meW9r7q6jQmwMrLNr7VOdS9dgEwfegbd5O1jeSzv8cLz9MLJHDe3F2HnrPhaQ1O4r
Rz7FbFn0zHvI++poiPZmhA8nenkuMViUrn5JW+NYzPP9TGezmll60TxVnQUhlMSZnd21obWoQsF4
FWnQ72h/43ua/ChSn/as9tZiFSWCbezhEXMgbuJyZ8uH2436Df8hzOf3kjZRaA6XLCvvg1I8Tw3n
36ZoH700plqtgLKWxK8JcGNcYid8OscgndGeGxcGy7jqSIalDrbo+dbpLpr13ayfBFJ284K/iy+7
tQ5EsOrMftNbXxP+oaosnoI+XPsGaseQGPYyNbuVJjxqpZx4RynqMqnr3diUa7oDPie7u8PTf5FZ
ejAttZeqN6C+FpEOSLMT9t6Q/rHVThp96awvVpQY0IT30nd3rc3GgqjBGD/m6UQe94c5PmU6kGtC
6TrtJY17NihZzjGr+Mr5gfNJQOKswn0zT1umBmq1tpD0iNVN8SaLfFA0XXFiPCoIBdTW0RWBWIku
3Q7pEwbeBQP3rtfGRUjqnvgHdBGLJtkLzQDFas7oUsvUcm1r4S+SIPase80LUggh3wSFD8SXlgnQ
xKVVWmLhZ5IDqJk+00x7H+VJtrGAcOnt1ou3VQjD8mEu6lNSW8YOZYoc1ADsJ3tOSCBKuUuN/Ez2
DNKteTYtA8dl6bkLK54PtHStPM24mfU3Kzha3NGp6T1NFFGzOHxsM6LPeA0TO18RbtIchxLn+VT3
YIu8DQShOxocNkbxQcBiD0dzOWSPNjggVAVWHI+hphBY+PA/e+PbPOU/wLus2ziG4RTigEmXSXxH
kwSmjhtVNesz3zuEA9tzyVpdMy5wMym2HZe1p39Lspi3Oz0l6SemQEiJFiyzaQkNihN6eAmb+zGv
fpTuvSMOwfQsp/vY+YqTI+0KOpUO7L6cMV42RX9XSv1JsNYc2KJC97uEEazNQwy31TTupXeL5f69
ZVqb0nu9YaGkPhyB0LjOu2FbwsVtuolGxFeCUyucfuyO5o1dT0vWQot5epz6dxgAW9M7jNW8t8Ak
lRF1skO4qqkTZ2XetFvGeJ6cz15/X2OW8UgZSEpyG5Qszcsx2tbLGB+fI791zs7mzSFnyT75m5TS
WUnZhDf/ybNC3XL//KzA++vYng/D3vD+tIqw9NpzBAf2NR3uJ1cfz3F808Q/HLaKfjO/mMGXa3Ml
+M3t9X/8t0bIvwxGf47/47OsJhlDcv3H5b/wGMk2STBc/cUY2TWffxoVf3nNr6Oi/pMJj8UzbBgo
vwj2v2r5JnxCXTFcHMMzfgYe/m5WNDxe6Ju6r3sc1xnhftPybVVDoGqpaBMQpvn3nOQqHP6Hq8jl
r+DrBisBD3+VcP60GSTxUFUe3QFrezJ8rEBIqo05usjAFJRutcY31720jNfec8p3ElrIVY3auJPB
yo+d2sLjFig+MrWZr/oB4xnNK9WOh9IprdQKPxJATxap2uxzP8QCE1wX/mXvozV7Ex656GoJiK72
AFtM3KqUZwCjSglpos/vgqulIJyj7rWv80ehLAcFfYy7cFI+hKmZ3C0dKLgTUmVU0A1L7gPOkZ+D
7aF02VZCHimK2i0glSfwFsyJ2B0GzYVhqywQWD2SjRjlxhYF9xNllNDxwSzzq3tCb+GCTFdPBSBu
45t5dVrgyjIXdkKXrrJhDCSrMGRIboKdgVJXKcOGiWVk7yoTh9749qfk3V85lAitI2X26JXtwySa
dWcaZrD3lSnEmHxjF/lUSAMo9cIHPEbDQ1j2FE9htXzD4DN8L3kI0GzLVF8o64nq7foS6aB9wZ2R
2xSHilVOfrIejHb+6CWQrkpZWWhs0g9C2VsgrmB0ueIU4oLHXIcNBtSgueZMGn8LQvc51JMtzO2F
jn+mUkaahHTrqXeNDwKVprOyfjbejNSUY0TDj9MpZ05Ge95ivtp1dOXcocV+vFhTDL6E+Xz+liuP
j6nH08HrZzisYBudLaZSzvRRvKhVtFHY5afGaRiti8oXdXqYm2Dl9LC+NpNyFuWNh8moHQnIQpfE
LqY8SFGoj889rSkLiUmJYQC/SdYVa3eqcDApLxNrDmfvepn+kCqnU6o8T+bV/sQqaN5xWRoLoGq0
SOKSsrIiPoCgr5+govuvdVsdStMKlhPy8FGby4+gLx8pAczmVQsaP94AisH/VNDyra0LFJXHEH1p
iQkKU26HY5QmQr1IXpp2GF64uEhINx1ObZ4NrCC0Bgjxwp+bcOX2jvlMrtrdVSa8w8UkWgoTe8gx
3awxV44ZpQ1pQjqvG/vkYBiEOjkYlNlH14TpEcuxe6blTBrwnsvsQXOChrx/ZM13WCLDAzYQxqVe
K6K9Fz1UqT0fIojLW0ld+6oBTbzFjk0CrfP7/DR2OWeJ3AYfKrF634c5rZZHGuXjNy/zqu955ZQM
BLQAw+UdyYnEsNCqplpHsvJ5H0uQ1+WMd3YIWGa4ZnwUBubKOPT2dCeTu6W8LtP0z1Jkl46s2VsK
W4GGdAESuB7OQ5DCwwm09o3IbP8gAVVSB6L5QChL8P9futO17DKG0T0PWZJjgiRlSJWoW9f7kHJ7
yAtm/X2K0v4hEpQXr2l69/duO8s7w9flgQKHkHBC3gRHPrvhgcqFfMOIVahVh2ZiItXCtTaIaDMm
xsy/1JJmrZLj2KIzTGyijDLIPna8NUcOOUuaXygrGAL5kZjRvCUxUq6NIHjJes/cFE2SMmp3Etog
K6i7drBrrrIxuxl8Q+Xaez1Y9wz9+SKRjrtKyjR6kVGUrf2abVOp+91XNlBS2Uv7uSkmpOrCF5Cz
nL7zh+3YNinKr5VCDBiTiZZutoYbr4BaF9uAPWenPo6GD/sdkTvOaSUfgEgYXXCqs9Rhd2BZMVRQ
Lbor+k5QH2gCxkyzmg6oIXZI7aXYsHruMp7TMWEahqh+hKyV7sklxEfsxsXzmMDIrCUer1HBDQj/
MObXPkE3jg2UF0szvkzsd298rIkE+xOaStuyqG5alBJ6rfFR2wh6Rrbo6qgHbhph9/Np+mZbR8d3
2Nb+Yy2q+DHogN+T2jQQq/3quXR8sSByMgBXsLFQCSsb7qXBuYSu0YLRrIHd6Ja0sCZjfIw6kW6U
KYXEsgX+GRVxCZAR8J3djUeZearZriFKO3IaE5knV+xD+fIKGHyqE8ywHSxrVrzsdE9HK7ScpR/h
pStac14lQ9at3Yw+4QG3Ho3UlIPq7livmfyaVdNVeNmjKd/C4A92PbVibzVX55JQL4MsOdtlWVcE
Iy3XOg6dqO4CzbWWVq85O1y2FSiPPt2VquU5s+ZqVxZltpN1Pt0GFExz6w28oywJ0/qjET8YTcrq
RXC2jMng75pEn7c0E5cIISNQERHWOOK0tDJPPRZcrjdOOjat6BtGFYt4cAbmiTCPAmbFp9wPTRpi
6CewPQpSeOx7PPOcfElYF8AXMum5xcq8qPQIEFAz2mvhZECxZl3HfD+oAm4ynKc6FenRMDXOBUNa
vBB+5FiKWWATWeyJXFdz95TzEp2qcr6tdC2d+xambCINhzKZwNjilu0vNb/yCiicgWGcm01KzzBk
IouHjXQ53GnVfIEBoMPc7c0tENluM4O4B4CUZSMQ0MHa6PRCIji0NXB/mhQKGgVpsiVZAmsrYL9G
o19BzLwd23Vb8oCqGtPZl97YPqdy7rZQCZKdzuePuuUXbyDoAMPkzbAzdGt4weGOCEU9z0HCVnmE
4fjpGMpk62j5jVXN0TG2sn5FYjgASC67PW1I3op4FJkrjipT9FblkKkoDg7LZZAHwb1fIDZoMFpP
qecmwFp8nPWZbnT6uo4LglhWmInNrDfdccgDehWrcSr4ZsphZ/tNvzdZJy2HShJg9T3mjWQicYNk
mL+Bq65BlDmD9VrzUR5NO+lfbXyhm1qb5nXPGr824v6oJbN2rvqxPwxSNDak/sw+AdQrz0leagYH
3U6d2nTKGn1sINbSpvMvdWbuz5lZsKWH1ZdusrZHh/DLQJyqJCO0Dfwz4n2tm6PILPnR1w0o05Eb
x2IAPPAEvoMLMCh8840JwrvnPFztEpiC1HOOkfY+0Mx65M7Yfwsw0WEQ1poRekI0BWtTjMbW63M+
UCZa+0uzFc4hVmQHBvR0m5WUOK26yXPIwygSxChpSufCrvJ9pvfRDeAa01jjzHdX7pUl4WraSx+C
yyLPsk+w0m0SxZ0gvtZ/CMWiMBWVIr8CKgLJHbiqM3qQckdmJ9j/+V7LgDWS0qFpOCdLcLavxIuw
r6LX2hL6ObATzt04QO7jvIKfl+fmfQSW5thg5HgYwhqYhp7VhLuc17I1VtIYtHuTgP9DpOAbVYjD
O7sSOYRT5MgwSbWpFLAjjGdVxl2El0HhPIwupSin0Oh5DtPGPGP8eJyGLtgS4oM7pIAgASR2tLc+
2JFCBDqseCFm2JpbJ2n7NTvKfG3GRn0IgCqs5yQU7bKUlk3OGfgILnTvo1dAEiBRwHw1fAmeHU/a
Aqd2ueaBH93UClNX4Bi++PCcv5iVpl2icHZkMov9oBB3RpeRuLLHUY2OVwoenYakMcn6LZzeyPcT
30AfAz3UHVBN7ra98vT6ap43pGWTDRvB9JAo8F6RaiNbLmgy6oPYOQrQJxWqj3fP/dFd+X0urOib
5kr166wJmVBY4rlX0L/AlhZL+XHYCoUEHBQcUCuompEtasEiV/DAemq8GwjNySVTaEFHQQb1K2/Q
o998ZSoIoRaNcgW3CTJhqyCFMeSoveaN+Y5IhP1WMi4fy9pkReTS3zoo1GHrWN56VvjDUIEQB4VE
HPl6zaQDACV2CpkYMcrvK4VRxFgBUbFScEUq7PVTOSviomcm0BdjBWLUe5CMY+tHZzfipjtJXNzx
CLqxoIFpw0bR3TUTK6n1oCCPk3dfKuijUNPXjrt0ShUN3aQLVwEiIwgA76UT1pfAmnvSs1eUpDt5
0TJyp53BGEiASEEnWfcT52gUijLQQvtkTn1533FpgHK4UitbLY62cDI8Mkqm7lJQlkO4rGBdSgW9
jPUqRixVfopoqMWPjG3s0Yjd/kLxi/s19OB3gEuN+1S5MkrsGXSq1Jf0atkYOb/mG3F1chhjd05k
Hi0p1TzmeCuXbcoshQC2mPOhfymVK6TqwxIRbChWnvKMTBETfq98JGSosZRotbKXGMppEtHL4qBM
D7F6StWfmUOuTmKy1q8ulYiW3XAJKsWyVtKiH0MoS8t4dbeEbW+828ryghAXvSZXH0yqLDH11R3j
SplsLK1/b66+mVhioTFocb/g5grOEOnro1RWG49zFweBqwMH8PyAGKqMOeSecJI7OGFxbirnDkcI
Z1mL4WGg8JLxTh5jZfCpO6w++dX1U10dQJqNGci7+oL47QEzlwN38MIQdrYOri6iKK2mbFkqcxFB
gfZBV4YjGVav8ZA3N5ql7Eg5DJcDthmypTqAi0o4z0BDtPdY2Zmaq7PJsGkiyZTdKWkwPmG3z080
Ogv2KXzrN62ySOEU0B4DZZtKqF5/ypWVqlemqlHZq8whKFe4ljDz2Jq9xY1FXkdTXa3Km5XhGUQ0
0MxlqrxbbUGaTCYl0Ss8XXMOIX5BGtleDKN17nLjiQotyQswgnlXT5h/9Ydxq8Irxmft0YznDXcd
M+xddXWVkScsvodXr9msbGd/X1w7x5+SJe+P9s8t7X8U1v6LuWN/5h+rxdK/1tN23Xvx+d5/ZfHn
Hyyy/3ztr7qa9ZNw2Jb6iCO/8BR+Ryj0lNHVJciHcKa2s7+T1bCd8wrQgZaFF5a/zG+ymsUK1mf5
pOs2e9i/J6uZV9nsD+IsHl3ls1X7YcejcQDZ7XeLPHcYi6xL2JfZXkb0oajdF6NNiuf+yrQprnyb
Ou2qlVDQm2z09WOWAsLhKselxikyvBQKlGMBwlmTbpx/DDHtAHCAwuGESwW4jsLsWDKDPwV4x6L6
YV+YwbZTUB6IntNhbk1IPV7jVm+2wvewE27WeLG0yywM4srzlfRDXcEHg1ezcQhobkoFBKoIE0CK
U5ig5EoM6pw+bRYJ6uGy8rCALbMrY0iPwA0lCjw0VopBVCgcEWlLg6e6Nt44ClbUTuYItwhpiCHF
OZhXqpGH7SbnxJPF+0Rhj5wOANLsTRVnKcKLPJU5FF0ZSbR+fQ89HvrUOyuIkmUO/dmJjfDWJ1dG
aVs1jQszSLvbngbfu07422Rof0SFT7SuzCmFGnpah/BCPemK4cTpb0Q2UmQnmfXVqaoscaGhezwx
aIB/mmZLyHWiqFDhFRBF5yYhIs+ne6qtIidauZb3HAYueKGGaeHkK85UF3qSyHsXs1R3/DliRu3F
A1w8xMm60x5iUDNCC1fO2NNhP3+bDMLXVrmy/FEtCXroRoveTPydYDUxwKkb0zd/ltohRQW7E1dE
1uw2+p1o4WaJLiq2sdu9WZip9r0ia5WKsTXnvXWcFXcrdcvw6CsWlw7V4U3/GdAVdy2er1Z/SsiW
t4n16ABrvuCx8yD9zMayJC24y5Kmf8Ebpd8bpaEfGU84MARuRBkoMScwYQoYhp/3y5SvE5ajzzLV
q6fmiharFGWsaWrWX6WCj02U5X2mCkhGMWG5EoFhrmeFLOMMS860ViAzRy+nl6YbkttShO0SBYqc
Y0jDInRKrzkHRFyPQ+CmWxCGYM/aVnzi6u1X9IO5G6cywieo4DUgML+/swgYvaF7OqcJZzfHJPtS
591DTF3GnvmO4lhPE2eNzlG4D36/zCuZIKpWHKnQIQ0Cb9hbrdx7HVqs1pzqMC2Y0kJvySo7KGBX
aP5L2E/Fm20F7scMsaHaIng1d3OEK7vKGjrL8CcvRneahgXkgmxBlx+bI9KyKz/ojgVdOlR9cyWv
66EQax4oLX0kc0KJ1ziUt9RNTMc5DHG9Ah34rssoPIUGNWuEtigJx4w3QPLKGmUnrh6CinKQZBYt
gWjXar41lsOFAX4LkjA1QkAhp+EwWqasFoI4J03yLKlWePefO57fQmY0xARu+Jpruf+I1au6dEKv
jmLorI8QLDBFWrbHTrQZsSHW04vmlZIwLM0lDkQOdvVRbJAErsZhN3p5Dx0RwPuiK+P6AqKrv6PK
kn41UXdiT0+9SVYdEYJdsxc8GGGK08qt3YgspTY82Brk6aqu5s1U9NPJzLrylQNBYB+4suVaTg7i
vt1aSynQLvAXGudijmDPaagTgz4VO+bl5CUxrC5CiQoaFzBGSiGpjetzGWKsOw1ZE91UAPYuGNTc
B5uahgsnP/8thGH/LrGBs5F1LfrdnZoiPzEP9106wJiDsokLgMbvdJHJ2Ia4FaD/oMUA/CNrfQ7p
dzmV9WiMy8hAX14knVOd4rzorYUd+Ym11hOrzleh39qrGkUe3GvsKLQ1eLPDFFjBKWzS/s0rs/g0
Iyeeg2gatil14IR0WTsDT2v0bZ6LcEMvab6sGtXmk0kW6XM9Tm945vItDydvi41z2GaWFn7VmtX4
C8TZYVh2svO3E/w8rLtpC8XKi+ov2LDputKoYl/SOlHczhTmLWNi+Rlds6k2LL2Gs7Cvm+FD5Zf+
fdHw4cDEtfa5S28ljkD2ya1q8ZktjRJYX9cuGvDZapVqvn3imEEMNMnCFMge9rcHu2u9NxHm8isC
aKEv5zKKjkmNG1ejMXWHAZDupiCm0GaNAwUCSBwGuwRF6i4GnmssndT1v6rAtW47c0r2Y41pdzly
6P//89cfmtoYh/5q/vr3/1V0f1xp/jJ78bp/zl62wKYGxQqV5ece9F93mu5PSACEgxxh6STyfl8/
4fEjy8amajq2+pFCR/82fOk/WSCdeR2xIsOktu3v4LEsVy0tfz992ezEPcPQAVQoFJf3p+krtqqI
DU5crgm5t6+ZEzb4cdCvN40HNBqP9F03DuPaniHjU0QxVBvhxxibDYvsxpLtAsYyIOvea9qLeTtZ
lTzANXUXedMFWOcm9GGeNR0Sj/NWpl5LBh7GDznXPOhcqKnkmNDiDdqrM8NJXg2ZnmYvTxapJYHe
00Yk4Z3A3EjBKek27VRICztct8OjZjbOIbEgMtpJ5z9MUoRUCNv+Q4V8eWdU+YA1VS8R1MrmW5TH
g9zOBGkv/Dr2CmUMedrnLkDI1bQoXJK0NUABmaZx2PBG1WARinmjS7Z7bZOQPhiCZYR/I1wmkFd9
tbQIbjTd1D86zt6CZ/QUIASLEUteEpi4vMF+YLKpf0yd/kADxHjuCF+saXLDaEvF07Jl7NgEkS5Q
e9NxaeclU5oTpztrsJDkuDboRfI4WJ1Lc2ZDoEHQbzl03VcuXAnwEFEMuDCxDtz8AVLJYHxsE1y+
dKrpFD92UToYiykl2bx0bZp394msUaPzSp1xk9TAgg7AMlz1dMUiQEelCbMzrcTazX3cO9acpk+B
QE7nQZVUz4UHkbjv+m7PIhX8MwcHNhaGGwOjGfnL1GdWo/hvGt+ZV7PtYyrBY+Xd1ZriuOqF5H4P
xBnnUe7l2A7puQvKjzBrvGMz5WaLE80pMbt1iEq7ErrNriRh9GWFJB2mqdJurHDQb0Vk1Le24Y1k
i6y0WVWVg6/Z0ejUWk2ydIxV2UjxqBOqfsxtdAqMTBkmoyL1bmYc+y81SpyxqnW6BaC3ztH3ONEa
b204oW4tg8Yh6lKyqqVCM8uh5bsObxkrwOipN5JZIR7aHJU/jimpw5vX7cAhDsULkf+JrwNz3Q44
D12sMB/ep5EMLEBzh/6LMo+eSo7cW4Bw4ZHy0fbBy62JyyQyi+c4TBRXJMmQW0IwzeDlwh3lUh4O
Al93ls0A8wJvVV4RboK5hLYc6nSe+a34csOG5xfaPl21lU61dOlk/kafpy5fjIYg5R752bsFfeWG
wz3m+djvu29MqKrWN8NzL2ZrN7MYtdCn0lQuRyokWfLoLcauDBKLNmLsaexA3piGbt65rHnWWR8j
1Im6tklJuPTf9nap34e2j9vPkZP/Sp1X+jCZOqXiyFCJuh+kK0fTqkPV077q8VbQMJhg9ma+GZ7K
jGd9XcXabW8WFUjRcd5muHaARtXEf8CEXbSwkRuMesHBT30efTGqbyTLeR1HYSSWIyWx+3a0SoTN
WN9F/eyfh1I3znYJcW7q6gw7qzvssrorb2iJS27jXrkdW1GtMAiLXaPRYuFh6KBF0kibR99N4O+w
kyoAWUlcuAHbto0ewDo3os69RLXVrFtKxL9gJJRHgg78Cpo0+/DY1Un7yo6kPvWoNneA0mPsmeak
HaHNhHdzoLPbC4xGbqmY6jEbSnnPhJwMi5rY4n5W6J4FSi05MR7jNecYrzvUbmgesoriSNcu6xd1
me+d1rN/BHFCcgMn5H4Gl3XmtF0+D77nPsUMvAeUSdphI2M8EJqItrHFxLSIpyb4bs50aKz8qsUW
ShKK9RAwtjUjTnYXasNFZ3HNBaRPjPzpKjdVJnI4TJ31ZM22+QEwjJPm94QpK0vaQ6/POrY74ga9
FZKj044ISOfMaV+ot4s+5v7JHLkAkuZr1lm0eE2+S3LU9croTnzE45rOJcp5ptJinLW+JUZLUVkL
tDSkrjdDCdYJet+4EKe/6V4ozsOMwRdQVP7k+6jfhBQ8mDskIHGx+gM90oEc8ZgNejW+5qJwNrzl
zjqoHXvdZtz7tgJ7XGDTxAzRgv7iunZH0E+4ITZui7qf+a7xEHcGj5wwsdkA2DAFzC0sspeWBQlE
fJ5gd+xxIn+BLbEAkAcJoWFCzPKLHgPwgxnFpTU0XvMDacJczbVOy5jrIk1YXpW+R33Ynt1My2+5
yTa7eOSbG2bmQx+bub7shl58EKFqnnXCm9/SqPM3gxt5N2EMCXnRVcW73kXZQ2NM6HeeW/4AIzTs
AxYE4QY0L3we/k9gJPqwmA/SnKtvcVzL98Ju+8cJ7fTcWiCBsyn5Dmd6upm44+67cbZV/RBGhl2q
13ILLzFlgI/ZOS0wBB96YeyGCVHdZ27Yjn3Q8pwSTbz3rcI72/PkMR0b3mdHKV+9FlnovhaD0WxC
f2o+oMO231BVypWWxiZRr7Bh2T/iDNIznzpOZAy5LPwRt/McNZ/8dvg2QeuzgNXY2NdOe0W3uT/S
NsiepWIaOjQcPyfxVK2nQJoHPcjz76aYXX4TwSOUQh6yIzOrYo4UvNtloclPN4LSHLBq3ROca3fA
ccNXlpzefSux4eSjhqJTBzJjOz9mMlpypi6fonnWn8peYGE0DLe6Azc28S609Uea2QLTKSGhhW7M
85q3NSCIE2jnxOidjxYmdLyaJ5XUk454ydIUP5L0tMfekbwdVicuHLjzF3Y6yXrqWvtYmynPYCko
fZEtaPuiyr8grlEsqPnNxjZLTiNhHF8AClNm/feH+r90LCrv42+WxeYfV901/CpX7+37H/4Bd3tM
5Kb7won61XBK/se/8cpf/sv/2x/+t6/rn/I4VV//87//yyqXX8ZuGLL/elzf/4cqKS/556RONS9J
IeZqgb9PJUF+ndSdnxBOTaZ1PGvIpX8qckFT9SFBeDpNK2RAfzep4z5kdqfHybJNl0Pi32pyQd77
06SOiMsfRaAUzKvuedef/04nTQsRTABTjPVc5+NTIGeHSlFLeys487FP0UNsCWHFkXMxJ5n1JUIZ
vJRxSUmbYK25g10e7Un6uBDGrbhtNlE3mvmNe8VM1wCnA6B/hERaKNTJFUgd5Cyg6cGEU23gSHsL
8nnauIpiTbOV/SOD+rvTFOPajzxw14ht+kepGNiOomHrXqMB77by17bHP6G2WpiPZK74qoqm3ed6
zOHgCtk2FG97UORtw+zMHYQ9Cs4Ul9upCj3etVdctxd22ZmT/S1irbPWCNhtNVNbuUZd3JQK++0b
E7u51jPu4pYz/aK0C3m0hGJ4ZvanrTjiUnT6BaMCrssYLJhXavGzS596WLN9m5PAOMExooVJ4ck9
BSo3FbI86rL4xlUY87B1k31HimOXFECrOoU7JxhoegtfQdANUI+vjQKj+8NgH0TUT+d+4BPRFUm9
hD9wLCqfhPwI1nHlT6kN5Ejx1wntwzRrCqjs3FPtH36oSO2K2d5z/e14wpc0ThR1tFEPmWwJdxfW
lTriu+qwjw8FUcjMRucuUGKAq2QBlr4oBPYUNugavLk7u0w/NSj6D3ADp0Xtprq76Kl9WBVhIM+c
3ID1aF36kSkRIksc5xEjI51viZ/eeFeRIi11+5RBkH01MwtlKjmT2G8fWEIbF9yd2ArNGPBtiwi+
GUU13ASdn71Cs9W3qUnpSdiZq5aVBP2aiCXebEc3xNlRUOisQk2ZlLDSOEZxW/+sthQBBRlgspbO
aBpPJKyn9ZRMbrrEEeJv9YCzGjb2HthXyy6AJKvI5CLx/WE9cDDc6krysZ0RwrCEv0llBsNKG1UU
7wpzgFzlTGIxthLWLwJS4NScGKXHXzHr26WvNKYyEd3blPXBqRK0CJpXMUpehSmrKVXsxmmXk6Vp
WBAzxheNc+VmnodGrurOQ9WKlcDlQ+YAxc4UOy6taSxPtR3MxwEaRaaksSSf4XzlSjDzrtqZHBpW
apiBxcoYtUE5Up2DFcxEfq7aG6uM4L1RglxHOpTT3ST8y6hEuzw2tGdvnF0wfX5SL0paOFj5Yspb
1FrVfmiYhJ5qZgvsVPC2vLjscQ/TLwPNtWCdDDCMPGDAYjhJgweKf3rOXjxxODWKzDyYWmJcROa8
GA68d3Kcs29sDavUOT9qtgV1SnbYIvWMYAGcwZgERDc2OR0GbZDs4rp3/HNWNYQg0Kmh06d8aN9d
drozIr+dfHDihFrYu+IItlkeeMI4YploqbMj/u4UwFH8cVn6kZEsGHDIFEmpsXoN7O6MRy1+7st2
aOgu8eHwNobtLevSsHa0/phHJ5b0PQe9d/bNrlvr/eSskjCnD4SNzJJwiXkIJ4s1MOUd1SOrofop
oQHvW+w1xg4vdbjQzMp/qf1u5+RklUx3Olqpa1MiEaUHHKS6XCAWxrum7r0DWmZ6bOqq+NS4VHfB
8FkHJfBO3wmQRtrEX2EASb7ou8YjbHBmAjdMZ0JaFWfXcuiZadv5lGti/piong5Xk2sMJtZqXbzJ
zHQ/bTEUCTvtWac3cxw0/JBuiDcYCrIhdnpHxHmBa3e6DWffBuaVR6C5KKFoVqBltB9aWLU3Vgyq
YROmSX/m3MxV1JLheUyTHB9VW4akbnwC49Yrb73Itu4cW5+U31LJMTW6uTByBNL1SPbs0vVDepZd
GlcwI2iMmvs4/TTm0oRf0LZ3ed42Z55OU8iKbpj5ZbzK6BejV3qvWtiNt23iMXm3fkU39czOqZzx
dKVUKCw7P632rFRkvRJdFhzYBo0Anuvyjrv5tNOxXCPfDDb5aqa6ZdX5+jqNSJjxJ8jnkgrkYxHy
TbeKovpy+qL5GXH1t/Id/2+uoNVUozt/qYAeuuLf/3fxRzzTLy/6dagyfzIVQkkHfeWiVnoskf85
VCHS0H9Hzvc6bhHJ+W33rP/kEPpl2HG42FmV8rPf5E/xE8FPXuWYCtKE+vL35M8/48MY2kxftwV/
prABoKrMx++GqiRIEsPLZbv2oiGCL6GWMUHQ/B/2zmS5jWTN0q9S1vtI8xg8hkVvEAGAIAHOIilu
wjgp5nmOp6/PoZtdStXtbLuLWlRbLVNKCRAJhv/+n3O+09yAckWhaUedgD/SKY/eSrLocmTZsf5R
Gg8XjvmmQfaBlDoCWu89671XqpBTdDBClVKUk1GlJdIm2gXBij8+nSWmUqlNtGQa39OzBCXsuNrD
w+2/m7Ii0q8ptSrGxv+gjVN3VzvaRAEWRq5NSeHFt+IseCnpK5u85SpVctgMF/4mmpRG1iq5rGkM
I95WSkSDuJHsIiWuRQPzXBJFBSVbE1usSAlyy1mbs5RMZ+lR9Tor6S6uZ0LC0EpR9NC8eGBHep5e
x6twX2YcVMHcS2WvVLLgmIFwj0hSQEepuScvgCgnB3ONNbO/ocTcPkJnzl8LJTxyiWsCeRYjlSyZ
FGIMeNgZH12mm/6o5EtgLPFVrSRNtlEaarDSORHtQcoO1Gs5hpY+WUkoA9Nok2sRwn6zY7aWthUm
fq5aobAW8UUcqFOWdEyciOxgUVU9UgjX4CFtuqVQU5IjBwP/Ps30GCjQS68SNkXfSEV4fPTpqOIv
IPG2Nvl3jbXQU22OK3lmmacP3rniauiy7DCvRvZFgIHb5hpJfZ8rY2V19liGrca5WyrrZZVn1pVZ
Tvh7zs5M8Fn1xazsmp4yboqzh3NUdk7ahXB2YmFipaHsnlEEfBHEv0kcGJfxDnXVPErefcyKHLto
XLs4R136RQm84ieVoI8t3MySsAmu3OU+O3tPexHVJ0sZUivZ9pQhKJuqQ9vAqVXWVYWiapWZld1R
vOMoHl9sHadspkyv09n/6iorLNYlRO5MGWRnZZVlaBx99iHjoWXquWDeKskpKndtKXVEXO7jxg7z
vbuPU2sUWwj8ZoQ9AoOu5rgpm7HpRlPu3e5s5NVnewn06rUxSEWM+QSsVZ/cwAVcdJnqovRBgfN5
qdyYiZ1iAk9UR44jIL9jnrH99HSDrvayGy+jwuWncZXDD5awU+zrHWTSrnWtx2mM9wRnemObhYAr
0kabQ8goJVjPsbSjG+Ix4zvzMhYygrqfWl4Wl14aDw8g5ogdz91osbAAltztGXwIbBtVJPZx33T3
TbEivuK20a7rddZvqyWyv3VitYYt0Ht3Gwm3fDfovPVFZvNdWmbXWjYuzHPvNMDDutGasc4IIytr
gzdO7r5tqHxNZmfEhVo71UbVfTGJxNILXKA7FklLkgRF4W60hvuXb7nj/OmlkjKRZlqJRYgkzf0B
8DtO8XxPO5B2rPoRi21uW9MX+5ryY+5n94vnr/U69sbIibm4JAK8zNkzISR4RmqLD9tcG630427G
LkIStvzoOHKDambrOBcNz4K1dpLAbdt4H9dN9WWWFDRsrDZKvq9l3b/Siitvc5qHa+Bw4WpQq+0C
Z1mqMQ8kNX95YKVUaA2mvV3x6m20qGKfF+JP9bGYGydddM2LtpT8cNglzUGbxo3DtzWttIuV3fQx
B4PKzRLZ/hJjX7bFhqZfSgkbJhjXuWO/mKbutkm98rs7G8k1fN9xUw2jy43JrR+rpPzykmLMaQ9O
lmKrCUt+7/mI3iSpN30oq9tBZGF5MWf0qA5eKI5l4tofnsQEGZr6CUxuo/vUjHk+WUX9lv2TPHXK
zMwtxHmIu74PqmaVwRKuOYELyRoN7tsgHhehy2uwGp4ZJIAUNnUyop9X8eqqBaVB3DgHW7aTfQjg
oW6o0yCHDTGrLlL7wdJTfiGZ6CDVZzm/eqDYIjDGxKOn1BuCSbPnWYXzczaa43OiusE0rTmVtFr2
7Pb2rIetY1E17rKtrdW8gyYPhdYZmLS28xo7wPGhZjuFbTwUpC+/zbCogdBDtNgWlu5eimZwbh2a
6Q+YlIptR8H0Nm/zJhgdgjmcAbZxkYhR95PMwuLg8P0QLbGmwTKuGw4ZHr9W9aVbYZijW2Wri/Wk
y7GBuRbPxsQ46K6GpjFGKmheVpWgo2qaj/BtuTaOLjSvzRlX1Q/aHCwJdY6MxTFFPkks7xfMAl9d
7NC0V2rgo4oIK8o8YD1q+ZfphAYlqeySvyJGe4yGpde32FipUJBJF5HHnzeA9eYr9oQwkzB7UqYt
MG2ZMrsohNccZgaZDxY2vZ81eclRXGTHqQCw6kvye5coFgO8hSpZ4Bwk3gm8/XLDQjjb6nVqXqRN
5G35YSISkgzthaev3lPmrCVW2cJ4Agc8nIpCyKtwjq7J7vSBaVsG/ifEsm3HFhx7e1NawZIXxlsy
ItpxBtb9sNWH0trro9b4bYqvAFWocHF/esl84/EOwZ0VcltRwHJTDm0P+FsYnNNLcluShv4sTLO+
dlYDvTJegfEuZuy9UPQy+DXEfI71UDoE1ToHO91gv9MhwktOFhgJ2MfW4xI56BJTvzwmKRGkTMuy
YzFLzO9yPNjC1Dz4l04CXtzRnhLHM7gk62YM8I3Kzwpniz4UWyLcOpkCnYqLdGl55OH+0nkIRQZe
GCOrtQfcdThkFmWW0ZVt5l9fg/5/O9hjG/jbwf727T9FtZXV4C+2Bt3kQ2FD9jHPvoZf53pHeUMd
zJye+3OP+udc77EPtT0dS6luGDgcrF9tDbSFKRIrmEJX/Q4x7j8Xxrc/7Qrsmn8ukP/x378ynKn1
+m1ZKm3GesFbUT1i2FvV7/8y1+cEcjGwu822Jzux984PFtkb/GBGFs+bxUgwsLtFGJBkHCBxVACu
5c3c7t28vmdktd8StENfqsfXdH6SZeqhJrRh2kazxk+aeuRlq3Ruc/UYJKljbqfzs3FYYuvbiFj0
oA08OnUWWBttMVeOoKRDV1c4rTt6ANEwi9m0jlqnnsNeah6dtLnHaP+a8aROgaI9WxTcEURVD/LM
EAj756d77ZTL6zKN8ykaDJ7+lToIzGhhOs3P5wOwifUiU4cGP1GCnN2QeWRAiwgRsyunxoKQyplT
qNOnPR9EYDE5lFiQyyBSJ5WIc+dhRYrxyyyJaKbhRCu4MvosoTjmdDeHyFq1zkevTkJ9LozPzsor
dqack0vRzR+dOjsBjNrfWXesxTZma8t5Zkf2B4oVgKIWCPV1goD7nd5wdzucD2mi75kIQo5E1EhO
cSOVzWV2PtrNPNUo6eK8r9XJTy8RQwCeWAYCoWYDBgzjFJLK8nvm7plRQM8e7PNkAdw6D5ihmTfG
Wi7GbuaaYGPEmutPU00oxnlYidTcgjIW780qSoO8owEHDYgJp1WzTqmmnug8ANUJJWe+cLMaL75O
zkdzjJiqBsg5oi+Kgo7RhR1VzwZoNyf8u+c+7H5QN73c6mzjKZFiNw3VbdGcIJZLdy/naDjNDOBU
LXvDHj+yai9Ow0vOFmbX9NWYFj4j1TIodovw9gWk+g+LCo/7vGJpeyJgS7gqG/Qs0LVSvNNKzkZ4
boT2DZuxIKK7WuazWzcZRKm516NgZVV31Q3y024b0+9X4qfUPniqQDSZCU92xLhQB2Ey6q2klxqu
23ibZDmJhJpWLaZ8BHs9bh6n2igOxGvJIU8zTEvaW3rGK8v4JqwGhLkD68ivsDo9hxpj8o7MI/TA
BM04GgBjbGJTZwjGav425Qvs4Ji//8ooSNL76OZNsilLo5mvhnbE2+zaPVQfiOLYXEJGm0e24t12
tPsBEJ5jXmbKFEOkrKeDxxPhvVSmmVLZZxizUSjPnprKLLmuQfLJOHOpeRDKfsP11LjqlCXHSmqu
ndCCIQQzFi3KurPUywM/s9Otezb4MPR4hO5sERsbvkTi3VBuoOxsDOpliklIp5vsCI4EHxGUQDaO
mRat36A1RM/12W/k2Bb35EQbdtPZizQpW5LmDcuNB8K03dcDfJRaGZiEsjKBihjvhqr3HlZldMLS
7j2UnmbvWje16eDAEGWdrVFnlxRNsTimMCfinkLz5scBMGD60sfwbBjuakxXmkWHe2AUCWYsvdPj
ish5uCIV1LV+r57fP8hEuS+CbDkTxCCpOxzWjoi+089jvSt4A09FVhbf49Fphl3Ize5lJaHIg6Yz
4xtbyZR8jlkEVxQjjkrEbHHdoKAjbDZriI6lxM6FoOK2VwJo46XGTWFk2gNPsoV8Z7NupZJMFyWe
DmcdFVd39V4OU3s9iyF8TjKB9I9wap4wlTTvZkTTEpNDfReBKKaVV6m2eAKqb6tOXpqGaSXr5meJ
l6rymQf+5N7D04xeQtfoL1ipD4cxi2hhVEoxGczuNFcE6JQARerVzPnctHXrHAT21c+GBoTLkW3P
dgrph/CFM8KINFaXXvFhje8Z0bKjVQgXApkzONEGuaA+sMWlzW8uSfPZsxFe4gyy72xdIUBzK/xW
t+Bibrq1kC9irpddxPWYatkFPKzRUqxC1ifZxISJW9+a6uY5KVxm3lpmqi0Abiu1JxJc23k+jqWc
Ge4Zmofz/Ey+jVmaygaD5i4G7P8Zmn4aQtmGujygzl+O/1Cx/6FOX78VqNPHt387Ju9fbf/2+dtK
9Oef/HMlav+hEDImzk+UYQO1+T9GJ+8Pm52rISx+uv4xVf05OvGnLMYi3gdbVJXj+WV0cv9QmrX6
q1x+T8cx+q+MToZUzMO/OkLZqxLHsRwBM8lVxtRfR6d06Nc+ySFB1G67joGX0qwSpP3gYVhny8S9
L8/liIOiCTsoHmhoNzUBGBhPRRENG3IZBj2+hY6bsAp7ipA83FLAFEDhLBsvGZtxxxbVIjHc1qXP
UUrKfG7a7k4MY04gus61ZB9PbrdcrH2EIhOZ9ZqScrGdNzEP3cNq1EO/4Rnufu+HTqbBWGlesVvt
AtbgOnb0H1ZaJSofY8p8qYDX0WaqPUQbA4APvk5cbYApEuhrhIekuaFBjllPjLm+A14qMFO1E4vU
uuYIgkBMDm6ZsiRh2WJwpnpII/5sZPB0CvqtBYzUwokOtH13BxlF2WluNf07Z7uGCbU1vthNTjx/
lyJ+xCfWmv5qh0a2HzsBLM5d2B75XkN2fmOxs9i7q5PT/dkZdCqaa2yPl7j+o88Ol24ZEPyrn6uY
WxSt5S5LTh4WvP/BdVai+7PpfMvjOcdmRVkiqmbYUnFYGYV4lfR90PVaalQs2pz1KINm2pRk4Isc
oMtiTaTBtZq+a5MbZ7whi5s92ehvqmk1Hl9TcD+PqRvxW3g0FcKdytyHHt8mX1qSuOGBTU19CkmC
xEHWW/r9qlMlFhSrltxl40Al3pS1mbYvGmE3F7QWsdyZzcGAXFNP0WWXQhre9HAelsDQqEjbJHFo
/zA1a3kM61kQnW3iMiZnvzh2IFelVWs6BaIBMAGoMMyKaRnQo0f+th2a/nvtIYD6LVn6atNDjaA2
qW9qAp+sKL8xoZWw3OqcvoVFMhAGUdna6Xau4snwI+62P7JQTmIzlxBJgjVerZc2SzT9WIqM4WWe
UggUY6+qQGcKfclDagsbTrIAuzFKs1uJD/SlGB2TZ3RhzK+iWOqZKEMGe5A4SETaoRUYPsGX8CLm
XDK5Z3HxPU8nu93UhpOgIMZYcwWihDhxF0jXI4tifhgmd2yiIJuX5LWxrGSh6lbdjHVrkS9644HM
yfVpT5SVNVDVlPNHocvljdjrSvfBFDvaFkV5eO9k23xfsyUhrbtSNHhhDVr5MMXcCdicd8szzaBd
eQElWv5YzdJ80WkPoj0YqsNHOM+4UJqirR7ncKESjgx8fNMR9qQoHSAJbVAh45ufkMh47ufZXYNK
AgOHgCnRKHEMCJJrE348VOWST9DSl+AfWi/Dqdekr7ZMHYAcqRav9KxX45NZVT/WktXzZg0r7lnm
VBOyKhq9/VY0s/mKT6IcglHO2jvBMyJXoEwwdNyvjcH+zbEW/lGYktnmG+xlMXJmgptNjFcWanfE
e8PxjtByGOsSbwHIAJZKaT231fUyKYN05HpNc+zbNtqGFvk+ZzPQIojwXBcSV0NjLe7GTQyHTXXi
WdedB/BZiVjuIcPjRzKKHTXabNgEToltcIPpqUqvI90GJT6Ys+ds0LTjI9QlrCHNmvUliMzc/mLb
0p7McZLR11B5XfU/6iWWM9VTfj6vdapW/u+GsONb8f62fFFA+5+Oa/UH/zyuPUUbdl2O7J+QYs7d
fyiYLiqlAeIBeUUXSt3kJP/zuMb55YrzAkJ3URj/clw7f+gOfwwfFwFOVE73X6LSkST57bi2XEmZ
tWHwJlwitOrN/3pcayJfm7qtak6LaRkvFqcrPcAka7SPM4dSyzZbbyb1o9H2WKtkVMvTNHOkjbHz
LhTehgs/hwfySTF8FUD5iWpUcaCnxJFWWXtbTZ/fuG7ujFxDxxjyH6Nz0WJ2Ym+xE8uTrOMt2NEO
bSa6YfGMjzOJ16fOfNPc9pVHDjethpu4w01o4lIA2H59jRzzh271gNCTHicSowI82ZjIbhlgh+8D
d0rtLdtRmktWiFC4yg69AYy4CR+9KnKDyAE/irBDl4ojt3BDrYB+2gdnZafQLGZDlULtbUahVQFh
A2KU/Tge4rh3yDsmPAIpwt3VZjzdJVbpkF6w8Q2UCvhesxdoDdkBwIs+V8nGI61NqE58EzZQPd0g
G9ePQky33TJph6abqqACmOcb3qjvrWxWMEvCwW0tRpAAEf0o/QpXLx67LZgWTk+bJ48oeCyFLUbw
dSgCq+Ewg6FSMiKJ/KLWvWqvd0a5Lxdpb/k2xBRE5uteCrrtaifD37doAlplk3KYgCRxWpqdh5qo
pynI+FFp3B2WOb5aqKi6mWzoEMKJ74FCLVjkEnm5QsHyWfWYxwkQRGDhw9rlSqhuNQ5arjIMJEb1
EDYADYDbmVzeuydsOyRfbKhHnGpHeBow32PLCGRnP4/KimjxSWPTbGGN6RwOMa1JT96QCz+ddLEr
UktH/V7TQA+r6sCy7TmJjGHjdqZ+qetpc3IHcKd9kdxitxy3ApMePsGeWHdWd9vOSnGPOQuli+YY
xLFjKTTBNbz7BqWq35kTlX39gmDoOBAQRDE/hnECSBuOx35M4x/wrtgcLyXOkojJBHsUmHszJ7PR
yZqUwSLsy2JKaU/xjNQHLh/tx6Z/pTcs2fQNK0I6nB7tXM43KGXpDiwR0O1Rq/0GReNtdh1xWQu+
hOyr7mvAbFiyMwNx2L3P8bZTMs97IeKwbyPd2AqPqUKn9eSiCkOY3EPGYx8MLmU94by3jeWRFrjk
bsmYMgaRmr4p9JAJKGHjGOL/79h38KVebrUp1YAY0lUq86ULOKE4WOvkFejYefEUBuTO7iwxSRBt
w54cKMwUTMU+NIY5KLy1IKUEHJBQ5SEV4Us3Lq9IrOEhieg3Ls30UbRM002DToMnztixkR82Ykjx
m/bRC+2zCauuiG4PZ3WO/WieeLwIRvOkD5bU7PZ8hmrfJsR7rLX61R0BMDnlXWpJcObuhyXL53LI
nppSAsLrw3cjk8ax7LSTpffJSUuXaddp1HsghoeZmxxDdG4eIhS98ba8C0uOejCb7Q0bm/cC3fYq
rnGt2fXlOrj1DcdpdaczbgUrFye0v6XfZK6XXEONuW5xB4GPdk/FMsYBw/lDmyS3RTVdpOaKmlmk
XxP1EyjrM0DFgSt31NwNevHOKnTL1qbYDa24mS3tiiaOKkDlhZA7y/eqwoUbEmK2loJUZ5Kf9HLm
WRBPFsA+nnFtsgiUknzFLIUS1a0wJmEAAFOjkOsoxvY+HvBD1Xn1KnsKzA3YSNgrqnQrWif0nSJd
CRYvl5ZEibepp6J028ffQtUXC6cRK2rh9vWh9BrrNk1Hrjtxbl+FI/4ANyHX2oWYEtbe5jPjUtqc
sSfKqrA7NnHEuJXY3z0Wej5T5iMWM2Rk2pdALz643ND8GGPjpo51PF7ELyJ+5o1nhqMPFfuY2rel
Qw2LQwHAyRQP7AHpnhDF5BvLrPtwgbR9sqbalU1btZrQnp2Cdg7yTxejaxUbq+PRiFuTQyHqsOpi
Hd2TLzQudKAwPrXuwm/ZpwirQjEO06dl6ZP7pYkpSR8oCK9z0CMgGbwpppnM9g7sakigOdMQpF6N
UXUAHC6LfE+ebNp3DaJSG9c1xb1YbYnx2e8dyMVh1E6lKWbf65f8JAfjvg5bikXqbCawABUyt+pq
1yS0fOFgGwza0FaqOvP5qgBldCFmmdykYVZdrSJLAnPCV0eTuHMcS7P+lrlzfN3XTIus5d+6uhPb
sUXM1BcJo87g1iPiRWOj13sHpGDxYbp1u+HmvZ6qud0yK9cppoHFVH2N4WW3op2FZVPfOBPPMAvt
+U5vbPGtyweL+ujG7HmIr3mImFyBJHIH56PD9O3PjubdgOo5UQ4+6ImPCSq+ZYOot09tvJCyYN+6
DtsobTAt9LLg6u+HFd2zN3SZwIzDUmGK07gMuUMeLjJ4/Z7IJnkqepWBLyxbE4vSZjAxpW9iew75
Ik/FE1jR8n12UusWEAGYmYxsYdA5WGPlkr55hXYt2dxKTMQODEsX/UDiB139vsOTvpl0cidePXL0
6VNfXi44MP2BWulNz6eNPDYXuL7VuQdU5k9+9H+Fze+/McLZYufDDPs3I3NS/AU1w5T984/8OSzL
Pwgm6IQkXJ6gf91tOX+47hnvQgci5nNJDPnPYVkXfxgOGpkKNwhTMnj8YvfDQaiqPYXOAC48QtT/
ym7r96wzzkHd1m2yHCzfCHTgK/x1VMZpPq9rbE207X4HdAJOMwnftSG6pRwi+OUr808UyH/yUvSX
6PTfqHCI7vJv+vWl6sgbafjipdhNceMGmqfN20YyChrT5u9fylFv+9eFHf+sv7yWuiH8onW2fPzF
EvFa5uYV48hmDppNsU02j4/a5ubwtd89ng47Z3O6e3q5ebw5PF/uD/zq0d5cHy8vnvy7C3/r3719
tBddMOxoP9tc+g+fV1Hw+fl55wU/Hlh4/p8PzT/50ui/31h4vxDKgAfxOTFI3KgF5C/vtyB1iJsH
4A+x8PaYnYxDeOgvhp19kz/V1/LQ7vT/x0vyMf79K/SXV/ztG29XFlAQi1ecfHs/H5I9vZS7+NI5
/P2/DDrSP3khLmGOg2ee4nn527edQuSB0Jc3b+uhTjPfkA3htzBJRo3JkEVJXphY5Z3GA9MZJxIP
fbG4zxQ/YauvKudCRILoYox/fthURhw9lsqMjxaX85DGoF+FLfs+yNDjyVEG/sRjjUT1OqZ+afXv
WcT+ccN9pEHK4MqDDKCiAE0SPccK7MH/zeLzTPtAzEX+wQVI4RoqW/Y8KjSIyjiytAMXEheTfjKd
QlWGLpZfjiG5aIDA2+rMGoG+W70srFaOjUKR9CtQGE3hSVwFKtGtmZ0UlGUOWVeZONiDGk7QNMrb
0Zx9HolbJTmudeX/ADCoPYVWnp6wEuMPqXGKlDOWkQwm27HpjcZvYnt5tKmRPtBNYT3iAcduYijn
SUHB5Xum7ChTrjvYdJVHRQgXhLK3ui/j2cNSrh29nsrYwh5l/eQsSW5rteyrlAGmcgWtFXokt6Gy
xzCOTzfN2TPT/fTP2Ig7hjLVOGd/TXr22qzKdqPZsRVgzcWLg6O23/KpUMtLU2cADvULDw+XMXry
ylBmnnRdjadcGXzw54dPjTL9RKtDEkUZgbiSmBfYXrPtomxCvU7wf1bWoSpaej64ylA0n71FmbIZ
5cpwZLUL+RNlQsJmSnA4KzBbYVCyzRGS4dm1pPe0meY4mcKzpylx23kbn51OtiizFw70ns2kckLZ
pPI34uyPCod37+yYEhE3Mi6MI3myXt7DHZiOXC6U7KQUqOysRulKmGLQKvxmNJN9pTcEvPG+vTRn
LStXspbN+B04XpLe1aB5rjx4mxfrWQnjUlkfzERDH5NnrUyDh3KZxXn92P3U0pSsZhRReNupzGeu
0p9JETs/EqOqg4i1BB7rCAh3uNjiulfZ0dTFpcuuuMVEq6Kl1A7WPs44AqdRTvbU1rm4uwt5VEpx
+x9W1AHs7WTUcHGLNHnSZOu8VEUuPnMrYz3thE6+i1TawInz3ZJrnb4RcKhfzbQwCEwV2klf6MdY
BKWVRAU9D8BvGPpsjbutWPLmikjct4r/54TzQvc7fcZ1x6LwyURiZvEB8SzQ8wmu8dT3WFgjsnFY
K4wgJh3RUtPuZC+5OdOqa7J4OnaL0Dw25VPFfnAJL2CdV/1B96L104O+TioM24Y/2Yy/bNUnj25Y
HhCbIvXey9mVu3YaG0JTWbQDZkyjppsf25AcfxDZNjPbPKzikGEQe6yLaA4qQwzPjdZ9w0+ubYsW
1Cee1AEnAWVQftJ28RWrFS7fCDrxEULWctmkpveBxy8P+maOHiwjveQdImhnWbq1PYQMf9FXlyba
ia0IXNpuIRMeyYqMj1CYY2EvXwt35I3r4J5P+lVQR5zXGfTDXrTGRkrT2DXZilSUtCCyBlwigVZH
5Q0WRBp93Kqu9r0JKt+x2ip7YL0E6FdqnhaEgBb8sssrvBlV/cjz8MZxaShfJ2Mf6zbhQmDWXI9i
vN7HcNLJB7mFY/CESJHTRVpowZSkXJL5Ed0aJADUkpvH7Io1duK70QO4zeU3ywJ2AD47vmXFjMXP
bLRb02y7W4/UOsn0yIVX3EhnV8cu14BNYU5yeVoLl4DmADo7jHYRD/U2KIehOkZDuPIsBjZ5tbh8
slK6GnZlsTzFViH9hByGT4EjT4mkQ9oqBuvCFL3e+QPM9M3asU8gl5OJu8X0igPf/PYkuzDZWuXi
vDRIFwQaZ3mJti2kbyXDQPmfAcAlt6frDKCuviHVU9U4PsrqUnYxMj+9DoC24PUnNzqbLmJmRbBM
hvOgWS25xFJlJtQmvFvGcBt7lrbR2SZcNI3kM9Itq3M1T/r0nI4ujWHLKN+MkjjelMxVeFyLGZxE
owhrSeNW9JtFwNHXuHparcl8YE3X7zpGvM0KSrRMeW8ANUecQ6VefK2QR7fC7uBfY5LyOYJVbqPV
WBUsbX6hMfVlvhZF7gm7TGhjIurS2/irwvu7EJJMc5c7lxUO9EbV3QMFzFbhR+gKOAfsvJ4ol1oX
utgqs9mBqxfgTcGjAFaGQLMzJUE5Voh1Ya5ffz9d6P85q/LXuem3TW+l0/8amkwxxqs3bMKTueOm
tk2+msA9jFe0bl4OB/dmOqb78wv/V1x//nuCNv9WKHh4K//t9Nb2v2Wd/hE6/0UqUEt/gkmCyY/S
GaGKaP4MOzl/OI5UJTTuT5jTn1cf/oggdk5cghgURkWdawT7wz7+3/9Lc/+gBYdfxBHJdQUL479y
88H4+NtkKnl9Iuq4CNAclPmA3/9l6AZew146ndgi4dk/ZtqIjJrEjk+t2LpvOx047UqbQak4LBHQ
xm+kUeg1WZOyCSig6XF8vVuyag+lArmUeKyx1xSes0vPoBdO5xdSCSQZV12I+2VNuOC3ZW0eeOZC
irEVNCatIuuuVSCZ1bQB5FomdJlxNnlsKuRMD58We1EAC2ZveC3Yn5jVzxUtf4CHbMYav1BNhHVq
Jzeg9uBzJ4l8sQlLPNdamHHEvic0uv2oJxyCfo877mQxxNyEMtPfXFxUr3CnaauY9RFzez8aRgAS
+YIAUXnhJo4Sv1dteITxxM7Thuyx751uftTShj3SMuJ/iMuerc5g1jBAwY+/gC3Kr6TTFCdZpPPz
mDryUKFHj9sBDsehicnE5jgKD2A89R3pDzD9iVt8nyCQX8+AsGividZiCrS4Xazj4MJe3EZTXv5A
ik44kihNQIHv7QWRvtW6dGNmxRpQhsGTXdIiMW9W9mL3cMYxQ2KsooRvpIvHj4fOe0H+0S6S1kM6
IMZMl5ihiSvX61lYEXXwLiNj1pyNDRgMomUC7GJTCkWaaz1MQxl7qSXu+0eTOvbJJ/MLkRFYoban
IY3TCSmay8hrM2bbUhRwXOLkgUTCdayvoFctrfy0Y5AxHrTz7wnE+R/e4G1XM8tvCwxsH1ZHj6Y2
1U+pGYktrcKS12VcH+QKqB6R1AhGfR6fsRWsARZN3/ZGlxnWMupbPSuSLmD5FTGVt27YbNy5XDdG
F46UKOqtK3z6FZ1HUrsGO3H6adCcRX7C+/VGYQ/TVKfBlipoIMD4MC1bOhtGWuvLCp8GwYJbhGs3
DowUikkQW0PPwzWxJy8oK8Cy3JbG9s1tm/FU9BJfrapt5JtkJUTB+QCJK6wKUJGSgo5Cx3GPttNS
N79g6AAUgx8RcpElH1bWtbgDxgbVBDj4fEs3nisvWpwEud8kpmXvcy9JugvQJN0LxyVmtcKpX9IJ
TWEalAcTT7xr+GWIKvEqMJb0fkwivtv0jiyYPxW7cBMzU+3auctaJD6zujRBjjY+JRIGRs2yHDBW
mDGhZeQBZiZsylehVRkn4ZTxHQAE5zNJKrsPitRg95mO6rYGsZukUQVVls0qcX9WfrEitvWDIjz1
VA+ySM3JUbtLyeWHPCPmICpk9OhdGDMAcce49qzlcmSt2Y9ltq8rvcIxhIeTjmMN24Vc6voHHIdx
79KMcw91HrZknh6SYnY+5hX1oMoi65gNpnIEt8MtNLPio6XhqttWXZe22xFYFPdaTWgUQSwDcMaR
0GKHjnqXF7F3vdgeXUVxGX7pwA+8jWM35ueaLmiNne7Yu8Kqqm8Acc2nrjOMEq53cV8jPtwAD61u
0jHGK2iY7WNjutMPNurFSxaJ8RU7kHMn48W4nuv1GmPk6lNRBY3G660VWr1r3lN4EL7Wbg8+jF98
tEYLeoEYM6QGs8sgLsV8VyGol+/sgit2rU4XUuuihcpZ4l5309Lc4pptkCgM2R5J1Vj3RZPoRy3X
vf3aWc4+WqrtWDc70V8nIwt7QYF2GRRZuh7KZmYo9rJP16ydJ30h0oMN2Yzu9NgGTRmN7Y7JvcG0
W7dO4JqYfH1nyGTk1zLtrvlZ7W/CKes84BSmvBzXGGID1nXjLbMMprcW80y+4S1D/MqqZdknObw7
v7DozGnh8Nw2jpOqzP3Kkyruy/7JAWcEp5a72r+zdx47kiNp1n2VeQE2aDTKrbvTZXhokRkbIjIj
kpo00qif/j/Mruquv2cwQC9mMcDsqlAVwsOdZp+499ywyT2YT6NFshctIMGo5FbDhYXLws4T2n5/
djW3KS6pyr2rB6e68pQPLxj61IUMbv8zReR57swI0NyE2T1s7fnQFvFFs9Y4zeOIyUxWJhKhrqkj
ljiLVaECgQY9DQEDFzvh0Mmkp3du5ZLAif2VbNMyZ5sJXCFXG/it5gcPkAm/2VnMg2mkSJtzEjTg
a1Y8cy67qXezx9G/MQo3+BZbY3mL6KraoFtRW3BS816lIyFCdfto8wo7RFs3Y+MGN6kW7VNilD8o
7Iv9GBhkoxWc6JsRTX5Twlkj6ANGYFndRE1WHrzsV8M1lLkx690W16CN00gp94mzlLgXELqHaSFo
Njb0sanae6hFt5Lvz1oAWa1VnBC+M6LPUHHj8YT1a9Uf7J+Hiip9QXO89IdiHNGqAJzGNDDnQJvk
d6U8ts/mXqbTd/B3D8I1syuJa/ltkupbnZT7uENAXdrvQSpfHBR57O7DyBdsmhb9JojX+mAt4TBN
KeNrLMpHVxWvFpajFUfzUBvICOcYlWsesPggo8zF2Fbby0VLWN99IDfDWLtbA4oSFj0MibFXJGwz
G0gcyQt99i6orbPyp3TXVMSg5HbyAioAMhr5CsSDdmSXghMB6AvptnkvjIIODTCiy5M2Rcl3m074
N2ELrANtse1/9Elyl0vnkJX9vSh9spwpFy7IE6t130xTYphfrWSnG8k9YAumYFbxE5Hmg4iNV1nm
x9E+FVGSnQiqkRQHU7KlgbT2Qzsdi7n5yXRmz2OEUwsZXMNaaU8iRbCd6rg+s5bRx0rMz50RP2Jn
OblNfwt04yN1l7ucO3ZDakUoEwujbX3pVHk3Y6OAyuZHh4FviDyAsQFWnnmbIkjZyci/Myx19OTw
SpTrCtk0glAXyX3tdI/URmj3DBKcGtdi6T2528jyr34OKUPR0yQTZHOwDGGn1E2Pl/FOp8VnXAi4
D8PQRiCnmfQNHq7epD5bvv+9EWLPK0I96gzfPKs0vgMVMw+280u6Ax7LLBr3BaFBrWpu8Lieh1Ec
rSbmTjJQbWxGA3yaqG6oKPYWCriNylF9lGmWXHLDt85opuMby4sL6ooiuBrmPVVaw0/E3xxVprkD
p9Od3ZyAIpJyn6u4/alZVO+x1wTvcIwAeyaED4oEpXhmQhtNgn6fjSUXXeIzn+34C84qUzsKt/QU
z8MJFshycLssOtpNLw/gaTqU4DRjQ2E0PP3+eC3mPjh6S9EfciHIdu796I5hccmGXn82tOmfjbDj
/eQM5Y5F7w89z9bBcwlr0rV7cJMMMkYjL8xIn0l804e0syG4WAv6MauZWRfjnUgspotTCm/PJx4p
qP0lzDFk8gsM87p0VPcxpKgwXQGpTpm/BUjp2fbzZlANbgFvRG/CmCaeaNyg8VT8XCKNfqeu3mSO
b9+auaxIhIPLbWfWdpz77JDyi4Vp5LPM7U0A5b71WBUcaQyInxgzhA0Wvl2d+Qhyxia6RpWGk+wk
LfMHj09Nz+ANqNORQeJ2VvWJmUXFTdc193PObr2I0DRyjPY3ZLD5N/5KI8QHL874l0AUYp0MPtmd
Ay6EV43BOIFm2DcCrqEyQA+urEM4J/Ur/cYEcAnHDoPG+OisdETYqfgRV2KiMzpeyEwJVirKhTNE
BYeItJWyOP8GLrqyor35jWGcnS7+WSjCbQluLDN/n+rV+FX1gb/3mix5ICTGuOS/uY59C+KxwlZ2
autqn9s0CF5+jAefPGJknkg+mIBdJu64ciOSoL4oJeOvoEI9TRCYd7esRMlgZUsG+YqZrAoKUxzy
wCdVZbfPqm6NH4lqu3MLNir0au0c0WKoHTYdVCrzVN3NBL9sMtQTF42F4zitsEvhsG8fVgBmvKIw
/RWKqVc8ZuHiXyB4BWZmUDMpcUASXBIEuGHdjOnfhxb/1uzgfxtPjr2mS7v+l+nMSrf7/9X+dfvV
/Uuc7R9f9Mcy1A1Wyb50TXakv8X87Jz+OQ5gPuDDWua++7vX8R/LUPNvpu2uu9CA1SpmJIgFfOFf
ZgIsMCWgZpp4+NDuv+WSdOW/TpTgnvDDmE14jnQse/1Rfx0KgLLtkoWMg9CCl8t9NKUUa7kz4xcb
PV1i65JSBzvJlrPeQkggx9aUOJEPC7Cf+FarqXnRgKbcU0wEXL6dq6YYr2k8OPNKPRm5fBfpqF1t
NqNLo7xwYiDm5YzL52a5dbAD+jcIHZzl1MmeTRceu2n8RsM0pZAyoqb8OVHoudQ9/gyViFsnvhSW
LgmT9dbCaKZGLu90h9B+16GEUJRPwDR++KRxrXzcNEjPfVzO8hZXexVB4sIftpn1KEHNN3oxt3QK
+QdkNISQrHEKfYwCkdPMDKMtjmVnm9EW2nPNpZkszYtUZJ+6NjPSCKnygIgf0LKLdeRhTOY+5aYn
6tAe3OV2CJSHkqcfScqAv5A+9HJMyKqvauPX4qX9iyADJD5KxI/caUHWro40K7KvleF1Wzfz8faX
UXAScYeESM72LnU6sh7bCttYoiugtVFXchHJIfVOUEOQOONFpOFFCfNGoi0QmHLdaxeRxQXdCtkg
tCvH5Y4QAjQWAUu/07yoob3RjI2uXaeK0xw7kXoIonx4zbgAtn6idHaMp/KcNfl17K3FuoF2nBAZ
0JnTObWq+ldm62ULKgNqceJPPdaI3MTAN035JN6E5w0wk+uE0DTT1kzOB6+uB2oJHa3qFrs6MSix
9d42mvoQOeyLydPF8HByRDM/uLHNfbSm6aU7a2pt5h+N75EAOcbdj1FFjKUN2aCcjPN5eB0Ly3nw
JYEanIXNGOIxYAI0w0Xetp4aXuD1kinfDLq8+gHAaoLhU/lkGAZUZiOo+kuTNEn7bawiwGUFZT++
AoWRbhMvseyxXHbxV+fkrFlrZj4bFTseAbFIvimkoNP6iLziuQ39wmngwBoie1imrHzv16CLLU0M
Fi50OEOwaRKTKfrcWcm8ZYGXAxhuhVVuQM1YpL+6zPEh/3tnn+/3bnfOlG3sZsqdcFJdAUolsZth
g6KIyX6BFx4tpEVEilu28x6hkk8Ym2taKA5EFbpO6jzT+NdXkh3Vt25uvTeTydgrF0MVdtXQnRrk
A9/YMNZ3TOtnyF4yrm8m3+QFJWNmPzOzSfdkt/CIMedOvpsjjqB92UOH+y5Q3qFtiJ2OuJPGo/Zk
HPhNGiPDD0A5pCObref7x65FoO/1KXW3iufkrbIbjBnFPLb3QUvIx5a1B4EbyOA1IMk6y66wWfwM
RvKE85a1FsWqnzYvPR44e7t0ua7Yz/jNYw/P0ttG7EaWEDbktMbeVWxrJX/tF1A44F+Voj+DtJe1
yGe72vY2TjRX617WYJskVD/fYDGhEI4y0TtADvwKDbMcZLE1kgyldJtNfJtglrRD2AEMnzfQ4+lI
2nGxeR8KQhmTRb+40FXcsGtK/9ra1PYrP2UkoothQups5UrF8zZprKopFLoPMCL4tRYz8te859jF
WZ0fkiW3qIdMZMbxuIlxlC+hQTBGFLLuZfgSaBNFlKFnduK9q/2R9EKeoy2Zc+mwXSjoPKyeIz82
rToHMA4dAaEgpEVkey4VvzouRSfbA7qpiU/ZwCZn35hm8uWnOBa3xugsMZLYGYpyRq1sbVUr7Xlr
u2zy09g3ow3uDPYhgr1nTvTdKGk2G2Owdr7tFuPB5hw3d/Oiu5pGsZqRs6aYOA9D16dNaBo0dhve
JiZD1ZJXP5Msi/Vugpw/H/xIo5fOVFk9+xA/vzBasFFSeKySzRzMrMUqBZXrNoOqk+yNlGZ1h21q
5ccQ79K+Tm49Zgcrb6YrPMfG35C82X7aDV3mfhJ9fwO2s7uNazbx94YcZwI5BxI0t2VOA7C1cK3n
kInEzB8KmPR8tspqURcEzViaPKP3q10rzeDW82Zh3BEBVabHxm9Vuu34lBn3umYNdcRToiFWj3WU
HxoVA3CXGG9f8spjHukHy7jhlo4fY1RP+UfQ5xYf+hw+PuBxmyli01dDjnR2kfNKmuJObiISJWVd
EeEmq3M5Wc5Iw82SNGwbZcmzl2gmcNqt2VIiYNagoS3lPNmZVMlpbHXPaLcLmMyAxcM/I5XL6Ygt
PwoRU4JelrlHbAmj4Puh9kCy+/VQPiV+ztI1b1tdIGXPFow5sRENd1p15KAjJwb2Qf1tZGFO7DzK
QtflKCZoiVVdnwIB2PgRAXIIrF2CiwARTV98nlO1BTgkxhPOidJlpVaizbQG4Wc3dIL+k6kohw8L
masky4wcmCgEZ91spYhpHUzlkCxM6rDmesboWnJSRQM5BILPnwUn3kleMeV6JtLZJHC2rZvn9whP
KaPZI3pX9qSkujqF9eipbgmOhGfHzGLrOeeA92dmRiItCGce6tr4WFJVz5u2Zea2b7w0gpLlqNep
0iRb4MzRb9DnGzJWXO9ds1N+7D2gRJipJcFbgMVtPt5j6YjH3DAifhWFJcAbU03P2msv3kVZIG+m
eFAfPg6jszuIUbDXxtr+1MhFWg9B5Zbc9ZxWKmydLB1f2gqQ7K1TkfBwTFbSwM7RuInCUTB8dKY+
bHTvpLu4XNi29NxHIXOcuLp2BviBheWLCWJAEM8dZB2esSptr24ZDfdz7GP5N6UPnHfoTeqwOj9q
TKbgtCY5MhlQ476mi4WRhuYDmJRlNGpLq1y9MgnzPuxMNxJ0RC8Q4VqY0TFigarfVdYw2ZfUk4Y8
Qfzx7erKvLZ9IPjGXKDbTaXhPDpZ6U/fhb8g/7t1GzOXW390mKIRFZHm09FrmgXPYWbV08XSRmre
ID1kayII/s2+1YsQ6dkokvjJm9zunACpSt9WAEO6qeeyNI5VXhgDfVsr4M9wgCbI28kYYI2H0Jkg
tl/O7C0lz1fA8N6GxjeePZ0l3VfNwqo6zkHjZ7euch0O27LaRzDJNwOjvzDS7cy4XQ7RNpodpQ+9
Z6A6yCiPOSEnzRhyJOiWOFPSu0ZAbSSO8JwzChfIo5AstDcKiFJ0bFbjY7+mFEEZrso7MJnrNMs0
luExzkTxs0C7/mMEvfzL6yMD+drvETnXQAXPq+jcS0IvT9Vl9+9WYtwutB4UT+7sP9WJZFBPTecu
z/Zk4exJ+kFA7GdIHTuMnYAR7IimZGOQKqwGNQeuvKM0k4A11kqAvZmJMY9jRe5kXr0SI+O5l2Ws
iin0jakprqy5nfipFa3FkLJrzGPlLWRbYu3FTNg7FQFy8PvUnpwjxjR92ilIudAkdDhbHn/ypSbB
9pppaAFbx3amYFcS8QUb//cGxus95o2zUSz9XfV7X+MNFQ5h1CnjEz+EdQ/nITeKj+hb3CEIXqpd
bkfzLTqAgmHuukzCHjE3Oxlk6nUUwTlpeutHWU7BvU0LYVyLzMpuNZbTbYSVBoHLXcSkZNku6+6L
8e10A9OUYbuHsElO3KW6xIPA5pLTemo0iLYCPZqOSr/HzMs5snFAUVk7NeaPJBbYe+pb4+j67aFr
cvtZ2fwJuHENWEzWYM+/dL0MLqFjDnGrPKrVLx5u5tDNhGrJMBy8xLhQpTpT1HhgMUwdiHObGsX4
4vgp57cqW5eFDqjnI3n35l44E6SZeLYIlcWEKZnkxFNdhV5sNSw3utxLWRzF73h0HaiKToRYnq0B
S5cEU8sGTauKMQ9w2o6QVQna2P+fmODvpsM/FAH02P9Qw/6nucH147P9+o/Pr/9gSaH/ajz85xf/
OT/wgaAKcjsF3ZeD7vEvcgLrb7blo+b3XKRkdJuoBv5UFDB1QF1moqUGm/rbsvjP6YFATM1IglV6
wJejvw3+HUmBLdfpwF91xx5JIquslm9lonz4LTn4i6QgyDNW85mCZZwnNLFLbGVMbDPkV213aHF6
w1XT8pT7LmbrfBlZOKfGsTQ6BpE0HlgVm+DBVoO9HwoTl6w2zGvam/rkZx45JKkSIX1dCQk+tWDC
t+7rKlRFNwayJVl5j4R1tDekNnk7drf91TKld3KQlW510wsS45dgK/GH7EZ8SpeJnniTgSUmBLNP
Tsyn6UXaVBFSFxgHBoTyjnLC2OWpTdKkO1jruiknojwxySlsbYzEfv2jMz/I1ngcMp28g+MUG3cR
yYsnpuKcOYTWSY7ZU9Qv46m0gmXHKm6if9X+PWVn/uImOZgDae4NFrJPThs7OyFY7fTpuJzJg+mP
fpe7V7Mtkx01pDwicCDQSNnZDruNsXez2CZS0sOygv9BxOLZB+WwwK8XiV2/ArzRy7XvMzdosQyV
ib7MsncP6Qgt1WvJ+mnqaTpPLkBMK6r22o7tk1O1rOkSK3hEItgeVceVag1+diAsDI9+hV9Lo63b
p0ESXMmvxoIiooVuzpjkLiHwOKSXiHdECxF1WHasPcUSHYnOrj6BPzghsy1myG43rICG8b2jUTkv
GVMYavyOkMs8/wZnis6K8E5MZuUmN/SJ88y6r3yUCsk6sTeINglTr21C6KyAf4rU+NFw+YdugZze
MF0qzsTM+g0g3XE/gkfcMDWNMOeXN8tCNz+aBKjsyrggzZjw89M4jsmHWvEKiJrJS96UWtm7iZ3Q
cxBAso0ZJaApZD669ePWvK1NAEOW3TFH9+ql2WbR0v0ashOMe4ttYJVE0y5OuK+vcrGj0bixliEh
egFap/VgZ8MK44nd7KSL1vvRGX7xJTwO+Ri1tUZH+zYQEuJtydrVfTjXXXFHd2Ndk6RCDwLVPyaY
ioJnF+WISs+ja0RiP0ckKG3cgORvXnuSP3Z5QYGRokgjXzbypRcmeYd/aGq9/sTMOXnDjI76vLfa
gKRPS70JaSdykxlZ9uiT5cLScuTzgn48avaVqbJfpiCBOqlFeoKea7z0wh/2kTv+KKc11XuKBFAc
grrERQld5BiiZlpnZE3ebUGu7lPRlO7Zx1N3n4nA6MgJIvwIMoP8BDds7QLq0682EEZ97gOYlJaa
p6PIVEqtNDmfrTGhny2KGzTFxlvQFs5zAi9soZyGUsSn/pTDeb+ldya7UuUKFoMJx2mpyuzGrF2G
XFZcVN8GRxdER3YagWQ3EhFZosY/kDMUMgerUOJ2/gVaVn/FerTojQ3LEvqpZJGUKrdl7TLFgmeh
ShxkqjVg1ZQAxrdC2vrkxlWDRAqOJCY8la1LcUGFbLqO+lBjjxQDEX3/KInZ2hjMEIl8NT0BPyLy
69sl60zsbpk97iZL27eFrdO7WGdgSb3Gyg5cvvl5lL6BmtyYb8aM3qREx/nKSC290F+Oj7jW1S/P
7ansEO96X0Ef91tfsjlWNqwzu6PUJcKdJXKOyOh9LvGBb3rRRzflPLIHS5KULZsIqgThittcytQh
T6Oad1ZsBXuhOn9bOjOd/NhhGT44A5SvA+nCTBrYFSIAM/rWeYUYfLDjvv/ym6R7MLDYhSk3wht0
Km/XI5ImFcsezCgcTS8NCakobuFPNUezV/MD2Grr2GYcCOhJp0+TVJNd3JXrFlqRJ84/cIDNeGKH
9kdudi1LJcYwvMg5PYg6KU5aLjjEbDqL/aoiDkeOeLWhk9Wnrkbc2WtDkluG/nsT+GbJdtUangra
yIu3cGNtnFq3Z5Ao7cPQFdEptgD5h9Tqw5OIZPNpAGO61LQhXCyEvqGQWEpOReaaV50TSMLobYh/
ufGk8bGrFN+a0wXD00Q0Dy5cECQ9fea1MCPrmkn56eHBnjhmHiqruBNEp/+MugUBsNqRXnYQAmuu
ZEx2Mcy42VIaJvs6YpoFqDu4XaCjhYkT6DWRY9rMDEl2JaPwJ6/w1WfqW+m7AQkjuTSuUo8FZSjg
vxJZPIyc8qYlLxgPMjDtQzN0y66LU6IbmGAxQXiC/ZEg1ItWPZlrxDRSenmI3AhqRTbVxVOjkhaN
GIaOa6fj/CLzuvhhiobj3Urt7My2EooYMubmdlgMCOh1caa07ImBnY1Wc6643pFxpP2a8OqBCdHR
836XK1lH9wxJmBCwBu5GlHwIit863wI05valjb4/MdYxVhY9l0tkGaTfjHYaallE6d5NZbHsnCx/
VlL8mAyVXvKgjh50JJerPXTZq4wNtRJ+h+1oLN5ReUuzywa7KE6jYZdok7Iuwcjzf4rZP8gaf69T
HUrB/6bIraFqxP3Hf65v16/7s76lUg0cx1nZVX8GAPy5HxN/wwlIsjzbGEGJKfiqP+tb4fwt8Bx2
Xx7SOUlFR1n853ZMYDK0hO2xHvtj5/bv1Lee/a9mLg+kFOkFXkCsE9ZIf61//1LfmkjRCTCNBtQD
fXoGel7tS+WEag5aKAZRc7Cy5JlBXnwn0SOEDkCmncRLxF6dtS9p9NMOwNF0NDxOyDb2o51BykdY
jfDhori89PbY3/xWwrIgqQ+L1QEf6qMpLFBJoP/3+q2DUu/VtGFLMK/3LqSSYMSfGEK0TtpwIHN5
9OxItq47pjvVjSjXS/HsFEHO06i9Y+F3p8In01E7rPMl+WSbyfBLBgRY/9PWhdDUiv1AlXyUXZ3h
79d3uJHFKxGYau/XmThUALVO8Zi8T8q4U3CxjiRkATWczXnH2W5tdZqLg68N+9wYZLIUs/1K3DtZ
dvUt049zxg5l44wDqYpxPW4AdBogfMc+ue+xGbxkgXOLjUVeAhWTVWCP7t6xsscM+y85PLHaju2s
bmNr+MYlhNkjT/YDV+l+ylg12coHAGWnhxa3xNEV6DsJD2HijoSu5CLf9PP8kzF5d6sGYMcOrug0
193Jy9Jhnzms4Wcn5+Kw5vbYaDM9JZbXHrwymcKI1TiKWv61nNfiDjZQaHYD42Ko2NtsgLjs6Rkc
k/+mWvuFNE5G67KFrr0Avqjy5CVr1Dfbq0k7d6E/DG3xZLlPCSz8qxsl3wyAIfhEIIjiqzI+Wr9v
wzGpv5dm9FmkNP+FCi5mEi/7NvL5XCEIPmRO9NC4MglJ3SIPz8u6/TLjeshjx9lLmq9VQjjv2qxp
0GrI58K284MEhXSizmCULkpjM7rZF+q3u8FMqp22uhtQb19+NmJ8SlM+4GPa7BoP20wv/YPJgoZl
xPRUg1a7yVgyvFlWjoxz+c2Xj7bsZKZNPWkm5AqUfVZO+aMq8P+oFGIJ+lJCIaL+arcBcQddZhyx
wFHMOm66NxlxbpIkUrBH1eMk2mll3I5bAhXs9ZFRTySQviZRYh0WVdA9kDiKYGdSR8XCeMvaTG7x
U71EAFd29ggzBEy6CCNWsNfcsX9UKaarhnLRsjKq1GHUuCENdZu70YNZUsM7c8Ick9rrAA5mvF8S
o/oeoOEJ/WYwtqPDHN+uVbEzpvQlTjuGYoUXfxUEKxAJaD2bznAmIeg5QGB8QXHV7BfHe5crwcwc
kWhVGLB0wgeG1HLUysSBs04tgxAhq77Hp5kciE34pOATx9iNxI6ADnFjIWI+UTLoDT5qPjQjbvul
dJtdO4sPcKcr/bVLrlGNlDMpsl3pLXdmPfCT8qq5uiItt0MG+c7sojqEuB8BshTOa2NWwTUBkMp1
TrE4zwksFPDHJHs6h9Fy9XaALL+r7MSGd9P5IM/8jvF3H4VGgoJ0iiZ3b5sJ6tnV0dPkvRXOCXbH
HGxJsMmpuTZ0GfIgeoURCEz3mjFnH3A9pvA6qheQeTNrjUxdBpEa3MD+dJoIg917KeSiDBQnYZKd
dwJep89+E/2QQV+HnqGYLaIXxSMBI8sR0yYXBTu/RSBgYcg+zT2FsfXc5QFtoB19L/gDIoyna6eM
WfbRxHHiktG6hRiDX3Qo91U9QAwoomfpJm8eDi4SPip9QfTMR69S022RSIeF2XitkaJt58Iej1QT
nGsNtI6FtNR9bnjzrp71C3RX960U3cvIPvcYJfa3UvvZXiZ2fGZw90J0AGm7RB+RbuS8M9M5sfdw
H+nN4m0jIvPV942fQSqqixCQFpuhrMNxQuVUGjlqCdfckGLbhCUb6ZD30mWXROidxO+n01ncQE5k
5D7n467k1wRtkr+bg3pPXB7a0o6bS1sC1Y+6ilshM35mdRZdUpeJ5ALBhEBSFwbb3p4rbB5dfsfE
9w4oJIqIlLe56H+oQd6WTE7Y4jhPiedPh9iwDo5PtpaY6SsloQ1bSzfwXrQJmzAS/QpW+gKL12/d
sSt3UFIuU68OHZp2KP1ghnVpJ1t2bNd4rAjyaCbo1dmieJr16wKaiBKQyrbVH3GHu9lCQGfgvDxY
owVAMOJ6HJKBuDpm025J/1EODpFtRvOV5Qj2FOj+cETb37jjTPYnOuaxaYrXHN7lZWFjuYkTyvwk
g0/Sx/F+XBoChbPqOBjEduRm++KZrDkRZ4MgqbOexp3QzcZxKKSxDnOZiBThRDldRMNyKxcMLLzU
AiPQL8WD2QwkhkkYUpVPlZrRFJp58awZnO9N+tFNQwgVj1PPcmKaC/84DKhx3bSe71w3Ti5s728p
1LsHL20S1p50mgFJRFvmy0TQDkP2ZPkeg2zifSi6B965OKjRR/JkkGjOS6qan4PW12hq84PI559L
nYOLEfFBBKE7MV7g+BebwCCSeorpnJwGLbU0mcsFlpmFgHIApY9Wv4OObQDFRV4a2TmhembJ+nBe
vhdmySSFqv6E8ONnm5pvUydI6jL1bZK1j2DUPofM/9SYZ8NsIJovKakDCkMCMJrjDyuryKdD/Kw1
Co1uAMeHDeUt6jPOiCFmCtYVzA3BXuM1jE8JKYRnrzSKr8QLlj2wPD807Hhh35c9JYn1iNgWrg7D
Nfb5kyREnmCmQAw20lYGRYMpS6BBRftQMYF/dBpSYnzelG1ZYKIVLNi3y1rULDx4fTW3OwKgAGrF
3Fs7BzPrHmCOF/ZUICfDINIHSpC3oeM7g7eQuyknDRBh8aHoivIG6hYnDKFQuykV+QY3gx9Ku39x
sQkfEDCFQzMv77a9nOKme3aEqHE6B9ahi4dnctHe0eyJo0dq3a51xl8mIW5bt3HvBxVZYewSgstp
Kfvlh+dynVWOX+FVreqwcFzYn5irL6Y1xiHKW3LTc2sKNZLX3YTHfLfKNkIZT/02sMdbLNgqjNb5
wOxM37wGzA25DuMqG3jVDnEpy1CHTec6+9Tok5DF1rSvUqhJUrRERVrS4EZ0VkAlLCCRJc6uVYDa
HWZIgwXCKZ+ZBVfWJfbSJ8uad302nYu+bFF3yE/VBM0hUkt3pMzh0w/O8cTG97UM4nJX2qAQRnw3
G00mEwaQGlFLR1xibtLyKZ22RyLd+H/J93GWmb8h5svFW5mXqDg/orwfHmUu1V05Z49zq4obsKLi
2IH4poHkXzMgyyvrKj0XNtOYoM6cnc7BwyUFDltkmeUuqjvz0Rvwc5pgxwptlXt3MW4Yf8ESzxy+
tfpOBP0hKUrYRtZzy+cgzztIlYiCNtXAwNAOop8OdKSaDfBhyCc+RctwEIZqtrUoL/lYHdyYMOJ8
TMDUYetx5aFtGOBRGh91XXInji9mX577xSlOyWSQGi1J5BgX9rwWU+mcT2cPcWdLX6GIDzAYvYHS
3iwp6NtugeYG953acURdHc9vtYvgzsxL5OVVjL2sOUk438bkWRe/x4Jta8980vjzN0YNUdMvDFqA
vp0OyuSUaKbxZz14W2XFOP6yET3dTMQWBddJZ+q9qeLHpc1erDr9YGV6U8bVwYzjq22Ol8WYz3PB
LwuW7DQ7RoTtQP0gdeG9Z8F8kA7B1K4LRXwcb60p/64rje54KW+cYdCbfhr5k9uy+mpIPp1e7MKR
yOhGax9Z1oWDI98B3zpKA1WxX1cvBBSxl/a7XTVNb3HX6W2F9G37P7a4+l8LAfqju/9v/bDPHz+r
/6q1/6cTFukrsX22y1YI6Zjnr/37P1t7FlC2/DPkwwKQ8o/W3sUla67cIGA/pms6/Ld/tPY+SYKm
gKYpPXSz/6bw1XbMf11dObbrSoyNDAo8zwr+pbWvh2rKxVAOiGjI7NyIfHBuCcX1vmsW+NuSieq9
ub6McJxBRRLdOlr+sU2L9C1z526G4tN5t2ZvUlAHalWaK4H+HvEbHW4qoehuoJ5UzrUqJWyCEj8/
48d0zF4ovYcXIibIMUUHXxs7RIzVPR1gfnTRvBznQlRHWdv9GaR16oae0xgMW311UHO8vFFjrw3l
gsHuYGOCibfMu7KXyRU/PMuhWpE9IbbewN0figCX735I5/qe6X6/vC5VL77hAR3eUPQdGpOk3kJ5
e+qQT0/R+y7lL1IDruSpzZuonD8qwCuHuDDvHSjMcy3YnTQ0GMqbH2MTaHdlzNdE1gvwYVkem9K+
BxGKANMV+CpdVuh1gUGOdpUXHWwA7OPgKSjIaTBO+HSh0yiwdVlTlhuWmQMEQjjIcdE8GTBd9i7b
lg2almqTFhrBmQYkpybiGVyQLaFj+K9VKbhz0DNVZe9tLI3GVP4/9s4rOY7lSsNbUei9GOVNxEgR
at8N78n7UtEAwfK+stxuZgGzCm1svgTAKwI0o6uWIvAweCOBri6TlXnyP79h106YXfaQxCn1fGcW
m1HZaB5cx8iE6NE4iDAwCOQBkmykh2bDojCIVSmhXJEiMe7MsN2VMb78SeCduWZw6mvVitLnKIes
NqfJcj1qhbulq4+4jI9tmeLUVVc2dyJth7uYUGRV8Y1ljBx8ywTc3eWqjW9chzPIwMaX2jPLFsRW
6EdjHJ60FcGlbcjewhHNl4KRtiYv4EEUNKXQIJfwYbAzTdm0+nL3CvlaSjZJ0jLNbJpnbHLdRL8X
kWqekFZPx3Tou6U+ZO3CKvUbmJI0/eR+Wcids6Gk0LfkbjotSn1d+vB8FbW88jrf3MBbJatK7sND
vb7UKmqlhmp3lmVhvCJJIZizVCqbnie0EWzqpwZ4u5L7/LStxl0i9/4wemm9STzAk8gA8LLP6MUR
xwA2UCZLu8NQBDPIrrtKSoKXW0CGKkpAG0AIFs3kZCtPYhFjMzw2QXMMmzRb1MAVRNA9IiXEgoGl
YxE7EZiGMSTrGJgjz5Nq6YTkfxEsSKhwNlorJa3URSkREidCOVZK1AREGhEisu5KIiqox0bM5r2j
RKIt1NafkWN/6pSiXipwuvYI1KBVVuDe0ajcpRW8Ws2+qvP4qpB4jiGRHaC0j9AHb3yJ+YwS/cHu
I98UEhDq7buxxL8EHcg+l5hR41ZQhiSOJHIL8c2g1mtdtirzjHa3Jv+JlQrd46AGjSpkD64sgse8
d1AlSdRqKqQv4ZidkXLTnvqMEl2y1EaJdgVVE6wdALBGImGNNWDDUzmLlIgxXNCjkpzfcNWTY77u
i/YjFRhGW67DO+waGM+o4aUlkTdXYnBToehH7GFPM/h4N/qAN2CmCB/zEYnfmRLJg8dDRmVq/TZW
8VEC4BeViD9dFO07F2fkdQBUMCd3Y1yg32F+CLJgA2XrLAiUT3FLamajOPyVKEsmg0a7za3qrA6j
eMXtDTfY7qC30aIFDlboFenabB0a5GCeYJj0D6gNWro7fuJsyBOk7aiM115PFwFvI8Q30wSVSyKj
iuaU60SipaNHI4lb5FD2FNqaJUG5JWuURLMwU6mCzGGpSvSVfmW+VgY9naOzFMd+mxxhEVovsfKm
5SAR3Mlj/HQS1QW8HWjIgvSSR6kusBsgAYGrxxpfBGe+519RnrNBaMx6kQIbuy3BP6mTRrsqxuR/
RlUeQvpl5sJo/KajcyTcvsWE2TjWk3yruIGPMWTwiEUJfEHoWX4FQzpi4z/TSv1K48kBv0ErGoLz
FoP2SldODRMbJzjDn7I2GWAqera4YJd6raiuvYqssZ753XjlmtVjwNrnmNltHtq3HXF5tm2d6k0a
zyC+odeiPzaTPj4zSwt2LabxUQX7e4TMqeXxnAQEqG4DArgGsZZG2LNurT0bsmgcjoAkPps8Bsuy
9pjyE9t9jO3moQ6Ucxtv6qWiJccNagHHIkLJan5LrfQ+pIpfqU76sU9bbR7CgZphWL/VUXfCqmq7
pZEo126f74OGwKxYvY2tYPjSyYCmgkb4ETtE0NfkFNROXVD6XxYGRtAJH8YVyBcCnpTfkFroWzsE
/xdpS6OXX0HN8NdhY54IMJbjLIWGHcPpT5ivSUL/6OaOu4LzeAs7hHJcNPkOB4v2Mm6GldqPMS6t
dpY0R6EOxW6Jaj3BeduBnvL/pWdbRw/t9w0ik0Lt542la5HdPzY//tRLWwlXdqiiBKRoMNXIoZOu
7C+1p6uhrSIQznLRPGmvaVMwoyBXWBCZYLpi1OLB4vpae5ofdAONOXwpslcslY//kbbSWx8WatEn
vRXcLdd2NNm/+raplLtlntdhg4UU2+slqpeC+ITYXwlkAgsXOfYKJuB+6DrjZMh1/Xkk/TQYjxL6
FWVLfjvui3DKDI0febu//XZE9DCS8K1elEp0p3mUOngLTjOacOkzz++n3/Sj66TUs7nl1OueDKz5
9ps00rKdwIVPRbC0v7LV2l4WuaossBBIT/ug0zDjxiDPUPt2NWZ5uv1mYJw/s9C+TQB03jbvTEtT
PcNyLd0mfFx331xpwA7DrkiSWeJNN5y1DjE1yxhZ/9rGe2JYTzWuFokSQ1quBsRAM4Fj7Xagz/Ep
znBNnguhpBG73kRgQ2j78SdSXGoXeTsO9h3ehd167OO0QzxvS49lMrKc0rtWusBX51VlKidJEwbZ
nPZ5gzubTqx9NygDclu3GLxZj7XBieP5CmSmWC2POwTUO0fpxn0fqvClokqhMMCTncDSpHcg7eA/
U6ydYQxaNLeEueDVog/buho0b6Zhn7zTPLovc71rEKxZREtZvYrsXSVuehFCKt4AXeNDnaQWlvOd
sJp2M1SEvS5YrYS6ieDn34FSlXC4CeKgLe9DCgsq57QgUhDM1i9CsRRFGMvQzVq5o4BuTVpNCjV7
IwrMc+rCBCxQaeqf+aEtLfSTngox6xr9pM6pzBcmGpfjzCiy4//fmv9kfoTq+fP58eZhP+7T6AcT
JB97mSAdlea6yR4M2aeJG5Qkj37dnNNbh2qKYNWxzDfZnc4HtmAqG2+HRjgtcXb7X+dHjXa9KbWs
KuxSyF2u+4fmR+PtzIF5lkaLH0apqeP1b3OC384cYQlfykC2s1TT8j7SqNJqCkVQq6FZNArQbt8g
foz8ZS66ak1MJk7VVt0vcK3CpIAYoFEnDanATHjeedT+esiGEvCWSLi9Wis7nDMynzzxctwRILro
qmLlxLEUGqFcPfH04Mg1AQLwACSjIWwW4UBezxji0I7HCBaPCrZGVRb2yyFX4P6pPhYMpZcsWhQr
K2o5BUL1CPiNc6dDd3ZVt40NqZFM7UrrAhl02V+WFm0TOyWMCNUBbgs4rVe3jhZpR5mFsqvUy+g6
CA3v2umnEixTIcnTQMchmWXEVEEyG6aEwEXtiXxmF1U1I5eq3WISmt+J3qF5QJAklLVghL0Wl5LI
FuZ4wljOE72NLWuDzwOstyQw3KPU9HK26+ZSDLqydp9octgoQJmbag2LDKxhP05PlLpc6+Jj2JQD
vXdJuaNkQv2YWOFpKxl5FdS81pUwtSv5ejD1lLtKcvgqyHxcvf1Zlfw+0jeHTSs5f/j1heVuQFT6
aEhOYCHZgXSKwwskLlAGm3rqzxPJI7QMaIuKSN1TvMYLelCaB+UwhRtxlLqZjXo2HnGpgHt7j5Nq
v8qUKLhtSw/3BOzF54XkM5JEWa8CDNTp3vhg3DwWuI+lgYM4/amkuiMi1btyeoyXZu2YRHfeGHdb
jWQsQrdz9J7LEV23PyfmAqolNqfJpZ3CVJuNlQkZs1fSQF8JzVf8HTN+GC/CkfxyrcX5chk7MDpx
aUjPQg1u1rJ/onw2ul3fYShlLOqw/6ymffgxiW3nfpJsUVx+FDRpkkNKjLcF8GPm/SnCS+NTIazH
wSHzQe1pfHkDBr9ATRdd1CLHGtKiX6MVGcSskqKzmZ609llQnsVaS+5LMXMKDqs0uwk+q6iqtY09
VIucTsdTM2uHud2aMzYxk4sfEspQkHZ34Q/uqkDqG/f9fFScms1TGXYrOFszgr9j+IxFdyaUzNl1
tp+sfIfdXzjk8cr0sLGwkBytffrZV5k94cIbe+EdENx4VgWxeh4hrJuH0JaX7F7tqxgAZZX6mKfo
Wku+SRAyEJK+2NUCJmSjWiYB3RqJbaVW3sWmmYLaRPZOMfRwM9SqSsaCa2+TPCwWbY/RkIhy9cS1
8nTRk3qG/MbO1rmuNUed0MIF84Jsh+uiXfkVjRM9wPlY78ujsm9CscIHZVgYjXEdCVIVkHKtPA8x
tJsTzG2y1kV+6pFUYnyMwrGcaxUIBGXpeJ6omrtFY1Kequg7byCL6EvK0um+75ToYzix+xOe0CDl
+mjPE4bArVtrza7qh0+d4TgL8I9znHAXqqXReRV1Ni+cNkJ7GixsFFQCxeImJ84iAMJCMj2Hd4xI
uTL7W8Cg7HPTtMAwbW7hgevp/klpkiKeptiZwDYXa6E05p58UoyhCGglO9J2WnuGgkY9DYO0I5mr
r04JZZegf6vZW8Npe+ID1DagdnVt7nsQDcs66sojt0qb004LkyX+vtV6Aqc4H3EAvKT0stctWtsS
pqjj4L/TpHcgx+42qiqsgYgham5QzrDdEklJFFnoB/3KjePiBHGeezLqXYz1dBJEpwT4jJ+KLO43
NpSBewNDGo1bkCjnnWO125EuO9ghFPqlFbTZZVASVhb5MZzjFnW56yVpO5uwQr7QM3faldoIp9un
pwGe1LinZY2NqNOLgAwTu33INbVfsFCWGwJHGCA6WULC7o2F1nWRWKQu3N86UOH3Jm3mriVfoZKB
P2bTo1vLE4E2D+dDKqYoi2mzpyYOagV9NMJfcMqjWoWwXIb3SeZYR70GUNaFNH5bMQqMbmwmeq+B
02F6TXkd49F3GhF2U61jrVE+RkqdnAzC0un3Jf0ZZAD8U1pg8y9909KY5IQmqrdUR3yW2ScFfkgX
cReZ+9xNzZ2Pa/SVPqnquT4Bjmhjl9wYltGe5HnU+SsDmvk+jPEla/PUtlH8DtM8iNB1EdEmySfK
OGwzbWz3+MHRxO3dEDo2DOMCzps/nYUwSJCvRkksZd4YCSO3APrVlEiKwtLkInX14DxTM/MkJSwi
XUEQ7AQMDIpC+EyceTq47lpHngvxNx7iBVuZdF3WFUuN5MjRy7Nu+ywi5wbpeUinVnOutIY0G9Zl
pTlXIXHdgd9MUA1KJzjz8si4LhA5f8GsRmrBKScYd3pu9Tu+2dhgMAfXKUEqdxdHsXHu4m6zdAEi
jycK5UuEkdpVLnL8ZHMQRLiKF9OoVcdTkpLRkgb9eAsPV/+s1KhV2ZGCPKlpcikqt/pEe8rHsIDu
Y4aSkw+F3vXgO0Y2MxS/PYcoZG9go1i7LKej66YYbi8wb1YXZiMd1cnDw0tHVBuv9MMrRpV9OvlG
sfRaYSOo8IFJ2Ua46YJ119NXfW9m8Nib4BoJUKaSjtgiJBFevvNiDVaDNLkNTtgvZNdsgx0Xfz6z
TeZWXrFCB2p5EStt9plqSkvmMUXeGep2VyrEtX6dEqO7xlghvPCSWrt20tH7nE6uVILow3jnm0YA
4INalpTFyifWhzTJpI2604L2LST4Kg7CFfNRXSGrU/vPsTukZ12m1DC+pJdHpVjqb5NTiUvfGVx8
IVNoKErfuxfFoBwFplNvFdg324AXdtN7Tb5t6QSjV+y9j73ekH41sC+pcIorHbQZZYWNXpJ3hkx+
ITabdkxhzlVTGy5T8EXA0mZCEjD6OtT71u+KVauO7ZdG78Ot30vfLMsKm2OM0ul1y7cq3hIQ1hwP
IMZzs/Ku1UI9azSWPEdlYEc0g0HnyPC8LOKQT9tmV59zN/JPla0R11yQTdp7eYGNG4I8EMzKPTJ8
7EBA/hLwPygo66ztqovQCpyVyn5vi9hn7sTjJRZv5Syv1WDtuvDBGvLdsQQkWxvPBdc9D/NK/VIZ
VvfgcCTk44oS3U8ZgVgDdpnF3DTUI25M8lF0AYnwCrSHmZc6VbaEPqNPZCyy7qaZP31ypziDF6Ul
Bvd1qsxLZ4zwfIHTxDCkvRLFMyyOjGZBWyNaYO25sbWkIUNNjW7VzI8uy6gMKQrdUT83MewQc9GJ
YqMrECNnFUxubiqp7EuJLOJG4qBim7semK1rCvDqADzQ7eJ0nJMWA3uoCLCvi+ty6UAh8efAPO3V
1FOa5wKzDoG06SYHezvtYNdU88FOrK3jDPHe74iLUjusjtCwEO6VG1SWdzg8jv2yQUp3bMZ1dmQT
bUnBNUUqU7qVRjcd9oMYHaZZed3YuLTO00JV6dRIVazh6YjOIiZ+d9lB99wD66yqno+GTqDe1nGg
aziN9epdYAn3NMTMDPBADQtsBKzmup5QuvuGfg270tEWld6VAkUX+2PMRcykWaSsDBdZEtTnZuao
5wisyMEhowh/kUB/LBIz27QB0CQSD1zHZ3XmGgvEeHxL49RmuwrTxj0SLV7vy8Yi8+hIQDN0MKF3
M9LM8prFV0wm3prGkNIFy0pxmlsTiIfeePa0aGjIn2DOLxUqOR00nDlsbqhBbq8VEDU7D5IUSUqv
eFhFeW4fLW0FOhVleofnIJGkNwbaH17/pNSXZlgwkQskZKxJokcKTLuz3YIE9ZumJcAp7nObkFCw
lKtuGC3YigYiiO3U+CdY+9MjyRzkItlT4HscjDKa/CkIXhuC/Kh7iodPqsLdBwaZ8T1MM7wWZJL8
2LPee0/x8jluPHf9U+i82qbjgmVPv0k6Muk7mU7fPgXVF5nItqVMrx9dlR5XIv1UQ8Lte0vtzmkN
yQS3kWT31eC29h2pTkOLp4GX3TaT7ncrq4bMFvaQGN3RPMvgQcG1KaEqzvzJNCDJDhMWSsh8byCg
hYQGOzoZ8Ql+44uasn2dFI0iTnpTiS5TTMkfLLPx1j4AO4IVXneShnvaiRTQfezvFAT3133gCWhd
2XSjjXp7ApjfXCbBhPaRSDxJhSz7nFauP5y3I41ELWjSGY6l5Yp9rhYTccyLM4dr6IHRB3q4yHsc
+DQX/jEzTwLfFVIPtoxQKWT6bwHX1k0cuM8u+1bR6h3OwZNr/qYlofdoMKc9lKIYHvO2I8pQN1ha
XB09+hArS1eNYixsS9IDQ632eYPcbvhMzARJI32WuZgFTsfOgEvCehKTt0h7VHIzJS4dzE+xAaQz
ZjpLl3dtXeeYO8/qJqiSWTd65ZknROBRF+KUPyNfBmEp6gGcVZu6uMeNx6XLolliWXStfaNZrnaO
Gp5GQFGy4AUtMzSlSgA332LXMlVF16z7pjMlRyaFx6fUnnmdTDAIaZuKz04bascDbhOCaLn7Se2C
s7zFBWsBOgcawAWTgeiGrb4siAusaf5cD14t2LnqXKpFBtYXhVrxvvHVblfg9IWhhSWZVIkVPWRu
537C6jM+t+uC1wVbImhyrShuMPsLuMTYWQyafzNVUb/FGlngu+y3t52GBWRSM+4FhaLczOGjF1X2
mu0uHbqCaK5ZUpJtCDaC303bVu66AR8t5oDlCG1RWtJ6xI+A7AY48JXXGeuRvQw74XI6I3EiWrWo
qU7hehs7p4IvFuUo1soKg8LQmLozvzK0tWJhH05Obb8r0MUddd6Itj88qRxZRhOHS5GusIjhbrqw
y0iAr7CRjJwhv1MBd+Dgy8aaJ9pj/AXgtlOPwjK1U3NBM95amrVvAWcoGKxGtQXBVyirnmoWOx7F
JSu77ZDwsozrAvgmELG5qjv9zuWURF+Qt9aJ7shEdLwAIFBWSUEAJqVkCOtY0Y99z2G7lUP7x57E
HYpVTQjJeoz7doOJQTwfIqVfuIMWXSEGpns1+u6RJ5wda46x0pUW+mygw9vs2ENCMtkGSq2srcYp
NyyP7Yx+f7JphxbWHazSDftCcx64YXWRmI55VOCgMcOITzLDs2gXYTc+r2nY/1YC58w1Z7Jn/zFk
9D9k3f/iFCiV8EtyjdvxQjzW4+VjAxui+et/PfcT5G/PsRhvr4t/7Y9+faAX677rsXz8y58fCpG3
8gwCfIJfQaXuW+n+0yk9ne+vjpDuuSzxmUMr9geXaBf8/E3ZSeKHrgRujagDnn/vWLSgnnoSmPfJ
H34PnPvNPfrZXfj1BT7fzl//zatL2H/OonwRUXL/uA1HV+oVzPyTO/HmMN/cCdo9ry7cfZcXatjP
D+DNKPz+kf/8Qr0Pby+VsAf+6z0+VkmDO+yxyiy3V8+VPsD7ulKPlqMjrSoOvFD9Aw1C+fPmgonv
Zn+sapaM5uDnec54R28wN0Cn6XnwDXh74foHSdZ8bw+btpN98MN+8wbDITDkj0Xu+9PPu3zGlK8H
P+O3b/N7XY4OfsL20+B9NXO5HyBCvO+HbJmOfvACpenfrVBP//Pu3mQoKc+ryQGrsf385hqq/vzm
vi3AJA3kfV34i/HT4e8y9+7V+H53k/XLlT6f1wHP+PuKy3rvr/LLpcN0OLAqMRnfOvWH+XZ1tmB1
eJLij72X/Hl39Tam6mC6Bz98yCZvVut3W2wfvGhpbCflEgVV7c27rX7wiLG2TTgOTz/vsAo3If8d
/LQZxa/mNFc+/Pc1fzOupTnIwW825TW7CkRFb6+Z0kWyTgk8fb/P+gdxCQcjBu/uSb9M4v8kSPRz
xEDK4V6NavV97qx0zTj4BdbU76frd3i1z4/2u8iPPzyGNW7Y60f73qarl0F8cKHNW/DqQl+Wqve7
ZX55xAdfOCZTT7AQrlBvbsG7Rw1env3BIKDxXJawyXp9B8BN3uukfTAcxgL/arwbf+RS/wl08PdW
CLzg9PNTEyR6bH7UK/nZH3xF/7///Qvyv/38lz/D+v6dnP30h7In8vzdj0/dGfnvv75au566E9/8
8mu34tuPv1zg91/9w5P6+p+b6LHe1w/h+HS548tpnu4zWinnkahfqcyps56hvn+cyl/+/OpEvynB
fnnkffPwNrnpeak79MjHvwiF+v3m/msnjZfP27vxXHUefM777H4/Plbi8dtWGDf7GY05/PB/Oo7u
H+t2//m748vtwaHH34n8TS737/vMQw89F9+Nkxc87uAjF3kjW4YtDch9+qfzuuii/OHxT8WXP833
abp/Mzpf+hmHfuvfxv2DeAjfHlx/wpEPPnjNEIrKN2P0pRFx8MHzh30Tfh0sT9MYOyWcG1iBDz32
LyWFB760f8v2E0+4+XqWv585wXBf/++5J/2vzGPzfbzPmD5f3fOXJZ6F+dAb83/H3h94dzbi7/+d
i9dT8cvp/xsmhl9LoQ489X/Gxf/Ar9iIPaO+e0yjHz5gQIJDH/D2hwemzjn0wH8rRf33/8n2D18P
9Y9xLxvQhx7+XOSv5rCXwv7f8Ead/Nq39sAn+ivfnF8e+kfF1e+cke9Lrq9ckB997HU9Kf/iIX3c
13/9XwAAAP//</cx:binary>
              </cx:geoCache>
            </cx:geography>
          </cx:layoutPr>
        </cx:series>
      </cx:plotAreaRegion>
    </cx:plotArea>
  </cx:chart>
  <cx:clrMapOvr bg1="lt1" tx1="dk1" bg2="lt2" tx2="dk2" accent1="accent1" accent2="accent2" accent3="accent3" accent4="accent4" accent5="accent5" accent6="accent6" hlink="hlink" folHlink="folHlink"/>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93C5C8-0657-437C-AB4C-44183A3AF489}"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s-PE"/>
        </a:p>
      </dgm:t>
    </dgm:pt>
    <dgm:pt modelId="{369E7EBA-BBCC-412F-B05F-20B907FD57B3}">
      <dgm:prSet phldrT="[Text]" custT="1"/>
      <dgm:spPr/>
      <dgm:t>
        <a:bodyPr/>
        <a:lstStyle/>
        <a:p>
          <a:r>
            <a:rPr lang="es-PE" sz="1200" dirty="0">
              <a:latin typeface="Trebuchet MS" panose="020B0603020202020204" pitchFamily="34" charset="0"/>
            </a:rPr>
            <a:t>Aviva</a:t>
          </a:r>
        </a:p>
      </dgm:t>
    </dgm:pt>
    <dgm:pt modelId="{31BB6D4E-7A0B-404B-9AA9-5EC6324C2B16}" type="parTrans" cxnId="{A61ADDD5-ED59-46A5-A663-31AB4D40C76D}">
      <dgm:prSet/>
      <dgm:spPr/>
      <dgm:t>
        <a:bodyPr/>
        <a:lstStyle/>
        <a:p>
          <a:endParaRPr lang="es-PE" sz="700">
            <a:latin typeface="Trebuchet MS" panose="020B0603020202020204" pitchFamily="34" charset="0"/>
          </a:endParaRPr>
        </a:p>
      </dgm:t>
    </dgm:pt>
    <dgm:pt modelId="{6439655C-88AC-4B41-9110-67DF16BD598B}" type="sibTrans" cxnId="{A61ADDD5-ED59-46A5-A663-31AB4D40C76D}">
      <dgm:prSet/>
      <dgm:spPr/>
      <dgm:t>
        <a:bodyPr/>
        <a:lstStyle/>
        <a:p>
          <a:endParaRPr lang="es-PE" sz="700">
            <a:latin typeface="Trebuchet MS" panose="020B0603020202020204" pitchFamily="34" charset="0"/>
          </a:endParaRPr>
        </a:p>
      </dgm:t>
    </dgm:pt>
    <dgm:pt modelId="{9B5B11D8-6483-4CE6-B4E6-91E2EDE7B07F}">
      <dgm:prSet phldrT="[Text]" custT="1"/>
      <dgm:spPr/>
      <dgm:t>
        <a:bodyPr/>
        <a:lstStyle/>
        <a:p>
          <a:r>
            <a:rPr lang="es-PE" sz="1000" dirty="0">
              <a:latin typeface="Trebuchet MS" panose="020B0603020202020204" pitchFamily="34" charset="0"/>
            </a:rPr>
            <a:t>Enfoque: Cambios concretos para promover Valor de Largo Plazo</a:t>
          </a:r>
        </a:p>
      </dgm:t>
    </dgm:pt>
    <dgm:pt modelId="{E8C4649F-40D4-4BA1-935A-2895DAD3F079}" type="parTrans" cxnId="{0ADD0F03-BAC9-40C8-8641-EDF2D1476DCA}">
      <dgm:prSet/>
      <dgm:spPr/>
      <dgm:t>
        <a:bodyPr/>
        <a:lstStyle/>
        <a:p>
          <a:endParaRPr lang="es-PE" sz="700">
            <a:latin typeface="Trebuchet MS" panose="020B0603020202020204" pitchFamily="34" charset="0"/>
          </a:endParaRPr>
        </a:p>
      </dgm:t>
    </dgm:pt>
    <dgm:pt modelId="{452CBD19-3F7A-4B6F-B4CC-6258516F2989}" type="sibTrans" cxnId="{0ADD0F03-BAC9-40C8-8641-EDF2D1476DCA}">
      <dgm:prSet/>
      <dgm:spPr/>
      <dgm:t>
        <a:bodyPr/>
        <a:lstStyle/>
        <a:p>
          <a:endParaRPr lang="es-PE" sz="700">
            <a:latin typeface="Trebuchet MS" panose="020B0603020202020204" pitchFamily="34" charset="0"/>
          </a:endParaRPr>
        </a:p>
      </dgm:t>
    </dgm:pt>
    <dgm:pt modelId="{1414FA81-E692-439F-A7E0-7DEAABF36B80}">
      <dgm:prSet phldrT="[Text]" custT="1"/>
      <dgm:spPr/>
      <dgm:t>
        <a:bodyPr/>
        <a:lstStyle/>
        <a:p>
          <a:r>
            <a:rPr lang="es-PE" sz="1000" dirty="0">
              <a:latin typeface="Trebuchet MS" panose="020B0603020202020204" pitchFamily="34" charset="0"/>
            </a:rPr>
            <a:t>Priorización Anual: </a:t>
          </a:r>
          <a:r>
            <a:rPr lang="es-PE" sz="1000" dirty="0" err="1">
              <a:latin typeface="Trebuchet MS" panose="020B0603020202020204" pitchFamily="34" charset="0"/>
            </a:rPr>
            <a:t>Propietary</a:t>
          </a:r>
          <a:r>
            <a:rPr lang="es-PE" sz="1000" dirty="0">
              <a:latin typeface="Trebuchet MS" panose="020B0603020202020204" pitchFamily="34" charset="0"/>
            </a:rPr>
            <a:t> ESG Score * </a:t>
          </a:r>
          <a:r>
            <a:rPr lang="es-PE" sz="1000" dirty="0" err="1">
              <a:latin typeface="Trebuchet MS" panose="020B0603020202020204" pitchFamily="34" charset="0"/>
            </a:rPr>
            <a:t>Research</a:t>
          </a:r>
          <a:r>
            <a:rPr lang="es-PE" sz="1000" dirty="0">
              <a:latin typeface="Trebuchet MS" panose="020B0603020202020204" pitchFamily="34" charset="0"/>
            </a:rPr>
            <a:t> * Exposición * Noticias * Relación * Beneficio Portafolio</a:t>
          </a:r>
        </a:p>
      </dgm:t>
    </dgm:pt>
    <dgm:pt modelId="{2C902507-582B-4F47-B8C2-6F280C2290E1}" type="parTrans" cxnId="{5432D6DD-1E6A-43AE-8082-ABD72F46EEE8}">
      <dgm:prSet/>
      <dgm:spPr/>
      <dgm:t>
        <a:bodyPr/>
        <a:lstStyle/>
        <a:p>
          <a:endParaRPr lang="es-PE" sz="700">
            <a:latin typeface="Trebuchet MS" panose="020B0603020202020204" pitchFamily="34" charset="0"/>
          </a:endParaRPr>
        </a:p>
      </dgm:t>
    </dgm:pt>
    <dgm:pt modelId="{48C4C415-F11A-407F-B424-3687862B4BBB}" type="sibTrans" cxnId="{5432D6DD-1E6A-43AE-8082-ABD72F46EEE8}">
      <dgm:prSet/>
      <dgm:spPr/>
      <dgm:t>
        <a:bodyPr/>
        <a:lstStyle/>
        <a:p>
          <a:endParaRPr lang="es-PE" sz="700">
            <a:latin typeface="Trebuchet MS" panose="020B0603020202020204" pitchFamily="34" charset="0"/>
          </a:endParaRPr>
        </a:p>
      </dgm:t>
    </dgm:pt>
    <dgm:pt modelId="{92BE82CB-6AC7-47E6-AC83-103C8BE8B92E}">
      <dgm:prSet phldrT="[Text]" custT="1"/>
      <dgm:spPr/>
      <dgm:t>
        <a:bodyPr/>
        <a:lstStyle/>
        <a:p>
          <a:r>
            <a:rPr lang="es-PE" sz="1200">
              <a:latin typeface="Trebuchet MS" panose="020B0603020202020204" pitchFamily="34" charset="0"/>
            </a:rPr>
            <a:t>Axa</a:t>
          </a:r>
        </a:p>
      </dgm:t>
    </dgm:pt>
    <dgm:pt modelId="{F37E3BC3-F95A-4B56-81ED-1341AF63BFF8}" type="parTrans" cxnId="{0F6CACB9-3831-4AC8-B80F-C9759F690BA6}">
      <dgm:prSet/>
      <dgm:spPr/>
      <dgm:t>
        <a:bodyPr/>
        <a:lstStyle/>
        <a:p>
          <a:endParaRPr lang="es-PE" sz="700">
            <a:latin typeface="Trebuchet MS" panose="020B0603020202020204" pitchFamily="34" charset="0"/>
          </a:endParaRPr>
        </a:p>
      </dgm:t>
    </dgm:pt>
    <dgm:pt modelId="{85532ED2-CA22-4EF5-8593-9A6D8870E7FD}" type="sibTrans" cxnId="{0F6CACB9-3831-4AC8-B80F-C9759F690BA6}">
      <dgm:prSet/>
      <dgm:spPr/>
      <dgm:t>
        <a:bodyPr/>
        <a:lstStyle/>
        <a:p>
          <a:endParaRPr lang="es-PE" sz="700">
            <a:latin typeface="Trebuchet MS" panose="020B0603020202020204" pitchFamily="34" charset="0"/>
          </a:endParaRPr>
        </a:p>
      </dgm:t>
    </dgm:pt>
    <dgm:pt modelId="{0BD996C5-A722-4C91-AACB-8991E7A26A4F}">
      <dgm:prSet phldrT="[Text]" custT="1"/>
      <dgm:spPr/>
      <dgm:t>
        <a:bodyPr/>
        <a:lstStyle/>
        <a:p>
          <a:r>
            <a:rPr lang="es-PE" sz="1000" dirty="0">
              <a:latin typeface="Trebuchet MS" panose="020B0603020202020204" pitchFamily="34" charset="0"/>
            </a:rPr>
            <a:t>Enfoque: Resultados Financieros de Largo Plazo y Objetivos Sociales UN</a:t>
          </a:r>
        </a:p>
      </dgm:t>
    </dgm:pt>
    <dgm:pt modelId="{17AA814C-869A-47CD-9971-E852416E36F1}" type="parTrans" cxnId="{8A038D19-90D1-4AD3-8481-EF1994E209D9}">
      <dgm:prSet/>
      <dgm:spPr/>
      <dgm:t>
        <a:bodyPr/>
        <a:lstStyle/>
        <a:p>
          <a:endParaRPr lang="es-PE" sz="700">
            <a:latin typeface="Trebuchet MS" panose="020B0603020202020204" pitchFamily="34" charset="0"/>
          </a:endParaRPr>
        </a:p>
      </dgm:t>
    </dgm:pt>
    <dgm:pt modelId="{7ACFBFD7-D390-4A7A-8F49-AE8DB3EA1F59}" type="sibTrans" cxnId="{8A038D19-90D1-4AD3-8481-EF1994E209D9}">
      <dgm:prSet/>
      <dgm:spPr/>
      <dgm:t>
        <a:bodyPr/>
        <a:lstStyle/>
        <a:p>
          <a:endParaRPr lang="es-PE" sz="700">
            <a:latin typeface="Trebuchet MS" panose="020B0603020202020204" pitchFamily="34" charset="0"/>
          </a:endParaRPr>
        </a:p>
      </dgm:t>
    </dgm:pt>
    <dgm:pt modelId="{34647542-180D-4EEC-B282-A0DB6595C048}">
      <dgm:prSet phldrT="[Text]" custT="1"/>
      <dgm:spPr/>
      <dgm:t>
        <a:bodyPr/>
        <a:lstStyle/>
        <a:p>
          <a:r>
            <a:rPr lang="es-PE" sz="1000" dirty="0">
              <a:latin typeface="Trebuchet MS" panose="020B0603020202020204" pitchFamily="34" charset="0"/>
            </a:rPr>
            <a:t>Priorización: Lista Empresas (por factores relevantes: Materialidad, Exposición, Prioridad  Temática) y Temas ESG priorizados </a:t>
          </a:r>
        </a:p>
      </dgm:t>
    </dgm:pt>
    <dgm:pt modelId="{D63718A8-74A9-4ECB-BB09-215483D4195C}" type="parTrans" cxnId="{40817BDA-F7A2-41DF-8B9F-A97DBC6376A1}">
      <dgm:prSet/>
      <dgm:spPr/>
      <dgm:t>
        <a:bodyPr/>
        <a:lstStyle/>
        <a:p>
          <a:endParaRPr lang="es-PE" sz="700">
            <a:latin typeface="Trebuchet MS" panose="020B0603020202020204" pitchFamily="34" charset="0"/>
          </a:endParaRPr>
        </a:p>
      </dgm:t>
    </dgm:pt>
    <dgm:pt modelId="{46FFC8D4-400A-4D66-BFBD-6BC6B5C6C8C6}" type="sibTrans" cxnId="{40817BDA-F7A2-41DF-8B9F-A97DBC6376A1}">
      <dgm:prSet/>
      <dgm:spPr/>
      <dgm:t>
        <a:bodyPr/>
        <a:lstStyle/>
        <a:p>
          <a:endParaRPr lang="es-PE" sz="700">
            <a:latin typeface="Trebuchet MS" panose="020B0603020202020204" pitchFamily="34" charset="0"/>
          </a:endParaRPr>
        </a:p>
      </dgm:t>
    </dgm:pt>
    <dgm:pt modelId="{2BD2B1D8-7C95-4AB2-83D5-845071E7315F}">
      <dgm:prSet phldrT="[Text]" custT="1"/>
      <dgm:spPr/>
      <dgm:t>
        <a:bodyPr/>
        <a:lstStyle/>
        <a:p>
          <a:r>
            <a:rPr lang="es-PE" sz="1200">
              <a:latin typeface="Trebuchet MS" panose="020B0603020202020204" pitchFamily="34" charset="0"/>
            </a:rPr>
            <a:t>Neuberger</a:t>
          </a:r>
        </a:p>
      </dgm:t>
    </dgm:pt>
    <dgm:pt modelId="{FC124163-9949-49C1-B86A-00770C0D53A7}" type="parTrans" cxnId="{F27718EE-2F30-450C-887C-2BD658835A0A}">
      <dgm:prSet/>
      <dgm:spPr/>
      <dgm:t>
        <a:bodyPr/>
        <a:lstStyle/>
        <a:p>
          <a:endParaRPr lang="es-PE" sz="700">
            <a:latin typeface="Trebuchet MS" panose="020B0603020202020204" pitchFamily="34" charset="0"/>
          </a:endParaRPr>
        </a:p>
      </dgm:t>
    </dgm:pt>
    <dgm:pt modelId="{795AECDD-27AD-48EE-A625-E1BCA3559612}" type="sibTrans" cxnId="{F27718EE-2F30-450C-887C-2BD658835A0A}">
      <dgm:prSet/>
      <dgm:spPr/>
      <dgm:t>
        <a:bodyPr/>
        <a:lstStyle/>
        <a:p>
          <a:endParaRPr lang="es-PE" sz="700">
            <a:latin typeface="Trebuchet MS" panose="020B0603020202020204" pitchFamily="34" charset="0"/>
          </a:endParaRPr>
        </a:p>
      </dgm:t>
    </dgm:pt>
    <dgm:pt modelId="{6834E66D-1EDE-4CAC-98C7-F2A0000060A7}">
      <dgm:prSet phldrT="[Text]" custT="1"/>
      <dgm:spPr/>
      <dgm:t>
        <a:bodyPr/>
        <a:lstStyle/>
        <a:p>
          <a:r>
            <a:rPr lang="es-PE" sz="1000" dirty="0">
              <a:latin typeface="Trebuchet MS" panose="020B0603020202020204" pitchFamily="34" charset="0"/>
            </a:rPr>
            <a:t>Enfoque: Priorizan Alto Impacto (Creación de Valor)</a:t>
          </a:r>
        </a:p>
      </dgm:t>
    </dgm:pt>
    <dgm:pt modelId="{6A19D10E-03FB-4293-B667-CB5037D0219F}" type="parTrans" cxnId="{6D1D854E-031F-4EBB-BFCE-0ACC3786229E}">
      <dgm:prSet/>
      <dgm:spPr/>
      <dgm:t>
        <a:bodyPr/>
        <a:lstStyle/>
        <a:p>
          <a:endParaRPr lang="es-PE" sz="700">
            <a:latin typeface="Trebuchet MS" panose="020B0603020202020204" pitchFamily="34" charset="0"/>
          </a:endParaRPr>
        </a:p>
      </dgm:t>
    </dgm:pt>
    <dgm:pt modelId="{CB6B42CE-BCF7-4873-A32D-BCDDCFDFB0DD}" type="sibTrans" cxnId="{6D1D854E-031F-4EBB-BFCE-0ACC3786229E}">
      <dgm:prSet/>
      <dgm:spPr/>
      <dgm:t>
        <a:bodyPr/>
        <a:lstStyle/>
        <a:p>
          <a:endParaRPr lang="es-PE" sz="700">
            <a:latin typeface="Trebuchet MS" panose="020B0603020202020204" pitchFamily="34" charset="0"/>
          </a:endParaRPr>
        </a:p>
      </dgm:t>
    </dgm:pt>
    <dgm:pt modelId="{CC6A65BF-7F0D-4FB4-82F0-E88DE033B4B1}">
      <dgm:prSet phldrT="[Text]" custT="1"/>
      <dgm:spPr/>
      <dgm:t>
        <a:bodyPr/>
        <a:lstStyle/>
        <a:p>
          <a:r>
            <a:rPr lang="es-PE" sz="1200">
              <a:latin typeface="Trebuchet MS" panose="020B0603020202020204" pitchFamily="34" charset="0"/>
            </a:rPr>
            <a:t>Robeco</a:t>
          </a:r>
        </a:p>
      </dgm:t>
    </dgm:pt>
    <dgm:pt modelId="{01B0CA75-BCA8-4479-9751-CF11C872E7E3}" type="parTrans" cxnId="{33DBD409-D5FE-4E86-8250-2193CF84FCC3}">
      <dgm:prSet/>
      <dgm:spPr/>
      <dgm:t>
        <a:bodyPr/>
        <a:lstStyle/>
        <a:p>
          <a:endParaRPr lang="es-PE" sz="700">
            <a:latin typeface="Trebuchet MS" panose="020B0603020202020204" pitchFamily="34" charset="0"/>
          </a:endParaRPr>
        </a:p>
      </dgm:t>
    </dgm:pt>
    <dgm:pt modelId="{488013DA-CFA8-419D-B034-24F3A0E198EB}" type="sibTrans" cxnId="{33DBD409-D5FE-4E86-8250-2193CF84FCC3}">
      <dgm:prSet/>
      <dgm:spPr/>
      <dgm:t>
        <a:bodyPr/>
        <a:lstStyle/>
        <a:p>
          <a:endParaRPr lang="es-PE" sz="700">
            <a:latin typeface="Trebuchet MS" panose="020B0603020202020204" pitchFamily="34" charset="0"/>
          </a:endParaRPr>
        </a:p>
      </dgm:t>
    </dgm:pt>
    <dgm:pt modelId="{800376B8-DD66-4698-A4FC-44946C8F79F3}">
      <dgm:prSet phldrT="[Text]" custT="1"/>
      <dgm:spPr/>
      <dgm:t>
        <a:bodyPr/>
        <a:lstStyle/>
        <a:p>
          <a:r>
            <a:rPr lang="es-PE" sz="1000" dirty="0">
              <a:latin typeface="Trebuchet MS" panose="020B0603020202020204" pitchFamily="34" charset="0"/>
            </a:rPr>
            <a:t>Enfoque: Aspectos de Sostenibilidad Financieramente Materiales para generar Valor </a:t>
          </a:r>
        </a:p>
      </dgm:t>
    </dgm:pt>
    <dgm:pt modelId="{2970E2F2-53A9-49C3-A76B-DA56DD5D75D4}" type="parTrans" cxnId="{BA3F45E4-199B-4E97-89C3-9EC1B45F184E}">
      <dgm:prSet/>
      <dgm:spPr/>
      <dgm:t>
        <a:bodyPr/>
        <a:lstStyle/>
        <a:p>
          <a:endParaRPr lang="es-PE" sz="700">
            <a:latin typeface="Trebuchet MS" panose="020B0603020202020204" pitchFamily="34" charset="0"/>
          </a:endParaRPr>
        </a:p>
      </dgm:t>
    </dgm:pt>
    <dgm:pt modelId="{A63E3A4F-181E-46E0-8C43-9D9FEC7B77E9}" type="sibTrans" cxnId="{BA3F45E4-199B-4E97-89C3-9EC1B45F184E}">
      <dgm:prSet/>
      <dgm:spPr/>
      <dgm:t>
        <a:bodyPr/>
        <a:lstStyle/>
        <a:p>
          <a:endParaRPr lang="es-PE" sz="700">
            <a:latin typeface="Trebuchet MS" panose="020B0603020202020204" pitchFamily="34" charset="0"/>
          </a:endParaRPr>
        </a:p>
      </dgm:t>
    </dgm:pt>
    <dgm:pt modelId="{62F1BF2E-818D-469A-9512-458FD0EC9105}">
      <dgm:prSet phldrT="[Text]" custT="1"/>
      <dgm:spPr/>
      <dgm:t>
        <a:bodyPr/>
        <a:lstStyle/>
        <a:p>
          <a:r>
            <a:rPr lang="es-PE" sz="1000" dirty="0">
              <a:latin typeface="Trebuchet MS" panose="020B0603020202020204" pitchFamily="34" charset="0"/>
            </a:rPr>
            <a:t>Priorización: Temas anuales: Exposición al tema * Exposición * Riesgo</a:t>
          </a:r>
        </a:p>
      </dgm:t>
    </dgm:pt>
    <dgm:pt modelId="{75FE534D-0B16-4E88-8F23-7CC1688415FD}" type="parTrans" cxnId="{C3498A6E-FECA-4EF8-95F0-253892623D2C}">
      <dgm:prSet/>
      <dgm:spPr/>
      <dgm:t>
        <a:bodyPr/>
        <a:lstStyle/>
        <a:p>
          <a:endParaRPr lang="es-PE" sz="700">
            <a:latin typeface="Trebuchet MS" panose="020B0603020202020204" pitchFamily="34" charset="0"/>
          </a:endParaRPr>
        </a:p>
      </dgm:t>
    </dgm:pt>
    <dgm:pt modelId="{C30583F4-47BE-45A9-A15C-8F380F7280C5}" type="sibTrans" cxnId="{C3498A6E-FECA-4EF8-95F0-253892623D2C}">
      <dgm:prSet/>
      <dgm:spPr/>
      <dgm:t>
        <a:bodyPr/>
        <a:lstStyle/>
        <a:p>
          <a:endParaRPr lang="es-PE" sz="700">
            <a:latin typeface="Trebuchet MS" panose="020B0603020202020204" pitchFamily="34" charset="0"/>
          </a:endParaRPr>
        </a:p>
      </dgm:t>
    </dgm:pt>
    <dgm:pt modelId="{FD895847-360C-41C0-B86C-0CCB0176E173}">
      <dgm:prSet phldrT="[Text]" custT="1"/>
      <dgm:spPr/>
      <dgm:t>
        <a:bodyPr/>
        <a:lstStyle/>
        <a:p>
          <a:r>
            <a:rPr lang="es-PE" sz="1000" dirty="0">
              <a:latin typeface="Trebuchet MS" panose="020B0603020202020204" pitchFamily="34" charset="0"/>
            </a:rPr>
            <a:t>Priorización: </a:t>
          </a:r>
          <a:r>
            <a:rPr lang="es-PE" sz="1000" dirty="0" err="1">
              <a:latin typeface="Trebuchet MS" panose="020B0603020202020204" pitchFamily="34" charset="0"/>
            </a:rPr>
            <a:t>Propietary</a:t>
          </a:r>
          <a:r>
            <a:rPr lang="es-PE" sz="1000" dirty="0">
              <a:latin typeface="Trebuchet MS" panose="020B0603020202020204" pitchFamily="34" charset="0"/>
            </a:rPr>
            <a:t> ESG Rating * Riesgo * </a:t>
          </a:r>
          <a:r>
            <a:rPr lang="es-PE" sz="1000" dirty="0" err="1">
              <a:latin typeface="Trebuchet MS" panose="020B0603020202020204" pitchFamily="34" charset="0"/>
            </a:rPr>
            <a:t>Influence</a:t>
          </a:r>
          <a:r>
            <a:rPr lang="es-PE" sz="1000" dirty="0">
              <a:latin typeface="Trebuchet MS" panose="020B0603020202020204" pitchFamily="34" charset="0"/>
            </a:rPr>
            <a:t> * </a:t>
          </a:r>
          <a:r>
            <a:rPr lang="es-PE" sz="1000" dirty="0" err="1">
              <a:latin typeface="Trebuchet MS" panose="020B0603020202020204" pitchFamily="34" charset="0"/>
            </a:rPr>
            <a:t>Entity</a:t>
          </a:r>
          <a:endParaRPr lang="es-PE" sz="1000" dirty="0">
            <a:latin typeface="Trebuchet MS" panose="020B0603020202020204" pitchFamily="34" charset="0"/>
          </a:endParaRPr>
        </a:p>
      </dgm:t>
    </dgm:pt>
    <dgm:pt modelId="{D0B7C749-592E-43D1-8352-2212C9A3E12A}" type="sibTrans" cxnId="{9C38913B-0EA2-490B-B886-1B96E3ABADF7}">
      <dgm:prSet/>
      <dgm:spPr/>
      <dgm:t>
        <a:bodyPr/>
        <a:lstStyle/>
        <a:p>
          <a:endParaRPr lang="es-PE" sz="700">
            <a:latin typeface="Trebuchet MS" panose="020B0603020202020204" pitchFamily="34" charset="0"/>
          </a:endParaRPr>
        </a:p>
      </dgm:t>
    </dgm:pt>
    <dgm:pt modelId="{DF9CC660-FD5A-47C5-9581-02BE0BAC296A}" type="parTrans" cxnId="{9C38913B-0EA2-490B-B886-1B96E3ABADF7}">
      <dgm:prSet/>
      <dgm:spPr/>
      <dgm:t>
        <a:bodyPr/>
        <a:lstStyle/>
        <a:p>
          <a:endParaRPr lang="es-PE" sz="700">
            <a:latin typeface="Trebuchet MS" panose="020B0603020202020204" pitchFamily="34" charset="0"/>
          </a:endParaRPr>
        </a:p>
      </dgm:t>
    </dgm:pt>
    <dgm:pt modelId="{CF1ECC09-5384-4204-B83E-B34C95FD0351}">
      <dgm:prSet phldrT="[Text]" custT="1"/>
      <dgm:spPr/>
      <dgm:t>
        <a:bodyPr/>
        <a:lstStyle/>
        <a:p>
          <a:endParaRPr lang="es-PE" sz="1000" dirty="0">
            <a:latin typeface="Trebuchet MS" panose="020B0603020202020204" pitchFamily="34" charset="0"/>
          </a:endParaRPr>
        </a:p>
      </dgm:t>
    </dgm:pt>
    <dgm:pt modelId="{0BDF991F-D852-48E4-BBF9-1F45B07C991E}" type="parTrans" cxnId="{DB809424-F921-4D88-A315-A725E3FC81E7}">
      <dgm:prSet/>
      <dgm:spPr/>
      <dgm:t>
        <a:bodyPr/>
        <a:lstStyle/>
        <a:p>
          <a:endParaRPr lang="es-PE"/>
        </a:p>
      </dgm:t>
    </dgm:pt>
    <dgm:pt modelId="{EB3FB6F2-E42A-4BA6-91AC-FB9FC7C1B708}" type="sibTrans" cxnId="{DB809424-F921-4D88-A315-A725E3FC81E7}">
      <dgm:prSet/>
      <dgm:spPr/>
      <dgm:t>
        <a:bodyPr/>
        <a:lstStyle/>
        <a:p>
          <a:endParaRPr lang="es-PE"/>
        </a:p>
      </dgm:t>
    </dgm:pt>
    <dgm:pt modelId="{4FE8E344-917B-424C-9C58-FE1D905972F2}">
      <dgm:prSet phldrT="[Text]" custT="1"/>
      <dgm:spPr/>
      <dgm:t>
        <a:bodyPr/>
        <a:lstStyle/>
        <a:p>
          <a:endParaRPr lang="es-PE" sz="1000" dirty="0">
            <a:latin typeface="Trebuchet MS" panose="020B0603020202020204" pitchFamily="34" charset="0"/>
          </a:endParaRPr>
        </a:p>
      </dgm:t>
    </dgm:pt>
    <dgm:pt modelId="{1AD40D1A-633C-410A-9A13-86A4BF0B5B9B}" type="parTrans" cxnId="{3127B6FD-5B1F-41E5-9F1F-59EB3709B410}">
      <dgm:prSet/>
      <dgm:spPr/>
      <dgm:t>
        <a:bodyPr/>
        <a:lstStyle/>
        <a:p>
          <a:endParaRPr lang="es-PE"/>
        </a:p>
      </dgm:t>
    </dgm:pt>
    <dgm:pt modelId="{F40786C0-6DAF-467E-8F18-889A9205A705}" type="sibTrans" cxnId="{3127B6FD-5B1F-41E5-9F1F-59EB3709B410}">
      <dgm:prSet/>
      <dgm:spPr/>
      <dgm:t>
        <a:bodyPr/>
        <a:lstStyle/>
        <a:p>
          <a:endParaRPr lang="es-PE"/>
        </a:p>
      </dgm:t>
    </dgm:pt>
    <dgm:pt modelId="{345B013B-28F0-4C46-AC66-812135403F54}">
      <dgm:prSet phldrT="[Text]" custT="1"/>
      <dgm:spPr/>
      <dgm:t>
        <a:bodyPr/>
        <a:lstStyle/>
        <a:p>
          <a:endParaRPr lang="es-PE" sz="1000" dirty="0">
            <a:latin typeface="Trebuchet MS" panose="020B0603020202020204" pitchFamily="34" charset="0"/>
          </a:endParaRPr>
        </a:p>
      </dgm:t>
    </dgm:pt>
    <dgm:pt modelId="{3B0D95B6-AB92-4906-9F57-FACE23F364D2}" type="parTrans" cxnId="{44E19F81-3978-4435-9AB3-C986B18C593D}">
      <dgm:prSet/>
      <dgm:spPr/>
      <dgm:t>
        <a:bodyPr/>
        <a:lstStyle/>
        <a:p>
          <a:endParaRPr lang="es-PE"/>
        </a:p>
      </dgm:t>
    </dgm:pt>
    <dgm:pt modelId="{1853679E-941C-4005-9024-76C85904346C}" type="sibTrans" cxnId="{44E19F81-3978-4435-9AB3-C986B18C593D}">
      <dgm:prSet/>
      <dgm:spPr/>
      <dgm:t>
        <a:bodyPr/>
        <a:lstStyle/>
        <a:p>
          <a:endParaRPr lang="es-PE"/>
        </a:p>
      </dgm:t>
    </dgm:pt>
    <dgm:pt modelId="{2FD3D00F-57CD-4E08-B0A3-8E2C5F182C33}">
      <dgm:prSet phldrT="[Text]" custT="1"/>
      <dgm:spPr/>
      <dgm:t>
        <a:bodyPr/>
        <a:lstStyle/>
        <a:p>
          <a:endParaRPr lang="es-PE" sz="1000" dirty="0">
            <a:latin typeface="Trebuchet MS" panose="020B0603020202020204" pitchFamily="34" charset="0"/>
          </a:endParaRPr>
        </a:p>
      </dgm:t>
    </dgm:pt>
    <dgm:pt modelId="{25349371-B82D-4C7F-B43F-5B82141F0C62}" type="sibTrans" cxnId="{8614A2B1-E2C6-4FF2-9031-7DF9232F3B09}">
      <dgm:prSet/>
      <dgm:spPr/>
      <dgm:t>
        <a:bodyPr/>
        <a:lstStyle/>
        <a:p>
          <a:endParaRPr lang="es-PE"/>
        </a:p>
      </dgm:t>
    </dgm:pt>
    <dgm:pt modelId="{541D1784-711E-4624-AC9B-5CEDA5CA81D2}" type="parTrans" cxnId="{8614A2B1-E2C6-4FF2-9031-7DF9232F3B09}">
      <dgm:prSet/>
      <dgm:spPr/>
      <dgm:t>
        <a:bodyPr/>
        <a:lstStyle/>
        <a:p>
          <a:endParaRPr lang="es-PE"/>
        </a:p>
      </dgm:t>
    </dgm:pt>
    <dgm:pt modelId="{0E0E514F-C2C7-42B6-95E3-6641BDF7D6AC}" type="pres">
      <dgm:prSet presAssocID="{2A93C5C8-0657-437C-AB4C-44183A3AF489}" presName="linearFlow" presStyleCnt="0">
        <dgm:presLayoutVars>
          <dgm:dir/>
          <dgm:animLvl val="lvl"/>
          <dgm:resizeHandles val="exact"/>
        </dgm:presLayoutVars>
      </dgm:prSet>
      <dgm:spPr/>
    </dgm:pt>
    <dgm:pt modelId="{F9D0703A-FD53-4A8B-8F3D-D7FDFDDB5884}" type="pres">
      <dgm:prSet presAssocID="{369E7EBA-BBCC-412F-B05F-20B907FD57B3}" presName="composite" presStyleCnt="0"/>
      <dgm:spPr/>
    </dgm:pt>
    <dgm:pt modelId="{A698E692-5BB2-40DF-8802-D73E6AED66F1}" type="pres">
      <dgm:prSet presAssocID="{369E7EBA-BBCC-412F-B05F-20B907FD57B3}" presName="parentText" presStyleLbl="alignNode1" presStyleIdx="0" presStyleCnt="4">
        <dgm:presLayoutVars>
          <dgm:chMax val="1"/>
          <dgm:bulletEnabled val="1"/>
        </dgm:presLayoutVars>
      </dgm:prSet>
      <dgm:spPr/>
    </dgm:pt>
    <dgm:pt modelId="{735D9B3E-5D34-4914-92D8-486F97A0D074}" type="pres">
      <dgm:prSet presAssocID="{369E7EBA-BBCC-412F-B05F-20B907FD57B3}" presName="descendantText" presStyleLbl="alignAcc1" presStyleIdx="0" presStyleCnt="4">
        <dgm:presLayoutVars>
          <dgm:bulletEnabled val="1"/>
        </dgm:presLayoutVars>
      </dgm:prSet>
      <dgm:spPr/>
    </dgm:pt>
    <dgm:pt modelId="{B70CDBCC-D346-4513-A76C-DCE8403F1A36}" type="pres">
      <dgm:prSet presAssocID="{6439655C-88AC-4B41-9110-67DF16BD598B}" presName="sp" presStyleCnt="0"/>
      <dgm:spPr/>
    </dgm:pt>
    <dgm:pt modelId="{7C79B80F-A012-4AE2-B0D1-628F580C1946}" type="pres">
      <dgm:prSet presAssocID="{92BE82CB-6AC7-47E6-AC83-103C8BE8B92E}" presName="composite" presStyleCnt="0"/>
      <dgm:spPr/>
    </dgm:pt>
    <dgm:pt modelId="{47B7C3C0-9A73-415B-8C1A-85214B8C84D4}" type="pres">
      <dgm:prSet presAssocID="{92BE82CB-6AC7-47E6-AC83-103C8BE8B92E}" presName="parentText" presStyleLbl="alignNode1" presStyleIdx="1" presStyleCnt="4">
        <dgm:presLayoutVars>
          <dgm:chMax val="1"/>
          <dgm:bulletEnabled val="1"/>
        </dgm:presLayoutVars>
      </dgm:prSet>
      <dgm:spPr/>
    </dgm:pt>
    <dgm:pt modelId="{180016ED-ABA9-4379-B2C8-3B1D65E9650E}" type="pres">
      <dgm:prSet presAssocID="{92BE82CB-6AC7-47E6-AC83-103C8BE8B92E}" presName="descendantText" presStyleLbl="alignAcc1" presStyleIdx="1" presStyleCnt="4">
        <dgm:presLayoutVars>
          <dgm:bulletEnabled val="1"/>
        </dgm:presLayoutVars>
      </dgm:prSet>
      <dgm:spPr/>
    </dgm:pt>
    <dgm:pt modelId="{FDA54FE3-8663-42A4-BB62-F7A3831EDFD1}" type="pres">
      <dgm:prSet presAssocID="{85532ED2-CA22-4EF5-8593-9A6D8870E7FD}" presName="sp" presStyleCnt="0"/>
      <dgm:spPr/>
    </dgm:pt>
    <dgm:pt modelId="{DCA3D59C-203A-4E45-B5B4-714F602ADF4D}" type="pres">
      <dgm:prSet presAssocID="{2BD2B1D8-7C95-4AB2-83D5-845071E7315F}" presName="composite" presStyleCnt="0"/>
      <dgm:spPr/>
    </dgm:pt>
    <dgm:pt modelId="{CF50E8EF-8192-4A2B-B125-8FF0F19CCFED}" type="pres">
      <dgm:prSet presAssocID="{2BD2B1D8-7C95-4AB2-83D5-845071E7315F}" presName="parentText" presStyleLbl="alignNode1" presStyleIdx="2" presStyleCnt="4">
        <dgm:presLayoutVars>
          <dgm:chMax val="1"/>
          <dgm:bulletEnabled val="1"/>
        </dgm:presLayoutVars>
      </dgm:prSet>
      <dgm:spPr/>
    </dgm:pt>
    <dgm:pt modelId="{79AE13AF-1116-45BE-9866-0F3476B621C3}" type="pres">
      <dgm:prSet presAssocID="{2BD2B1D8-7C95-4AB2-83D5-845071E7315F}" presName="descendantText" presStyleLbl="alignAcc1" presStyleIdx="2" presStyleCnt="4">
        <dgm:presLayoutVars>
          <dgm:bulletEnabled val="1"/>
        </dgm:presLayoutVars>
      </dgm:prSet>
      <dgm:spPr/>
    </dgm:pt>
    <dgm:pt modelId="{BB4D572E-84D2-40F7-843C-77A855564C4C}" type="pres">
      <dgm:prSet presAssocID="{795AECDD-27AD-48EE-A625-E1BCA3559612}" presName="sp" presStyleCnt="0"/>
      <dgm:spPr/>
    </dgm:pt>
    <dgm:pt modelId="{84A9F6CF-7772-4C70-9B10-B2CB2C977CE9}" type="pres">
      <dgm:prSet presAssocID="{CC6A65BF-7F0D-4FB4-82F0-E88DE033B4B1}" presName="composite" presStyleCnt="0"/>
      <dgm:spPr/>
    </dgm:pt>
    <dgm:pt modelId="{28096780-9E03-4CBD-A1A1-DB74047B0C6F}" type="pres">
      <dgm:prSet presAssocID="{CC6A65BF-7F0D-4FB4-82F0-E88DE033B4B1}" presName="parentText" presStyleLbl="alignNode1" presStyleIdx="3" presStyleCnt="4">
        <dgm:presLayoutVars>
          <dgm:chMax val="1"/>
          <dgm:bulletEnabled val="1"/>
        </dgm:presLayoutVars>
      </dgm:prSet>
      <dgm:spPr/>
    </dgm:pt>
    <dgm:pt modelId="{CD0976C8-12D6-426A-AAED-A249549F0DD9}" type="pres">
      <dgm:prSet presAssocID="{CC6A65BF-7F0D-4FB4-82F0-E88DE033B4B1}" presName="descendantText" presStyleLbl="alignAcc1" presStyleIdx="3" presStyleCnt="4">
        <dgm:presLayoutVars>
          <dgm:bulletEnabled val="1"/>
        </dgm:presLayoutVars>
      </dgm:prSet>
      <dgm:spPr/>
    </dgm:pt>
  </dgm:ptLst>
  <dgm:cxnLst>
    <dgm:cxn modelId="{0ADD0F03-BAC9-40C8-8641-EDF2D1476DCA}" srcId="{369E7EBA-BBCC-412F-B05F-20B907FD57B3}" destId="{9B5B11D8-6483-4CE6-B4E6-91E2EDE7B07F}" srcOrd="0" destOrd="0" parTransId="{E8C4649F-40D4-4BA1-935A-2895DAD3F079}" sibTransId="{452CBD19-3F7A-4B6F-B4CC-6258516F2989}"/>
    <dgm:cxn modelId="{33DBD409-D5FE-4E86-8250-2193CF84FCC3}" srcId="{2A93C5C8-0657-437C-AB4C-44183A3AF489}" destId="{CC6A65BF-7F0D-4FB4-82F0-E88DE033B4B1}" srcOrd="3" destOrd="0" parTransId="{01B0CA75-BCA8-4479-9751-CF11C872E7E3}" sibTransId="{488013DA-CFA8-419D-B034-24F3A0E198EB}"/>
    <dgm:cxn modelId="{F8589B0C-8DAF-492F-BDA4-6BECEE79F463}" type="presOf" srcId="{4FE8E344-917B-424C-9C58-FE1D905972F2}" destId="{79AE13AF-1116-45BE-9866-0F3476B621C3}" srcOrd="0" destOrd="1" presId="urn:microsoft.com/office/officeart/2005/8/layout/chevron2"/>
    <dgm:cxn modelId="{8A038D19-90D1-4AD3-8481-EF1994E209D9}" srcId="{92BE82CB-6AC7-47E6-AC83-103C8BE8B92E}" destId="{0BD996C5-A722-4C91-AACB-8991E7A26A4F}" srcOrd="0" destOrd="0" parTransId="{17AA814C-869A-47CD-9971-E852416E36F1}" sibTransId="{7ACFBFD7-D390-4A7A-8F49-AE8DB3EA1F59}"/>
    <dgm:cxn modelId="{4B767A1C-106A-4659-8E92-FE102FF70058}" type="presOf" srcId="{CC6A65BF-7F0D-4FB4-82F0-E88DE033B4B1}" destId="{28096780-9E03-4CBD-A1A1-DB74047B0C6F}" srcOrd="0" destOrd="0" presId="urn:microsoft.com/office/officeart/2005/8/layout/chevron2"/>
    <dgm:cxn modelId="{E556F121-4DD1-4F50-8CAB-41A6BCF945D8}" type="presOf" srcId="{2A93C5C8-0657-437C-AB4C-44183A3AF489}" destId="{0E0E514F-C2C7-42B6-95E3-6641BDF7D6AC}" srcOrd="0" destOrd="0" presId="urn:microsoft.com/office/officeart/2005/8/layout/chevron2"/>
    <dgm:cxn modelId="{DB809424-F921-4D88-A315-A725E3FC81E7}" srcId="{92BE82CB-6AC7-47E6-AC83-103C8BE8B92E}" destId="{CF1ECC09-5384-4204-B83E-B34C95FD0351}" srcOrd="1" destOrd="0" parTransId="{0BDF991F-D852-48E4-BBF9-1F45B07C991E}" sibTransId="{EB3FB6F2-E42A-4BA6-91AC-FB9FC7C1B708}"/>
    <dgm:cxn modelId="{DDA9C624-9D19-489C-A45B-8A2D1EF7C5AA}" type="presOf" srcId="{369E7EBA-BBCC-412F-B05F-20B907FD57B3}" destId="{A698E692-5BB2-40DF-8802-D73E6AED66F1}" srcOrd="0" destOrd="0" presId="urn:microsoft.com/office/officeart/2005/8/layout/chevron2"/>
    <dgm:cxn modelId="{CE80C02A-187C-4295-A336-39ED0AEBDC17}" type="presOf" srcId="{800376B8-DD66-4698-A4FC-44946C8F79F3}" destId="{CD0976C8-12D6-426A-AAED-A249549F0DD9}" srcOrd="0" destOrd="0" presId="urn:microsoft.com/office/officeart/2005/8/layout/chevron2"/>
    <dgm:cxn modelId="{2C0AE337-EA14-4019-89D9-C639F712E702}" type="presOf" srcId="{2FD3D00F-57CD-4E08-B0A3-8E2C5F182C33}" destId="{735D9B3E-5D34-4914-92D8-486F97A0D074}" srcOrd="0" destOrd="1" presId="urn:microsoft.com/office/officeart/2005/8/layout/chevron2"/>
    <dgm:cxn modelId="{9C38913B-0EA2-490B-B886-1B96E3ABADF7}" srcId="{2BD2B1D8-7C95-4AB2-83D5-845071E7315F}" destId="{FD895847-360C-41C0-B86C-0CCB0176E173}" srcOrd="2" destOrd="0" parTransId="{DF9CC660-FD5A-47C5-9581-02BE0BAC296A}" sibTransId="{D0B7C749-592E-43D1-8352-2212C9A3E12A}"/>
    <dgm:cxn modelId="{8B137C42-2225-4BDB-9C52-D16FB4D21835}" type="presOf" srcId="{2BD2B1D8-7C95-4AB2-83D5-845071E7315F}" destId="{CF50E8EF-8192-4A2B-B125-8FF0F19CCFED}" srcOrd="0" destOrd="0" presId="urn:microsoft.com/office/officeart/2005/8/layout/chevron2"/>
    <dgm:cxn modelId="{6D1D854E-031F-4EBB-BFCE-0ACC3786229E}" srcId="{2BD2B1D8-7C95-4AB2-83D5-845071E7315F}" destId="{6834E66D-1EDE-4CAC-98C7-F2A0000060A7}" srcOrd="0" destOrd="0" parTransId="{6A19D10E-03FB-4293-B667-CB5037D0219F}" sibTransId="{CB6B42CE-BCF7-4873-A32D-BCDDCFDFB0DD}"/>
    <dgm:cxn modelId="{C3498A6E-FECA-4EF8-95F0-253892623D2C}" srcId="{CC6A65BF-7F0D-4FB4-82F0-E88DE033B4B1}" destId="{62F1BF2E-818D-469A-9512-458FD0EC9105}" srcOrd="2" destOrd="0" parTransId="{75FE534D-0B16-4E88-8F23-7CC1688415FD}" sibTransId="{C30583F4-47BE-45A9-A15C-8F380F7280C5}"/>
    <dgm:cxn modelId="{E48D7A6F-4E5F-4C24-A9C1-467641F72199}" type="presOf" srcId="{6834E66D-1EDE-4CAC-98C7-F2A0000060A7}" destId="{79AE13AF-1116-45BE-9866-0F3476B621C3}" srcOrd="0" destOrd="0" presId="urn:microsoft.com/office/officeart/2005/8/layout/chevron2"/>
    <dgm:cxn modelId="{6B891051-706B-446E-9DC4-1170783EAA78}" type="presOf" srcId="{0BD996C5-A722-4C91-AACB-8991E7A26A4F}" destId="{180016ED-ABA9-4379-B2C8-3B1D65E9650E}" srcOrd="0" destOrd="0" presId="urn:microsoft.com/office/officeart/2005/8/layout/chevron2"/>
    <dgm:cxn modelId="{50099B59-9581-4692-A77B-78C44F892986}" type="presOf" srcId="{92BE82CB-6AC7-47E6-AC83-103C8BE8B92E}" destId="{47B7C3C0-9A73-415B-8C1A-85214B8C84D4}" srcOrd="0" destOrd="0" presId="urn:microsoft.com/office/officeart/2005/8/layout/chevron2"/>
    <dgm:cxn modelId="{44E19F81-3978-4435-9AB3-C986B18C593D}" srcId="{CC6A65BF-7F0D-4FB4-82F0-E88DE033B4B1}" destId="{345B013B-28F0-4C46-AC66-812135403F54}" srcOrd="1" destOrd="0" parTransId="{3B0D95B6-AB92-4906-9F57-FACE23F364D2}" sibTransId="{1853679E-941C-4005-9024-76C85904346C}"/>
    <dgm:cxn modelId="{95660F8A-8899-474B-B7CC-02CB7777CE1B}" type="presOf" srcId="{FD895847-360C-41C0-B86C-0CCB0176E173}" destId="{79AE13AF-1116-45BE-9866-0F3476B621C3}" srcOrd="0" destOrd="2" presId="urn:microsoft.com/office/officeart/2005/8/layout/chevron2"/>
    <dgm:cxn modelId="{3F564A8F-5D00-4713-BF51-1E00AD4200BF}" type="presOf" srcId="{34647542-180D-4EEC-B282-A0DB6595C048}" destId="{180016ED-ABA9-4379-B2C8-3B1D65E9650E}" srcOrd="0" destOrd="2" presId="urn:microsoft.com/office/officeart/2005/8/layout/chevron2"/>
    <dgm:cxn modelId="{8614A2B1-E2C6-4FF2-9031-7DF9232F3B09}" srcId="{369E7EBA-BBCC-412F-B05F-20B907FD57B3}" destId="{2FD3D00F-57CD-4E08-B0A3-8E2C5F182C33}" srcOrd="1" destOrd="0" parTransId="{541D1784-711E-4624-AC9B-5CEDA5CA81D2}" sibTransId="{25349371-B82D-4C7F-B43F-5B82141F0C62}"/>
    <dgm:cxn modelId="{0F6CACB9-3831-4AC8-B80F-C9759F690BA6}" srcId="{2A93C5C8-0657-437C-AB4C-44183A3AF489}" destId="{92BE82CB-6AC7-47E6-AC83-103C8BE8B92E}" srcOrd="1" destOrd="0" parTransId="{F37E3BC3-F95A-4B56-81ED-1341AF63BFF8}" sibTransId="{85532ED2-CA22-4EF5-8593-9A6D8870E7FD}"/>
    <dgm:cxn modelId="{E76C74C5-E858-4301-AE41-26998EE0EBB9}" type="presOf" srcId="{345B013B-28F0-4C46-AC66-812135403F54}" destId="{CD0976C8-12D6-426A-AAED-A249549F0DD9}" srcOrd="0" destOrd="1" presId="urn:microsoft.com/office/officeart/2005/8/layout/chevron2"/>
    <dgm:cxn modelId="{557469D1-A2B5-4474-B8E2-2D3E6C133DD1}" type="presOf" srcId="{9B5B11D8-6483-4CE6-B4E6-91E2EDE7B07F}" destId="{735D9B3E-5D34-4914-92D8-486F97A0D074}" srcOrd="0" destOrd="0" presId="urn:microsoft.com/office/officeart/2005/8/layout/chevron2"/>
    <dgm:cxn modelId="{A61ADDD5-ED59-46A5-A663-31AB4D40C76D}" srcId="{2A93C5C8-0657-437C-AB4C-44183A3AF489}" destId="{369E7EBA-BBCC-412F-B05F-20B907FD57B3}" srcOrd="0" destOrd="0" parTransId="{31BB6D4E-7A0B-404B-9AA9-5EC6324C2B16}" sibTransId="{6439655C-88AC-4B41-9110-67DF16BD598B}"/>
    <dgm:cxn modelId="{40817BDA-F7A2-41DF-8B9F-A97DBC6376A1}" srcId="{92BE82CB-6AC7-47E6-AC83-103C8BE8B92E}" destId="{34647542-180D-4EEC-B282-A0DB6595C048}" srcOrd="2" destOrd="0" parTransId="{D63718A8-74A9-4ECB-BB09-215483D4195C}" sibTransId="{46FFC8D4-400A-4D66-BFBD-6BC6B5C6C8C6}"/>
    <dgm:cxn modelId="{5432D6DD-1E6A-43AE-8082-ABD72F46EEE8}" srcId="{369E7EBA-BBCC-412F-B05F-20B907FD57B3}" destId="{1414FA81-E692-439F-A7E0-7DEAABF36B80}" srcOrd="2" destOrd="0" parTransId="{2C902507-582B-4F47-B8C2-6F280C2290E1}" sibTransId="{48C4C415-F11A-407F-B424-3687862B4BBB}"/>
    <dgm:cxn modelId="{E28249DE-1D69-4A09-8579-9050579DD47A}" type="presOf" srcId="{62F1BF2E-818D-469A-9512-458FD0EC9105}" destId="{CD0976C8-12D6-426A-AAED-A249549F0DD9}" srcOrd="0" destOrd="2" presId="urn:microsoft.com/office/officeart/2005/8/layout/chevron2"/>
    <dgm:cxn modelId="{BA3F45E4-199B-4E97-89C3-9EC1B45F184E}" srcId="{CC6A65BF-7F0D-4FB4-82F0-E88DE033B4B1}" destId="{800376B8-DD66-4698-A4FC-44946C8F79F3}" srcOrd="0" destOrd="0" parTransId="{2970E2F2-53A9-49C3-A76B-DA56DD5D75D4}" sibTransId="{A63E3A4F-181E-46E0-8C43-9D9FEC7B77E9}"/>
    <dgm:cxn modelId="{DC08C2EA-9F32-4140-8379-AA0374954AFA}" type="presOf" srcId="{CF1ECC09-5384-4204-B83E-B34C95FD0351}" destId="{180016ED-ABA9-4379-B2C8-3B1D65E9650E}" srcOrd="0" destOrd="1" presId="urn:microsoft.com/office/officeart/2005/8/layout/chevron2"/>
    <dgm:cxn modelId="{F27718EE-2F30-450C-887C-2BD658835A0A}" srcId="{2A93C5C8-0657-437C-AB4C-44183A3AF489}" destId="{2BD2B1D8-7C95-4AB2-83D5-845071E7315F}" srcOrd="2" destOrd="0" parTransId="{FC124163-9949-49C1-B86A-00770C0D53A7}" sibTransId="{795AECDD-27AD-48EE-A625-E1BCA3559612}"/>
    <dgm:cxn modelId="{EAA92BF3-E76C-4E0B-8D11-FF5383A12A37}" type="presOf" srcId="{1414FA81-E692-439F-A7E0-7DEAABF36B80}" destId="{735D9B3E-5D34-4914-92D8-486F97A0D074}" srcOrd="0" destOrd="2" presId="urn:microsoft.com/office/officeart/2005/8/layout/chevron2"/>
    <dgm:cxn modelId="{3127B6FD-5B1F-41E5-9F1F-59EB3709B410}" srcId="{2BD2B1D8-7C95-4AB2-83D5-845071E7315F}" destId="{4FE8E344-917B-424C-9C58-FE1D905972F2}" srcOrd="1" destOrd="0" parTransId="{1AD40D1A-633C-410A-9A13-86A4BF0B5B9B}" sibTransId="{F40786C0-6DAF-467E-8F18-889A9205A705}"/>
    <dgm:cxn modelId="{C9DD78F6-F571-4A97-A081-332E89011EEF}" type="presParOf" srcId="{0E0E514F-C2C7-42B6-95E3-6641BDF7D6AC}" destId="{F9D0703A-FD53-4A8B-8F3D-D7FDFDDB5884}" srcOrd="0" destOrd="0" presId="urn:microsoft.com/office/officeart/2005/8/layout/chevron2"/>
    <dgm:cxn modelId="{411CEDEF-4D7A-4A93-9E24-8520AAFCC570}" type="presParOf" srcId="{F9D0703A-FD53-4A8B-8F3D-D7FDFDDB5884}" destId="{A698E692-5BB2-40DF-8802-D73E6AED66F1}" srcOrd="0" destOrd="0" presId="urn:microsoft.com/office/officeart/2005/8/layout/chevron2"/>
    <dgm:cxn modelId="{CC43F8B9-1027-4EDD-AD52-DD5AD8340CC7}" type="presParOf" srcId="{F9D0703A-FD53-4A8B-8F3D-D7FDFDDB5884}" destId="{735D9B3E-5D34-4914-92D8-486F97A0D074}" srcOrd="1" destOrd="0" presId="urn:microsoft.com/office/officeart/2005/8/layout/chevron2"/>
    <dgm:cxn modelId="{2C30887A-B4CD-403A-9FED-072B1AC36F76}" type="presParOf" srcId="{0E0E514F-C2C7-42B6-95E3-6641BDF7D6AC}" destId="{B70CDBCC-D346-4513-A76C-DCE8403F1A36}" srcOrd="1" destOrd="0" presId="urn:microsoft.com/office/officeart/2005/8/layout/chevron2"/>
    <dgm:cxn modelId="{ABABD138-370F-41FC-8852-B0648E011418}" type="presParOf" srcId="{0E0E514F-C2C7-42B6-95E3-6641BDF7D6AC}" destId="{7C79B80F-A012-4AE2-B0D1-628F580C1946}" srcOrd="2" destOrd="0" presId="urn:microsoft.com/office/officeart/2005/8/layout/chevron2"/>
    <dgm:cxn modelId="{BAAD8A5B-3902-44F9-9459-AA10BE9F2A6D}" type="presParOf" srcId="{7C79B80F-A012-4AE2-B0D1-628F580C1946}" destId="{47B7C3C0-9A73-415B-8C1A-85214B8C84D4}" srcOrd="0" destOrd="0" presId="urn:microsoft.com/office/officeart/2005/8/layout/chevron2"/>
    <dgm:cxn modelId="{D3D6194D-16A5-4CF0-A5C6-55E06B53EC75}" type="presParOf" srcId="{7C79B80F-A012-4AE2-B0D1-628F580C1946}" destId="{180016ED-ABA9-4379-B2C8-3B1D65E9650E}" srcOrd="1" destOrd="0" presId="urn:microsoft.com/office/officeart/2005/8/layout/chevron2"/>
    <dgm:cxn modelId="{F8074956-481A-4A95-A085-85F94433E65E}" type="presParOf" srcId="{0E0E514F-C2C7-42B6-95E3-6641BDF7D6AC}" destId="{FDA54FE3-8663-42A4-BB62-F7A3831EDFD1}" srcOrd="3" destOrd="0" presId="urn:microsoft.com/office/officeart/2005/8/layout/chevron2"/>
    <dgm:cxn modelId="{D4C537A1-0F22-4B8C-96C8-67D23A5D1EEB}" type="presParOf" srcId="{0E0E514F-C2C7-42B6-95E3-6641BDF7D6AC}" destId="{DCA3D59C-203A-4E45-B5B4-714F602ADF4D}" srcOrd="4" destOrd="0" presId="urn:microsoft.com/office/officeart/2005/8/layout/chevron2"/>
    <dgm:cxn modelId="{13DC7494-5A7F-4AC1-8FB5-A8BC3CF7D6E8}" type="presParOf" srcId="{DCA3D59C-203A-4E45-B5B4-714F602ADF4D}" destId="{CF50E8EF-8192-4A2B-B125-8FF0F19CCFED}" srcOrd="0" destOrd="0" presId="urn:microsoft.com/office/officeart/2005/8/layout/chevron2"/>
    <dgm:cxn modelId="{C6F8647D-31B2-4393-A818-B652E7D6A1C7}" type="presParOf" srcId="{DCA3D59C-203A-4E45-B5B4-714F602ADF4D}" destId="{79AE13AF-1116-45BE-9866-0F3476B621C3}" srcOrd="1" destOrd="0" presId="urn:microsoft.com/office/officeart/2005/8/layout/chevron2"/>
    <dgm:cxn modelId="{D7145722-5B6A-4C41-AB1A-7BA455D6764D}" type="presParOf" srcId="{0E0E514F-C2C7-42B6-95E3-6641BDF7D6AC}" destId="{BB4D572E-84D2-40F7-843C-77A855564C4C}" srcOrd="5" destOrd="0" presId="urn:microsoft.com/office/officeart/2005/8/layout/chevron2"/>
    <dgm:cxn modelId="{FE6257B6-A719-4541-96C1-F26EC892E5A8}" type="presParOf" srcId="{0E0E514F-C2C7-42B6-95E3-6641BDF7D6AC}" destId="{84A9F6CF-7772-4C70-9B10-B2CB2C977CE9}" srcOrd="6" destOrd="0" presId="urn:microsoft.com/office/officeart/2005/8/layout/chevron2"/>
    <dgm:cxn modelId="{479FF9DA-E59B-4F1F-A303-8BFA9EC84BCC}" type="presParOf" srcId="{84A9F6CF-7772-4C70-9B10-B2CB2C977CE9}" destId="{28096780-9E03-4CBD-A1A1-DB74047B0C6F}" srcOrd="0" destOrd="0" presId="urn:microsoft.com/office/officeart/2005/8/layout/chevron2"/>
    <dgm:cxn modelId="{EF357E08-6C05-4725-983A-02B9346AAC4B}" type="presParOf" srcId="{84A9F6CF-7772-4C70-9B10-B2CB2C977CE9}" destId="{CD0976C8-12D6-426A-AAED-A249549F0DD9}"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F943FA-C682-48AC-9BC6-263EC8745462}" type="doc">
      <dgm:prSet loTypeId="urn:microsoft.com/office/officeart/2005/8/layout/vProcess5" loCatId="process" qsTypeId="urn:microsoft.com/office/officeart/2005/8/quickstyle/simple3" qsCatId="simple" csTypeId="urn:microsoft.com/office/officeart/2005/8/colors/accent0_1" csCatId="mainScheme" phldr="1"/>
      <dgm:spPr/>
      <dgm:t>
        <a:bodyPr/>
        <a:lstStyle/>
        <a:p>
          <a:endParaRPr lang="es-PE"/>
        </a:p>
      </dgm:t>
    </dgm:pt>
    <dgm:pt modelId="{773833C4-45FB-411C-B904-938FF934D5FA}">
      <dgm:prSet phldrT="[Text]" custT="1"/>
      <dgm:spPr>
        <a:ln>
          <a:solidFill>
            <a:schemeClr val="accent1"/>
          </a:solidFill>
        </a:ln>
      </dgm:spPr>
      <dgm:t>
        <a:bodyPr/>
        <a:lstStyle/>
        <a:p>
          <a:pPr algn="just"/>
          <a:r>
            <a:rPr lang="es-PE" sz="1000" b="1" dirty="0">
              <a:latin typeface="Trebuchet MS" panose="020B0603020202020204" pitchFamily="34" charset="0"/>
            </a:rPr>
            <a:t>Enfoque:</a:t>
          </a:r>
          <a:r>
            <a:rPr lang="es-PE" sz="1000" dirty="0">
              <a:latin typeface="Trebuchet MS" panose="020B0603020202020204" pitchFamily="34" charset="0"/>
            </a:rPr>
            <a:t> Creación de Valor de Largo Plazo para Portafolio </a:t>
          </a:r>
        </a:p>
      </dgm:t>
    </dgm:pt>
    <dgm:pt modelId="{4411958C-7CB7-4663-A87B-A0949C145BC3}" type="parTrans" cxnId="{F29AA524-6618-46E2-A437-22F631E9DB50}">
      <dgm:prSet/>
      <dgm:spPr/>
      <dgm:t>
        <a:bodyPr/>
        <a:lstStyle/>
        <a:p>
          <a:endParaRPr lang="es-PE" sz="700">
            <a:latin typeface="Trebuchet MS" panose="020B0603020202020204" pitchFamily="34" charset="0"/>
          </a:endParaRPr>
        </a:p>
      </dgm:t>
    </dgm:pt>
    <dgm:pt modelId="{5EC39314-D8F9-458A-8D51-F93480387533}" type="sibTrans" cxnId="{F29AA524-6618-46E2-A437-22F631E9DB50}">
      <dgm:prSet custT="1"/>
      <dgm:spPr>
        <a:ln>
          <a:solidFill>
            <a:schemeClr val="accent1">
              <a:alpha val="90000"/>
            </a:schemeClr>
          </a:solidFill>
        </a:ln>
      </dgm:spPr>
      <dgm:t>
        <a:bodyPr/>
        <a:lstStyle/>
        <a:p>
          <a:endParaRPr lang="es-PE" sz="700">
            <a:latin typeface="Trebuchet MS" panose="020B0603020202020204" pitchFamily="34" charset="0"/>
          </a:endParaRPr>
        </a:p>
      </dgm:t>
    </dgm:pt>
    <dgm:pt modelId="{2C884068-69EA-4390-BAFE-0376E99F5284}">
      <dgm:prSet phldrT="[Text]" custT="1"/>
      <dgm:spPr>
        <a:ln>
          <a:solidFill>
            <a:schemeClr val="accent1"/>
          </a:solidFill>
        </a:ln>
      </dgm:spPr>
      <dgm:t>
        <a:bodyPr/>
        <a:lstStyle/>
        <a:p>
          <a:r>
            <a:rPr lang="es-PE" sz="1000" b="1" dirty="0">
              <a:latin typeface="Trebuchet MS" panose="020B0603020202020204" pitchFamily="34" charset="0"/>
            </a:rPr>
            <a:t>Lista de Prioridades Periódica:</a:t>
          </a:r>
          <a:r>
            <a:rPr lang="es-PE" sz="1000" dirty="0">
              <a:latin typeface="Trebuchet MS" panose="020B0603020202020204" pitchFamily="34" charset="0"/>
            </a:rPr>
            <a:t> Temas y Emisores</a:t>
          </a:r>
        </a:p>
      </dgm:t>
    </dgm:pt>
    <dgm:pt modelId="{8F3C1AB6-896A-448F-BFE4-6B5BEDC9F5AB}" type="parTrans" cxnId="{14D73070-D43C-4F2A-8CCA-3A0359AC043E}">
      <dgm:prSet/>
      <dgm:spPr/>
      <dgm:t>
        <a:bodyPr/>
        <a:lstStyle/>
        <a:p>
          <a:endParaRPr lang="es-PE" sz="700">
            <a:latin typeface="Trebuchet MS" panose="020B0603020202020204" pitchFamily="34" charset="0"/>
          </a:endParaRPr>
        </a:p>
      </dgm:t>
    </dgm:pt>
    <dgm:pt modelId="{CEEAFAC8-3836-45B0-9EEB-90946169AC14}" type="sibTrans" cxnId="{14D73070-D43C-4F2A-8CCA-3A0359AC043E}">
      <dgm:prSet custT="1"/>
      <dgm:spPr>
        <a:ln>
          <a:solidFill>
            <a:schemeClr val="accent1">
              <a:alpha val="90000"/>
            </a:schemeClr>
          </a:solidFill>
        </a:ln>
      </dgm:spPr>
      <dgm:t>
        <a:bodyPr/>
        <a:lstStyle/>
        <a:p>
          <a:endParaRPr lang="es-PE" sz="700">
            <a:latin typeface="Trebuchet MS" panose="020B0603020202020204" pitchFamily="34" charset="0"/>
          </a:endParaRPr>
        </a:p>
      </dgm:t>
    </dgm:pt>
    <dgm:pt modelId="{3DBED7F1-6E26-45E0-9DE5-FD06B043EF85}">
      <dgm:prSet phldrT="[Text]" custT="1"/>
      <dgm:spPr>
        <a:ln>
          <a:solidFill>
            <a:schemeClr val="accent1"/>
          </a:solidFill>
        </a:ln>
      </dgm:spPr>
      <dgm:t>
        <a:bodyPr/>
        <a:lstStyle/>
        <a:p>
          <a:r>
            <a:rPr lang="es-PE" sz="1000" b="1" dirty="0">
              <a:latin typeface="Trebuchet MS" panose="020B0603020202020204" pitchFamily="34" charset="0"/>
            </a:rPr>
            <a:t>Variables Clave: </a:t>
          </a:r>
          <a:r>
            <a:rPr lang="es-PE" sz="1000" dirty="0">
              <a:latin typeface="Trebuchet MS" panose="020B0603020202020204" pitchFamily="34" charset="0"/>
            </a:rPr>
            <a:t>Score ESG, Exposición, Riesgo, Influencia, Beneficio</a:t>
          </a:r>
        </a:p>
      </dgm:t>
    </dgm:pt>
    <dgm:pt modelId="{B1825F1A-2DFB-4E59-9681-69D1E2BDAB04}" type="parTrans" cxnId="{610DD54D-B234-4D58-8117-926B4E307613}">
      <dgm:prSet/>
      <dgm:spPr/>
      <dgm:t>
        <a:bodyPr/>
        <a:lstStyle/>
        <a:p>
          <a:endParaRPr lang="es-PE" sz="700">
            <a:latin typeface="Trebuchet MS" panose="020B0603020202020204" pitchFamily="34" charset="0"/>
          </a:endParaRPr>
        </a:p>
      </dgm:t>
    </dgm:pt>
    <dgm:pt modelId="{5EE25A65-72F4-4912-BF7F-B16EC25B4A3E}" type="sibTrans" cxnId="{610DD54D-B234-4D58-8117-926B4E307613}">
      <dgm:prSet/>
      <dgm:spPr/>
      <dgm:t>
        <a:bodyPr/>
        <a:lstStyle/>
        <a:p>
          <a:endParaRPr lang="es-PE" sz="700">
            <a:latin typeface="Trebuchet MS" panose="020B0603020202020204" pitchFamily="34" charset="0"/>
          </a:endParaRPr>
        </a:p>
      </dgm:t>
    </dgm:pt>
    <dgm:pt modelId="{C9C4399B-24EF-48DC-ABDA-62B98676C25E}" type="pres">
      <dgm:prSet presAssocID="{9CF943FA-C682-48AC-9BC6-263EC8745462}" presName="outerComposite" presStyleCnt="0">
        <dgm:presLayoutVars>
          <dgm:chMax val="5"/>
          <dgm:dir/>
          <dgm:resizeHandles val="exact"/>
        </dgm:presLayoutVars>
      </dgm:prSet>
      <dgm:spPr/>
    </dgm:pt>
    <dgm:pt modelId="{7B346CBA-1F9B-4AB4-87F6-16AF55575161}" type="pres">
      <dgm:prSet presAssocID="{9CF943FA-C682-48AC-9BC6-263EC8745462}" presName="dummyMaxCanvas" presStyleCnt="0">
        <dgm:presLayoutVars/>
      </dgm:prSet>
      <dgm:spPr/>
    </dgm:pt>
    <dgm:pt modelId="{C35D69FF-C402-46CD-9A23-044101340EF0}" type="pres">
      <dgm:prSet presAssocID="{9CF943FA-C682-48AC-9BC6-263EC8745462}" presName="ThreeNodes_1" presStyleLbl="node1" presStyleIdx="0" presStyleCnt="3">
        <dgm:presLayoutVars>
          <dgm:bulletEnabled val="1"/>
        </dgm:presLayoutVars>
      </dgm:prSet>
      <dgm:spPr/>
    </dgm:pt>
    <dgm:pt modelId="{80E3B8D5-3C94-495C-889F-3335FC8BD906}" type="pres">
      <dgm:prSet presAssocID="{9CF943FA-C682-48AC-9BC6-263EC8745462}" presName="ThreeNodes_2" presStyleLbl="node1" presStyleIdx="1" presStyleCnt="3">
        <dgm:presLayoutVars>
          <dgm:bulletEnabled val="1"/>
        </dgm:presLayoutVars>
      </dgm:prSet>
      <dgm:spPr/>
    </dgm:pt>
    <dgm:pt modelId="{71FC1B40-B4E6-481D-9086-178717519EFA}" type="pres">
      <dgm:prSet presAssocID="{9CF943FA-C682-48AC-9BC6-263EC8745462}" presName="ThreeNodes_3" presStyleLbl="node1" presStyleIdx="2" presStyleCnt="3">
        <dgm:presLayoutVars>
          <dgm:bulletEnabled val="1"/>
        </dgm:presLayoutVars>
      </dgm:prSet>
      <dgm:spPr/>
    </dgm:pt>
    <dgm:pt modelId="{3F49EC23-C72C-4DEA-8C69-2228C6EF0831}" type="pres">
      <dgm:prSet presAssocID="{9CF943FA-C682-48AC-9BC6-263EC8745462}" presName="ThreeConn_1-2" presStyleLbl="fgAccFollowNode1" presStyleIdx="0" presStyleCnt="2">
        <dgm:presLayoutVars>
          <dgm:bulletEnabled val="1"/>
        </dgm:presLayoutVars>
      </dgm:prSet>
      <dgm:spPr/>
    </dgm:pt>
    <dgm:pt modelId="{6244A729-2F6A-4C0A-AF7E-B9F004CCAB22}" type="pres">
      <dgm:prSet presAssocID="{9CF943FA-C682-48AC-9BC6-263EC8745462}" presName="ThreeConn_2-3" presStyleLbl="fgAccFollowNode1" presStyleIdx="1" presStyleCnt="2">
        <dgm:presLayoutVars>
          <dgm:bulletEnabled val="1"/>
        </dgm:presLayoutVars>
      </dgm:prSet>
      <dgm:spPr/>
    </dgm:pt>
    <dgm:pt modelId="{43930892-705B-4011-BA8B-6BF0C6E3F493}" type="pres">
      <dgm:prSet presAssocID="{9CF943FA-C682-48AC-9BC6-263EC8745462}" presName="ThreeNodes_1_text" presStyleLbl="node1" presStyleIdx="2" presStyleCnt="3">
        <dgm:presLayoutVars>
          <dgm:bulletEnabled val="1"/>
        </dgm:presLayoutVars>
      </dgm:prSet>
      <dgm:spPr/>
    </dgm:pt>
    <dgm:pt modelId="{AF35E2A7-9BC9-4F54-9175-AE65B98E26C4}" type="pres">
      <dgm:prSet presAssocID="{9CF943FA-C682-48AC-9BC6-263EC8745462}" presName="ThreeNodes_2_text" presStyleLbl="node1" presStyleIdx="2" presStyleCnt="3">
        <dgm:presLayoutVars>
          <dgm:bulletEnabled val="1"/>
        </dgm:presLayoutVars>
      </dgm:prSet>
      <dgm:spPr/>
    </dgm:pt>
    <dgm:pt modelId="{DCE65CA0-7B9E-4D35-899F-9D004D1C3AA8}" type="pres">
      <dgm:prSet presAssocID="{9CF943FA-C682-48AC-9BC6-263EC8745462}" presName="ThreeNodes_3_text" presStyleLbl="node1" presStyleIdx="2" presStyleCnt="3">
        <dgm:presLayoutVars>
          <dgm:bulletEnabled val="1"/>
        </dgm:presLayoutVars>
      </dgm:prSet>
      <dgm:spPr/>
    </dgm:pt>
  </dgm:ptLst>
  <dgm:cxnLst>
    <dgm:cxn modelId="{159B110C-05DE-4A4F-AD1A-820E1865AEC6}" type="presOf" srcId="{2C884068-69EA-4390-BAFE-0376E99F5284}" destId="{AF35E2A7-9BC9-4F54-9175-AE65B98E26C4}" srcOrd="1" destOrd="0" presId="urn:microsoft.com/office/officeart/2005/8/layout/vProcess5"/>
    <dgm:cxn modelId="{84CFCC17-813C-42AB-86C3-DBEF118EFC1D}" type="presOf" srcId="{3DBED7F1-6E26-45E0-9DE5-FD06B043EF85}" destId="{DCE65CA0-7B9E-4D35-899F-9D004D1C3AA8}" srcOrd="1" destOrd="0" presId="urn:microsoft.com/office/officeart/2005/8/layout/vProcess5"/>
    <dgm:cxn modelId="{F29AA524-6618-46E2-A437-22F631E9DB50}" srcId="{9CF943FA-C682-48AC-9BC6-263EC8745462}" destId="{773833C4-45FB-411C-B904-938FF934D5FA}" srcOrd="0" destOrd="0" parTransId="{4411958C-7CB7-4663-A87B-A0949C145BC3}" sibTransId="{5EC39314-D8F9-458A-8D51-F93480387533}"/>
    <dgm:cxn modelId="{C0E10225-3A77-4850-A889-B7D33851AC4B}" type="presOf" srcId="{773833C4-45FB-411C-B904-938FF934D5FA}" destId="{43930892-705B-4011-BA8B-6BF0C6E3F493}" srcOrd="1" destOrd="0" presId="urn:microsoft.com/office/officeart/2005/8/layout/vProcess5"/>
    <dgm:cxn modelId="{610DD54D-B234-4D58-8117-926B4E307613}" srcId="{9CF943FA-C682-48AC-9BC6-263EC8745462}" destId="{3DBED7F1-6E26-45E0-9DE5-FD06B043EF85}" srcOrd="2" destOrd="0" parTransId="{B1825F1A-2DFB-4E59-9681-69D1E2BDAB04}" sibTransId="{5EE25A65-72F4-4912-BF7F-B16EC25B4A3E}"/>
    <dgm:cxn modelId="{476E706F-9B41-4FDE-B1A1-8588204300C7}" type="presOf" srcId="{5EC39314-D8F9-458A-8D51-F93480387533}" destId="{3F49EC23-C72C-4DEA-8C69-2228C6EF0831}" srcOrd="0" destOrd="0" presId="urn:microsoft.com/office/officeart/2005/8/layout/vProcess5"/>
    <dgm:cxn modelId="{14D73070-D43C-4F2A-8CCA-3A0359AC043E}" srcId="{9CF943FA-C682-48AC-9BC6-263EC8745462}" destId="{2C884068-69EA-4390-BAFE-0376E99F5284}" srcOrd="1" destOrd="0" parTransId="{8F3C1AB6-896A-448F-BFE4-6B5BEDC9F5AB}" sibTransId="{CEEAFAC8-3836-45B0-9EEB-90946169AC14}"/>
    <dgm:cxn modelId="{42801D72-D5D9-4EBE-8619-02BA059D1B12}" type="presOf" srcId="{2C884068-69EA-4390-BAFE-0376E99F5284}" destId="{80E3B8D5-3C94-495C-889F-3335FC8BD906}" srcOrd="0" destOrd="0" presId="urn:microsoft.com/office/officeart/2005/8/layout/vProcess5"/>
    <dgm:cxn modelId="{A506D678-0E92-45CC-8EBC-5A9BF7ACDC02}" type="presOf" srcId="{3DBED7F1-6E26-45E0-9DE5-FD06B043EF85}" destId="{71FC1B40-B4E6-481D-9086-178717519EFA}" srcOrd="0" destOrd="0" presId="urn:microsoft.com/office/officeart/2005/8/layout/vProcess5"/>
    <dgm:cxn modelId="{8FAEE588-C23F-46CB-AB7D-CF395DF7EB7B}" type="presOf" srcId="{9CF943FA-C682-48AC-9BC6-263EC8745462}" destId="{C9C4399B-24EF-48DC-ABDA-62B98676C25E}" srcOrd="0" destOrd="0" presId="urn:microsoft.com/office/officeart/2005/8/layout/vProcess5"/>
    <dgm:cxn modelId="{9C0BCC89-C04C-489E-9821-E5E41AA7B489}" type="presOf" srcId="{CEEAFAC8-3836-45B0-9EEB-90946169AC14}" destId="{6244A729-2F6A-4C0A-AF7E-B9F004CCAB22}" srcOrd="0" destOrd="0" presId="urn:microsoft.com/office/officeart/2005/8/layout/vProcess5"/>
    <dgm:cxn modelId="{080527E6-3813-4975-A57D-3441137A94B2}" type="presOf" srcId="{773833C4-45FB-411C-B904-938FF934D5FA}" destId="{C35D69FF-C402-46CD-9A23-044101340EF0}" srcOrd="0" destOrd="0" presId="urn:microsoft.com/office/officeart/2005/8/layout/vProcess5"/>
    <dgm:cxn modelId="{1D326816-5771-485F-8D13-242762792354}" type="presParOf" srcId="{C9C4399B-24EF-48DC-ABDA-62B98676C25E}" destId="{7B346CBA-1F9B-4AB4-87F6-16AF55575161}" srcOrd="0" destOrd="0" presId="urn:microsoft.com/office/officeart/2005/8/layout/vProcess5"/>
    <dgm:cxn modelId="{0241CCD4-C09B-4C0E-8454-F14A1562DF34}" type="presParOf" srcId="{C9C4399B-24EF-48DC-ABDA-62B98676C25E}" destId="{C35D69FF-C402-46CD-9A23-044101340EF0}" srcOrd="1" destOrd="0" presId="urn:microsoft.com/office/officeart/2005/8/layout/vProcess5"/>
    <dgm:cxn modelId="{39541CD3-63A8-4E15-A19F-0F587431154C}" type="presParOf" srcId="{C9C4399B-24EF-48DC-ABDA-62B98676C25E}" destId="{80E3B8D5-3C94-495C-889F-3335FC8BD906}" srcOrd="2" destOrd="0" presId="urn:microsoft.com/office/officeart/2005/8/layout/vProcess5"/>
    <dgm:cxn modelId="{9D436629-C146-42F2-BB14-33B1D493CEA2}" type="presParOf" srcId="{C9C4399B-24EF-48DC-ABDA-62B98676C25E}" destId="{71FC1B40-B4E6-481D-9086-178717519EFA}" srcOrd="3" destOrd="0" presId="urn:microsoft.com/office/officeart/2005/8/layout/vProcess5"/>
    <dgm:cxn modelId="{6B7ADEE0-FEB9-4E84-8644-70D3805FC141}" type="presParOf" srcId="{C9C4399B-24EF-48DC-ABDA-62B98676C25E}" destId="{3F49EC23-C72C-4DEA-8C69-2228C6EF0831}" srcOrd="4" destOrd="0" presId="urn:microsoft.com/office/officeart/2005/8/layout/vProcess5"/>
    <dgm:cxn modelId="{FB30F2A3-C037-4235-9B02-C8ADFF0FB36E}" type="presParOf" srcId="{C9C4399B-24EF-48DC-ABDA-62B98676C25E}" destId="{6244A729-2F6A-4C0A-AF7E-B9F004CCAB22}" srcOrd="5" destOrd="0" presId="urn:microsoft.com/office/officeart/2005/8/layout/vProcess5"/>
    <dgm:cxn modelId="{38848EA0-7B29-4150-BD1E-8EAB053D495F}" type="presParOf" srcId="{C9C4399B-24EF-48DC-ABDA-62B98676C25E}" destId="{43930892-705B-4011-BA8B-6BF0C6E3F493}" srcOrd="6" destOrd="0" presId="urn:microsoft.com/office/officeart/2005/8/layout/vProcess5"/>
    <dgm:cxn modelId="{803038C8-8381-41A6-B51B-141FC9B8AA44}" type="presParOf" srcId="{C9C4399B-24EF-48DC-ABDA-62B98676C25E}" destId="{AF35E2A7-9BC9-4F54-9175-AE65B98E26C4}" srcOrd="7" destOrd="0" presId="urn:microsoft.com/office/officeart/2005/8/layout/vProcess5"/>
    <dgm:cxn modelId="{49F3E32F-64E1-44BE-991F-5D547CBCED85}" type="presParOf" srcId="{C9C4399B-24EF-48DC-ABDA-62B98676C25E}" destId="{DCE65CA0-7B9E-4D35-899F-9D004D1C3AA8}" srcOrd="8" destOrd="0" presId="urn:microsoft.com/office/officeart/2005/8/layout/vProcess5"/>
  </dgm:cxnLst>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C83E792A-0E8D-4243-B56A-B2FE8053BEEE}" type="doc">
      <dgm:prSet loTypeId="urn:microsoft.com/office/officeart/2005/8/layout/hChevron3" loCatId="process" qsTypeId="urn:microsoft.com/office/officeart/2005/8/quickstyle/simple1" qsCatId="simple" csTypeId="urn:microsoft.com/office/officeart/2005/8/colors/accent1_2" csCatId="accent1" phldr="1"/>
      <dgm:spPr/>
    </dgm:pt>
    <dgm:pt modelId="{803F61CC-3EBC-4071-9821-D1945271A83B}">
      <dgm:prSet phldrT="[Text]" custT="1"/>
      <dgm:spPr/>
      <dgm:t>
        <a:bodyPr/>
        <a:lstStyle/>
        <a:p>
          <a:r>
            <a:rPr lang="es-PE" sz="1200" dirty="0">
              <a:latin typeface="Trebuchet MS" panose="020B0603020202020204" pitchFamily="34" charset="0"/>
            </a:rPr>
            <a:t>Managers: Puntos en común</a:t>
          </a:r>
        </a:p>
      </dgm:t>
    </dgm:pt>
    <dgm:pt modelId="{2561EDB5-4D70-42A4-A4DF-9DDC5EA0DF44}" type="parTrans" cxnId="{E0E18EF2-6A20-4644-A822-1722C8C0E0BA}">
      <dgm:prSet/>
      <dgm:spPr/>
      <dgm:t>
        <a:bodyPr/>
        <a:lstStyle/>
        <a:p>
          <a:endParaRPr lang="es-PE"/>
        </a:p>
      </dgm:t>
    </dgm:pt>
    <dgm:pt modelId="{D67F4A6B-98AF-4F32-9359-9089E68109A6}" type="sibTrans" cxnId="{E0E18EF2-6A20-4644-A822-1722C8C0E0BA}">
      <dgm:prSet/>
      <dgm:spPr/>
      <dgm:t>
        <a:bodyPr/>
        <a:lstStyle/>
        <a:p>
          <a:endParaRPr lang="es-PE"/>
        </a:p>
      </dgm:t>
    </dgm:pt>
    <dgm:pt modelId="{67D447FF-3D89-4055-B74C-A5B0ACDB6862}" type="pres">
      <dgm:prSet presAssocID="{C83E792A-0E8D-4243-B56A-B2FE8053BEEE}" presName="Name0" presStyleCnt="0">
        <dgm:presLayoutVars>
          <dgm:dir/>
          <dgm:resizeHandles val="exact"/>
        </dgm:presLayoutVars>
      </dgm:prSet>
      <dgm:spPr/>
    </dgm:pt>
    <dgm:pt modelId="{17A9C874-E95F-4036-AF08-0035DDC2103E}" type="pres">
      <dgm:prSet presAssocID="{803F61CC-3EBC-4071-9821-D1945271A83B}" presName="parTxOnly" presStyleLbl="node1" presStyleIdx="0" presStyleCnt="1" custScaleY="33363" custLinFactNeighborY="-8197">
        <dgm:presLayoutVars>
          <dgm:bulletEnabled val="1"/>
        </dgm:presLayoutVars>
      </dgm:prSet>
      <dgm:spPr/>
    </dgm:pt>
  </dgm:ptLst>
  <dgm:cxnLst>
    <dgm:cxn modelId="{D78B8362-96B1-4878-B043-05E4AFB3B6CE}" type="presOf" srcId="{803F61CC-3EBC-4071-9821-D1945271A83B}" destId="{17A9C874-E95F-4036-AF08-0035DDC2103E}" srcOrd="0" destOrd="0" presId="urn:microsoft.com/office/officeart/2005/8/layout/hChevron3"/>
    <dgm:cxn modelId="{61E4DD56-6538-476B-8DE5-9B457AE96A9B}" type="presOf" srcId="{C83E792A-0E8D-4243-B56A-B2FE8053BEEE}" destId="{67D447FF-3D89-4055-B74C-A5B0ACDB6862}" srcOrd="0" destOrd="0" presId="urn:microsoft.com/office/officeart/2005/8/layout/hChevron3"/>
    <dgm:cxn modelId="{E0E18EF2-6A20-4644-A822-1722C8C0E0BA}" srcId="{C83E792A-0E8D-4243-B56A-B2FE8053BEEE}" destId="{803F61CC-3EBC-4071-9821-D1945271A83B}" srcOrd="0" destOrd="0" parTransId="{2561EDB5-4D70-42A4-A4DF-9DDC5EA0DF44}" sibTransId="{D67F4A6B-98AF-4F32-9359-9089E68109A6}"/>
    <dgm:cxn modelId="{AAAE507A-0BBB-4541-91D3-22AF51C13DF6}" type="presParOf" srcId="{67D447FF-3D89-4055-B74C-A5B0ACDB6862}" destId="{17A9C874-E95F-4036-AF08-0035DDC2103E}" srcOrd="0" destOrd="0" presId="urn:microsoft.com/office/officeart/2005/8/layout/hChevron3"/>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83E792A-0E8D-4243-B56A-B2FE8053BEEE}" type="doc">
      <dgm:prSet loTypeId="urn:microsoft.com/office/officeart/2005/8/layout/hChevron3" loCatId="process" qsTypeId="urn:microsoft.com/office/officeart/2005/8/quickstyle/simple1" qsCatId="simple" csTypeId="urn:microsoft.com/office/officeart/2005/8/colors/accent1_2" csCatId="accent1" phldr="1"/>
      <dgm:spPr/>
    </dgm:pt>
    <dgm:pt modelId="{803F61CC-3EBC-4071-9821-D1945271A83B}">
      <dgm:prSet phldrT="[Text]" custT="1"/>
      <dgm:spPr/>
      <dgm:t>
        <a:bodyPr/>
        <a:lstStyle/>
        <a:p>
          <a:r>
            <a:rPr lang="es-ES" sz="1200" dirty="0">
              <a:latin typeface="Trebuchet MS" panose="020B0603020202020204" pitchFamily="34" charset="0"/>
            </a:rPr>
            <a:t>Integra: Metodología Base</a:t>
          </a:r>
          <a:endParaRPr lang="es-PE" sz="1200" dirty="0">
            <a:latin typeface="Trebuchet MS" panose="020B0603020202020204" pitchFamily="34" charset="0"/>
          </a:endParaRPr>
        </a:p>
      </dgm:t>
    </dgm:pt>
    <dgm:pt modelId="{2561EDB5-4D70-42A4-A4DF-9DDC5EA0DF44}" type="parTrans" cxnId="{E0E18EF2-6A20-4644-A822-1722C8C0E0BA}">
      <dgm:prSet/>
      <dgm:spPr/>
      <dgm:t>
        <a:bodyPr/>
        <a:lstStyle/>
        <a:p>
          <a:endParaRPr lang="es-PE"/>
        </a:p>
      </dgm:t>
    </dgm:pt>
    <dgm:pt modelId="{D67F4A6B-98AF-4F32-9359-9089E68109A6}" type="sibTrans" cxnId="{E0E18EF2-6A20-4644-A822-1722C8C0E0BA}">
      <dgm:prSet/>
      <dgm:spPr/>
      <dgm:t>
        <a:bodyPr/>
        <a:lstStyle/>
        <a:p>
          <a:endParaRPr lang="es-PE"/>
        </a:p>
      </dgm:t>
    </dgm:pt>
    <dgm:pt modelId="{67D447FF-3D89-4055-B74C-A5B0ACDB6862}" type="pres">
      <dgm:prSet presAssocID="{C83E792A-0E8D-4243-B56A-B2FE8053BEEE}" presName="Name0" presStyleCnt="0">
        <dgm:presLayoutVars>
          <dgm:dir/>
          <dgm:resizeHandles val="exact"/>
        </dgm:presLayoutVars>
      </dgm:prSet>
      <dgm:spPr/>
    </dgm:pt>
    <dgm:pt modelId="{17A9C874-E95F-4036-AF08-0035DDC2103E}" type="pres">
      <dgm:prSet presAssocID="{803F61CC-3EBC-4071-9821-D1945271A83B}" presName="parTxOnly" presStyleLbl="node1" presStyleIdx="0" presStyleCnt="1" custScaleY="33363" custLinFactNeighborY="4159">
        <dgm:presLayoutVars>
          <dgm:bulletEnabled val="1"/>
        </dgm:presLayoutVars>
      </dgm:prSet>
      <dgm:spPr/>
    </dgm:pt>
  </dgm:ptLst>
  <dgm:cxnLst>
    <dgm:cxn modelId="{D78B8362-96B1-4878-B043-05E4AFB3B6CE}" type="presOf" srcId="{803F61CC-3EBC-4071-9821-D1945271A83B}" destId="{17A9C874-E95F-4036-AF08-0035DDC2103E}" srcOrd="0" destOrd="0" presId="urn:microsoft.com/office/officeart/2005/8/layout/hChevron3"/>
    <dgm:cxn modelId="{61E4DD56-6538-476B-8DE5-9B457AE96A9B}" type="presOf" srcId="{C83E792A-0E8D-4243-B56A-B2FE8053BEEE}" destId="{67D447FF-3D89-4055-B74C-A5B0ACDB6862}" srcOrd="0" destOrd="0" presId="urn:microsoft.com/office/officeart/2005/8/layout/hChevron3"/>
    <dgm:cxn modelId="{E0E18EF2-6A20-4644-A822-1722C8C0E0BA}" srcId="{C83E792A-0E8D-4243-B56A-B2FE8053BEEE}" destId="{803F61CC-3EBC-4071-9821-D1945271A83B}" srcOrd="0" destOrd="0" parTransId="{2561EDB5-4D70-42A4-A4DF-9DDC5EA0DF44}" sibTransId="{D67F4A6B-98AF-4F32-9359-9089E68109A6}"/>
    <dgm:cxn modelId="{AAAE507A-0BBB-4541-91D3-22AF51C13DF6}" type="presParOf" srcId="{67D447FF-3D89-4055-B74C-A5B0ACDB6862}" destId="{17A9C874-E95F-4036-AF08-0035DDC2103E}" srcOrd="0" destOrd="0" presId="urn:microsoft.com/office/officeart/2005/8/layout/hChevron3"/>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CF943FA-C682-48AC-9BC6-263EC8745462}" type="doc">
      <dgm:prSet loTypeId="urn:microsoft.com/office/officeart/2005/8/layout/vProcess5" loCatId="process" qsTypeId="urn:microsoft.com/office/officeart/2005/8/quickstyle/simple3" qsCatId="simple" csTypeId="urn:microsoft.com/office/officeart/2005/8/colors/accent0_1" csCatId="mainScheme" phldr="1"/>
      <dgm:spPr/>
      <dgm:t>
        <a:bodyPr/>
        <a:lstStyle/>
        <a:p>
          <a:endParaRPr lang="es-PE"/>
        </a:p>
      </dgm:t>
    </dgm:pt>
    <dgm:pt modelId="{773833C4-45FB-411C-B904-938FF934D5FA}">
      <dgm:prSet phldrT="[Text]" custT="1"/>
      <dgm:spPr>
        <a:solidFill>
          <a:srgbClr val="FFC000"/>
        </a:solidFill>
        <a:ln>
          <a:solidFill>
            <a:schemeClr val="accent1"/>
          </a:solidFill>
        </a:ln>
      </dgm:spPr>
      <dgm:t>
        <a:bodyPr/>
        <a:lstStyle/>
        <a:p>
          <a:r>
            <a:rPr lang="es-PE" sz="1000" b="1" dirty="0">
              <a:latin typeface="Trebuchet MS" panose="020B0603020202020204" pitchFamily="34" charset="0"/>
            </a:rPr>
            <a:t>Enfoque:</a:t>
          </a:r>
          <a:r>
            <a:rPr lang="es-PE" sz="1000" dirty="0">
              <a:latin typeface="Trebuchet MS" panose="020B0603020202020204" pitchFamily="34" charset="0"/>
            </a:rPr>
            <a:t> Creación de Valor de Largo Plazo para Portafolio en factores de sostenibilidad (ESG+:Tecnología, Cultura, Productividad)</a:t>
          </a:r>
        </a:p>
      </dgm:t>
    </dgm:pt>
    <dgm:pt modelId="{4411958C-7CB7-4663-A87B-A0949C145BC3}" type="parTrans" cxnId="{F29AA524-6618-46E2-A437-22F631E9DB50}">
      <dgm:prSet/>
      <dgm:spPr/>
      <dgm:t>
        <a:bodyPr/>
        <a:lstStyle/>
        <a:p>
          <a:endParaRPr lang="es-PE" sz="700">
            <a:latin typeface="Trebuchet MS" panose="020B0603020202020204" pitchFamily="34" charset="0"/>
          </a:endParaRPr>
        </a:p>
      </dgm:t>
    </dgm:pt>
    <dgm:pt modelId="{5EC39314-D8F9-458A-8D51-F93480387533}" type="sibTrans" cxnId="{F29AA524-6618-46E2-A437-22F631E9DB50}">
      <dgm:prSet custT="1"/>
      <dgm:spPr>
        <a:ln>
          <a:solidFill>
            <a:schemeClr val="accent1">
              <a:alpha val="90000"/>
            </a:schemeClr>
          </a:solidFill>
        </a:ln>
      </dgm:spPr>
      <dgm:t>
        <a:bodyPr/>
        <a:lstStyle/>
        <a:p>
          <a:endParaRPr lang="es-PE" sz="700">
            <a:latin typeface="Trebuchet MS" panose="020B0603020202020204" pitchFamily="34" charset="0"/>
          </a:endParaRPr>
        </a:p>
      </dgm:t>
    </dgm:pt>
    <dgm:pt modelId="{2C884068-69EA-4390-BAFE-0376E99F5284}">
      <dgm:prSet phldrT="[Text]" custT="1"/>
      <dgm:spPr>
        <a:solidFill>
          <a:srgbClr val="FFC000"/>
        </a:solidFill>
        <a:ln>
          <a:solidFill>
            <a:schemeClr val="accent1"/>
          </a:solidFill>
        </a:ln>
      </dgm:spPr>
      <dgm:t>
        <a:bodyPr/>
        <a:lstStyle/>
        <a:p>
          <a:r>
            <a:rPr lang="es-PE" sz="1000" b="1" dirty="0">
              <a:latin typeface="Trebuchet MS" panose="020B0603020202020204" pitchFamily="34" charset="0"/>
            </a:rPr>
            <a:t>Lista de Prioridades Anual: </a:t>
          </a:r>
          <a:r>
            <a:rPr lang="es-PE" sz="1000" b="0" dirty="0">
              <a:latin typeface="Trebuchet MS" panose="020B0603020202020204" pitchFamily="34" charset="0"/>
            </a:rPr>
            <a:t>Emisores</a:t>
          </a:r>
        </a:p>
      </dgm:t>
    </dgm:pt>
    <dgm:pt modelId="{8F3C1AB6-896A-448F-BFE4-6B5BEDC9F5AB}" type="parTrans" cxnId="{14D73070-D43C-4F2A-8CCA-3A0359AC043E}">
      <dgm:prSet/>
      <dgm:spPr/>
      <dgm:t>
        <a:bodyPr/>
        <a:lstStyle/>
        <a:p>
          <a:endParaRPr lang="es-PE" sz="700">
            <a:latin typeface="Trebuchet MS" panose="020B0603020202020204" pitchFamily="34" charset="0"/>
          </a:endParaRPr>
        </a:p>
      </dgm:t>
    </dgm:pt>
    <dgm:pt modelId="{CEEAFAC8-3836-45B0-9EEB-90946169AC14}" type="sibTrans" cxnId="{14D73070-D43C-4F2A-8CCA-3A0359AC043E}">
      <dgm:prSet custT="1"/>
      <dgm:spPr>
        <a:ln>
          <a:solidFill>
            <a:schemeClr val="accent1">
              <a:alpha val="90000"/>
            </a:schemeClr>
          </a:solidFill>
        </a:ln>
      </dgm:spPr>
      <dgm:t>
        <a:bodyPr/>
        <a:lstStyle/>
        <a:p>
          <a:endParaRPr lang="es-PE" sz="700">
            <a:latin typeface="Trebuchet MS" panose="020B0603020202020204" pitchFamily="34" charset="0"/>
          </a:endParaRPr>
        </a:p>
      </dgm:t>
    </dgm:pt>
    <dgm:pt modelId="{3DBED7F1-6E26-45E0-9DE5-FD06B043EF85}">
      <dgm:prSet phldrT="[Text]" custT="1"/>
      <dgm:spPr>
        <a:solidFill>
          <a:srgbClr val="FFC000"/>
        </a:solidFill>
        <a:ln>
          <a:solidFill>
            <a:schemeClr val="accent1"/>
          </a:solidFill>
        </a:ln>
      </dgm:spPr>
      <dgm:t>
        <a:bodyPr/>
        <a:lstStyle/>
        <a:p>
          <a:r>
            <a:rPr lang="es-PE" sz="1000" b="1" u="sng" dirty="0">
              <a:latin typeface="Trebuchet MS" panose="020B0603020202020204" pitchFamily="34" charset="0"/>
            </a:rPr>
            <a:t>Variables Clave</a:t>
          </a:r>
          <a:r>
            <a:rPr lang="es-PE" sz="1000" b="1" dirty="0">
              <a:latin typeface="Trebuchet MS" panose="020B0603020202020204" pitchFamily="34" charset="0"/>
            </a:rPr>
            <a:t>: </a:t>
          </a:r>
        </a:p>
        <a:p>
          <a:r>
            <a:rPr lang="es-PE" sz="1000" dirty="0">
              <a:latin typeface="Trebuchet MS" panose="020B0603020202020204" pitchFamily="34" charset="0"/>
            </a:rPr>
            <a:t>- </a:t>
          </a:r>
          <a:r>
            <a:rPr lang="es-PE" sz="1000" b="1" i="1" dirty="0">
              <a:latin typeface="Trebuchet MS" panose="020B0603020202020204" pitchFamily="34" charset="0"/>
            </a:rPr>
            <a:t>Materialidad Financiera de la Empresa:</a:t>
          </a:r>
          <a:r>
            <a:rPr lang="es-PE" sz="1000" dirty="0">
              <a:latin typeface="Trebuchet MS" panose="020B0603020202020204" pitchFamily="34" charset="0"/>
            </a:rPr>
            <a:t> Variables Materiales (Importancia) evaluadas contra  Score ESG MSCI/otros (Riesgo).</a:t>
          </a:r>
        </a:p>
        <a:p>
          <a:r>
            <a:rPr lang="es-PE" sz="1000" b="1" i="1" dirty="0">
              <a:latin typeface="Trebuchet MS" panose="020B0603020202020204" pitchFamily="34" charset="0"/>
            </a:rPr>
            <a:t>- Exposición:</a:t>
          </a:r>
          <a:r>
            <a:rPr lang="es-PE" sz="1000" dirty="0">
              <a:latin typeface="Trebuchet MS" panose="020B0603020202020204" pitchFamily="34" charset="0"/>
            </a:rPr>
            <a:t> Posición en instrumento y vs competencia.</a:t>
          </a:r>
        </a:p>
        <a:p>
          <a:r>
            <a:rPr lang="es-PE" sz="1000" dirty="0">
              <a:latin typeface="Trebuchet MS" panose="020B0603020202020204" pitchFamily="34" charset="0"/>
            </a:rPr>
            <a:t>- </a:t>
          </a:r>
          <a:r>
            <a:rPr lang="es-PE" sz="1000" b="1" i="1" dirty="0">
              <a:latin typeface="Trebuchet MS" panose="020B0603020202020204" pitchFamily="34" charset="0"/>
            </a:rPr>
            <a:t>Influencia:</a:t>
          </a:r>
          <a:r>
            <a:rPr lang="es-PE" sz="1000" dirty="0">
              <a:latin typeface="Trebuchet MS" panose="020B0603020202020204" pitchFamily="34" charset="0"/>
            </a:rPr>
            <a:t> Capacidad real de promover cambios.</a:t>
          </a:r>
        </a:p>
      </dgm:t>
    </dgm:pt>
    <dgm:pt modelId="{B1825F1A-2DFB-4E59-9681-69D1E2BDAB04}" type="parTrans" cxnId="{610DD54D-B234-4D58-8117-926B4E307613}">
      <dgm:prSet/>
      <dgm:spPr/>
      <dgm:t>
        <a:bodyPr/>
        <a:lstStyle/>
        <a:p>
          <a:endParaRPr lang="es-PE" sz="700">
            <a:latin typeface="Trebuchet MS" panose="020B0603020202020204" pitchFamily="34" charset="0"/>
          </a:endParaRPr>
        </a:p>
      </dgm:t>
    </dgm:pt>
    <dgm:pt modelId="{5EE25A65-72F4-4912-BF7F-B16EC25B4A3E}" type="sibTrans" cxnId="{610DD54D-B234-4D58-8117-926B4E307613}">
      <dgm:prSet/>
      <dgm:spPr/>
      <dgm:t>
        <a:bodyPr/>
        <a:lstStyle/>
        <a:p>
          <a:endParaRPr lang="es-PE" sz="700">
            <a:latin typeface="Trebuchet MS" panose="020B0603020202020204" pitchFamily="34" charset="0"/>
          </a:endParaRPr>
        </a:p>
      </dgm:t>
    </dgm:pt>
    <dgm:pt modelId="{C9C4399B-24EF-48DC-ABDA-62B98676C25E}" type="pres">
      <dgm:prSet presAssocID="{9CF943FA-C682-48AC-9BC6-263EC8745462}" presName="outerComposite" presStyleCnt="0">
        <dgm:presLayoutVars>
          <dgm:chMax val="5"/>
          <dgm:dir/>
          <dgm:resizeHandles val="exact"/>
        </dgm:presLayoutVars>
      </dgm:prSet>
      <dgm:spPr/>
    </dgm:pt>
    <dgm:pt modelId="{7B346CBA-1F9B-4AB4-87F6-16AF55575161}" type="pres">
      <dgm:prSet presAssocID="{9CF943FA-C682-48AC-9BC6-263EC8745462}" presName="dummyMaxCanvas" presStyleCnt="0">
        <dgm:presLayoutVars/>
      </dgm:prSet>
      <dgm:spPr/>
    </dgm:pt>
    <dgm:pt modelId="{C35D69FF-C402-46CD-9A23-044101340EF0}" type="pres">
      <dgm:prSet presAssocID="{9CF943FA-C682-48AC-9BC6-263EC8745462}" presName="ThreeNodes_1" presStyleLbl="node1" presStyleIdx="0" presStyleCnt="3" custScaleY="140416" custLinFactNeighborY="-836">
        <dgm:presLayoutVars>
          <dgm:bulletEnabled val="1"/>
        </dgm:presLayoutVars>
      </dgm:prSet>
      <dgm:spPr/>
    </dgm:pt>
    <dgm:pt modelId="{80E3B8D5-3C94-495C-889F-3335FC8BD906}" type="pres">
      <dgm:prSet presAssocID="{9CF943FA-C682-48AC-9BC6-263EC8745462}" presName="ThreeNodes_2" presStyleLbl="node1" presStyleIdx="1" presStyleCnt="3" custScaleY="57637" custLinFactNeighborY="-23015">
        <dgm:presLayoutVars>
          <dgm:bulletEnabled val="1"/>
        </dgm:presLayoutVars>
      </dgm:prSet>
      <dgm:spPr/>
    </dgm:pt>
    <dgm:pt modelId="{71FC1B40-B4E6-481D-9086-178717519EFA}" type="pres">
      <dgm:prSet presAssocID="{9CF943FA-C682-48AC-9BC6-263EC8745462}" presName="ThreeNodes_3" presStyleLbl="node1" presStyleIdx="2" presStyleCnt="3" custScaleY="227873" custLinFactNeighborY="-9941">
        <dgm:presLayoutVars>
          <dgm:bulletEnabled val="1"/>
        </dgm:presLayoutVars>
      </dgm:prSet>
      <dgm:spPr/>
    </dgm:pt>
    <dgm:pt modelId="{3F49EC23-C72C-4DEA-8C69-2228C6EF0831}" type="pres">
      <dgm:prSet presAssocID="{9CF943FA-C682-48AC-9BC6-263EC8745462}" presName="ThreeConn_1-2" presStyleLbl="fgAccFollowNode1" presStyleIdx="0" presStyleCnt="2">
        <dgm:presLayoutVars>
          <dgm:bulletEnabled val="1"/>
        </dgm:presLayoutVars>
      </dgm:prSet>
      <dgm:spPr/>
    </dgm:pt>
    <dgm:pt modelId="{6244A729-2F6A-4C0A-AF7E-B9F004CCAB22}" type="pres">
      <dgm:prSet presAssocID="{9CF943FA-C682-48AC-9BC6-263EC8745462}" presName="ThreeConn_2-3" presStyleLbl="fgAccFollowNode1" presStyleIdx="1" presStyleCnt="2" custLinFactNeighborY="-42875">
        <dgm:presLayoutVars>
          <dgm:bulletEnabled val="1"/>
        </dgm:presLayoutVars>
      </dgm:prSet>
      <dgm:spPr/>
    </dgm:pt>
    <dgm:pt modelId="{43930892-705B-4011-BA8B-6BF0C6E3F493}" type="pres">
      <dgm:prSet presAssocID="{9CF943FA-C682-48AC-9BC6-263EC8745462}" presName="ThreeNodes_1_text" presStyleLbl="node1" presStyleIdx="2" presStyleCnt="3">
        <dgm:presLayoutVars>
          <dgm:bulletEnabled val="1"/>
        </dgm:presLayoutVars>
      </dgm:prSet>
      <dgm:spPr/>
    </dgm:pt>
    <dgm:pt modelId="{AF35E2A7-9BC9-4F54-9175-AE65B98E26C4}" type="pres">
      <dgm:prSet presAssocID="{9CF943FA-C682-48AC-9BC6-263EC8745462}" presName="ThreeNodes_2_text" presStyleLbl="node1" presStyleIdx="2" presStyleCnt="3">
        <dgm:presLayoutVars>
          <dgm:bulletEnabled val="1"/>
        </dgm:presLayoutVars>
      </dgm:prSet>
      <dgm:spPr/>
    </dgm:pt>
    <dgm:pt modelId="{DCE65CA0-7B9E-4D35-899F-9D004D1C3AA8}" type="pres">
      <dgm:prSet presAssocID="{9CF943FA-C682-48AC-9BC6-263EC8745462}" presName="ThreeNodes_3_text" presStyleLbl="node1" presStyleIdx="2" presStyleCnt="3">
        <dgm:presLayoutVars>
          <dgm:bulletEnabled val="1"/>
        </dgm:presLayoutVars>
      </dgm:prSet>
      <dgm:spPr/>
    </dgm:pt>
  </dgm:ptLst>
  <dgm:cxnLst>
    <dgm:cxn modelId="{159B110C-05DE-4A4F-AD1A-820E1865AEC6}" type="presOf" srcId="{2C884068-69EA-4390-BAFE-0376E99F5284}" destId="{AF35E2A7-9BC9-4F54-9175-AE65B98E26C4}" srcOrd="1" destOrd="0" presId="urn:microsoft.com/office/officeart/2005/8/layout/vProcess5"/>
    <dgm:cxn modelId="{84CFCC17-813C-42AB-86C3-DBEF118EFC1D}" type="presOf" srcId="{3DBED7F1-6E26-45E0-9DE5-FD06B043EF85}" destId="{DCE65CA0-7B9E-4D35-899F-9D004D1C3AA8}" srcOrd="1" destOrd="0" presId="urn:microsoft.com/office/officeart/2005/8/layout/vProcess5"/>
    <dgm:cxn modelId="{F29AA524-6618-46E2-A437-22F631E9DB50}" srcId="{9CF943FA-C682-48AC-9BC6-263EC8745462}" destId="{773833C4-45FB-411C-B904-938FF934D5FA}" srcOrd="0" destOrd="0" parTransId="{4411958C-7CB7-4663-A87B-A0949C145BC3}" sibTransId="{5EC39314-D8F9-458A-8D51-F93480387533}"/>
    <dgm:cxn modelId="{C0E10225-3A77-4850-A889-B7D33851AC4B}" type="presOf" srcId="{773833C4-45FB-411C-B904-938FF934D5FA}" destId="{43930892-705B-4011-BA8B-6BF0C6E3F493}" srcOrd="1" destOrd="0" presId="urn:microsoft.com/office/officeart/2005/8/layout/vProcess5"/>
    <dgm:cxn modelId="{610DD54D-B234-4D58-8117-926B4E307613}" srcId="{9CF943FA-C682-48AC-9BC6-263EC8745462}" destId="{3DBED7F1-6E26-45E0-9DE5-FD06B043EF85}" srcOrd="2" destOrd="0" parTransId="{B1825F1A-2DFB-4E59-9681-69D1E2BDAB04}" sibTransId="{5EE25A65-72F4-4912-BF7F-B16EC25B4A3E}"/>
    <dgm:cxn modelId="{476E706F-9B41-4FDE-B1A1-8588204300C7}" type="presOf" srcId="{5EC39314-D8F9-458A-8D51-F93480387533}" destId="{3F49EC23-C72C-4DEA-8C69-2228C6EF0831}" srcOrd="0" destOrd="0" presId="urn:microsoft.com/office/officeart/2005/8/layout/vProcess5"/>
    <dgm:cxn modelId="{14D73070-D43C-4F2A-8CCA-3A0359AC043E}" srcId="{9CF943FA-C682-48AC-9BC6-263EC8745462}" destId="{2C884068-69EA-4390-BAFE-0376E99F5284}" srcOrd="1" destOrd="0" parTransId="{8F3C1AB6-896A-448F-BFE4-6B5BEDC9F5AB}" sibTransId="{CEEAFAC8-3836-45B0-9EEB-90946169AC14}"/>
    <dgm:cxn modelId="{42801D72-D5D9-4EBE-8619-02BA059D1B12}" type="presOf" srcId="{2C884068-69EA-4390-BAFE-0376E99F5284}" destId="{80E3B8D5-3C94-495C-889F-3335FC8BD906}" srcOrd="0" destOrd="0" presId="urn:microsoft.com/office/officeart/2005/8/layout/vProcess5"/>
    <dgm:cxn modelId="{A506D678-0E92-45CC-8EBC-5A9BF7ACDC02}" type="presOf" srcId="{3DBED7F1-6E26-45E0-9DE5-FD06B043EF85}" destId="{71FC1B40-B4E6-481D-9086-178717519EFA}" srcOrd="0" destOrd="0" presId="urn:microsoft.com/office/officeart/2005/8/layout/vProcess5"/>
    <dgm:cxn modelId="{8FAEE588-C23F-46CB-AB7D-CF395DF7EB7B}" type="presOf" srcId="{9CF943FA-C682-48AC-9BC6-263EC8745462}" destId="{C9C4399B-24EF-48DC-ABDA-62B98676C25E}" srcOrd="0" destOrd="0" presId="urn:microsoft.com/office/officeart/2005/8/layout/vProcess5"/>
    <dgm:cxn modelId="{9C0BCC89-C04C-489E-9821-E5E41AA7B489}" type="presOf" srcId="{CEEAFAC8-3836-45B0-9EEB-90946169AC14}" destId="{6244A729-2F6A-4C0A-AF7E-B9F004CCAB22}" srcOrd="0" destOrd="0" presId="urn:microsoft.com/office/officeart/2005/8/layout/vProcess5"/>
    <dgm:cxn modelId="{080527E6-3813-4975-A57D-3441137A94B2}" type="presOf" srcId="{773833C4-45FB-411C-B904-938FF934D5FA}" destId="{C35D69FF-C402-46CD-9A23-044101340EF0}" srcOrd="0" destOrd="0" presId="urn:microsoft.com/office/officeart/2005/8/layout/vProcess5"/>
    <dgm:cxn modelId="{1D326816-5771-485F-8D13-242762792354}" type="presParOf" srcId="{C9C4399B-24EF-48DC-ABDA-62B98676C25E}" destId="{7B346CBA-1F9B-4AB4-87F6-16AF55575161}" srcOrd="0" destOrd="0" presId="urn:microsoft.com/office/officeart/2005/8/layout/vProcess5"/>
    <dgm:cxn modelId="{0241CCD4-C09B-4C0E-8454-F14A1562DF34}" type="presParOf" srcId="{C9C4399B-24EF-48DC-ABDA-62B98676C25E}" destId="{C35D69FF-C402-46CD-9A23-044101340EF0}" srcOrd="1" destOrd="0" presId="urn:microsoft.com/office/officeart/2005/8/layout/vProcess5"/>
    <dgm:cxn modelId="{39541CD3-63A8-4E15-A19F-0F587431154C}" type="presParOf" srcId="{C9C4399B-24EF-48DC-ABDA-62B98676C25E}" destId="{80E3B8D5-3C94-495C-889F-3335FC8BD906}" srcOrd="2" destOrd="0" presId="urn:microsoft.com/office/officeart/2005/8/layout/vProcess5"/>
    <dgm:cxn modelId="{9D436629-C146-42F2-BB14-33B1D493CEA2}" type="presParOf" srcId="{C9C4399B-24EF-48DC-ABDA-62B98676C25E}" destId="{71FC1B40-B4E6-481D-9086-178717519EFA}" srcOrd="3" destOrd="0" presId="urn:microsoft.com/office/officeart/2005/8/layout/vProcess5"/>
    <dgm:cxn modelId="{6B7ADEE0-FEB9-4E84-8644-70D3805FC141}" type="presParOf" srcId="{C9C4399B-24EF-48DC-ABDA-62B98676C25E}" destId="{3F49EC23-C72C-4DEA-8C69-2228C6EF0831}" srcOrd="4" destOrd="0" presId="urn:microsoft.com/office/officeart/2005/8/layout/vProcess5"/>
    <dgm:cxn modelId="{FB30F2A3-C037-4235-9B02-C8ADFF0FB36E}" type="presParOf" srcId="{C9C4399B-24EF-48DC-ABDA-62B98676C25E}" destId="{6244A729-2F6A-4C0A-AF7E-B9F004CCAB22}" srcOrd="5" destOrd="0" presId="urn:microsoft.com/office/officeart/2005/8/layout/vProcess5"/>
    <dgm:cxn modelId="{38848EA0-7B29-4150-BD1E-8EAB053D495F}" type="presParOf" srcId="{C9C4399B-24EF-48DC-ABDA-62B98676C25E}" destId="{43930892-705B-4011-BA8B-6BF0C6E3F493}" srcOrd="6" destOrd="0" presId="urn:microsoft.com/office/officeart/2005/8/layout/vProcess5"/>
    <dgm:cxn modelId="{803038C8-8381-41A6-B51B-141FC9B8AA44}" type="presParOf" srcId="{C9C4399B-24EF-48DC-ABDA-62B98676C25E}" destId="{AF35E2A7-9BC9-4F54-9175-AE65B98E26C4}" srcOrd="7" destOrd="0" presId="urn:microsoft.com/office/officeart/2005/8/layout/vProcess5"/>
    <dgm:cxn modelId="{49F3E32F-64E1-44BE-991F-5D547CBCED85}" type="presParOf" srcId="{C9C4399B-24EF-48DC-ABDA-62B98676C25E}" destId="{DCE65CA0-7B9E-4D35-899F-9D004D1C3AA8}" srcOrd="8" destOrd="0" presId="urn:microsoft.com/office/officeart/2005/8/layout/vProcess5"/>
  </dgm:cxnLst>
  <dgm:bg/>
  <dgm:whole/>
  <dgm:extLst>
    <a:ext uri="http://schemas.microsoft.com/office/drawing/2008/diagram">
      <dsp:dataModelExt xmlns:dsp="http://schemas.microsoft.com/office/drawing/2008/diagram" relId="rId27"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9792133B-C933-45D9-A192-46D65CAC37F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73F571FE-55EB-4D9E-8AAD-3CD786391715}">
      <dgm:prSet phldrT="[Text]" custT="1"/>
      <dgm:spPr/>
      <dgm:t>
        <a:bodyPr/>
        <a:lstStyle/>
        <a:p>
          <a:r>
            <a:rPr lang="es-ES" sz="1000" dirty="0">
              <a:latin typeface="Trebuchet MS" panose="020B0603020202020204" pitchFamily="34" charset="0"/>
            </a:rPr>
            <a:t>Inundaciones</a:t>
          </a:r>
          <a:endParaRPr lang="es-PE" sz="1000" dirty="0">
            <a:latin typeface="Trebuchet MS" panose="020B0603020202020204" pitchFamily="34" charset="0"/>
          </a:endParaRPr>
        </a:p>
      </dgm:t>
    </dgm:pt>
    <dgm:pt modelId="{A0210BF4-400B-4433-8FA2-003B9988C914}" type="parTrans" cxnId="{CA139181-BE82-41EA-95BA-3B120F1A2824}">
      <dgm:prSet/>
      <dgm:spPr/>
      <dgm:t>
        <a:bodyPr/>
        <a:lstStyle/>
        <a:p>
          <a:endParaRPr lang="es-PE">
            <a:latin typeface="Trebuchet MS" panose="020B0603020202020204" pitchFamily="34" charset="0"/>
          </a:endParaRPr>
        </a:p>
      </dgm:t>
    </dgm:pt>
    <dgm:pt modelId="{4EEE26F1-D7EA-4CAE-82F7-305C1DB743D6}" type="sibTrans" cxnId="{CA139181-BE82-41EA-95BA-3B120F1A2824}">
      <dgm:prSet/>
      <dgm:spPr/>
      <dgm:t>
        <a:bodyPr/>
        <a:lstStyle/>
        <a:p>
          <a:endParaRPr lang="es-PE">
            <a:latin typeface="Trebuchet MS" panose="020B0603020202020204" pitchFamily="34" charset="0"/>
          </a:endParaRPr>
        </a:p>
      </dgm:t>
    </dgm:pt>
    <dgm:pt modelId="{744D5461-FC50-41DF-8B7F-EA703BFFE2FD}">
      <dgm:prSet phldrT="[Text]"/>
      <dgm:spPr/>
      <dgm:t>
        <a:bodyPr/>
        <a:lstStyle/>
        <a:p>
          <a:r>
            <a:rPr lang="es-ES" dirty="0">
              <a:latin typeface="Trebuchet MS" panose="020B0603020202020204" pitchFamily="34" charset="0"/>
            </a:rPr>
            <a:t>Precipitaciones</a:t>
          </a:r>
          <a:endParaRPr lang="es-PE" dirty="0">
            <a:latin typeface="Trebuchet MS" panose="020B0603020202020204" pitchFamily="34" charset="0"/>
          </a:endParaRPr>
        </a:p>
      </dgm:t>
    </dgm:pt>
    <dgm:pt modelId="{2AE46C10-71B8-4768-B9E1-2824EDE9F4E8}" type="parTrans" cxnId="{5F284A2E-5CED-4538-AB8D-23610C53929D}">
      <dgm:prSet/>
      <dgm:spPr/>
      <dgm:t>
        <a:bodyPr/>
        <a:lstStyle/>
        <a:p>
          <a:endParaRPr lang="es-PE">
            <a:latin typeface="Trebuchet MS" panose="020B0603020202020204" pitchFamily="34" charset="0"/>
          </a:endParaRPr>
        </a:p>
      </dgm:t>
    </dgm:pt>
    <dgm:pt modelId="{C3E6A3D9-65ED-4810-A165-E9903C39AF69}" type="sibTrans" cxnId="{5F284A2E-5CED-4538-AB8D-23610C53929D}">
      <dgm:prSet/>
      <dgm:spPr/>
      <dgm:t>
        <a:bodyPr/>
        <a:lstStyle/>
        <a:p>
          <a:endParaRPr lang="es-PE">
            <a:latin typeface="Trebuchet MS" panose="020B0603020202020204" pitchFamily="34" charset="0"/>
          </a:endParaRPr>
        </a:p>
      </dgm:t>
    </dgm:pt>
    <dgm:pt modelId="{5E98AED8-3C95-46F7-B254-D20ACB081DFA}">
      <dgm:prSet phldrT="[Text]"/>
      <dgm:spPr/>
      <dgm:t>
        <a:bodyPr/>
        <a:lstStyle/>
        <a:p>
          <a:r>
            <a:rPr lang="es-ES" dirty="0">
              <a:latin typeface="Trebuchet MS" panose="020B0603020202020204" pitchFamily="34" charset="0"/>
            </a:rPr>
            <a:t>Peligro por inundaciones</a:t>
          </a:r>
          <a:endParaRPr lang="es-PE" dirty="0">
            <a:latin typeface="Trebuchet MS" panose="020B0603020202020204" pitchFamily="34" charset="0"/>
          </a:endParaRPr>
        </a:p>
      </dgm:t>
    </dgm:pt>
    <dgm:pt modelId="{350942B9-5170-4A96-9EB3-CC2DF528B19A}" type="parTrans" cxnId="{E1EC3847-9EF6-426C-9B3D-18EDE149BB09}">
      <dgm:prSet/>
      <dgm:spPr/>
      <dgm:t>
        <a:bodyPr/>
        <a:lstStyle/>
        <a:p>
          <a:endParaRPr lang="es-PE">
            <a:latin typeface="Trebuchet MS" panose="020B0603020202020204" pitchFamily="34" charset="0"/>
          </a:endParaRPr>
        </a:p>
      </dgm:t>
    </dgm:pt>
    <dgm:pt modelId="{1FDF9F6A-FFF5-43B5-994A-DE5EC9D47587}" type="sibTrans" cxnId="{E1EC3847-9EF6-426C-9B3D-18EDE149BB09}">
      <dgm:prSet/>
      <dgm:spPr/>
      <dgm:t>
        <a:bodyPr/>
        <a:lstStyle/>
        <a:p>
          <a:endParaRPr lang="es-PE">
            <a:latin typeface="Trebuchet MS" panose="020B0603020202020204" pitchFamily="34" charset="0"/>
          </a:endParaRPr>
        </a:p>
      </dgm:t>
    </dgm:pt>
    <dgm:pt modelId="{906BDFB2-E9C4-4832-97A1-1C178FB39066}">
      <dgm:prSet phldrT="[Text]" custT="1"/>
      <dgm:spPr/>
      <dgm:t>
        <a:bodyPr/>
        <a:lstStyle/>
        <a:p>
          <a:r>
            <a:rPr lang="es-ES" sz="1000" dirty="0">
              <a:latin typeface="Trebuchet MS" panose="020B0603020202020204" pitchFamily="34" charset="0"/>
            </a:rPr>
            <a:t>Sequías</a:t>
          </a:r>
          <a:endParaRPr lang="es-PE" sz="1000" dirty="0">
            <a:latin typeface="Trebuchet MS" panose="020B0603020202020204" pitchFamily="34" charset="0"/>
          </a:endParaRPr>
        </a:p>
      </dgm:t>
    </dgm:pt>
    <dgm:pt modelId="{20A80FBE-385C-49F1-9627-41A5903ACB2B}" type="parTrans" cxnId="{3B7EB8FE-9266-4F16-9BD4-D839690E2C2D}">
      <dgm:prSet/>
      <dgm:spPr/>
      <dgm:t>
        <a:bodyPr/>
        <a:lstStyle/>
        <a:p>
          <a:endParaRPr lang="es-PE">
            <a:latin typeface="Trebuchet MS" panose="020B0603020202020204" pitchFamily="34" charset="0"/>
          </a:endParaRPr>
        </a:p>
      </dgm:t>
    </dgm:pt>
    <dgm:pt modelId="{11183020-D31E-47C4-B3E7-9E45FD227094}" type="sibTrans" cxnId="{3B7EB8FE-9266-4F16-9BD4-D839690E2C2D}">
      <dgm:prSet/>
      <dgm:spPr/>
      <dgm:t>
        <a:bodyPr/>
        <a:lstStyle/>
        <a:p>
          <a:endParaRPr lang="es-PE">
            <a:latin typeface="Trebuchet MS" panose="020B0603020202020204" pitchFamily="34" charset="0"/>
          </a:endParaRPr>
        </a:p>
      </dgm:t>
    </dgm:pt>
    <dgm:pt modelId="{CF3DE80D-B045-4BD7-97A7-670B807DD614}">
      <dgm:prSet phldrT="[Text]"/>
      <dgm:spPr/>
      <dgm:t>
        <a:bodyPr/>
        <a:lstStyle/>
        <a:p>
          <a:r>
            <a:rPr lang="es-ES" dirty="0">
              <a:latin typeface="Trebuchet MS" panose="020B0603020202020204" pitchFamily="34" charset="0"/>
            </a:rPr>
            <a:t>Riesgo y Peligro de Sequía</a:t>
          </a:r>
          <a:endParaRPr lang="es-PE" dirty="0">
            <a:latin typeface="Trebuchet MS" panose="020B0603020202020204" pitchFamily="34" charset="0"/>
          </a:endParaRPr>
        </a:p>
      </dgm:t>
    </dgm:pt>
    <dgm:pt modelId="{101EA5D2-9E28-40DE-9CAF-D76434FEB1B4}" type="parTrans" cxnId="{E87A8D34-8F4C-431E-9162-556DB428ACF7}">
      <dgm:prSet/>
      <dgm:spPr/>
      <dgm:t>
        <a:bodyPr/>
        <a:lstStyle/>
        <a:p>
          <a:endParaRPr lang="es-PE">
            <a:latin typeface="Trebuchet MS" panose="020B0603020202020204" pitchFamily="34" charset="0"/>
          </a:endParaRPr>
        </a:p>
      </dgm:t>
    </dgm:pt>
    <dgm:pt modelId="{2A9295A0-046F-4782-BC86-B59239AA0405}" type="sibTrans" cxnId="{E87A8D34-8F4C-431E-9162-556DB428ACF7}">
      <dgm:prSet/>
      <dgm:spPr/>
      <dgm:t>
        <a:bodyPr/>
        <a:lstStyle/>
        <a:p>
          <a:endParaRPr lang="es-PE">
            <a:latin typeface="Trebuchet MS" panose="020B0603020202020204" pitchFamily="34" charset="0"/>
          </a:endParaRPr>
        </a:p>
      </dgm:t>
    </dgm:pt>
    <dgm:pt modelId="{1145D775-C04A-402C-93A2-97E6AE9109F1}">
      <dgm:prSet phldrT="[Text]"/>
      <dgm:spPr/>
      <dgm:t>
        <a:bodyPr/>
        <a:lstStyle/>
        <a:p>
          <a:r>
            <a:rPr lang="es-ES" dirty="0">
              <a:latin typeface="Trebuchet MS" panose="020B0603020202020204" pitchFamily="34" charset="0"/>
            </a:rPr>
            <a:t>Duración de la Sequía</a:t>
          </a:r>
          <a:endParaRPr lang="es-PE" dirty="0">
            <a:latin typeface="Trebuchet MS" panose="020B0603020202020204" pitchFamily="34" charset="0"/>
          </a:endParaRPr>
        </a:p>
      </dgm:t>
    </dgm:pt>
    <dgm:pt modelId="{17F8DC3D-B782-4146-ACC6-3B1FBCA94FFF}" type="parTrans" cxnId="{FB0A657D-41B9-4B67-95FB-B6AD9498F23C}">
      <dgm:prSet/>
      <dgm:spPr/>
      <dgm:t>
        <a:bodyPr/>
        <a:lstStyle/>
        <a:p>
          <a:endParaRPr lang="es-PE">
            <a:latin typeface="Trebuchet MS" panose="020B0603020202020204" pitchFamily="34" charset="0"/>
          </a:endParaRPr>
        </a:p>
      </dgm:t>
    </dgm:pt>
    <dgm:pt modelId="{A5D62E6E-C4AB-4E0C-BB9C-B30AD34E2DB2}" type="sibTrans" cxnId="{FB0A657D-41B9-4B67-95FB-B6AD9498F23C}">
      <dgm:prSet/>
      <dgm:spPr/>
      <dgm:t>
        <a:bodyPr/>
        <a:lstStyle/>
        <a:p>
          <a:endParaRPr lang="es-PE">
            <a:latin typeface="Trebuchet MS" panose="020B0603020202020204" pitchFamily="34" charset="0"/>
          </a:endParaRPr>
        </a:p>
      </dgm:t>
    </dgm:pt>
    <dgm:pt modelId="{C69B8CF0-58A1-4E34-92CA-6B026116F48F}" type="pres">
      <dgm:prSet presAssocID="{9792133B-C933-45D9-A192-46D65CAC37FC}" presName="Name0" presStyleCnt="0">
        <dgm:presLayoutVars>
          <dgm:dir/>
          <dgm:animLvl val="lvl"/>
          <dgm:resizeHandles val="exact"/>
        </dgm:presLayoutVars>
      </dgm:prSet>
      <dgm:spPr/>
    </dgm:pt>
    <dgm:pt modelId="{69303AFA-90C4-4C82-AF47-095D79EBEFC1}" type="pres">
      <dgm:prSet presAssocID="{73F571FE-55EB-4D9E-8AAD-3CD786391715}" presName="linNode" presStyleCnt="0"/>
      <dgm:spPr/>
    </dgm:pt>
    <dgm:pt modelId="{C460FCF8-8DF7-43CA-A399-0D197C058604}" type="pres">
      <dgm:prSet presAssocID="{73F571FE-55EB-4D9E-8AAD-3CD786391715}" presName="parentText" presStyleLbl="node1" presStyleIdx="0" presStyleCnt="2" custLinFactNeighborX="-4288">
        <dgm:presLayoutVars>
          <dgm:chMax val="1"/>
          <dgm:bulletEnabled val="1"/>
        </dgm:presLayoutVars>
      </dgm:prSet>
      <dgm:spPr/>
    </dgm:pt>
    <dgm:pt modelId="{AA77391F-9A36-44AD-A9AC-906EFCF7A388}" type="pres">
      <dgm:prSet presAssocID="{73F571FE-55EB-4D9E-8AAD-3CD786391715}" presName="descendantText" presStyleLbl="alignAccFollowNode1" presStyleIdx="0" presStyleCnt="2">
        <dgm:presLayoutVars>
          <dgm:bulletEnabled val="1"/>
        </dgm:presLayoutVars>
      </dgm:prSet>
      <dgm:spPr/>
    </dgm:pt>
    <dgm:pt modelId="{BFE02D7C-803B-430D-B4C9-73984D8BE8D0}" type="pres">
      <dgm:prSet presAssocID="{4EEE26F1-D7EA-4CAE-82F7-305C1DB743D6}" presName="sp" presStyleCnt="0"/>
      <dgm:spPr/>
    </dgm:pt>
    <dgm:pt modelId="{D04F3BD1-DC44-442A-891B-68F40EEC7CB9}" type="pres">
      <dgm:prSet presAssocID="{906BDFB2-E9C4-4832-97A1-1C178FB39066}" presName="linNode" presStyleCnt="0"/>
      <dgm:spPr/>
    </dgm:pt>
    <dgm:pt modelId="{10FC1AEE-40A4-4A4B-88F8-A32A0A97253A}" type="pres">
      <dgm:prSet presAssocID="{906BDFB2-E9C4-4832-97A1-1C178FB39066}" presName="parentText" presStyleLbl="node1" presStyleIdx="1" presStyleCnt="2">
        <dgm:presLayoutVars>
          <dgm:chMax val="1"/>
          <dgm:bulletEnabled val="1"/>
        </dgm:presLayoutVars>
      </dgm:prSet>
      <dgm:spPr/>
    </dgm:pt>
    <dgm:pt modelId="{620361AE-73C5-4CFA-AE8E-DCBF09608BDD}" type="pres">
      <dgm:prSet presAssocID="{906BDFB2-E9C4-4832-97A1-1C178FB39066}" presName="descendantText" presStyleLbl="alignAccFollowNode1" presStyleIdx="1" presStyleCnt="2">
        <dgm:presLayoutVars>
          <dgm:bulletEnabled val="1"/>
        </dgm:presLayoutVars>
      </dgm:prSet>
      <dgm:spPr/>
    </dgm:pt>
  </dgm:ptLst>
  <dgm:cxnLst>
    <dgm:cxn modelId="{8B236C0B-6B7D-4479-904D-DFCADF1889F6}" type="presOf" srcId="{1145D775-C04A-402C-93A2-97E6AE9109F1}" destId="{620361AE-73C5-4CFA-AE8E-DCBF09608BDD}" srcOrd="0" destOrd="1" presId="urn:microsoft.com/office/officeart/2005/8/layout/vList5"/>
    <dgm:cxn modelId="{5F284A2E-5CED-4538-AB8D-23610C53929D}" srcId="{73F571FE-55EB-4D9E-8AAD-3CD786391715}" destId="{744D5461-FC50-41DF-8B7F-EA703BFFE2FD}" srcOrd="0" destOrd="0" parTransId="{2AE46C10-71B8-4768-B9E1-2824EDE9F4E8}" sibTransId="{C3E6A3D9-65ED-4810-A165-E9903C39AF69}"/>
    <dgm:cxn modelId="{E87A8D34-8F4C-431E-9162-556DB428ACF7}" srcId="{906BDFB2-E9C4-4832-97A1-1C178FB39066}" destId="{CF3DE80D-B045-4BD7-97A7-670B807DD614}" srcOrd="0" destOrd="0" parTransId="{101EA5D2-9E28-40DE-9CAF-D76434FEB1B4}" sibTransId="{2A9295A0-046F-4782-BC86-B59239AA0405}"/>
    <dgm:cxn modelId="{D9166F62-D1B9-485A-A6AD-716FE4330EFC}" type="presOf" srcId="{73F571FE-55EB-4D9E-8AAD-3CD786391715}" destId="{C460FCF8-8DF7-43CA-A399-0D197C058604}" srcOrd="0" destOrd="0" presId="urn:microsoft.com/office/officeart/2005/8/layout/vList5"/>
    <dgm:cxn modelId="{E1EC3847-9EF6-426C-9B3D-18EDE149BB09}" srcId="{73F571FE-55EB-4D9E-8AAD-3CD786391715}" destId="{5E98AED8-3C95-46F7-B254-D20ACB081DFA}" srcOrd="1" destOrd="0" parTransId="{350942B9-5170-4A96-9EB3-CC2DF528B19A}" sibTransId="{1FDF9F6A-FFF5-43B5-994A-DE5EC9D47587}"/>
    <dgm:cxn modelId="{D7A79469-AABE-46F1-BAFF-25B137F30B12}" type="presOf" srcId="{5E98AED8-3C95-46F7-B254-D20ACB081DFA}" destId="{AA77391F-9A36-44AD-A9AC-906EFCF7A388}" srcOrd="0" destOrd="1" presId="urn:microsoft.com/office/officeart/2005/8/layout/vList5"/>
    <dgm:cxn modelId="{FB0A657D-41B9-4B67-95FB-B6AD9498F23C}" srcId="{906BDFB2-E9C4-4832-97A1-1C178FB39066}" destId="{1145D775-C04A-402C-93A2-97E6AE9109F1}" srcOrd="1" destOrd="0" parTransId="{17F8DC3D-B782-4146-ACC6-3B1FBCA94FFF}" sibTransId="{A5D62E6E-C4AB-4E0C-BB9C-B30AD34E2DB2}"/>
    <dgm:cxn modelId="{CA139181-BE82-41EA-95BA-3B120F1A2824}" srcId="{9792133B-C933-45D9-A192-46D65CAC37FC}" destId="{73F571FE-55EB-4D9E-8AAD-3CD786391715}" srcOrd="0" destOrd="0" parTransId="{A0210BF4-400B-4433-8FA2-003B9988C914}" sibTransId="{4EEE26F1-D7EA-4CAE-82F7-305C1DB743D6}"/>
    <dgm:cxn modelId="{6B496E8F-1433-4FCB-8CBA-14E297C302FB}" type="presOf" srcId="{CF3DE80D-B045-4BD7-97A7-670B807DD614}" destId="{620361AE-73C5-4CFA-AE8E-DCBF09608BDD}" srcOrd="0" destOrd="0" presId="urn:microsoft.com/office/officeart/2005/8/layout/vList5"/>
    <dgm:cxn modelId="{4CF4B7E2-6B0A-421B-BF6E-F76B4A79A7CE}" type="presOf" srcId="{906BDFB2-E9C4-4832-97A1-1C178FB39066}" destId="{10FC1AEE-40A4-4A4B-88F8-A32A0A97253A}" srcOrd="0" destOrd="0" presId="urn:microsoft.com/office/officeart/2005/8/layout/vList5"/>
    <dgm:cxn modelId="{BE529BF6-6D62-4238-AD0D-6609DF0F2224}" type="presOf" srcId="{744D5461-FC50-41DF-8B7F-EA703BFFE2FD}" destId="{AA77391F-9A36-44AD-A9AC-906EFCF7A388}" srcOrd="0" destOrd="0" presId="urn:microsoft.com/office/officeart/2005/8/layout/vList5"/>
    <dgm:cxn modelId="{3B7EB8FE-9266-4F16-9BD4-D839690E2C2D}" srcId="{9792133B-C933-45D9-A192-46D65CAC37FC}" destId="{906BDFB2-E9C4-4832-97A1-1C178FB39066}" srcOrd="1" destOrd="0" parTransId="{20A80FBE-385C-49F1-9627-41A5903ACB2B}" sibTransId="{11183020-D31E-47C4-B3E7-9E45FD227094}"/>
    <dgm:cxn modelId="{AFC7EFFF-7250-41BC-8E23-278173887515}" type="presOf" srcId="{9792133B-C933-45D9-A192-46D65CAC37FC}" destId="{C69B8CF0-58A1-4E34-92CA-6B026116F48F}" srcOrd="0" destOrd="0" presId="urn:microsoft.com/office/officeart/2005/8/layout/vList5"/>
    <dgm:cxn modelId="{87E4CDBE-3BD2-4C01-BC6E-35FF9348DE4C}" type="presParOf" srcId="{C69B8CF0-58A1-4E34-92CA-6B026116F48F}" destId="{69303AFA-90C4-4C82-AF47-095D79EBEFC1}" srcOrd="0" destOrd="0" presId="urn:microsoft.com/office/officeart/2005/8/layout/vList5"/>
    <dgm:cxn modelId="{3185BC08-201B-4F2F-83AA-B049C236C535}" type="presParOf" srcId="{69303AFA-90C4-4C82-AF47-095D79EBEFC1}" destId="{C460FCF8-8DF7-43CA-A399-0D197C058604}" srcOrd="0" destOrd="0" presId="urn:microsoft.com/office/officeart/2005/8/layout/vList5"/>
    <dgm:cxn modelId="{8F328EAD-2696-428C-A8A0-739863935BFF}" type="presParOf" srcId="{69303AFA-90C4-4C82-AF47-095D79EBEFC1}" destId="{AA77391F-9A36-44AD-A9AC-906EFCF7A388}" srcOrd="1" destOrd="0" presId="urn:microsoft.com/office/officeart/2005/8/layout/vList5"/>
    <dgm:cxn modelId="{3FCE233C-8E4D-4CC4-8C80-B25DBE439224}" type="presParOf" srcId="{C69B8CF0-58A1-4E34-92CA-6B026116F48F}" destId="{BFE02D7C-803B-430D-B4C9-73984D8BE8D0}" srcOrd="1" destOrd="0" presId="urn:microsoft.com/office/officeart/2005/8/layout/vList5"/>
    <dgm:cxn modelId="{EE20E375-923D-4A0A-96F6-E8C7890357BB}" type="presParOf" srcId="{C69B8CF0-58A1-4E34-92CA-6B026116F48F}" destId="{D04F3BD1-DC44-442A-891B-68F40EEC7CB9}" srcOrd="2" destOrd="0" presId="urn:microsoft.com/office/officeart/2005/8/layout/vList5"/>
    <dgm:cxn modelId="{9878A1F5-509C-4B10-9F86-5A441907009B}" type="presParOf" srcId="{D04F3BD1-DC44-442A-891B-68F40EEC7CB9}" destId="{10FC1AEE-40A4-4A4B-88F8-A32A0A97253A}" srcOrd="0" destOrd="0" presId="urn:microsoft.com/office/officeart/2005/8/layout/vList5"/>
    <dgm:cxn modelId="{DD2FF491-A2AF-4F96-94E1-2F2657792EDF}" type="presParOf" srcId="{D04F3BD1-DC44-442A-891B-68F40EEC7CB9}" destId="{620361AE-73C5-4CFA-AE8E-DCBF09608BDD}"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792133B-C933-45D9-A192-46D65CAC37F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73F571FE-55EB-4D9E-8AAD-3CD786391715}">
      <dgm:prSet phldrT="[Text]" custT="1"/>
      <dgm:spPr/>
      <dgm:t>
        <a:bodyPr/>
        <a:lstStyle/>
        <a:p>
          <a:r>
            <a:rPr lang="es-ES" sz="1000" dirty="0">
              <a:latin typeface="Trebuchet MS" panose="020B0603020202020204" pitchFamily="34" charset="0"/>
            </a:rPr>
            <a:t>Granizo</a:t>
          </a:r>
          <a:endParaRPr lang="es-PE" sz="1000" dirty="0">
            <a:latin typeface="Trebuchet MS" panose="020B0603020202020204" pitchFamily="34" charset="0"/>
          </a:endParaRPr>
        </a:p>
      </dgm:t>
    </dgm:pt>
    <dgm:pt modelId="{A0210BF4-400B-4433-8FA2-003B9988C914}" type="parTrans" cxnId="{CA139181-BE82-41EA-95BA-3B120F1A2824}">
      <dgm:prSet/>
      <dgm:spPr/>
      <dgm:t>
        <a:bodyPr/>
        <a:lstStyle/>
        <a:p>
          <a:endParaRPr lang="es-PE">
            <a:latin typeface="Trebuchet MS" panose="020B0603020202020204" pitchFamily="34" charset="0"/>
          </a:endParaRPr>
        </a:p>
      </dgm:t>
    </dgm:pt>
    <dgm:pt modelId="{4EEE26F1-D7EA-4CAE-82F7-305C1DB743D6}" type="sibTrans" cxnId="{CA139181-BE82-41EA-95BA-3B120F1A2824}">
      <dgm:prSet/>
      <dgm:spPr/>
      <dgm:t>
        <a:bodyPr/>
        <a:lstStyle/>
        <a:p>
          <a:endParaRPr lang="es-PE">
            <a:latin typeface="Trebuchet MS" panose="020B0603020202020204" pitchFamily="34" charset="0"/>
          </a:endParaRPr>
        </a:p>
      </dgm:t>
    </dgm:pt>
    <dgm:pt modelId="{744D5461-FC50-41DF-8B7F-EA703BFFE2FD}">
      <dgm:prSet phldrT="[Text]"/>
      <dgm:spPr/>
      <dgm:t>
        <a:bodyPr/>
        <a:lstStyle/>
        <a:p>
          <a:r>
            <a:rPr lang="es-ES" dirty="0">
              <a:latin typeface="Trebuchet MS" panose="020B0603020202020204" pitchFamily="34" charset="0"/>
            </a:rPr>
            <a:t>Riesgos y Peligro de Granizo</a:t>
          </a:r>
          <a:endParaRPr lang="es-PE" dirty="0">
            <a:latin typeface="Trebuchet MS" panose="020B0603020202020204" pitchFamily="34" charset="0"/>
          </a:endParaRPr>
        </a:p>
      </dgm:t>
    </dgm:pt>
    <dgm:pt modelId="{2AE46C10-71B8-4768-B9E1-2824EDE9F4E8}" type="parTrans" cxnId="{5F284A2E-5CED-4538-AB8D-23610C53929D}">
      <dgm:prSet/>
      <dgm:spPr/>
      <dgm:t>
        <a:bodyPr/>
        <a:lstStyle/>
        <a:p>
          <a:endParaRPr lang="es-PE">
            <a:latin typeface="Trebuchet MS" panose="020B0603020202020204" pitchFamily="34" charset="0"/>
          </a:endParaRPr>
        </a:p>
      </dgm:t>
    </dgm:pt>
    <dgm:pt modelId="{C3E6A3D9-65ED-4810-A165-E9903C39AF69}" type="sibTrans" cxnId="{5F284A2E-5CED-4538-AB8D-23610C53929D}">
      <dgm:prSet/>
      <dgm:spPr/>
      <dgm:t>
        <a:bodyPr/>
        <a:lstStyle/>
        <a:p>
          <a:endParaRPr lang="es-PE">
            <a:latin typeface="Trebuchet MS" panose="020B0603020202020204" pitchFamily="34" charset="0"/>
          </a:endParaRPr>
        </a:p>
      </dgm:t>
    </dgm:pt>
    <dgm:pt modelId="{5E98AED8-3C95-46F7-B254-D20ACB081DFA}">
      <dgm:prSet phldrT="[Text]"/>
      <dgm:spPr/>
      <dgm:t>
        <a:bodyPr/>
        <a:lstStyle/>
        <a:p>
          <a:r>
            <a:rPr lang="es-ES" dirty="0">
              <a:latin typeface="Trebuchet MS" panose="020B0603020202020204" pitchFamily="34" charset="0"/>
            </a:rPr>
            <a:t>Riesgo Baja Temperatura</a:t>
          </a:r>
          <a:endParaRPr lang="es-PE" dirty="0">
            <a:latin typeface="Trebuchet MS" panose="020B0603020202020204" pitchFamily="34" charset="0"/>
          </a:endParaRPr>
        </a:p>
      </dgm:t>
    </dgm:pt>
    <dgm:pt modelId="{350942B9-5170-4A96-9EB3-CC2DF528B19A}" type="parTrans" cxnId="{E1EC3847-9EF6-426C-9B3D-18EDE149BB09}">
      <dgm:prSet/>
      <dgm:spPr/>
      <dgm:t>
        <a:bodyPr/>
        <a:lstStyle/>
        <a:p>
          <a:endParaRPr lang="es-PE">
            <a:latin typeface="Trebuchet MS" panose="020B0603020202020204" pitchFamily="34" charset="0"/>
          </a:endParaRPr>
        </a:p>
      </dgm:t>
    </dgm:pt>
    <dgm:pt modelId="{1FDF9F6A-FFF5-43B5-994A-DE5EC9D47587}" type="sibTrans" cxnId="{E1EC3847-9EF6-426C-9B3D-18EDE149BB09}">
      <dgm:prSet/>
      <dgm:spPr/>
      <dgm:t>
        <a:bodyPr/>
        <a:lstStyle/>
        <a:p>
          <a:endParaRPr lang="es-PE">
            <a:latin typeface="Trebuchet MS" panose="020B0603020202020204" pitchFamily="34" charset="0"/>
          </a:endParaRPr>
        </a:p>
      </dgm:t>
    </dgm:pt>
    <dgm:pt modelId="{906BDFB2-E9C4-4832-97A1-1C178FB39066}">
      <dgm:prSet phldrT="[Text]" custT="1"/>
      <dgm:spPr/>
      <dgm:t>
        <a:bodyPr/>
        <a:lstStyle/>
        <a:p>
          <a:r>
            <a:rPr lang="es-ES" sz="1000" dirty="0">
              <a:latin typeface="Trebuchet MS" panose="020B0603020202020204" pitchFamily="34" charset="0"/>
            </a:rPr>
            <a:t>Incendios</a:t>
          </a:r>
          <a:endParaRPr lang="es-PE" sz="1000" dirty="0">
            <a:latin typeface="Trebuchet MS" panose="020B0603020202020204" pitchFamily="34" charset="0"/>
          </a:endParaRPr>
        </a:p>
      </dgm:t>
    </dgm:pt>
    <dgm:pt modelId="{20A80FBE-385C-49F1-9627-41A5903ACB2B}" type="parTrans" cxnId="{3B7EB8FE-9266-4F16-9BD4-D839690E2C2D}">
      <dgm:prSet/>
      <dgm:spPr/>
      <dgm:t>
        <a:bodyPr/>
        <a:lstStyle/>
        <a:p>
          <a:endParaRPr lang="es-PE">
            <a:latin typeface="Trebuchet MS" panose="020B0603020202020204" pitchFamily="34" charset="0"/>
          </a:endParaRPr>
        </a:p>
      </dgm:t>
    </dgm:pt>
    <dgm:pt modelId="{11183020-D31E-47C4-B3E7-9E45FD227094}" type="sibTrans" cxnId="{3B7EB8FE-9266-4F16-9BD4-D839690E2C2D}">
      <dgm:prSet/>
      <dgm:spPr/>
      <dgm:t>
        <a:bodyPr/>
        <a:lstStyle/>
        <a:p>
          <a:endParaRPr lang="es-PE">
            <a:latin typeface="Trebuchet MS" panose="020B0603020202020204" pitchFamily="34" charset="0"/>
          </a:endParaRPr>
        </a:p>
      </dgm:t>
    </dgm:pt>
    <dgm:pt modelId="{CF3DE80D-B045-4BD7-97A7-670B807DD614}">
      <dgm:prSet phldrT="[Text]"/>
      <dgm:spPr/>
      <dgm:t>
        <a:bodyPr/>
        <a:lstStyle/>
        <a:p>
          <a:r>
            <a:rPr lang="es-ES" dirty="0">
              <a:latin typeface="Trebuchet MS" panose="020B0603020202020204" pitchFamily="34" charset="0"/>
            </a:rPr>
            <a:t>Duración</a:t>
          </a:r>
          <a:endParaRPr lang="es-PE" dirty="0">
            <a:latin typeface="Trebuchet MS" panose="020B0603020202020204" pitchFamily="34" charset="0"/>
          </a:endParaRPr>
        </a:p>
      </dgm:t>
    </dgm:pt>
    <dgm:pt modelId="{101EA5D2-9E28-40DE-9CAF-D76434FEB1B4}" type="parTrans" cxnId="{E87A8D34-8F4C-431E-9162-556DB428ACF7}">
      <dgm:prSet/>
      <dgm:spPr/>
      <dgm:t>
        <a:bodyPr/>
        <a:lstStyle/>
        <a:p>
          <a:endParaRPr lang="es-PE">
            <a:latin typeface="Trebuchet MS" panose="020B0603020202020204" pitchFamily="34" charset="0"/>
          </a:endParaRPr>
        </a:p>
      </dgm:t>
    </dgm:pt>
    <dgm:pt modelId="{2A9295A0-046F-4782-BC86-B59239AA0405}" type="sibTrans" cxnId="{E87A8D34-8F4C-431E-9162-556DB428ACF7}">
      <dgm:prSet/>
      <dgm:spPr/>
      <dgm:t>
        <a:bodyPr/>
        <a:lstStyle/>
        <a:p>
          <a:endParaRPr lang="es-PE">
            <a:latin typeface="Trebuchet MS" panose="020B0603020202020204" pitchFamily="34" charset="0"/>
          </a:endParaRPr>
        </a:p>
      </dgm:t>
    </dgm:pt>
    <dgm:pt modelId="{1145D775-C04A-402C-93A2-97E6AE9109F1}">
      <dgm:prSet phldrT="[Text]"/>
      <dgm:spPr/>
      <dgm:t>
        <a:bodyPr/>
        <a:lstStyle/>
        <a:p>
          <a:r>
            <a:rPr lang="es-ES" dirty="0">
              <a:latin typeface="Trebuchet MS" panose="020B0603020202020204" pitchFamily="34" charset="0"/>
            </a:rPr>
            <a:t>Clasificación de Incendios</a:t>
          </a:r>
          <a:endParaRPr lang="es-PE" dirty="0">
            <a:latin typeface="Trebuchet MS" panose="020B0603020202020204" pitchFamily="34" charset="0"/>
          </a:endParaRPr>
        </a:p>
      </dgm:t>
    </dgm:pt>
    <dgm:pt modelId="{17F8DC3D-B782-4146-ACC6-3B1FBCA94FFF}" type="parTrans" cxnId="{FB0A657D-41B9-4B67-95FB-B6AD9498F23C}">
      <dgm:prSet/>
      <dgm:spPr/>
      <dgm:t>
        <a:bodyPr/>
        <a:lstStyle/>
        <a:p>
          <a:endParaRPr lang="es-PE">
            <a:latin typeface="Trebuchet MS" panose="020B0603020202020204" pitchFamily="34" charset="0"/>
          </a:endParaRPr>
        </a:p>
      </dgm:t>
    </dgm:pt>
    <dgm:pt modelId="{A5D62E6E-C4AB-4E0C-BB9C-B30AD34E2DB2}" type="sibTrans" cxnId="{FB0A657D-41B9-4B67-95FB-B6AD9498F23C}">
      <dgm:prSet/>
      <dgm:spPr/>
      <dgm:t>
        <a:bodyPr/>
        <a:lstStyle/>
        <a:p>
          <a:endParaRPr lang="es-PE">
            <a:latin typeface="Trebuchet MS" panose="020B0603020202020204" pitchFamily="34" charset="0"/>
          </a:endParaRPr>
        </a:p>
      </dgm:t>
    </dgm:pt>
    <dgm:pt modelId="{C69B8CF0-58A1-4E34-92CA-6B026116F48F}" type="pres">
      <dgm:prSet presAssocID="{9792133B-C933-45D9-A192-46D65CAC37FC}" presName="Name0" presStyleCnt="0">
        <dgm:presLayoutVars>
          <dgm:dir/>
          <dgm:animLvl val="lvl"/>
          <dgm:resizeHandles val="exact"/>
        </dgm:presLayoutVars>
      </dgm:prSet>
      <dgm:spPr/>
    </dgm:pt>
    <dgm:pt modelId="{69303AFA-90C4-4C82-AF47-095D79EBEFC1}" type="pres">
      <dgm:prSet presAssocID="{73F571FE-55EB-4D9E-8AAD-3CD786391715}" presName="linNode" presStyleCnt="0"/>
      <dgm:spPr/>
    </dgm:pt>
    <dgm:pt modelId="{C460FCF8-8DF7-43CA-A399-0D197C058604}" type="pres">
      <dgm:prSet presAssocID="{73F571FE-55EB-4D9E-8AAD-3CD786391715}" presName="parentText" presStyleLbl="node1" presStyleIdx="0" presStyleCnt="2" custLinFactNeighborX="-4288">
        <dgm:presLayoutVars>
          <dgm:chMax val="1"/>
          <dgm:bulletEnabled val="1"/>
        </dgm:presLayoutVars>
      </dgm:prSet>
      <dgm:spPr/>
    </dgm:pt>
    <dgm:pt modelId="{AA77391F-9A36-44AD-A9AC-906EFCF7A388}" type="pres">
      <dgm:prSet presAssocID="{73F571FE-55EB-4D9E-8AAD-3CD786391715}" presName="descendantText" presStyleLbl="alignAccFollowNode1" presStyleIdx="0" presStyleCnt="2" custLinFactNeighborX="8961">
        <dgm:presLayoutVars>
          <dgm:bulletEnabled val="1"/>
        </dgm:presLayoutVars>
      </dgm:prSet>
      <dgm:spPr/>
    </dgm:pt>
    <dgm:pt modelId="{BFE02D7C-803B-430D-B4C9-73984D8BE8D0}" type="pres">
      <dgm:prSet presAssocID="{4EEE26F1-D7EA-4CAE-82F7-305C1DB743D6}" presName="sp" presStyleCnt="0"/>
      <dgm:spPr/>
    </dgm:pt>
    <dgm:pt modelId="{D04F3BD1-DC44-442A-891B-68F40EEC7CB9}" type="pres">
      <dgm:prSet presAssocID="{906BDFB2-E9C4-4832-97A1-1C178FB39066}" presName="linNode" presStyleCnt="0"/>
      <dgm:spPr/>
    </dgm:pt>
    <dgm:pt modelId="{10FC1AEE-40A4-4A4B-88F8-A32A0A97253A}" type="pres">
      <dgm:prSet presAssocID="{906BDFB2-E9C4-4832-97A1-1C178FB39066}" presName="parentText" presStyleLbl="node1" presStyleIdx="1" presStyleCnt="2">
        <dgm:presLayoutVars>
          <dgm:chMax val="1"/>
          <dgm:bulletEnabled val="1"/>
        </dgm:presLayoutVars>
      </dgm:prSet>
      <dgm:spPr/>
    </dgm:pt>
    <dgm:pt modelId="{620361AE-73C5-4CFA-AE8E-DCBF09608BDD}" type="pres">
      <dgm:prSet presAssocID="{906BDFB2-E9C4-4832-97A1-1C178FB39066}" presName="descendantText" presStyleLbl="alignAccFollowNode1" presStyleIdx="1" presStyleCnt="2">
        <dgm:presLayoutVars>
          <dgm:bulletEnabled val="1"/>
        </dgm:presLayoutVars>
      </dgm:prSet>
      <dgm:spPr/>
    </dgm:pt>
  </dgm:ptLst>
  <dgm:cxnLst>
    <dgm:cxn modelId="{8B236C0B-6B7D-4479-904D-DFCADF1889F6}" type="presOf" srcId="{1145D775-C04A-402C-93A2-97E6AE9109F1}" destId="{620361AE-73C5-4CFA-AE8E-DCBF09608BDD}" srcOrd="0" destOrd="1" presId="urn:microsoft.com/office/officeart/2005/8/layout/vList5"/>
    <dgm:cxn modelId="{5F284A2E-5CED-4538-AB8D-23610C53929D}" srcId="{73F571FE-55EB-4D9E-8AAD-3CD786391715}" destId="{744D5461-FC50-41DF-8B7F-EA703BFFE2FD}" srcOrd="0" destOrd="0" parTransId="{2AE46C10-71B8-4768-B9E1-2824EDE9F4E8}" sibTransId="{C3E6A3D9-65ED-4810-A165-E9903C39AF69}"/>
    <dgm:cxn modelId="{E87A8D34-8F4C-431E-9162-556DB428ACF7}" srcId="{906BDFB2-E9C4-4832-97A1-1C178FB39066}" destId="{CF3DE80D-B045-4BD7-97A7-670B807DD614}" srcOrd="0" destOrd="0" parTransId="{101EA5D2-9E28-40DE-9CAF-D76434FEB1B4}" sibTransId="{2A9295A0-046F-4782-BC86-B59239AA0405}"/>
    <dgm:cxn modelId="{D9166F62-D1B9-485A-A6AD-716FE4330EFC}" type="presOf" srcId="{73F571FE-55EB-4D9E-8AAD-3CD786391715}" destId="{C460FCF8-8DF7-43CA-A399-0D197C058604}" srcOrd="0" destOrd="0" presId="urn:microsoft.com/office/officeart/2005/8/layout/vList5"/>
    <dgm:cxn modelId="{E1EC3847-9EF6-426C-9B3D-18EDE149BB09}" srcId="{73F571FE-55EB-4D9E-8AAD-3CD786391715}" destId="{5E98AED8-3C95-46F7-B254-D20ACB081DFA}" srcOrd="1" destOrd="0" parTransId="{350942B9-5170-4A96-9EB3-CC2DF528B19A}" sibTransId="{1FDF9F6A-FFF5-43B5-994A-DE5EC9D47587}"/>
    <dgm:cxn modelId="{D7A79469-AABE-46F1-BAFF-25B137F30B12}" type="presOf" srcId="{5E98AED8-3C95-46F7-B254-D20ACB081DFA}" destId="{AA77391F-9A36-44AD-A9AC-906EFCF7A388}" srcOrd="0" destOrd="1" presId="urn:microsoft.com/office/officeart/2005/8/layout/vList5"/>
    <dgm:cxn modelId="{FB0A657D-41B9-4B67-95FB-B6AD9498F23C}" srcId="{906BDFB2-E9C4-4832-97A1-1C178FB39066}" destId="{1145D775-C04A-402C-93A2-97E6AE9109F1}" srcOrd="1" destOrd="0" parTransId="{17F8DC3D-B782-4146-ACC6-3B1FBCA94FFF}" sibTransId="{A5D62E6E-C4AB-4E0C-BB9C-B30AD34E2DB2}"/>
    <dgm:cxn modelId="{CA139181-BE82-41EA-95BA-3B120F1A2824}" srcId="{9792133B-C933-45D9-A192-46D65CAC37FC}" destId="{73F571FE-55EB-4D9E-8AAD-3CD786391715}" srcOrd="0" destOrd="0" parTransId="{A0210BF4-400B-4433-8FA2-003B9988C914}" sibTransId="{4EEE26F1-D7EA-4CAE-82F7-305C1DB743D6}"/>
    <dgm:cxn modelId="{6B496E8F-1433-4FCB-8CBA-14E297C302FB}" type="presOf" srcId="{CF3DE80D-B045-4BD7-97A7-670B807DD614}" destId="{620361AE-73C5-4CFA-AE8E-DCBF09608BDD}" srcOrd="0" destOrd="0" presId="urn:microsoft.com/office/officeart/2005/8/layout/vList5"/>
    <dgm:cxn modelId="{4CF4B7E2-6B0A-421B-BF6E-F76B4A79A7CE}" type="presOf" srcId="{906BDFB2-E9C4-4832-97A1-1C178FB39066}" destId="{10FC1AEE-40A4-4A4B-88F8-A32A0A97253A}" srcOrd="0" destOrd="0" presId="urn:microsoft.com/office/officeart/2005/8/layout/vList5"/>
    <dgm:cxn modelId="{BE529BF6-6D62-4238-AD0D-6609DF0F2224}" type="presOf" srcId="{744D5461-FC50-41DF-8B7F-EA703BFFE2FD}" destId="{AA77391F-9A36-44AD-A9AC-906EFCF7A388}" srcOrd="0" destOrd="0" presId="urn:microsoft.com/office/officeart/2005/8/layout/vList5"/>
    <dgm:cxn modelId="{3B7EB8FE-9266-4F16-9BD4-D839690E2C2D}" srcId="{9792133B-C933-45D9-A192-46D65CAC37FC}" destId="{906BDFB2-E9C4-4832-97A1-1C178FB39066}" srcOrd="1" destOrd="0" parTransId="{20A80FBE-385C-49F1-9627-41A5903ACB2B}" sibTransId="{11183020-D31E-47C4-B3E7-9E45FD227094}"/>
    <dgm:cxn modelId="{AFC7EFFF-7250-41BC-8E23-278173887515}" type="presOf" srcId="{9792133B-C933-45D9-A192-46D65CAC37FC}" destId="{C69B8CF0-58A1-4E34-92CA-6B026116F48F}" srcOrd="0" destOrd="0" presId="urn:microsoft.com/office/officeart/2005/8/layout/vList5"/>
    <dgm:cxn modelId="{87E4CDBE-3BD2-4C01-BC6E-35FF9348DE4C}" type="presParOf" srcId="{C69B8CF0-58A1-4E34-92CA-6B026116F48F}" destId="{69303AFA-90C4-4C82-AF47-095D79EBEFC1}" srcOrd="0" destOrd="0" presId="urn:microsoft.com/office/officeart/2005/8/layout/vList5"/>
    <dgm:cxn modelId="{3185BC08-201B-4F2F-83AA-B049C236C535}" type="presParOf" srcId="{69303AFA-90C4-4C82-AF47-095D79EBEFC1}" destId="{C460FCF8-8DF7-43CA-A399-0D197C058604}" srcOrd="0" destOrd="0" presId="urn:microsoft.com/office/officeart/2005/8/layout/vList5"/>
    <dgm:cxn modelId="{8F328EAD-2696-428C-A8A0-739863935BFF}" type="presParOf" srcId="{69303AFA-90C4-4C82-AF47-095D79EBEFC1}" destId="{AA77391F-9A36-44AD-A9AC-906EFCF7A388}" srcOrd="1" destOrd="0" presId="urn:microsoft.com/office/officeart/2005/8/layout/vList5"/>
    <dgm:cxn modelId="{3FCE233C-8E4D-4CC4-8C80-B25DBE439224}" type="presParOf" srcId="{C69B8CF0-58A1-4E34-92CA-6B026116F48F}" destId="{BFE02D7C-803B-430D-B4C9-73984D8BE8D0}" srcOrd="1" destOrd="0" presId="urn:microsoft.com/office/officeart/2005/8/layout/vList5"/>
    <dgm:cxn modelId="{EE20E375-923D-4A0A-96F6-E8C7890357BB}" type="presParOf" srcId="{C69B8CF0-58A1-4E34-92CA-6B026116F48F}" destId="{D04F3BD1-DC44-442A-891B-68F40EEC7CB9}" srcOrd="2" destOrd="0" presId="urn:microsoft.com/office/officeart/2005/8/layout/vList5"/>
    <dgm:cxn modelId="{9878A1F5-509C-4B10-9F86-5A441907009B}" type="presParOf" srcId="{D04F3BD1-DC44-442A-891B-68F40EEC7CB9}" destId="{10FC1AEE-40A4-4A4B-88F8-A32A0A97253A}" srcOrd="0" destOrd="0" presId="urn:microsoft.com/office/officeart/2005/8/layout/vList5"/>
    <dgm:cxn modelId="{DD2FF491-A2AF-4F96-94E1-2F2657792EDF}" type="presParOf" srcId="{D04F3BD1-DC44-442A-891B-68F40EEC7CB9}" destId="{620361AE-73C5-4CFA-AE8E-DCBF09608BDD}"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EB04C78-FE9C-4E42-A0BC-10925CF72B61}" type="doc">
      <dgm:prSet loTypeId="urn:microsoft.com/office/officeart/2009/3/layout/CircleRelationship" loCatId="relationship" qsTypeId="urn:microsoft.com/office/officeart/2005/8/quickstyle/simple1" qsCatId="simple" csTypeId="urn:microsoft.com/office/officeart/2005/8/colors/accent1_2" csCatId="accent1" phldr="1"/>
      <dgm:spPr/>
      <dgm:t>
        <a:bodyPr/>
        <a:lstStyle/>
        <a:p>
          <a:endParaRPr lang="es-PE"/>
        </a:p>
      </dgm:t>
    </dgm:pt>
    <dgm:pt modelId="{EB7DB49E-C53C-4BE8-A668-32A6DC0A8B1F}">
      <dgm:prSet phldrT="[Text]" custT="1"/>
      <dgm:spPr>
        <a:solidFill>
          <a:schemeClr val="accent1"/>
        </a:solidFill>
      </dgm:spPr>
      <dgm:t>
        <a:bodyPr/>
        <a:lstStyle/>
        <a:p>
          <a:r>
            <a:rPr lang="es-ES" sz="900" b="1" dirty="0">
              <a:latin typeface="Trebuchet MS" panose="020B0603020202020204" pitchFamily="34" charset="0"/>
            </a:rPr>
            <a:t>Pérdida Esperada</a:t>
          </a:r>
          <a:endParaRPr lang="es-PE" sz="900" b="1" dirty="0">
            <a:latin typeface="Trebuchet MS" panose="020B0603020202020204" pitchFamily="34" charset="0"/>
          </a:endParaRPr>
        </a:p>
      </dgm:t>
    </dgm:pt>
    <dgm:pt modelId="{4B034458-C0B2-4011-A5BA-45B1BE0DF8D2}" type="parTrans" cxnId="{95C2AFD2-E249-4A97-B85C-6BEA2C2773CE}">
      <dgm:prSet/>
      <dgm:spPr/>
      <dgm:t>
        <a:bodyPr/>
        <a:lstStyle/>
        <a:p>
          <a:endParaRPr lang="es-PE"/>
        </a:p>
      </dgm:t>
    </dgm:pt>
    <dgm:pt modelId="{36A78BD5-A5B6-4761-9EBD-2950081AF113}" type="sibTrans" cxnId="{95C2AFD2-E249-4A97-B85C-6BEA2C2773CE}">
      <dgm:prSet/>
      <dgm:spPr/>
      <dgm:t>
        <a:bodyPr/>
        <a:lstStyle/>
        <a:p>
          <a:endParaRPr lang="es-PE"/>
        </a:p>
      </dgm:t>
    </dgm:pt>
    <dgm:pt modelId="{9FA68B71-41FC-4C25-B100-24DD2EDDD4D6}">
      <dgm:prSet phldrT="[Text]" custT="1"/>
      <dgm:spPr>
        <a:solidFill>
          <a:srgbClr val="D2DFE9"/>
        </a:solidFill>
      </dgm:spPr>
      <dgm:t>
        <a:bodyPr/>
        <a:lstStyle/>
        <a:p>
          <a:r>
            <a:rPr lang="es-ES" sz="900" b="1" dirty="0">
              <a:solidFill>
                <a:schemeClr val="tx1"/>
              </a:solidFill>
              <a:latin typeface="Trebuchet MS" panose="020B0603020202020204" pitchFamily="34" charset="0"/>
            </a:rPr>
            <a:t>Severidad</a:t>
          </a:r>
          <a:endParaRPr lang="es-PE" sz="900" b="1" dirty="0">
            <a:solidFill>
              <a:schemeClr val="tx1"/>
            </a:solidFill>
            <a:latin typeface="Trebuchet MS" panose="020B0603020202020204" pitchFamily="34" charset="0"/>
          </a:endParaRPr>
        </a:p>
      </dgm:t>
    </dgm:pt>
    <dgm:pt modelId="{1DFE9DEC-CF4F-4555-8E03-EB643B4B189E}" type="parTrans" cxnId="{BD75759C-CC2B-41E3-B41D-C065CB37C7F3}">
      <dgm:prSet/>
      <dgm:spPr/>
      <dgm:t>
        <a:bodyPr/>
        <a:lstStyle/>
        <a:p>
          <a:endParaRPr lang="es-PE"/>
        </a:p>
      </dgm:t>
    </dgm:pt>
    <dgm:pt modelId="{7415A4FA-75DA-42D6-B041-0D0D5B3ABB26}" type="sibTrans" cxnId="{BD75759C-CC2B-41E3-B41D-C065CB37C7F3}">
      <dgm:prSet/>
      <dgm:spPr/>
      <dgm:t>
        <a:bodyPr/>
        <a:lstStyle/>
        <a:p>
          <a:endParaRPr lang="es-PE"/>
        </a:p>
      </dgm:t>
    </dgm:pt>
    <dgm:pt modelId="{0C56CCAE-FAF1-448D-8FB4-2E8BAFEC081E}">
      <dgm:prSet phldrT="[Text]" custT="1"/>
      <dgm:spPr>
        <a:solidFill>
          <a:srgbClr val="D2DFE9"/>
        </a:solidFill>
      </dgm:spPr>
      <dgm:t>
        <a:bodyPr/>
        <a:lstStyle/>
        <a:p>
          <a:r>
            <a:rPr lang="es-ES" sz="900" b="1" dirty="0">
              <a:solidFill>
                <a:schemeClr val="tx1"/>
              </a:solidFill>
              <a:latin typeface="Trebuchet MS" panose="020B0603020202020204" pitchFamily="34" charset="0"/>
            </a:rPr>
            <a:t>Probabilidad</a:t>
          </a:r>
          <a:endParaRPr lang="es-PE" sz="900" b="1" dirty="0">
            <a:solidFill>
              <a:schemeClr val="tx1"/>
            </a:solidFill>
            <a:latin typeface="Trebuchet MS" panose="020B0603020202020204" pitchFamily="34" charset="0"/>
          </a:endParaRPr>
        </a:p>
      </dgm:t>
    </dgm:pt>
    <dgm:pt modelId="{5BA5F6EC-BDD4-491A-8803-078D5F95F8F0}" type="parTrans" cxnId="{50FE213F-A121-49AF-9A6A-480396E65129}">
      <dgm:prSet/>
      <dgm:spPr/>
      <dgm:t>
        <a:bodyPr/>
        <a:lstStyle/>
        <a:p>
          <a:endParaRPr lang="es-PE"/>
        </a:p>
      </dgm:t>
    </dgm:pt>
    <dgm:pt modelId="{8C0AD270-0471-4255-A017-4514248B07D1}" type="sibTrans" cxnId="{50FE213F-A121-49AF-9A6A-480396E65129}">
      <dgm:prSet/>
      <dgm:spPr/>
      <dgm:t>
        <a:bodyPr/>
        <a:lstStyle/>
        <a:p>
          <a:endParaRPr lang="es-PE"/>
        </a:p>
      </dgm:t>
    </dgm:pt>
    <dgm:pt modelId="{C7B9C211-C895-4077-B33B-42F746488DA2}">
      <dgm:prSet phldrT="[Text]" custT="1"/>
      <dgm:spPr>
        <a:solidFill>
          <a:srgbClr val="D2DFE9"/>
        </a:solidFill>
      </dgm:spPr>
      <dgm:t>
        <a:bodyPr/>
        <a:lstStyle/>
        <a:p>
          <a:r>
            <a:rPr lang="es-ES" sz="900" b="1" dirty="0">
              <a:solidFill>
                <a:schemeClr val="tx1"/>
              </a:solidFill>
              <a:latin typeface="Trebuchet MS" panose="020B0603020202020204" pitchFamily="34" charset="0"/>
            </a:rPr>
            <a:t>Exposición por Emisor</a:t>
          </a:r>
          <a:endParaRPr lang="es-PE" sz="900" b="1" dirty="0">
            <a:solidFill>
              <a:schemeClr val="tx1"/>
            </a:solidFill>
            <a:latin typeface="Trebuchet MS" panose="020B0603020202020204" pitchFamily="34" charset="0"/>
          </a:endParaRPr>
        </a:p>
      </dgm:t>
    </dgm:pt>
    <dgm:pt modelId="{B3538F8F-D53A-4686-A105-4D2519B75F4D}" type="parTrans" cxnId="{84246690-9B67-40A0-A147-FD42BF7670C6}">
      <dgm:prSet/>
      <dgm:spPr/>
      <dgm:t>
        <a:bodyPr/>
        <a:lstStyle/>
        <a:p>
          <a:endParaRPr lang="es-PE"/>
        </a:p>
      </dgm:t>
    </dgm:pt>
    <dgm:pt modelId="{0AE7D424-36AE-49DA-9D7D-AEDACFD21D29}" type="sibTrans" cxnId="{84246690-9B67-40A0-A147-FD42BF7670C6}">
      <dgm:prSet/>
      <dgm:spPr/>
      <dgm:t>
        <a:bodyPr/>
        <a:lstStyle/>
        <a:p>
          <a:endParaRPr lang="es-PE"/>
        </a:p>
      </dgm:t>
    </dgm:pt>
    <dgm:pt modelId="{F12FEC96-DF0A-45A0-AA2A-7C0A3F6A34E2}" type="pres">
      <dgm:prSet presAssocID="{5EB04C78-FE9C-4E42-A0BC-10925CF72B61}" presName="Name0" presStyleCnt="0">
        <dgm:presLayoutVars>
          <dgm:chMax val="1"/>
          <dgm:chPref val="1"/>
        </dgm:presLayoutVars>
      </dgm:prSet>
      <dgm:spPr/>
    </dgm:pt>
    <dgm:pt modelId="{552DF397-2F79-495C-831E-BBEA51F215F7}" type="pres">
      <dgm:prSet presAssocID="{EB7DB49E-C53C-4BE8-A668-32A6DC0A8B1F}" presName="Parent" presStyleLbl="node0" presStyleIdx="0" presStyleCnt="1">
        <dgm:presLayoutVars>
          <dgm:chMax val="5"/>
          <dgm:chPref val="5"/>
        </dgm:presLayoutVars>
      </dgm:prSet>
      <dgm:spPr/>
    </dgm:pt>
    <dgm:pt modelId="{8FF32402-E029-4BBC-9F7D-8993B60858F8}" type="pres">
      <dgm:prSet presAssocID="{EB7DB49E-C53C-4BE8-A668-32A6DC0A8B1F}" presName="Accent1" presStyleLbl="node1" presStyleIdx="0" presStyleCnt="15"/>
      <dgm:spPr>
        <a:noFill/>
        <a:ln>
          <a:noFill/>
        </a:ln>
      </dgm:spPr>
    </dgm:pt>
    <dgm:pt modelId="{F17C70B0-FECB-45FE-9A08-F587DA13202A}" type="pres">
      <dgm:prSet presAssocID="{EB7DB49E-C53C-4BE8-A668-32A6DC0A8B1F}" presName="Accent2" presStyleLbl="node1" presStyleIdx="1" presStyleCnt="15"/>
      <dgm:spPr>
        <a:noFill/>
        <a:ln>
          <a:noFill/>
        </a:ln>
      </dgm:spPr>
    </dgm:pt>
    <dgm:pt modelId="{20327291-673D-44BF-B242-4B2D673AC46A}" type="pres">
      <dgm:prSet presAssocID="{EB7DB49E-C53C-4BE8-A668-32A6DC0A8B1F}" presName="Accent3" presStyleLbl="node1" presStyleIdx="2" presStyleCnt="15"/>
      <dgm:spPr>
        <a:noFill/>
        <a:ln>
          <a:noFill/>
        </a:ln>
      </dgm:spPr>
    </dgm:pt>
    <dgm:pt modelId="{26728689-AD0C-4308-A111-3032BBFAAED3}" type="pres">
      <dgm:prSet presAssocID="{EB7DB49E-C53C-4BE8-A668-32A6DC0A8B1F}" presName="Accent4" presStyleLbl="node1" presStyleIdx="3" presStyleCnt="15"/>
      <dgm:spPr>
        <a:noFill/>
      </dgm:spPr>
    </dgm:pt>
    <dgm:pt modelId="{DA0F33B0-47CC-4341-A4F7-7D86582C728F}" type="pres">
      <dgm:prSet presAssocID="{EB7DB49E-C53C-4BE8-A668-32A6DC0A8B1F}" presName="Accent5" presStyleLbl="node1" presStyleIdx="4" presStyleCnt="15"/>
      <dgm:spPr>
        <a:noFill/>
        <a:ln>
          <a:noFill/>
        </a:ln>
      </dgm:spPr>
    </dgm:pt>
    <dgm:pt modelId="{860A06AF-54B6-49D2-85F6-913751537F67}" type="pres">
      <dgm:prSet presAssocID="{EB7DB49E-C53C-4BE8-A668-32A6DC0A8B1F}" presName="Accent6" presStyleLbl="node1" presStyleIdx="5" presStyleCnt="15"/>
      <dgm:spPr>
        <a:noFill/>
        <a:ln>
          <a:noFill/>
        </a:ln>
      </dgm:spPr>
    </dgm:pt>
    <dgm:pt modelId="{CB774ED0-0187-47EA-AFC1-8CA0A824BB9A}" type="pres">
      <dgm:prSet presAssocID="{9FA68B71-41FC-4C25-B100-24DD2EDDD4D6}" presName="Child1" presStyleLbl="node1" presStyleIdx="6" presStyleCnt="15" custScaleX="224682" custScaleY="150272" custLinFactNeighborY="-48157">
        <dgm:presLayoutVars>
          <dgm:chMax val="0"/>
          <dgm:chPref val="0"/>
        </dgm:presLayoutVars>
      </dgm:prSet>
      <dgm:spPr/>
    </dgm:pt>
    <dgm:pt modelId="{BFF46C20-3963-4A25-BAE7-2F5CA96B7B73}" type="pres">
      <dgm:prSet presAssocID="{9FA68B71-41FC-4C25-B100-24DD2EDDD4D6}" presName="Accent7" presStyleCnt="0"/>
      <dgm:spPr/>
    </dgm:pt>
    <dgm:pt modelId="{1D2099ED-CB66-4A8F-BD94-5CFF30005B83}" type="pres">
      <dgm:prSet presAssocID="{9FA68B71-41FC-4C25-B100-24DD2EDDD4D6}" presName="AccentHold1" presStyleLbl="node1" presStyleIdx="7" presStyleCnt="15"/>
      <dgm:spPr>
        <a:noFill/>
        <a:ln>
          <a:noFill/>
        </a:ln>
      </dgm:spPr>
    </dgm:pt>
    <dgm:pt modelId="{A408F77F-7613-4B96-B194-EC6CC0525AFB}" type="pres">
      <dgm:prSet presAssocID="{9FA68B71-41FC-4C25-B100-24DD2EDDD4D6}" presName="Accent8" presStyleCnt="0"/>
      <dgm:spPr/>
    </dgm:pt>
    <dgm:pt modelId="{EF453723-B0CA-4D57-8447-29069B06AE53}" type="pres">
      <dgm:prSet presAssocID="{9FA68B71-41FC-4C25-B100-24DD2EDDD4D6}" presName="AccentHold2" presStyleLbl="node1" presStyleIdx="8" presStyleCnt="15"/>
      <dgm:spPr>
        <a:noFill/>
      </dgm:spPr>
    </dgm:pt>
    <dgm:pt modelId="{4F008157-CED5-49EE-A3E3-05A52B43C7D5}" type="pres">
      <dgm:prSet presAssocID="{0C56CCAE-FAF1-448D-8FB4-2E8BAFEC081E}" presName="Child2" presStyleLbl="node1" presStyleIdx="9" presStyleCnt="15" custScaleX="234557" custScaleY="160779" custLinFactNeighborX="-64195" custLinFactNeighborY="-44007">
        <dgm:presLayoutVars>
          <dgm:chMax val="0"/>
          <dgm:chPref val="0"/>
        </dgm:presLayoutVars>
      </dgm:prSet>
      <dgm:spPr/>
    </dgm:pt>
    <dgm:pt modelId="{FAB736DA-5EE9-4CD7-B02A-90E2A6804533}" type="pres">
      <dgm:prSet presAssocID="{0C56CCAE-FAF1-448D-8FB4-2E8BAFEC081E}" presName="Accent9" presStyleCnt="0"/>
      <dgm:spPr/>
    </dgm:pt>
    <dgm:pt modelId="{82E441C9-DDC0-4311-98C8-6DFE019994BF}" type="pres">
      <dgm:prSet presAssocID="{0C56CCAE-FAF1-448D-8FB4-2E8BAFEC081E}" presName="AccentHold1" presStyleLbl="node1" presStyleIdx="10" presStyleCnt="15"/>
      <dgm:spPr>
        <a:noFill/>
        <a:ln>
          <a:noFill/>
        </a:ln>
      </dgm:spPr>
    </dgm:pt>
    <dgm:pt modelId="{9963AC3C-EA08-44B1-ADF0-3E2F3257C4F1}" type="pres">
      <dgm:prSet presAssocID="{0C56CCAE-FAF1-448D-8FB4-2E8BAFEC081E}" presName="Accent10" presStyleCnt="0"/>
      <dgm:spPr/>
    </dgm:pt>
    <dgm:pt modelId="{B59623B9-E8D2-4711-8828-70568EE81BCB}" type="pres">
      <dgm:prSet presAssocID="{0C56CCAE-FAF1-448D-8FB4-2E8BAFEC081E}" presName="AccentHold2" presStyleLbl="node1" presStyleIdx="11" presStyleCnt="15"/>
      <dgm:spPr>
        <a:noFill/>
      </dgm:spPr>
    </dgm:pt>
    <dgm:pt modelId="{9F622540-2D81-43EE-ABF5-4C73BE393C67}" type="pres">
      <dgm:prSet presAssocID="{0C56CCAE-FAF1-448D-8FB4-2E8BAFEC081E}" presName="Accent11" presStyleCnt="0"/>
      <dgm:spPr/>
    </dgm:pt>
    <dgm:pt modelId="{C2AF35E8-D3ED-4F22-83E9-338CF0F1B685}" type="pres">
      <dgm:prSet presAssocID="{0C56CCAE-FAF1-448D-8FB4-2E8BAFEC081E}" presName="AccentHold3" presStyleLbl="node1" presStyleIdx="12" presStyleCnt="15"/>
      <dgm:spPr>
        <a:noFill/>
        <a:ln>
          <a:noFill/>
        </a:ln>
      </dgm:spPr>
    </dgm:pt>
    <dgm:pt modelId="{E56B10E1-2751-40DB-86BF-419364E7B38F}" type="pres">
      <dgm:prSet presAssocID="{C7B9C211-C895-4077-B33B-42F746488DA2}" presName="Child3" presStyleLbl="node1" presStyleIdx="13" presStyleCnt="15" custScaleX="209736" custScaleY="132104" custLinFactX="-4427" custLinFactNeighborX="-100000" custLinFactNeighborY="-10162">
        <dgm:presLayoutVars>
          <dgm:chMax val="0"/>
          <dgm:chPref val="0"/>
        </dgm:presLayoutVars>
      </dgm:prSet>
      <dgm:spPr/>
    </dgm:pt>
    <dgm:pt modelId="{AD4D4D51-5D07-42B2-9386-73809554F381}" type="pres">
      <dgm:prSet presAssocID="{C7B9C211-C895-4077-B33B-42F746488DA2}" presName="Accent12" presStyleCnt="0"/>
      <dgm:spPr/>
    </dgm:pt>
    <dgm:pt modelId="{86ECC758-09D8-4B5E-ACBA-388D95E0EF78}" type="pres">
      <dgm:prSet presAssocID="{C7B9C211-C895-4077-B33B-42F746488DA2}" presName="AccentHold1" presStyleLbl="node1" presStyleIdx="14" presStyleCnt="15"/>
      <dgm:spPr>
        <a:noFill/>
        <a:ln>
          <a:noFill/>
        </a:ln>
      </dgm:spPr>
    </dgm:pt>
  </dgm:ptLst>
  <dgm:cxnLst>
    <dgm:cxn modelId="{A0F04505-7DCE-4270-974A-3BF3C01A5A8F}" type="presOf" srcId="{0C56CCAE-FAF1-448D-8FB4-2E8BAFEC081E}" destId="{4F008157-CED5-49EE-A3E3-05A52B43C7D5}" srcOrd="0" destOrd="0" presId="urn:microsoft.com/office/officeart/2009/3/layout/CircleRelationship"/>
    <dgm:cxn modelId="{50FE213F-A121-49AF-9A6A-480396E65129}" srcId="{EB7DB49E-C53C-4BE8-A668-32A6DC0A8B1F}" destId="{0C56CCAE-FAF1-448D-8FB4-2E8BAFEC081E}" srcOrd="1" destOrd="0" parTransId="{5BA5F6EC-BDD4-491A-8803-078D5F95F8F0}" sibTransId="{8C0AD270-0471-4255-A017-4514248B07D1}"/>
    <dgm:cxn modelId="{62E96B6E-488C-4C2F-93B7-E36970E21CEB}" type="presOf" srcId="{C7B9C211-C895-4077-B33B-42F746488DA2}" destId="{E56B10E1-2751-40DB-86BF-419364E7B38F}" srcOrd="0" destOrd="0" presId="urn:microsoft.com/office/officeart/2009/3/layout/CircleRelationship"/>
    <dgm:cxn modelId="{E3DFE473-D7B8-4029-B468-7693A252B1F2}" type="presOf" srcId="{9FA68B71-41FC-4C25-B100-24DD2EDDD4D6}" destId="{CB774ED0-0187-47EA-AFC1-8CA0A824BB9A}" srcOrd="0" destOrd="0" presId="urn:microsoft.com/office/officeart/2009/3/layout/CircleRelationship"/>
    <dgm:cxn modelId="{F6EEEA78-2D22-4534-BBAC-59DC35A7790E}" type="presOf" srcId="{EB7DB49E-C53C-4BE8-A668-32A6DC0A8B1F}" destId="{552DF397-2F79-495C-831E-BBEA51F215F7}" srcOrd="0" destOrd="0" presId="urn:microsoft.com/office/officeart/2009/3/layout/CircleRelationship"/>
    <dgm:cxn modelId="{84246690-9B67-40A0-A147-FD42BF7670C6}" srcId="{EB7DB49E-C53C-4BE8-A668-32A6DC0A8B1F}" destId="{C7B9C211-C895-4077-B33B-42F746488DA2}" srcOrd="2" destOrd="0" parTransId="{B3538F8F-D53A-4686-A105-4D2519B75F4D}" sibTransId="{0AE7D424-36AE-49DA-9D7D-AEDACFD21D29}"/>
    <dgm:cxn modelId="{BD75759C-CC2B-41E3-B41D-C065CB37C7F3}" srcId="{EB7DB49E-C53C-4BE8-A668-32A6DC0A8B1F}" destId="{9FA68B71-41FC-4C25-B100-24DD2EDDD4D6}" srcOrd="0" destOrd="0" parTransId="{1DFE9DEC-CF4F-4555-8E03-EB643B4B189E}" sibTransId="{7415A4FA-75DA-42D6-B041-0D0D5B3ABB26}"/>
    <dgm:cxn modelId="{95C2AFD2-E249-4A97-B85C-6BEA2C2773CE}" srcId="{5EB04C78-FE9C-4E42-A0BC-10925CF72B61}" destId="{EB7DB49E-C53C-4BE8-A668-32A6DC0A8B1F}" srcOrd="0" destOrd="0" parTransId="{4B034458-C0B2-4011-A5BA-45B1BE0DF8D2}" sibTransId="{36A78BD5-A5B6-4761-9EBD-2950081AF113}"/>
    <dgm:cxn modelId="{3BB975F1-723D-47E8-86F9-27FD5F0B8F90}" type="presOf" srcId="{5EB04C78-FE9C-4E42-A0BC-10925CF72B61}" destId="{F12FEC96-DF0A-45A0-AA2A-7C0A3F6A34E2}" srcOrd="0" destOrd="0" presId="urn:microsoft.com/office/officeart/2009/3/layout/CircleRelationship"/>
    <dgm:cxn modelId="{8D41F87E-C5C4-4046-A26B-65D28641571F}" type="presParOf" srcId="{F12FEC96-DF0A-45A0-AA2A-7C0A3F6A34E2}" destId="{552DF397-2F79-495C-831E-BBEA51F215F7}" srcOrd="0" destOrd="0" presId="urn:microsoft.com/office/officeart/2009/3/layout/CircleRelationship"/>
    <dgm:cxn modelId="{A11E5E88-863C-4BF4-BFFF-3828418D17D2}" type="presParOf" srcId="{F12FEC96-DF0A-45A0-AA2A-7C0A3F6A34E2}" destId="{8FF32402-E029-4BBC-9F7D-8993B60858F8}" srcOrd="1" destOrd="0" presId="urn:microsoft.com/office/officeart/2009/3/layout/CircleRelationship"/>
    <dgm:cxn modelId="{04098FE0-5268-4E08-BD7C-94BF3B161CA4}" type="presParOf" srcId="{F12FEC96-DF0A-45A0-AA2A-7C0A3F6A34E2}" destId="{F17C70B0-FECB-45FE-9A08-F587DA13202A}" srcOrd="2" destOrd="0" presId="urn:microsoft.com/office/officeart/2009/3/layout/CircleRelationship"/>
    <dgm:cxn modelId="{F905C13D-C708-4746-B2AC-D733636396A7}" type="presParOf" srcId="{F12FEC96-DF0A-45A0-AA2A-7C0A3F6A34E2}" destId="{20327291-673D-44BF-B242-4B2D673AC46A}" srcOrd="3" destOrd="0" presId="urn:microsoft.com/office/officeart/2009/3/layout/CircleRelationship"/>
    <dgm:cxn modelId="{7D637D86-9030-41C9-83CD-8881BB032043}" type="presParOf" srcId="{F12FEC96-DF0A-45A0-AA2A-7C0A3F6A34E2}" destId="{26728689-AD0C-4308-A111-3032BBFAAED3}" srcOrd="4" destOrd="0" presId="urn:microsoft.com/office/officeart/2009/3/layout/CircleRelationship"/>
    <dgm:cxn modelId="{01A4C203-B9CC-479C-9743-3D77ECD211C6}" type="presParOf" srcId="{F12FEC96-DF0A-45A0-AA2A-7C0A3F6A34E2}" destId="{DA0F33B0-47CC-4341-A4F7-7D86582C728F}" srcOrd="5" destOrd="0" presId="urn:microsoft.com/office/officeart/2009/3/layout/CircleRelationship"/>
    <dgm:cxn modelId="{8760DD00-C60F-4534-9440-D539E175C396}" type="presParOf" srcId="{F12FEC96-DF0A-45A0-AA2A-7C0A3F6A34E2}" destId="{860A06AF-54B6-49D2-85F6-913751537F67}" srcOrd="6" destOrd="0" presId="urn:microsoft.com/office/officeart/2009/3/layout/CircleRelationship"/>
    <dgm:cxn modelId="{9A67D439-440A-4B74-A00E-F6C5A1F956BE}" type="presParOf" srcId="{F12FEC96-DF0A-45A0-AA2A-7C0A3F6A34E2}" destId="{CB774ED0-0187-47EA-AFC1-8CA0A824BB9A}" srcOrd="7" destOrd="0" presId="urn:microsoft.com/office/officeart/2009/3/layout/CircleRelationship"/>
    <dgm:cxn modelId="{47C15CD8-36DD-4E7D-93FF-DB04CDFEB183}" type="presParOf" srcId="{F12FEC96-DF0A-45A0-AA2A-7C0A3F6A34E2}" destId="{BFF46C20-3963-4A25-BAE7-2F5CA96B7B73}" srcOrd="8" destOrd="0" presId="urn:microsoft.com/office/officeart/2009/3/layout/CircleRelationship"/>
    <dgm:cxn modelId="{22E13FAC-83B2-41C2-9E2C-4FC0E0407B7E}" type="presParOf" srcId="{BFF46C20-3963-4A25-BAE7-2F5CA96B7B73}" destId="{1D2099ED-CB66-4A8F-BD94-5CFF30005B83}" srcOrd="0" destOrd="0" presId="urn:microsoft.com/office/officeart/2009/3/layout/CircleRelationship"/>
    <dgm:cxn modelId="{524AF19E-6DC8-4896-9960-E905B6B1D4A5}" type="presParOf" srcId="{F12FEC96-DF0A-45A0-AA2A-7C0A3F6A34E2}" destId="{A408F77F-7613-4B96-B194-EC6CC0525AFB}" srcOrd="9" destOrd="0" presId="urn:microsoft.com/office/officeart/2009/3/layout/CircleRelationship"/>
    <dgm:cxn modelId="{8BB307E0-E77D-4C44-A444-70DB7134316E}" type="presParOf" srcId="{A408F77F-7613-4B96-B194-EC6CC0525AFB}" destId="{EF453723-B0CA-4D57-8447-29069B06AE53}" srcOrd="0" destOrd="0" presId="urn:microsoft.com/office/officeart/2009/3/layout/CircleRelationship"/>
    <dgm:cxn modelId="{A93FF42B-86C2-491B-83B1-87076DB03BC5}" type="presParOf" srcId="{F12FEC96-DF0A-45A0-AA2A-7C0A3F6A34E2}" destId="{4F008157-CED5-49EE-A3E3-05A52B43C7D5}" srcOrd="10" destOrd="0" presId="urn:microsoft.com/office/officeart/2009/3/layout/CircleRelationship"/>
    <dgm:cxn modelId="{4035A769-FE92-46CD-8C17-091A0BA30F58}" type="presParOf" srcId="{F12FEC96-DF0A-45A0-AA2A-7C0A3F6A34E2}" destId="{FAB736DA-5EE9-4CD7-B02A-90E2A6804533}" srcOrd="11" destOrd="0" presId="urn:microsoft.com/office/officeart/2009/3/layout/CircleRelationship"/>
    <dgm:cxn modelId="{B9FB3F38-6BFA-4594-AD9B-E93C15937C06}" type="presParOf" srcId="{FAB736DA-5EE9-4CD7-B02A-90E2A6804533}" destId="{82E441C9-DDC0-4311-98C8-6DFE019994BF}" srcOrd="0" destOrd="0" presId="urn:microsoft.com/office/officeart/2009/3/layout/CircleRelationship"/>
    <dgm:cxn modelId="{6F183D7B-7F0D-4869-9ED4-F7B3D9D43964}" type="presParOf" srcId="{F12FEC96-DF0A-45A0-AA2A-7C0A3F6A34E2}" destId="{9963AC3C-EA08-44B1-ADF0-3E2F3257C4F1}" srcOrd="12" destOrd="0" presId="urn:microsoft.com/office/officeart/2009/3/layout/CircleRelationship"/>
    <dgm:cxn modelId="{CC34EA4D-31FF-4AD2-95EE-B8AAC2674088}" type="presParOf" srcId="{9963AC3C-EA08-44B1-ADF0-3E2F3257C4F1}" destId="{B59623B9-E8D2-4711-8828-70568EE81BCB}" srcOrd="0" destOrd="0" presId="urn:microsoft.com/office/officeart/2009/3/layout/CircleRelationship"/>
    <dgm:cxn modelId="{377C7DEA-A075-4963-8878-AED511213E0C}" type="presParOf" srcId="{F12FEC96-DF0A-45A0-AA2A-7C0A3F6A34E2}" destId="{9F622540-2D81-43EE-ABF5-4C73BE393C67}" srcOrd="13" destOrd="0" presId="urn:microsoft.com/office/officeart/2009/3/layout/CircleRelationship"/>
    <dgm:cxn modelId="{B8EA8597-9E9C-464A-ADA7-09B61F0BC3CC}" type="presParOf" srcId="{9F622540-2D81-43EE-ABF5-4C73BE393C67}" destId="{C2AF35E8-D3ED-4F22-83E9-338CF0F1B685}" srcOrd="0" destOrd="0" presId="urn:microsoft.com/office/officeart/2009/3/layout/CircleRelationship"/>
    <dgm:cxn modelId="{E905B868-0EC0-41C8-BEC7-7E96489853C9}" type="presParOf" srcId="{F12FEC96-DF0A-45A0-AA2A-7C0A3F6A34E2}" destId="{E56B10E1-2751-40DB-86BF-419364E7B38F}" srcOrd="14" destOrd="0" presId="urn:microsoft.com/office/officeart/2009/3/layout/CircleRelationship"/>
    <dgm:cxn modelId="{7B0322B1-5D48-47B5-A65D-F61176173F8D}" type="presParOf" srcId="{F12FEC96-DF0A-45A0-AA2A-7C0A3F6A34E2}" destId="{AD4D4D51-5D07-42B2-9386-73809554F381}" srcOrd="15" destOrd="0" presId="urn:microsoft.com/office/officeart/2009/3/layout/CircleRelationship"/>
    <dgm:cxn modelId="{ADA75E70-9D50-416A-97B2-4C5E7203F4C4}" type="presParOf" srcId="{AD4D4D51-5D07-42B2-9386-73809554F381}" destId="{86ECC758-09D8-4B5E-ACBA-388D95E0EF78}" srcOrd="0" destOrd="0" presId="urn:microsoft.com/office/officeart/2009/3/layout/CircleRelationship"/>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55B8696-080D-4DFB-8CB5-F45124C06AFE}"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s-PE"/>
        </a:p>
      </dgm:t>
    </dgm:pt>
    <dgm:pt modelId="{EC190713-9324-4C92-8F21-43F4677BFAC8}">
      <dgm:prSet phldrT="[Text]" custT="1"/>
      <dgm:spPr/>
      <dgm:t>
        <a:bodyPr/>
        <a:lstStyle/>
        <a:p>
          <a:r>
            <a:rPr lang="es-ES" sz="1200" dirty="0">
              <a:latin typeface="Trebuchet MS" panose="020B0603020202020204" pitchFamily="34" charset="0"/>
            </a:rPr>
            <a:t>Minería</a:t>
          </a:r>
          <a:endParaRPr lang="es-PE" sz="1200" dirty="0">
            <a:latin typeface="Trebuchet MS" panose="020B0603020202020204" pitchFamily="34" charset="0"/>
          </a:endParaRPr>
        </a:p>
      </dgm:t>
    </dgm:pt>
    <dgm:pt modelId="{2237D5D2-6526-41DA-BFE1-D61B0FF7ED92}" type="parTrans" cxnId="{281B7989-3CE7-4AF7-9FBF-5597EFE71E56}">
      <dgm:prSet/>
      <dgm:spPr/>
      <dgm:t>
        <a:bodyPr/>
        <a:lstStyle/>
        <a:p>
          <a:endParaRPr lang="es-PE">
            <a:latin typeface="Trebuchet MS" panose="020B0603020202020204" pitchFamily="34" charset="0"/>
          </a:endParaRPr>
        </a:p>
      </dgm:t>
    </dgm:pt>
    <dgm:pt modelId="{25A82957-211F-4EFC-BD32-20A62BBCD92A}" type="sibTrans" cxnId="{281B7989-3CE7-4AF7-9FBF-5597EFE71E56}">
      <dgm:prSet/>
      <dgm:spPr/>
      <dgm:t>
        <a:bodyPr/>
        <a:lstStyle/>
        <a:p>
          <a:endParaRPr lang="es-PE">
            <a:latin typeface="Trebuchet MS" panose="020B0603020202020204" pitchFamily="34" charset="0"/>
          </a:endParaRPr>
        </a:p>
      </dgm:t>
    </dgm:pt>
    <dgm:pt modelId="{60E4D654-60BC-45E6-AA9A-9C228090C997}">
      <dgm:prSet phldrT="[Text]" custT="1"/>
      <dgm:spPr/>
      <dgm:t>
        <a:bodyPr/>
        <a:lstStyle/>
        <a:p>
          <a:r>
            <a:rPr lang="es-ES" sz="900" dirty="0">
              <a:latin typeface="Trebuchet MS" panose="020B0603020202020204" pitchFamily="34" charset="0"/>
            </a:rPr>
            <a:t>Buenaventura</a:t>
          </a:r>
          <a:endParaRPr lang="es-PE" sz="900" dirty="0">
            <a:latin typeface="Trebuchet MS" panose="020B0603020202020204" pitchFamily="34" charset="0"/>
          </a:endParaRPr>
        </a:p>
      </dgm:t>
    </dgm:pt>
    <dgm:pt modelId="{0281AEE6-1071-435F-A5A5-4976AAE2D43F}" type="parTrans" cxnId="{27D1A48E-DA66-48B5-9708-CD07CA12C14E}">
      <dgm:prSet/>
      <dgm:spPr/>
      <dgm:t>
        <a:bodyPr/>
        <a:lstStyle/>
        <a:p>
          <a:endParaRPr lang="es-PE">
            <a:latin typeface="Trebuchet MS" panose="020B0603020202020204" pitchFamily="34" charset="0"/>
          </a:endParaRPr>
        </a:p>
      </dgm:t>
    </dgm:pt>
    <dgm:pt modelId="{84D64F10-55B5-4C2F-BA9A-52BFB9AC9F26}" type="sibTrans" cxnId="{27D1A48E-DA66-48B5-9708-CD07CA12C14E}">
      <dgm:prSet/>
      <dgm:spPr/>
      <dgm:t>
        <a:bodyPr/>
        <a:lstStyle/>
        <a:p>
          <a:endParaRPr lang="es-PE">
            <a:latin typeface="Trebuchet MS" panose="020B0603020202020204" pitchFamily="34" charset="0"/>
          </a:endParaRPr>
        </a:p>
      </dgm:t>
    </dgm:pt>
    <dgm:pt modelId="{427135E9-5865-4057-9475-2BFB64B8E829}">
      <dgm:prSet phldrT="[Text]" custT="1"/>
      <dgm:spPr/>
      <dgm:t>
        <a:bodyPr/>
        <a:lstStyle/>
        <a:p>
          <a:r>
            <a:rPr lang="es-ES" sz="1200" i="1" dirty="0" err="1">
              <a:latin typeface="Trebuchet MS" panose="020B0603020202020204" pitchFamily="34" charset="0"/>
            </a:rPr>
            <a:t>Utilities</a:t>
          </a:r>
          <a:endParaRPr lang="es-PE" sz="1200" i="1" dirty="0">
            <a:latin typeface="Trebuchet MS" panose="020B0603020202020204" pitchFamily="34" charset="0"/>
          </a:endParaRPr>
        </a:p>
      </dgm:t>
    </dgm:pt>
    <dgm:pt modelId="{4D274D29-FDC7-4A86-838E-572F7B71C96D}" type="parTrans" cxnId="{2929E64C-C234-4B49-A019-17A8CFE60FA7}">
      <dgm:prSet/>
      <dgm:spPr/>
      <dgm:t>
        <a:bodyPr/>
        <a:lstStyle/>
        <a:p>
          <a:endParaRPr lang="es-PE">
            <a:latin typeface="Trebuchet MS" panose="020B0603020202020204" pitchFamily="34" charset="0"/>
          </a:endParaRPr>
        </a:p>
      </dgm:t>
    </dgm:pt>
    <dgm:pt modelId="{34636FF2-DD2A-4D36-93A2-B95A72288D7D}" type="sibTrans" cxnId="{2929E64C-C234-4B49-A019-17A8CFE60FA7}">
      <dgm:prSet/>
      <dgm:spPr/>
      <dgm:t>
        <a:bodyPr/>
        <a:lstStyle/>
        <a:p>
          <a:endParaRPr lang="es-PE">
            <a:latin typeface="Trebuchet MS" panose="020B0603020202020204" pitchFamily="34" charset="0"/>
          </a:endParaRPr>
        </a:p>
      </dgm:t>
    </dgm:pt>
    <dgm:pt modelId="{FD147F7F-00AC-4303-AB78-82AF40C3E9C2}">
      <dgm:prSet phldrT="[Text]" custT="1"/>
      <dgm:spPr/>
      <dgm:t>
        <a:bodyPr/>
        <a:lstStyle/>
        <a:p>
          <a:endParaRPr lang="es-PE" sz="900" dirty="0">
            <a:latin typeface="Trebuchet MS" panose="020B0603020202020204" pitchFamily="34" charset="0"/>
          </a:endParaRPr>
        </a:p>
      </dgm:t>
    </dgm:pt>
    <dgm:pt modelId="{18E8C421-4871-4288-A4E8-AD3A6B7F3ABD}" type="parTrans" cxnId="{810AC09F-F84B-4C8D-BEC9-EC44944EDCB5}">
      <dgm:prSet/>
      <dgm:spPr/>
      <dgm:t>
        <a:bodyPr/>
        <a:lstStyle/>
        <a:p>
          <a:endParaRPr lang="es-PE">
            <a:latin typeface="Trebuchet MS" panose="020B0603020202020204" pitchFamily="34" charset="0"/>
          </a:endParaRPr>
        </a:p>
      </dgm:t>
    </dgm:pt>
    <dgm:pt modelId="{456A414D-9FB5-489B-AB15-04191CB8BE46}" type="sibTrans" cxnId="{810AC09F-F84B-4C8D-BEC9-EC44944EDCB5}">
      <dgm:prSet/>
      <dgm:spPr/>
      <dgm:t>
        <a:bodyPr/>
        <a:lstStyle/>
        <a:p>
          <a:endParaRPr lang="es-PE">
            <a:latin typeface="Trebuchet MS" panose="020B0603020202020204" pitchFamily="34" charset="0"/>
          </a:endParaRPr>
        </a:p>
      </dgm:t>
    </dgm:pt>
    <dgm:pt modelId="{67DBFAF9-B687-459B-B0CE-D9ACC8FFA153}">
      <dgm:prSet phldrT="[Text]" custT="1"/>
      <dgm:spPr/>
      <dgm:t>
        <a:bodyPr/>
        <a:lstStyle/>
        <a:p>
          <a:r>
            <a:rPr lang="es-ES" sz="1200" dirty="0">
              <a:latin typeface="Trebuchet MS" panose="020B0603020202020204" pitchFamily="34" charset="0"/>
            </a:rPr>
            <a:t>Cemento</a:t>
          </a:r>
          <a:endParaRPr lang="es-PE" sz="1200" dirty="0">
            <a:latin typeface="Trebuchet MS" panose="020B0603020202020204" pitchFamily="34" charset="0"/>
          </a:endParaRPr>
        </a:p>
      </dgm:t>
    </dgm:pt>
    <dgm:pt modelId="{75BA8FE6-116A-452E-8C40-D49F47FC2C87}" type="parTrans" cxnId="{AD106AB8-FBE5-4D43-A9F6-23597A470FF5}">
      <dgm:prSet/>
      <dgm:spPr/>
      <dgm:t>
        <a:bodyPr/>
        <a:lstStyle/>
        <a:p>
          <a:endParaRPr lang="es-PE">
            <a:latin typeface="Trebuchet MS" panose="020B0603020202020204" pitchFamily="34" charset="0"/>
          </a:endParaRPr>
        </a:p>
      </dgm:t>
    </dgm:pt>
    <dgm:pt modelId="{0DF50EA9-11D3-430C-BC8F-48D96A656532}" type="sibTrans" cxnId="{AD106AB8-FBE5-4D43-A9F6-23597A470FF5}">
      <dgm:prSet/>
      <dgm:spPr/>
      <dgm:t>
        <a:bodyPr/>
        <a:lstStyle/>
        <a:p>
          <a:endParaRPr lang="es-PE">
            <a:latin typeface="Trebuchet MS" panose="020B0603020202020204" pitchFamily="34" charset="0"/>
          </a:endParaRPr>
        </a:p>
      </dgm:t>
    </dgm:pt>
    <dgm:pt modelId="{C35786B5-EDFA-479C-9CC3-0AC3E6DB8162}">
      <dgm:prSet phldrT="[Text]" custT="1"/>
      <dgm:spPr/>
      <dgm:t>
        <a:bodyPr/>
        <a:lstStyle/>
        <a:p>
          <a:r>
            <a:rPr lang="es-ES" sz="900" dirty="0">
              <a:latin typeface="Trebuchet MS" panose="020B0603020202020204" pitchFamily="34" charset="0"/>
            </a:rPr>
            <a:t>Cerro Verde</a:t>
          </a:r>
          <a:endParaRPr lang="es-PE" sz="900" dirty="0">
            <a:latin typeface="Trebuchet MS" panose="020B0603020202020204" pitchFamily="34" charset="0"/>
          </a:endParaRPr>
        </a:p>
      </dgm:t>
    </dgm:pt>
    <dgm:pt modelId="{C3C7D813-D6D6-433F-BC8F-B14C39FCCDC3}" type="parTrans" cxnId="{3FE9B2FD-8FAE-4E51-9FB6-13D5354CC615}">
      <dgm:prSet/>
      <dgm:spPr/>
      <dgm:t>
        <a:bodyPr/>
        <a:lstStyle/>
        <a:p>
          <a:endParaRPr lang="es-PE">
            <a:latin typeface="Trebuchet MS" panose="020B0603020202020204" pitchFamily="34" charset="0"/>
          </a:endParaRPr>
        </a:p>
      </dgm:t>
    </dgm:pt>
    <dgm:pt modelId="{483F3A0C-2F21-43C1-BEBB-06B11CD2D734}" type="sibTrans" cxnId="{3FE9B2FD-8FAE-4E51-9FB6-13D5354CC615}">
      <dgm:prSet/>
      <dgm:spPr/>
      <dgm:t>
        <a:bodyPr/>
        <a:lstStyle/>
        <a:p>
          <a:endParaRPr lang="es-PE">
            <a:latin typeface="Trebuchet MS" panose="020B0603020202020204" pitchFamily="34" charset="0"/>
          </a:endParaRPr>
        </a:p>
      </dgm:t>
    </dgm:pt>
    <dgm:pt modelId="{C55912A7-075D-4BAD-A4B5-0096A7C58091}">
      <dgm:prSet phldrT="[Text]" custT="1"/>
      <dgm:spPr/>
      <dgm:t>
        <a:bodyPr/>
        <a:lstStyle/>
        <a:p>
          <a:r>
            <a:rPr lang="es-ES" sz="900" dirty="0" err="1">
              <a:latin typeface="Trebuchet MS" panose="020B0603020202020204" pitchFamily="34" charset="0"/>
            </a:rPr>
            <a:t>Minsur</a:t>
          </a:r>
          <a:endParaRPr lang="es-PE" sz="900" dirty="0">
            <a:latin typeface="Trebuchet MS" panose="020B0603020202020204" pitchFamily="34" charset="0"/>
          </a:endParaRPr>
        </a:p>
      </dgm:t>
    </dgm:pt>
    <dgm:pt modelId="{FA775297-D181-4CD8-8455-E50094EDF479}" type="parTrans" cxnId="{2D88DA8B-115F-4713-8BB1-9BA152FD8509}">
      <dgm:prSet/>
      <dgm:spPr/>
      <dgm:t>
        <a:bodyPr/>
        <a:lstStyle/>
        <a:p>
          <a:endParaRPr lang="es-PE">
            <a:latin typeface="Trebuchet MS" panose="020B0603020202020204" pitchFamily="34" charset="0"/>
          </a:endParaRPr>
        </a:p>
      </dgm:t>
    </dgm:pt>
    <dgm:pt modelId="{52E6F00B-D213-49BC-B181-8028564B8FA2}" type="sibTrans" cxnId="{2D88DA8B-115F-4713-8BB1-9BA152FD8509}">
      <dgm:prSet/>
      <dgm:spPr/>
      <dgm:t>
        <a:bodyPr/>
        <a:lstStyle/>
        <a:p>
          <a:endParaRPr lang="es-PE">
            <a:latin typeface="Trebuchet MS" panose="020B0603020202020204" pitchFamily="34" charset="0"/>
          </a:endParaRPr>
        </a:p>
      </dgm:t>
    </dgm:pt>
    <dgm:pt modelId="{134DFF77-43A2-4228-A4A7-1550B4D26F69}">
      <dgm:prSet phldrT="[Text]" custT="1"/>
      <dgm:spPr/>
      <dgm:t>
        <a:bodyPr/>
        <a:lstStyle/>
        <a:p>
          <a:endParaRPr lang="es-PE" sz="900" dirty="0">
            <a:latin typeface="Trebuchet MS" panose="020B0603020202020204" pitchFamily="34" charset="0"/>
          </a:endParaRPr>
        </a:p>
      </dgm:t>
    </dgm:pt>
    <dgm:pt modelId="{41195E88-F3F7-481F-8726-93604B093648}" type="parTrans" cxnId="{6E62119C-5032-4C62-ABDA-4870494D7F85}">
      <dgm:prSet/>
      <dgm:spPr/>
      <dgm:t>
        <a:bodyPr/>
        <a:lstStyle/>
        <a:p>
          <a:endParaRPr lang="es-PE">
            <a:latin typeface="Trebuchet MS" panose="020B0603020202020204" pitchFamily="34" charset="0"/>
          </a:endParaRPr>
        </a:p>
      </dgm:t>
    </dgm:pt>
    <dgm:pt modelId="{9399A52E-619E-46A8-8F55-C2B7030D6FE6}" type="sibTrans" cxnId="{6E62119C-5032-4C62-ABDA-4870494D7F85}">
      <dgm:prSet/>
      <dgm:spPr/>
      <dgm:t>
        <a:bodyPr/>
        <a:lstStyle/>
        <a:p>
          <a:endParaRPr lang="es-PE">
            <a:latin typeface="Trebuchet MS" panose="020B0603020202020204" pitchFamily="34" charset="0"/>
          </a:endParaRPr>
        </a:p>
      </dgm:t>
    </dgm:pt>
    <dgm:pt modelId="{0FF8351B-943B-4AC4-ABDF-E8C7CBB8E424}">
      <dgm:prSet phldrT="[Text]" custT="1"/>
      <dgm:spPr/>
      <dgm:t>
        <a:bodyPr/>
        <a:lstStyle/>
        <a:p>
          <a:r>
            <a:rPr lang="es-ES" sz="900" dirty="0" err="1">
              <a:latin typeface="Trebuchet MS" panose="020B0603020202020204" pitchFamily="34" charset="0"/>
            </a:rPr>
            <a:t>Nexa</a:t>
          </a:r>
          <a:r>
            <a:rPr lang="es-ES" sz="900" dirty="0">
              <a:latin typeface="Trebuchet MS" panose="020B0603020202020204" pitchFamily="34" charset="0"/>
            </a:rPr>
            <a:t> Perú</a:t>
          </a:r>
          <a:endParaRPr lang="es-PE" sz="900" dirty="0">
            <a:latin typeface="Trebuchet MS" panose="020B0603020202020204" pitchFamily="34" charset="0"/>
          </a:endParaRPr>
        </a:p>
      </dgm:t>
    </dgm:pt>
    <dgm:pt modelId="{D3F4AA38-8CEE-4B40-A26A-1EDC3BC362A3}" type="parTrans" cxnId="{8F29FAA6-3A55-4E0C-B69D-56D8DCC66206}">
      <dgm:prSet/>
      <dgm:spPr/>
      <dgm:t>
        <a:bodyPr/>
        <a:lstStyle/>
        <a:p>
          <a:endParaRPr lang="es-PE">
            <a:latin typeface="Trebuchet MS" panose="020B0603020202020204" pitchFamily="34" charset="0"/>
          </a:endParaRPr>
        </a:p>
      </dgm:t>
    </dgm:pt>
    <dgm:pt modelId="{05E89E62-A745-4EA4-82DD-3D654BA4610F}" type="sibTrans" cxnId="{8F29FAA6-3A55-4E0C-B69D-56D8DCC66206}">
      <dgm:prSet/>
      <dgm:spPr/>
      <dgm:t>
        <a:bodyPr/>
        <a:lstStyle/>
        <a:p>
          <a:endParaRPr lang="es-PE">
            <a:latin typeface="Trebuchet MS" panose="020B0603020202020204" pitchFamily="34" charset="0"/>
          </a:endParaRPr>
        </a:p>
      </dgm:t>
    </dgm:pt>
    <dgm:pt modelId="{BA927C13-1A58-4D3C-B9CF-0E4443F1AB96}">
      <dgm:prSet phldrT="[Text]" custT="1"/>
      <dgm:spPr/>
      <dgm:t>
        <a:bodyPr/>
        <a:lstStyle/>
        <a:p>
          <a:r>
            <a:rPr lang="es-ES" sz="900" dirty="0" err="1">
              <a:latin typeface="Trebuchet MS" panose="020B0603020202020204" pitchFamily="34" charset="0"/>
            </a:rPr>
            <a:t>Volcan</a:t>
          </a:r>
          <a:endParaRPr lang="es-PE" sz="900" dirty="0">
            <a:latin typeface="Trebuchet MS" panose="020B0603020202020204" pitchFamily="34" charset="0"/>
          </a:endParaRPr>
        </a:p>
      </dgm:t>
    </dgm:pt>
    <dgm:pt modelId="{8C786D39-C6CE-4CF2-8828-9CBDCBA66056}" type="parTrans" cxnId="{C6D6A1DB-928B-4A4F-B0BB-112B6AC9FAE7}">
      <dgm:prSet/>
      <dgm:spPr/>
      <dgm:t>
        <a:bodyPr/>
        <a:lstStyle/>
        <a:p>
          <a:endParaRPr lang="es-PE">
            <a:latin typeface="Trebuchet MS" panose="020B0603020202020204" pitchFamily="34" charset="0"/>
          </a:endParaRPr>
        </a:p>
      </dgm:t>
    </dgm:pt>
    <dgm:pt modelId="{A253086C-6AD9-429C-A941-A0EFFB036A34}" type="sibTrans" cxnId="{C6D6A1DB-928B-4A4F-B0BB-112B6AC9FAE7}">
      <dgm:prSet/>
      <dgm:spPr/>
      <dgm:t>
        <a:bodyPr/>
        <a:lstStyle/>
        <a:p>
          <a:endParaRPr lang="es-PE">
            <a:latin typeface="Trebuchet MS" panose="020B0603020202020204" pitchFamily="34" charset="0"/>
          </a:endParaRPr>
        </a:p>
      </dgm:t>
    </dgm:pt>
    <dgm:pt modelId="{004D3BA6-4074-42EA-AFAC-B7979C0F9F3A}">
      <dgm:prSet phldrT="[Text]" custT="1"/>
      <dgm:spPr/>
      <dgm:t>
        <a:bodyPr/>
        <a:lstStyle/>
        <a:p>
          <a:r>
            <a:rPr lang="es-ES" sz="1200" dirty="0">
              <a:latin typeface="Trebuchet MS" panose="020B0603020202020204" pitchFamily="34" charset="0"/>
            </a:rPr>
            <a:t>Energía</a:t>
          </a:r>
          <a:endParaRPr lang="es-PE" sz="1200" dirty="0">
            <a:latin typeface="Trebuchet MS" panose="020B0603020202020204" pitchFamily="34" charset="0"/>
          </a:endParaRPr>
        </a:p>
      </dgm:t>
    </dgm:pt>
    <dgm:pt modelId="{BAF4DDBE-EF6C-4FFD-B78C-B71207EDA923}" type="parTrans" cxnId="{82FBBBAF-68CB-4372-8A5E-466E89066596}">
      <dgm:prSet/>
      <dgm:spPr/>
      <dgm:t>
        <a:bodyPr/>
        <a:lstStyle/>
        <a:p>
          <a:endParaRPr lang="es-PE"/>
        </a:p>
      </dgm:t>
    </dgm:pt>
    <dgm:pt modelId="{6D9CCF62-9339-4207-95CB-A93179196590}" type="sibTrans" cxnId="{82FBBBAF-68CB-4372-8A5E-466E89066596}">
      <dgm:prSet/>
      <dgm:spPr/>
      <dgm:t>
        <a:bodyPr/>
        <a:lstStyle/>
        <a:p>
          <a:endParaRPr lang="es-PE"/>
        </a:p>
      </dgm:t>
    </dgm:pt>
    <dgm:pt modelId="{A4566A34-51CB-420B-BB45-D7458E4BE83A}">
      <dgm:prSet phldrT="[Text]" custT="1"/>
      <dgm:spPr/>
      <dgm:t>
        <a:bodyPr/>
        <a:lstStyle/>
        <a:p>
          <a:r>
            <a:rPr lang="es-ES" sz="900" dirty="0">
              <a:latin typeface="Trebuchet MS" panose="020B0603020202020204" pitchFamily="34" charset="0"/>
            </a:rPr>
            <a:t>Primax</a:t>
          </a:r>
          <a:endParaRPr lang="es-PE" sz="900" dirty="0">
            <a:latin typeface="Trebuchet MS" panose="020B0603020202020204" pitchFamily="34" charset="0"/>
          </a:endParaRPr>
        </a:p>
      </dgm:t>
    </dgm:pt>
    <dgm:pt modelId="{51D14953-24AB-4888-8051-421749A1FA32}" type="parTrans" cxnId="{B2028079-1FBC-47D5-BDC7-0347478D8CF8}">
      <dgm:prSet/>
      <dgm:spPr/>
      <dgm:t>
        <a:bodyPr/>
        <a:lstStyle/>
        <a:p>
          <a:endParaRPr lang="es-PE"/>
        </a:p>
      </dgm:t>
    </dgm:pt>
    <dgm:pt modelId="{BEBD0F48-BA8E-45D2-9D3E-EFE2F95C9884}" type="sibTrans" cxnId="{B2028079-1FBC-47D5-BDC7-0347478D8CF8}">
      <dgm:prSet/>
      <dgm:spPr/>
      <dgm:t>
        <a:bodyPr/>
        <a:lstStyle/>
        <a:p>
          <a:endParaRPr lang="es-PE"/>
        </a:p>
      </dgm:t>
    </dgm:pt>
    <dgm:pt modelId="{BCA83A0B-1C49-4E0E-9934-3532C381189B}">
      <dgm:prSet custT="1"/>
      <dgm:spPr/>
      <dgm:t>
        <a:bodyPr/>
        <a:lstStyle/>
        <a:p>
          <a:r>
            <a:rPr lang="es-ES" sz="900">
              <a:latin typeface="Trebuchet MS" panose="020B0603020202020204" pitchFamily="34" charset="0"/>
            </a:rPr>
            <a:t>Orazen</a:t>
          </a:r>
          <a:endParaRPr lang="es-PE" sz="900" dirty="0">
            <a:latin typeface="Trebuchet MS" panose="020B0603020202020204" pitchFamily="34" charset="0"/>
          </a:endParaRPr>
        </a:p>
      </dgm:t>
    </dgm:pt>
    <dgm:pt modelId="{919EB365-0988-4854-85F5-92B73CBAF27A}" type="parTrans" cxnId="{8FDC91E9-8987-475D-84A7-03D35E24700A}">
      <dgm:prSet/>
      <dgm:spPr/>
      <dgm:t>
        <a:bodyPr/>
        <a:lstStyle/>
        <a:p>
          <a:endParaRPr lang="es-PE"/>
        </a:p>
      </dgm:t>
    </dgm:pt>
    <dgm:pt modelId="{5E62D69C-8858-45A5-8782-4AA6671AEC66}" type="sibTrans" cxnId="{8FDC91E9-8987-475D-84A7-03D35E24700A}">
      <dgm:prSet/>
      <dgm:spPr/>
      <dgm:t>
        <a:bodyPr/>
        <a:lstStyle/>
        <a:p>
          <a:endParaRPr lang="es-PE"/>
        </a:p>
      </dgm:t>
    </dgm:pt>
    <dgm:pt modelId="{42264529-C509-4D52-9935-D542275609AC}">
      <dgm:prSet custT="1"/>
      <dgm:spPr/>
      <dgm:t>
        <a:bodyPr/>
        <a:lstStyle/>
        <a:p>
          <a:r>
            <a:rPr lang="es-ES" sz="900">
              <a:latin typeface="Trebuchet MS" panose="020B0603020202020204" pitchFamily="34" charset="0"/>
            </a:rPr>
            <a:t>Orygen</a:t>
          </a:r>
          <a:endParaRPr lang="es-PE" sz="900" dirty="0">
            <a:latin typeface="Trebuchet MS" panose="020B0603020202020204" pitchFamily="34" charset="0"/>
          </a:endParaRPr>
        </a:p>
      </dgm:t>
    </dgm:pt>
    <dgm:pt modelId="{A104C49A-6431-4583-ADAC-7117BCA6E784}" type="parTrans" cxnId="{C9BFC7C8-B779-4856-86F0-A052964873C2}">
      <dgm:prSet/>
      <dgm:spPr/>
      <dgm:t>
        <a:bodyPr/>
        <a:lstStyle/>
        <a:p>
          <a:endParaRPr lang="es-PE"/>
        </a:p>
      </dgm:t>
    </dgm:pt>
    <dgm:pt modelId="{E25C564C-FA0F-43A1-9266-785ED9483D3F}" type="sibTrans" cxnId="{C9BFC7C8-B779-4856-86F0-A052964873C2}">
      <dgm:prSet/>
      <dgm:spPr/>
      <dgm:t>
        <a:bodyPr/>
        <a:lstStyle/>
        <a:p>
          <a:endParaRPr lang="es-PE"/>
        </a:p>
      </dgm:t>
    </dgm:pt>
    <dgm:pt modelId="{152E6A48-2B48-4031-9F86-9273949F2935}">
      <dgm:prSet custT="1"/>
      <dgm:spPr/>
      <dgm:t>
        <a:bodyPr/>
        <a:lstStyle/>
        <a:p>
          <a:r>
            <a:rPr lang="es-ES" sz="900">
              <a:latin typeface="Trebuchet MS" panose="020B0603020202020204" pitchFamily="34" charset="0"/>
            </a:rPr>
            <a:t>Pluz Energía</a:t>
          </a:r>
          <a:endParaRPr lang="es-PE" sz="900" dirty="0">
            <a:latin typeface="Trebuchet MS" panose="020B0603020202020204" pitchFamily="34" charset="0"/>
          </a:endParaRPr>
        </a:p>
      </dgm:t>
    </dgm:pt>
    <dgm:pt modelId="{A90C6564-EBF9-4F59-9E41-032E9831FA51}" type="parTrans" cxnId="{E317BD21-FC3F-4FD8-88CB-AD931887E6C7}">
      <dgm:prSet/>
      <dgm:spPr/>
      <dgm:t>
        <a:bodyPr/>
        <a:lstStyle/>
        <a:p>
          <a:endParaRPr lang="es-PE"/>
        </a:p>
      </dgm:t>
    </dgm:pt>
    <dgm:pt modelId="{D32C423F-AC50-4CCE-967D-ABB28949422E}" type="sibTrans" cxnId="{E317BD21-FC3F-4FD8-88CB-AD931887E6C7}">
      <dgm:prSet/>
      <dgm:spPr/>
      <dgm:t>
        <a:bodyPr/>
        <a:lstStyle/>
        <a:p>
          <a:endParaRPr lang="es-PE"/>
        </a:p>
      </dgm:t>
    </dgm:pt>
    <dgm:pt modelId="{ED2B1CEF-9987-4A88-90EB-221C8E585CC6}">
      <dgm:prSet phldrT="[Text]" custT="1"/>
      <dgm:spPr/>
      <dgm:t>
        <a:bodyPr/>
        <a:lstStyle/>
        <a:p>
          <a:r>
            <a:rPr lang="es-ES" sz="900" dirty="0" err="1">
              <a:latin typeface="Trebuchet MS" panose="020B0603020202020204" pitchFamily="34" charset="0"/>
            </a:rPr>
            <a:t>Unacem</a:t>
          </a:r>
          <a:endParaRPr lang="es-PE" sz="900" dirty="0">
            <a:latin typeface="Trebuchet MS" panose="020B0603020202020204" pitchFamily="34" charset="0"/>
          </a:endParaRPr>
        </a:p>
      </dgm:t>
    </dgm:pt>
    <dgm:pt modelId="{3F228919-6A73-4213-A878-8E97F59E9505}" type="parTrans" cxnId="{98B1CA08-358F-49FE-B5EB-C1A8ACAAFF96}">
      <dgm:prSet/>
      <dgm:spPr/>
      <dgm:t>
        <a:bodyPr/>
        <a:lstStyle/>
        <a:p>
          <a:endParaRPr lang="es-PE"/>
        </a:p>
      </dgm:t>
    </dgm:pt>
    <dgm:pt modelId="{9A04A42E-A0B9-4106-BA83-4A4625889608}" type="sibTrans" cxnId="{98B1CA08-358F-49FE-B5EB-C1A8ACAAFF96}">
      <dgm:prSet/>
      <dgm:spPr/>
      <dgm:t>
        <a:bodyPr/>
        <a:lstStyle/>
        <a:p>
          <a:endParaRPr lang="es-PE"/>
        </a:p>
      </dgm:t>
    </dgm:pt>
    <dgm:pt modelId="{350CC213-5A11-46E7-8813-974638FF7F79}">
      <dgm:prSet phldrT="[Text]" custT="1"/>
      <dgm:spPr/>
      <dgm:t>
        <a:bodyPr/>
        <a:lstStyle/>
        <a:p>
          <a:r>
            <a:rPr lang="es-ES" sz="900" dirty="0">
              <a:latin typeface="Trebuchet MS" panose="020B0603020202020204" pitchFamily="34" charset="0"/>
            </a:rPr>
            <a:t>Pacasmayo</a:t>
          </a:r>
          <a:endParaRPr lang="es-PE" sz="900" dirty="0">
            <a:latin typeface="Trebuchet MS" panose="020B0603020202020204" pitchFamily="34" charset="0"/>
          </a:endParaRPr>
        </a:p>
      </dgm:t>
    </dgm:pt>
    <dgm:pt modelId="{52E09C81-41C8-4CCE-AC6D-9C6277ED2BAD}" type="parTrans" cxnId="{813B7F6F-ADFD-451F-8A2A-4AAD42CC9401}">
      <dgm:prSet/>
      <dgm:spPr/>
      <dgm:t>
        <a:bodyPr/>
        <a:lstStyle/>
        <a:p>
          <a:endParaRPr lang="es-PE"/>
        </a:p>
      </dgm:t>
    </dgm:pt>
    <dgm:pt modelId="{63D4A9FD-7004-49FD-8A08-8DC606D5A7CA}" type="sibTrans" cxnId="{813B7F6F-ADFD-451F-8A2A-4AAD42CC9401}">
      <dgm:prSet/>
      <dgm:spPr/>
      <dgm:t>
        <a:bodyPr/>
        <a:lstStyle/>
        <a:p>
          <a:endParaRPr lang="es-PE"/>
        </a:p>
      </dgm:t>
    </dgm:pt>
    <dgm:pt modelId="{BA5CE5FF-9EEC-4E96-9520-5248FD54AB8A}">
      <dgm:prSet phldrT="[Text]" custT="1"/>
      <dgm:spPr/>
      <dgm:t>
        <a:bodyPr/>
        <a:lstStyle/>
        <a:p>
          <a:r>
            <a:rPr lang="es-ES" sz="900" dirty="0">
              <a:latin typeface="Trebuchet MS" panose="020B0603020202020204" pitchFamily="34" charset="0"/>
            </a:rPr>
            <a:t>Hunt</a:t>
          </a:r>
          <a:endParaRPr lang="es-PE" sz="900" dirty="0">
            <a:latin typeface="Trebuchet MS" panose="020B0603020202020204" pitchFamily="34" charset="0"/>
          </a:endParaRPr>
        </a:p>
      </dgm:t>
    </dgm:pt>
    <dgm:pt modelId="{33509489-2D38-46EA-8CC8-51D283D7B685}" type="parTrans" cxnId="{87C7412E-652B-4869-B929-773E5A2CF460}">
      <dgm:prSet/>
      <dgm:spPr/>
      <dgm:t>
        <a:bodyPr/>
        <a:lstStyle/>
        <a:p>
          <a:endParaRPr lang="es-PE"/>
        </a:p>
      </dgm:t>
    </dgm:pt>
    <dgm:pt modelId="{CDEB7B28-D213-4556-ACB5-97B85FC49678}" type="sibTrans" cxnId="{87C7412E-652B-4869-B929-773E5A2CF460}">
      <dgm:prSet/>
      <dgm:spPr/>
      <dgm:t>
        <a:bodyPr/>
        <a:lstStyle/>
        <a:p>
          <a:endParaRPr lang="es-PE"/>
        </a:p>
      </dgm:t>
    </dgm:pt>
    <dgm:pt modelId="{BB1FF143-498B-4D06-828C-816ED0D4BC3F}">
      <dgm:prSet phldrT="[Text]" custT="1"/>
      <dgm:spPr/>
      <dgm:t>
        <a:bodyPr/>
        <a:lstStyle/>
        <a:p>
          <a:r>
            <a:rPr lang="es-ES" sz="900" dirty="0" err="1">
              <a:latin typeface="Trebuchet MS" panose="020B0603020202020204" pitchFamily="34" charset="0"/>
            </a:rPr>
            <a:t>Engie</a:t>
          </a:r>
          <a:endParaRPr lang="es-PE" sz="900" dirty="0">
            <a:latin typeface="Trebuchet MS" panose="020B0603020202020204" pitchFamily="34" charset="0"/>
          </a:endParaRPr>
        </a:p>
      </dgm:t>
    </dgm:pt>
    <dgm:pt modelId="{F9CF5852-AE0F-42A9-A155-EAEF76724E3E}" type="parTrans" cxnId="{0059362E-A98F-46CD-8A7E-467C05D14BC4}">
      <dgm:prSet/>
      <dgm:spPr/>
      <dgm:t>
        <a:bodyPr/>
        <a:lstStyle/>
        <a:p>
          <a:endParaRPr lang="es-PE"/>
        </a:p>
      </dgm:t>
    </dgm:pt>
    <dgm:pt modelId="{F46FFCB3-9A73-4889-AE3B-6D3E541803BF}" type="sibTrans" cxnId="{0059362E-A98F-46CD-8A7E-467C05D14BC4}">
      <dgm:prSet/>
      <dgm:spPr/>
      <dgm:t>
        <a:bodyPr/>
        <a:lstStyle/>
        <a:p>
          <a:endParaRPr lang="es-PE"/>
        </a:p>
      </dgm:t>
    </dgm:pt>
    <dgm:pt modelId="{8A2253D9-5D51-457F-B10C-6E39DA18D923}" type="pres">
      <dgm:prSet presAssocID="{755B8696-080D-4DFB-8CB5-F45124C06AFE}" presName="Name0" presStyleCnt="0">
        <dgm:presLayoutVars>
          <dgm:dir/>
          <dgm:animLvl val="lvl"/>
          <dgm:resizeHandles/>
        </dgm:presLayoutVars>
      </dgm:prSet>
      <dgm:spPr/>
    </dgm:pt>
    <dgm:pt modelId="{4490CA63-BEA8-45BE-8631-E7F9EEA59B92}" type="pres">
      <dgm:prSet presAssocID="{EC190713-9324-4C92-8F21-43F4677BFAC8}" presName="linNode" presStyleCnt="0"/>
      <dgm:spPr/>
    </dgm:pt>
    <dgm:pt modelId="{B25CF434-0093-4362-B90D-E25B7D04E83F}" type="pres">
      <dgm:prSet presAssocID="{EC190713-9324-4C92-8F21-43F4677BFAC8}" presName="parentShp" presStyleLbl="node1" presStyleIdx="0" presStyleCnt="4">
        <dgm:presLayoutVars>
          <dgm:bulletEnabled val="1"/>
        </dgm:presLayoutVars>
      </dgm:prSet>
      <dgm:spPr/>
    </dgm:pt>
    <dgm:pt modelId="{FFB83620-09FF-492A-A383-D37A5C6ABFA5}" type="pres">
      <dgm:prSet presAssocID="{EC190713-9324-4C92-8F21-43F4677BFAC8}" presName="childShp" presStyleLbl="bgAccFollowNode1" presStyleIdx="0" presStyleCnt="4">
        <dgm:presLayoutVars>
          <dgm:bulletEnabled val="1"/>
        </dgm:presLayoutVars>
      </dgm:prSet>
      <dgm:spPr/>
    </dgm:pt>
    <dgm:pt modelId="{98C88231-6617-43E6-A64B-7B4A07E1BF18}" type="pres">
      <dgm:prSet presAssocID="{25A82957-211F-4EFC-BD32-20A62BBCD92A}" presName="spacing" presStyleCnt="0"/>
      <dgm:spPr/>
    </dgm:pt>
    <dgm:pt modelId="{4ACEC718-285F-4C3D-8A5B-35A3C4A1CE7E}" type="pres">
      <dgm:prSet presAssocID="{427135E9-5865-4057-9475-2BFB64B8E829}" presName="linNode" presStyleCnt="0"/>
      <dgm:spPr/>
    </dgm:pt>
    <dgm:pt modelId="{56C2625F-FE43-42B2-9EB6-81683F0F4D3D}" type="pres">
      <dgm:prSet presAssocID="{427135E9-5865-4057-9475-2BFB64B8E829}" presName="parentShp" presStyleLbl="node1" presStyleIdx="1" presStyleCnt="4">
        <dgm:presLayoutVars>
          <dgm:bulletEnabled val="1"/>
        </dgm:presLayoutVars>
      </dgm:prSet>
      <dgm:spPr/>
    </dgm:pt>
    <dgm:pt modelId="{802346A0-6462-42B2-95E8-397EA812FE16}" type="pres">
      <dgm:prSet presAssocID="{427135E9-5865-4057-9475-2BFB64B8E829}" presName="childShp" presStyleLbl="bgAccFollowNode1" presStyleIdx="1" presStyleCnt="4">
        <dgm:presLayoutVars>
          <dgm:bulletEnabled val="1"/>
        </dgm:presLayoutVars>
      </dgm:prSet>
      <dgm:spPr/>
    </dgm:pt>
    <dgm:pt modelId="{770E7714-23D3-49B0-8AD3-CCFA4127110A}" type="pres">
      <dgm:prSet presAssocID="{34636FF2-DD2A-4D36-93A2-B95A72288D7D}" presName="spacing" presStyleCnt="0"/>
      <dgm:spPr/>
    </dgm:pt>
    <dgm:pt modelId="{C09FBE7D-31A8-4CF0-91EF-526BE4C68142}" type="pres">
      <dgm:prSet presAssocID="{67DBFAF9-B687-459B-B0CE-D9ACC8FFA153}" presName="linNode" presStyleCnt="0"/>
      <dgm:spPr/>
    </dgm:pt>
    <dgm:pt modelId="{53CE9987-374B-4349-B55C-23C6D0448C23}" type="pres">
      <dgm:prSet presAssocID="{67DBFAF9-B687-459B-B0CE-D9ACC8FFA153}" presName="parentShp" presStyleLbl="node1" presStyleIdx="2" presStyleCnt="4">
        <dgm:presLayoutVars>
          <dgm:bulletEnabled val="1"/>
        </dgm:presLayoutVars>
      </dgm:prSet>
      <dgm:spPr/>
    </dgm:pt>
    <dgm:pt modelId="{D3E92FD6-38E0-464F-930E-A8F79646A8F0}" type="pres">
      <dgm:prSet presAssocID="{67DBFAF9-B687-459B-B0CE-D9ACC8FFA153}" presName="childShp" presStyleLbl="bgAccFollowNode1" presStyleIdx="2" presStyleCnt="4">
        <dgm:presLayoutVars>
          <dgm:bulletEnabled val="1"/>
        </dgm:presLayoutVars>
      </dgm:prSet>
      <dgm:spPr/>
    </dgm:pt>
    <dgm:pt modelId="{2C1CAECB-9E1E-4475-A658-F62926AA7EB3}" type="pres">
      <dgm:prSet presAssocID="{0DF50EA9-11D3-430C-BC8F-48D96A656532}" presName="spacing" presStyleCnt="0"/>
      <dgm:spPr/>
    </dgm:pt>
    <dgm:pt modelId="{4469D749-9C55-48A3-A3FF-DBD00C325E89}" type="pres">
      <dgm:prSet presAssocID="{004D3BA6-4074-42EA-AFAC-B7979C0F9F3A}" presName="linNode" presStyleCnt="0"/>
      <dgm:spPr/>
    </dgm:pt>
    <dgm:pt modelId="{0FFCF02F-DA54-4F51-A3C7-26BBDD2EF08A}" type="pres">
      <dgm:prSet presAssocID="{004D3BA6-4074-42EA-AFAC-B7979C0F9F3A}" presName="parentShp" presStyleLbl="node1" presStyleIdx="3" presStyleCnt="4">
        <dgm:presLayoutVars>
          <dgm:bulletEnabled val="1"/>
        </dgm:presLayoutVars>
      </dgm:prSet>
      <dgm:spPr/>
    </dgm:pt>
    <dgm:pt modelId="{AB0452E1-1AA0-43E2-A6E6-CE0D916D19C7}" type="pres">
      <dgm:prSet presAssocID="{004D3BA6-4074-42EA-AFAC-B7979C0F9F3A}" presName="childShp" presStyleLbl="bgAccFollowNode1" presStyleIdx="3" presStyleCnt="4">
        <dgm:presLayoutVars>
          <dgm:bulletEnabled val="1"/>
        </dgm:presLayoutVars>
      </dgm:prSet>
      <dgm:spPr/>
    </dgm:pt>
  </dgm:ptLst>
  <dgm:cxnLst>
    <dgm:cxn modelId="{98B1CA08-358F-49FE-B5EB-C1A8ACAAFF96}" srcId="{67DBFAF9-B687-459B-B0CE-D9ACC8FFA153}" destId="{ED2B1CEF-9987-4A88-90EB-221C8E585CC6}" srcOrd="1" destOrd="0" parTransId="{3F228919-6A73-4213-A878-8E97F59E9505}" sibTransId="{9A04A42E-A0B9-4106-BA83-4A4625889608}"/>
    <dgm:cxn modelId="{AE507D0D-C270-403A-B3F3-0B59ABBD429E}" type="presOf" srcId="{BCA83A0B-1C49-4E0E-9934-3532C381189B}" destId="{802346A0-6462-42B2-95E8-397EA812FE16}" srcOrd="0" destOrd="1" presId="urn:microsoft.com/office/officeart/2005/8/layout/vList6"/>
    <dgm:cxn modelId="{57861E0E-F476-416E-9EAB-0CFB46F7D40D}" type="presOf" srcId="{BB1FF143-498B-4D06-828C-816ED0D4BC3F}" destId="{802346A0-6462-42B2-95E8-397EA812FE16}" srcOrd="0" destOrd="0" presId="urn:microsoft.com/office/officeart/2005/8/layout/vList6"/>
    <dgm:cxn modelId="{E317BD21-FC3F-4FD8-88CB-AD931887E6C7}" srcId="{427135E9-5865-4057-9475-2BFB64B8E829}" destId="{152E6A48-2B48-4031-9F86-9273949F2935}" srcOrd="3" destOrd="0" parTransId="{A90C6564-EBF9-4F59-9E41-032E9831FA51}" sibTransId="{D32C423F-AC50-4CCE-967D-ABB28949422E}"/>
    <dgm:cxn modelId="{0059362E-A98F-46CD-8A7E-467C05D14BC4}" srcId="{427135E9-5865-4057-9475-2BFB64B8E829}" destId="{BB1FF143-498B-4D06-828C-816ED0D4BC3F}" srcOrd="0" destOrd="0" parTransId="{F9CF5852-AE0F-42A9-A155-EAEF76724E3E}" sibTransId="{F46FFCB3-9A73-4889-AE3B-6D3E541803BF}"/>
    <dgm:cxn modelId="{87C7412E-652B-4869-B929-773E5A2CF460}" srcId="{004D3BA6-4074-42EA-AFAC-B7979C0F9F3A}" destId="{BA5CE5FF-9EEC-4E96-9520-5248FD54AB8A}" srcOrd="0" destOrd="0" parTransId="{33509489-2D38-46EA-8CC8-51D283D7B685}" sibTransId="{CDEB7B28-D213-4556-ACB5-97B85FC49678}"/>
    <dgm:cxn modelId="{12955A35-353C-4096-8F96-6F59CCB7BE90}" type="presOf" srcId="{755B8696-080D-4DFB-8CB5-F45124C06AFE}" destId="{8A2253D9-5D51-457F-B10C-6E39DA18D923}" srcOrd="0" destOrd="0" presId="urn:microsoft.com/office/officeart/2005/8/layout/vList6"/>
    <dgm:cxn modelId="{85B90B40-4AC7-4443-BBA8-C52B629D6BD5}" type="presOf" srcId="{EC190713-9324-4C92-8F21-43F4677BFAC8}" destId="{B25CF434-0093-4362-B90D-E25B7D04E83F}" srcOrd="0" destOrd="0" presId="urn:microsoft.com/office/officeart/2005/8/layout/vList6"/>
    <dgm:cxn modelId="{E1E4725C-DB45-457F-A29B-9492114FCEBA}" type="presOf" srcId="{67DBFAF9-B687-459B-B0CE-D9ACC8FFA153}" destId="{53CE9987-374B-4349-B55C-23C6D0448C23}" srcOrd="0" destOrd="0" presId="urn:microsoft.com/office/officeart/2005/8/layout/vList6"/>
    <dgm:cxn modelId="{577D7461-F331-40AA-8D17-0E129190A6CE}" type="presOf" srcId="{427135E9-5865-4057-9475-2BFB64B8E829}" destId="{56C2625F-FE43-42B2-9EB6-81683F0F4D3D}" srcOrd="0" destOrd="0" presId="urn:microsoft.com/office/officeart/2005/8/layout/vList6"/>
    <dgm:cxn modelId="{2929E64C-C234-4B49-A019-17A8CFE60FA7}" srcId="{755B8696-080D-4DFB-8CB5-F45124C06AFE}" destId="{427135E9-5865-4057-9475-2BFB64B8E829}" srcOrd="1" destOrd="0" parTransId="{4D274D29-FDC7-4A86-838E-572F7B71C96D}" sibTransId="{34636FF2-DD2A-4D36-93A2-B95A72288D7D}"/>
    <dgm:cxn modelId="{6AB2064F-0AD9-4486-A4A2-1C41C2055B17}" type="presOf" srcId="{42264529-C509-4D52-9935-D542275609AC}" destId="{802346A0-6462-42B2-95E8-397EA812FE16}" srcOrd="0" destOrd="2" presId="urn:microsoft.com/office/officeart/2005/8/layout/vList6"/>
    <dgm:cxn modelId="{813B7F6F-ADFD-451F-8A2A-4AAD42CC9401}" srcId="{67DBFAF9-B687-459B-B0CE-D9ACC8FFA153}" destId="{350CC213-5A11-46E7-8813-974638FF7F79}" srcOrd="0" destOrd="0" parTransId="{52E09C81-41C8-4CCE-AC6D-9C6277ED2BAD}" sibTransId="{63D4A9FD-7004-49FD-8A08-8DC606D5A7CA}"/>
    <dgm:cxn modelId="{A78DA854-96B7-46BE-8134-A1370F826F4C}" type="presOf" srcId="{BA5CE5FF-9EEC-4E96-9520-5248FD54AB8A}" destId="{AB0452E1-1AA0-43E2-A6E6-CE0D916D19C7}" srcOrd="0" destOrd="0" presId="urn:microsoft.com/office/officeart/2005/8/layout/vList6"/>
    <dgm:cxn modelId="{FFA17558-B907-4A8A-AA23-4585424C0A19}" type="presOf" srcId="{004D3BA6-4074-42EA-AFAC-B7979C0F9F3A}" destId="{0FFCF02F-DA54-4F51-A3C7-26BBDD2EF08A}" srcOrd="0" destOrd="0" presId="urn:microsoft.com/office/officeart/2005/8/layout/vList6"/>
    <dgm:cxn modelId="{B2028079-1FBC-47D5-BDC7-0347478D8CF8}" srcId="{004D3BA6-4074-42EA-AFAC-B7979C0F9F3A}" destId="{A4566A34-51CB-420B-BB45-D7458E4BE83A}" srcOrd="1" destOrd="0" parTransId="{51D14953-24AB-4888-8051-421749A1FA32}" sibTransId="{BEBD0F48-BA8E-45D2-9D3E-EFE2F95C9884}"/>
    <dgm:cxn modelId="{281B7989-3CE7-4AF7-9FBF-5597EFE71E56}" srcId="{755B8696-080D-4DFB-8CB5-F45124C06AFE}" destId="{EC190713-9324-4C92-8F21-43F4677BFAC8}" srcOrd="0" destOrd="0" parTransId="{2237D5D2-6526-41DA-BFE1-D61B0FF7ED92}" sibTransId="{25A82957-211F-4EFC-BD32-20A62BBCD92A}"/>
    <dgm:cxn modelId="{2D88DA8B-115F-4713-8BB1-9BA152FD8509}" srcId="{EC190713-9324-4C92-8F21-43F4677BFAC8}" destId="{C55912A7-075D-4BAD-A4B5-0096A7C58091}" srcOrd="2" destOrd="0" parTransId="{FA775297-D181-4CD8-8455-E50094EDF479}" sibTransId="{52E6F00B-D213-49BC-B181-8028564B8FA2}"/>
    <dgm:cxn modelId="{27D1A48E-DA66-48B5-9708-CD07CA12C14E}" srcId="{EC190713-9324-4C92-8F21-43F4677BFAC8}" destId="{60E4D654-60BC-45E6-AA9A-9C228090C997}" srcOrd="0" destOrd="0" parTransId="{0281AEE6-1071-435F-A5A5-4976AAE2D43F}" sibTransId="{84D64F10-55B5-4C2F-BA9A-52BFB9AC9F26}"/>
    <dgm:cxn modelId="{BF975990-C094-42CD-BF6E-62F8869E9B32}" type="presOf" srcId="{BA927C13-1A58-4D3C-B9CF-0E4443F1AB96}" destId="{FFB83620-09FF-492A-A383-D37A5C6ABFA5}" srcOrd="0" destOrd="4" presId="urn:microsoft.com/office/officeart/2005/8/layout/vList6"/>
    <dgm:cxn modelId="{F75B339B-B2CD-4624-A449-FCC14AB708D2}" type="presOf" srcId="{ED2B1CEF-9987-4A88-90EB-221C8E585CC6}" destId="{D3E92FD6-38E0-464F-930E-A8F79646A8F0}" srcOrd="0" destOrd="1" presId="urn:microsoft.com/office/officeart/2005/8/layout/vList6"/>
    <dgm:cxn modelId="{6E62119C-5032-4C62-ABDA-4870494D7F85}" srcId="{EC190713-9324-4C92-8F21-43F4677BFAC8}" destId="{134DFF77-43A2-4228-A4A7-1550B4D26F69}" srcOrd="5" destOrd="0" parTransId="{41195E88-F3F7-481F-8726-93604B093648}" sibTransId="{9399A52E-619E-46A8-8F55-C2B7030D6FE6}"/>
    <dgm:cxn modelId="{E160289D-28F2-406A-B0F2-BB11C44C28DE}" type="presOf" srcId="{FD147F7F-00AC-4303-AB78-82AF40C3E9C2}" destId="{802346A0-6462-42B2-95E8-397EA812FE16}" srcOrd="0" destOrd="4" presId="urn:microsoft.com/office/officeart/2005/8/layout/vList6"/>
    <dgm:cxn modelId="{810AC09F-F84B-4C8D-BEC9-EC44944EDCB5}" srcId="{427135E9-5865-4057-9475-2BFB64B8E829}" destId="{FD147F7F-00AC-4303-AB78-82AF40C3E9C2}" srcOrd="4" destOrd="0" parTransId="{18E8C421-4871-4288-A4E8-AD3A6B7F3ABD}" sibTransId="{456A414D-9FB5-489B-AB15-04191CB8BE46}"/>
    <dgm:cxn modelId="{726BCFA2-853B-4160-B250-9886B0F075CC}" type="presOf" srcId="{152E6A48-2B48-4031-9F86-9273949F2935}" destId="{802346A0-6462-42B2-95E8-397EA812FE16}" srcOrd="0" destOrd="3" presId="urn:microsoft.com/office/officeart/2005/8/layout/vList6"/>
    <dgm:cxn modelId="{8F29FAA6-3A55-4E0C-B69D-56D8DCC66206}" srcId="{EC190713-9324-4C92-8F21-43F4677BFAC8}" destId="{0FF8351B-943B-4AC4-ABDF-E8C7CBB8E424}" srcOrd="3" destOrd="0" parTransId="{D3F4AA38-8CEE-4B40-A26A-1EDC3BC362A3}" sibTransId="{05E89E62-A745-4EA4-82DD-3D654BA4610F}"/>
    <dgm:cxn modelId="{82FBBBAF-68CB-4372-8A5E-466E89066596}" srcId="{755B8696-080D-4DFB-8CB5-F45124C06AFE}" destId="{004D3BA6-4074-42EA-AFAC-B7979C0F9F3A}" srcOrd="3" destOrd="0" parTransId="{BAF4DDBE-EF6C-4FFD-B78C-B71207EDA923}" sibTransId="{6D9CCF62-9339-4207-95CB-A93179196590}"/>
    <dgm:cxn modelId="{CD1950B4-FD14-42CE-BB95-919188B4AEEA}" type="presOf" srcId="{C55912A7-075D-4BAD-A4B5-0096A7C58091}" destId="{FFB83620-09FF-492A-A383-D37A5C6ABFA5}" srcOrd="0" destOrd="2" presId="urn:microsoft.com/office/officeart/2005/8/layout/vList6"/>
    <dgm:cxn modelId="{AD106AB8-FBE5-4D43-A9F6-23597A470FF5}" srcId="{755B8696-080D-4DFB-8CB5-F45124C06AFE}" destId="{67DBFAF9-B687-459B-B0CE-D9ACC8FFA153}" srcOrd="2" destOrd="0" parTransId="{75BA8FE6-116A-452E-8C40-D49F47FC2C87}" sibTransId="{0DF50EA9-11D3-430C-BC8F-48D96A656532}"/>
    <dgm:cxn modelId="{C9BFC7C8-B779-4856-86F0-A052964873C2}" srcId="{427135E9-5865-4057-9475-2BFB64B8E829}" destId="{42264529-C509-4D52-9935-D542275609AC}" srcOrd="2" destOrd="0" parTransId="{A104C49A-6431-4583-ADAC-7117BCA6E784}" sibTransId="{E25C564C-FA0F-43A1-9266-785ED9483D3F}"/>
    <dgm:cxn modelId="{2119F3D3-CCD2-4A00-92AD-AD06AB4FB47E}" type="presOf" srcId="{134DFF77-43A2-4228-A4A7-1550B4D26F69}" destId="{FFB83620-09FF-492A-A383-D37A5C6ABFA5}" srcOrd="0" destOrd="5" presId="urn:microsoft.com/office/officeart/2005/8/layout/vList6"/>
    <dgm:cxn modelId="{AEE089D4-F251-4B6B-A235-EC18FEB2EFFB}" type="presOf" srcId="{0FF8351B-943B-4AC4-ABDF-E8C7CBB8E424}" destId="{FFB83620-09FF-492A-A383-D37A5C6ABFA5}" srcOrd="0" destOrd="3" presId="urn:microsoft.com/office/officeart/2005/8/layout/vList6"/>
    <dgm:cxn modelId="{FA967FD8-99D9-4674-A4A3-F6004CA44462}" type="presOf" srcId="{C35786B5-EDFA-479C-9CC3-0AC3E6DB8162}" destId="{FFB83620-09FF-492A-A383-D37A5C6ABFA5}" srcOrd="0" destOrd="1" presId="urn:microsoft.com/office/officeart/2005/8/layout/vList6"/>
    <dgm:cxn modelId="{C6D6A1DB-928B-4A4F-B0BB-112B6AC9FAE7}" srcId="{EC190713-9324-4C92-8F21-43F4677BFAC8}" destId="{BA927C13-1A58-4D3C-B9CF-0E4443F1AB96}" srcOrd="4" destOrd="0" parTransId="{8C786D39-C6CE-4CF2-8828-9CBDCBA66056}" sibTransId="{A253086C-6AD9-429C-A941-A0EFFB036A34}"/>
    <dgm:cxn modelId="{8FDC91E9-8987-475D-84A7-03D35E24700A}" srcId="{427135E9-5865-4057-9475-2BFB64B8E829}" destId="{BCA83A0B-1C49-4E0E-9934-3532C381189B}" srcOrd="1" destOrd="0" parTransId="{919EB365-0988-4854-85F5-92B73CBAF27A}" sibTransId="{5E62D69C-8858-45A5-8782-4AA6671AEC66}"/>
    <dgm:cxn modelId="{FBCB77ED-033F-4F9C-A1DB-C67A30C9D3CB}" type="presOf" srcId="{A4566A34-51CB-420B-BB45-D7458E4BE83A}" destId="{AB0452E1-1AA0-43E2-A6E6-CE0D916D19C7}" srcOrd="0" destOrd="1" presId="urn:microsoft.com/office/officeart/2005/8/layout/vList6"/>
    <dgm:cxn modelId="{08DC0DF7-C63B-4486-ACE1-8467393D3DE6}" type="presOf" srcId="{350CC213-5A11-46E7-8813-974638FF7F79}" destId="{D3E92FD6-38E0-464F-930E-A8F79646A8F0}" srcOrd="0" destOrd="0" presId="urn:microsoft.com/office/officeart/2005/8/layout/vList6"/>
    <dgm:cxn modelId="{C031EDF9-4C61-46B7-9D2C-8E7D328ACCEE}" type="presOf" srcId="{60E4D654-60BC-45E6-AA9A-9C228090C997}" destId="{FFB83620-09FF-492A-A383-D37A5C6ABFA5}" srcOrd="0" destOrd="0" presId="urn:microsoft.com/office/officeart/2005/8/layout/vList6"/>
    <dgm:cxn modelId="{3FE9B2FD-8FAE-4E51-9FB6-13D5354CC615}" srcId="{EC190713-9324-4C92-8F21-43F4677BFAC8}" destId="{C35786B5-EDFA-479C-9CC3-0AC3E6DB8162}" srcOrd="1" destOrd="0" parTransId="{C3C7D813-D6D6-433F-BC8F-B14C39FCCDC3}" sibTransId="{483F3A0C-2F21-43C1-BEBB-06B11CD2D734}"/>
    <dgm:cxn modelId="{97DDBCF9-EABF-45D1-ABD6-1EFBB66EEC1E}" type="presParOf" srcId="{8A2253D9-5D51-457F-B10C-6E39DA18D923}" destId="{4490CA63-BEA8-45BE-8631-E7F9EEA59B92}" srcOrd="0" destOrd="0" presId="urn:microsoft.com/office/officeart/2005/8/layout/vList6"/>
    <dgm:cxn modelId="{ABABAE6E-172C-49AE-97C7-C8531F41D6A0}" type="presParOf" srcId="{4490CA63-BEA8-45BE-8631-E7F9EEA59B92}" destId="{B25CF434-0093-4362-B90D-E25B7D04E83F}" srcOrd="0" destOrd="0" presId="urn:microsoft.com/office/officeart/2005/8/layout/vList6"/>
    <dgm:cxn modelId="{1A7E9A14-E40F-49F5-B827-83494972B76E}" type="presParOf" srcId="{4490CA63-BEA8-45BE-8631-E7F9EEA59B92}" destId="{FFB83620-09FF-492A-A383-D37A5C6ABFA5}" srcOrd="1" destOrd="0" presId="urn:microsoft.com/office/officeart/2005/8/layout/vList6"/>
    <dgm:cxn modelId="{44462D01-9467-4057-A2A9-9E815DE557FA}" type="presParOf" srcId="{8A2253D9-5D51-457F-B10C-6E39DA18D923}" destId="{98C88231-6617-43E6-A64B-7B4A07E1BF18}" srcOrd="1" destOrd="0" presId="urn:microsoft.com/office/officeart/2005/8/layout/vList6"/>
    <dgm:cxn modelId="{21882385-D4DD-4E7E-BC64-A61EB4C0BB33}" type="presParOf" srcId="{8A2253D9-5D51-457F-B10C-6E39DA18D923}" destId="{4ACEC718-285F-4C3D-8A5B-35A3C4A1CE7E}" srcOrd="2" destOrd="0" presId="urn:microsoft.com/office/officeart/2005/8/layout/vList6"/>
    <dgm:cxn modelId="{889F263B-CA25-4041-80E8-B3966E41BC3B}" type="presParOf" srcId="{4ACEC718-285F-4C3D-8A5B-35A3C4A1CE7E}" destId="{56C2625F-FE43-42B2-9EB6-81683F0F4D3D}" srcOrd="0" destOrd="0" presId="urn:microsoft.com/office/officeart/2005/8/layout/vList6"/>
    <dgm:cxn modelId="{EE33D386-85B5-47DA-9DC9-854B8B881293}" type="presParOf" srcId="{4ACEC718-285F-4C3D-8A5B-35A3C4A1CE7E}" destId="{802346A0-6462-42B2-95E8-397EA812FE16}" srcOrd="1" destOrd="0" presId="urn:microsoft.com/office/officeart/2005/8/layout/vList6"/>
    <dgm:cxn modelId="{07F9408C-87F7-4995-9E18-875EF3501420}" type="presParOf" srcId="{8A2253D9-5D51-457F-B10C-6E39DA18D923}" destId="{770E7714-23D3-49B0-8AD3-CCFA4127110A}" srcOrd="3" destOrd="0" presId="urn:microsoft.com/office/officeart/2005/8/layout/vList6"/>
    <dgm:cxn modelId="{CB9E8F35-A627-4015-83A3-C06CCCB22289}" type="presParOf" srcId="{8A2253D9-5D51-457F-B10C-6E39DA18D923}" destId="{C09FBE7D-31A8-4CF0-91EF-526BE4C68142}" srcOrd="4" destOrd="0" presId="urn:microsoft.com/office/officeart/2005/8/layout/vList6"/>
    <dgm:cxn modelId="{73244995-D460-4B34-B032-25F876EBBA8C}" type="presParOf" srcId="{C09FBE7D-31A8-4CF0-91EF-526BE4C68142}" destId="{53CE9987-374B-4349-B55C-23C6D0448C23}" srcOrd="0" destOrd="0" presId="urn:microsoft.com/office/officeart/2005/8/layout/vList6"/>
    <dgm:cxn modelId="{0D7CED72-FA1C-4656-841F-081FE08F655D}" type="presParOf" srcId="{C09FBE7D-31A8-4CF0-91EF-526BE4C68142}" destId="{D3E92FD6-38E0-464F-930E-A8F79646A8F0}" srcOrd="1" destOrd="0" presId="urn:microsoft.com/office/officeart/2005/8/layout/vList6"/>
    <dgm:cxn modelId="{B9DE7910-EA55-494B-91C1-4EF3C56B7C1B}" type="presParOf" srcId="{8A2253D9-5D51-457F-B10C-6E39DA18D923}" destId="{2C1CAECB-9E1E-4475-A658-F62926AA7EB3}" srcOrd="5" destOrd="0" presId="urn:microsoft.com/office/officeart/2005/8/layout/vList6"/>
    <dgm:cxn modelId="{7F36737F-940A-4E4D-BF23-8D64B2FB807C}" type="presParOf" srcId="{8A2253D9-5D51-457F-B10C-6E39DA18D923}" destId="{4469D749-9C55-48A3-A3FF-DBD00C325E89}" srcOrd="6" destOrd="0" presId="urn:microsoft.com/office/officeart/2005/8/layout/vList6"/>
    <dgm:cxn modelId="{324A346F-9C73-4823-B978-ED148A3A53A0}" type="presParOf" srcId="{4469D749-9C55-48A3-A3FF-DBD00C325E89}" destId="{0FFCF02F-DA54-4F51-A3C7-26BBDD2EF08A}" srcOrd="0" destOrd="0" presId="urn:microsoft.com/office/officeart/2005/8/layout/vList6"/>
    <dgm:cxn modelId="{A2DEBDB0-5F96-4692-BE3E-CB9135973C00}" type="presParOf" srcId="{4469D749-9C55-48A3-A3FF-DBD00C325E89}" destId="{AB0452E1-1AA0-43E2-A6E6-CE0D916D19C7}"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98E692-5BB2-40DF-8802-D73E6AED66F1}">
      <dsp:nvSpPr>
        <dsp:cNvPr id="0" name=""/>
        <dsp:cNvSpPr/>
      </dsp:nvSpPr>
      <dsp:spPr>
        <a:xfrm rot="5400000">
          <a:off x="-191734" y="198185"/>
          <a:ext cx="1278226" cy="894758"/>
        </a:xfrm>
        <a:prstGeom prst="chevron">
          <a:avLst/>
        </a:prstGeom>
        <a:solidFill>
          <a:schemeClr val="accen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PE" sz="1200" kern="1200" dirty="0">
              <a:latin typeface="Trebuchet MS" panose="020B0603020202020204" pitchFamily="34" charset="0"/>
            </a:rPr>
            <a:t>Aviva</a:t>
          </a:r>
        </a:p>
      </dsp:txBody>
      <dsp:txXfrm rot="-5400000">
        <a:off x="0" y="453830"/>
        <a:ext cx="894758" cy="383468"/>
      </dsp:txXfrm>
    </dsp:sp>
    <dsp:sp modelId="{735D9B3E-5D34-4914-92D8-486F97A0D074}">
      <dsp:nvSpPr>
        <dsp:cNvPr id="0" name=""/>
        <dsp:cNvSpPr/>
      </dsp:nvSpPr>
      <dsp:spPr>
        <a:xfrm rot="5400000">
          <a:off x="2178071" y="-1276861"/>
          <a:ext cx="830847" cy="3397473"/>
        </a:xfrm>
        <a:prstGeom prst="round2SameRect">
          <a:avLst/>
        </a:prstGeom>
        <a:solidFill>
          <a:schemeClr val="lt1">
            <a:alpha val="90000"/>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6350" rIns="6350" bIns="6350" numCol="1" spcCol="1270" anchor="ctr" anchorCtr="0">
          <a:noAutofit/>
        </a:bodyPr>
        <a:lstStyle/>
        <a:p>
          <a:pPr marL="57150" lvl="1" indent="-57150" algn="l" defTabSz="444500">
            <a:lnSpc>
              <a:spcPct val="90000"/>
            </a:lnSpc>
            <a:spcBef>
              <a:spcPct val="0"/>
            </a:spcBef>
            <a:spcAft>
              <a:spcPct val="15000"/>
            </a:spcAft>
            <a:buChar char="•"/>
          </a:pPr>
          <a:r>
            <a:rPr lang="es-PE" sz="1000" kern="1200" dirty="0">
              <a:latin typeface="Trebuchet MS" panose="020B0603020202020204" pitchFamily="34" charset="0"/>
            </a:rPr>
            <a:t>Enfoque: Cambios concretos para promover Valor de Largo Plazo</a:t>
          </a:r>
        </a:p>
        <a:p>
          <a:pPr marL="57150" lvl="1" indent="-57150" algn="l" defTabSz="444500">
            <a:lnSpc>
              <a:spcPct val="90000"/>
            </a:lnSpc>
            <a:spcBef>
              <a:spcPct val="0"/>
            </a:spcBef>
            <a:spcAft>
              <a:spcPct val="15000"/>
            </a:spcAft>
            <a:buChar char="•"/>
          </a:pPr>
          <a:endParaRPr lang="es-PE" sz="1000" kern="1200" dirty="0">
            <a:latin typeface="Trebuchet MS" panose="020B0603020202020204" pitchFamily="34" charset="0"/>
          </a:endParaRPr>
        </a:p>
        <a:p>
          <a:pPr marL="57150" lvl="1" indent="-57150" algn="l" defTabSz="444500">
            <a:lnSpc>
              <a:spcPct val="90000"/>
            </a:lnSpc>
            <a:spcBef>
              <a:spcPct val="0"/>
            </a:spcBef>
            <a:spcAft>
              <a:spcPct val="15000"/>
            </a:spcAft>
            <a:buChar char="•"/>
          </a:pPr>
          <a:r>
            <a:rPr lang="es-PE" sz="1000" kern="1200" dirty="0">
              <a:latin typeface="Trebuchet MS" panose="020B0603020202020204" pitchFamily="34" charset="0"/>
            </a:rPr>
            <a:t>Priorización Anual: </a:t>
          </a:r>
          <a:r>
            <a:rPr lang="es-PE" sz="1000" kern="1200" dirty="0" err="1">
              <a:latin typeface="Trebuchet MS" panose="020B0603020202020204" pitchFamily="34" charset="0"/>
            </a:rPr>
            <a:t>Propietary</a:t>
          </a:r>
          <a:r>
            <a:rPr lang="es-PE" sz="1000" kern="1200" dirty="0">
              <a:latin typeface="Trebuchet MS" panose="020B0603020202020204" pitchFamily="34" charset="0"/>
            </a:rPr>
            <a:t> ESG Score * </a:t>
          </a:r>
          <a:r>
            <a:rPr lang="es-PE" sz="1000" kern="1200" dirty="0" err="1">
              <a:latin typeface="Trebuchet MS" panose="020B0603020202020204" pitchFamily="34" charset="0"/>
            </a:rPr>
            <a:t>Research</a:t>
          </a:r>
          <a:r>
            <a:rPr lang="es-PE" sz="1000" kern="1200" dirty="0">
              <a:latin typeface="Trebuchet MS" panose="020B0603020202020204" pitchFamily="34" charset="0"/>
            </a:rPr>
            <a:t> * Exposición * Noticias * Relación * Beneficio Portafolio</a:t>
          </a:r>
        </a:p>
      </dsp:txBody>
      <dsp:txXfrm rot="-5400000">
        <a:off x="894759" y="47010"/>
        <a:ext cx="3356914" cy="749729"/>
      </dsp:txXfrm>
    </dsp:sp>
    <dsp:sp modelId="{47B7C3C0-9A73-415B-8C1A-85214B8C84D4}">
      <dsp:nvSpPr>
        <dsp:cNvPr id="0" name=""/>
        <dsp:cNvSpPr/>
      </dsp:nvSpPr>
      <dsp:spPr>
        <a:xfrm rot="5400000">
          <a:off x="-191734" y="1330341"/>
          <a:ext cx="1278226" cy="894758"/>
        </a:xfrm>
        <a:prstGeom prst="chevron">
          <a:avLst/>
        </a:prstGeom>
        <a:solidFill>
          <a:schemeClr val="accen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PE" sz="1200" kern="1200">
              <a:latin typeface="Trebuchet MS" panose="020B0603020202020204" pitchFamily="34" charset="0"/>
            </a:rPr>
            <a:t>Axa</a:t>
          </a:r>
        </a:p>
      </dsp:txBody>
      <dsp:txXfrm rot="-5400000">
        <a:off x="0" y="1585986"/>
        <a:ext cx="894758" cy="383468"/>
      </dsp:txXfrm>
    </dsp:sp>
    <dsp:sp modelId="{180016ED-ABA9-4379-B2C8-3B1D65E9650E}">
      <dsp:nvSpPr>
        <dsp:cNvPr id="0" name=""/>
        <dsp:cNvSpPr/>
      </dsp:nvSpPr>
      <dsp:spPr>
        <a:xfrm rot="5400000">
          <a:off x="2178071" y="-144704"/>
          <a:ext cx="830847" cy="3397473"/>
        </a:xfrm>
        <a:prstGeom prst="round2SameRect">
          <a:avLst/>
        </a:prstGeom>
        <a:solidFill>
          <a:schemeClr val="lt1">
            <a:alpha val="90000"/>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6350" rIns="6350" bIns="6350" numCol="1" spcCol="1270" anchor="ctr" anchorCtr="0">
          <a:noAutofit/>
        </a:bodyPr>
        <a:lstStyle/>
        <a:p>
          <a:pPr marL="57150" lvl="1" indent="-57150" algn="l" defTabSz="444500">
            <a:lnSpc>
              <a:spcPct val="90000"/>
            </a:lnSpc>
            <a:spcBef>
              <a:spcPct val="0"/>
            </a:spcBef>
            <a:spcAft>
              <a:spcPct val="15000"/>
            </a:spcAft>
            <a:buChar char="•"/>
          </a:pPr>
          <a:r>
            <a:rPr lang="es-PE" sz="1000" kern="1200" dirty="0">
              <a:latin typeface="Trebuchet MS" panose="020B0603020202020204" pitchFamily="34" charset="0"/>
            </a:rPr>
            <a:t>Enfoque: Resultados Financieros de Largo Plazo y Objetivos Sociales UN</a:t>
          </a:r>
        </a:p>
        <a:p>
          <a:pPr marL="57150" lvl="1" indent="-57150" algn="l" defTabSz="444500">
            <a:lnSpc>
              <a:spcPct val="90000"/>
            </a:lnSpc>
            <a:spcBef>
              <a:spcPct val="0"/>
            </a:spcBef>
            <a:spcAft>
              <a:spcPct val="15000"/>
            </a:spcAft>
            <a:buChar char="•"/>
          </a:pPr>
          <a:endParaRPr lang="es-PE" sz="1000" kern="1200" dirty="0">
            <a:latin typeface="Trebuchet MS" panose="020B0603020202020204" pitchFamily="34" charset="0"/>
          </a:endParaRPr>
        </a:p>
        <a:p>
          <a:pPr marL="57150" lvl="1" indent="-57150" algn="l" defTabSz="444500">
            <a:lnSpc>
              <a:spcPct val="90000"/>
            </a:lnSpc>
            <a:spcBef>
              <a:spcPct val="0"/>
            </a:spcBef>
            <a:spcAft>
              <a:spcPct val="15000"/>
            </a:spcAft>
            <a:buChar char="•"/>
          </a:pPr>
          <a:r>
            <a:rPr lang="es-PE" sz="1000" kern="1200" dirty="0">
              <a:latin typeface="Trebuchet MS" panose="020B0603020202020204" pitchFamily="34" charset="0"/>
            </a:rPr>
            <a:t>Priorización: Lista Empresas (por factores relevantes: Materialidad, Exposición, Prioridad  Temática) y Temas ESG priorizados </a:t>
          </a:r>
        </a:p>
      </dsp:txBody>
      <dsp:txXfrm rot="-5400000">
        <a:off x="894759" y="1179167"/>
        <a:ext cx="3356914" cy="749729"/>
      </dsp:txXfrm>
    </dsp:sp>
    <dsp:sp modelId="{CF50E8EF-8192-4A2B-B125-8FF0F19CCFED}">
      <dsp:nvSpPr>
        <dsp:cNvPr id="0" name=""/>
        <dsp:cNvSpPr/>
      </dsp:nvSpPr>
      <dsp:spPr>
        <a:xfrm rot="5400000">
          <a:off x="-191734" y="2462498"/>
          <a:ext cx="1278226" cy="894758"/>
        </a:xfrm>
        <a:prstGeom prst="chevron">
          <a:avLst/>
        </a:prstGeom>
        <a:solidFill>
          <a:schemeClr val="accen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PE" sz="1200" kern="1200">
              <a:latin typeface="Trebuchet MS" panose="020B0603020202020204" pitchFamily="34" charset="0"/>
            </a:rPr>
            <a:t>Neuberger</a:t>
          </a:r>
        </a:p>
      </dsp:txBody>
      <dsp:txXfrm rot="-5400000">
        <a:off x="0" y="2718143"/>
        <a:ext cx="894758" cy="383468"/>
      </dsp:txXfrm>
    </dsp:sp>
    <dsp:sp modelId="{79AE13AF-1116-45BE-9866-0F3476B621C3}">
      <dsp:nvSpPr>
        <dsp:cNvPr id="0" name=""/>
        <dsp:cNvSpPr/>
      </dsp:nvSpPr>
      <dsp:spPr>
        <a:xfrm rot="5400000">
          <a:off x="2178071" y="987451"/>
          <a:ext cx="830847" cy="3397473"/>
        </a:xfrm>
        <a:prstGeom prst="round2SameRect">
          <a:avLst/>
        </a:prstGeom>
        <a:solidFill>
          <a:schemeClr val="lt1">
            <a:alpha val="90000"/>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6350" rIns="6350" bIns="6350" numCol="1" spcCol="1270" anchor="ctr" anchorCtr="0">
          <a:noAutofit/>
        </a:bodyPr>
        <a:lstStyle/>
        <a:p>
          <a:pPr marL="57150" lvl="1" indent="-57150" algn="l" defTabSz="444500">
            <a:lnSpc>
              <a:spcPct val="90000"/>
            </a:lnSpc>
            <a:spcBef>
              <a:spcPct val="0"/>
            </a:spcBef>
            <a:spcAft>
              <a:spcPct val="15000"/>
            </a:spcAft>
            <a:buChar char="•"/>
          </a:pPr>
          <a:r>
            <a:rPr lang="es-PE" sz="1000" kern="1200" dirty="0">
              <a:latin typeface="Trebuchet MS" panose="020B0603020202020204" pitchFamily="34" charset="0"/>
            </a:rPr>
            <a:t>Enfoque: Priorizan Alto Impacto (Creación de Valor)</a:t>
          </a:r>
        </a:p>
        <a:p>
          <a:pPr marL="57150" lvl="1" indent="-57150" algn="l" defTabSz="444500">
            <a:lnSpc>
              <a:spcPct val="90000"/>
            </a:lnSpc>
            <a:spcBef>
              <a:spcPct val="0"/>
            </a:spcBef>
            <a:spcAft>
              <a:spcPct val="15000"/>
            </a:spcAft>
            <a:buChar char="•"/>
          </a:pPr>
          <a:endParaRPr lang="es-PE" sz="1000" kern="1200" dirty="0">
            <a:latin typeface="Trebuchet MS" panose="020B0603020202020204" pitchFamily="34" charset="0"/>
          </a:endParaRPr>
        </a:p>
        <a:p>
          <a:pPr marL="57150" lvl="1" indent="-57150" algn="l" defTabSz="444500">
            <a:lnSpc>
              <a:spcPct val="90000"/>
            </a:lnSpc>
            <a:spcBef>
              <a:spcPct val="0"/>
            </a:spcBef>
            <a:spcAft>
              <a:spcPct val="15000"/>
            </a:spcAft>
            <a:buChar char="•"/>
          </a:pPr>
          <a:r>
            <a:rPr lang="es-PE" sz="1000" kern="1200" dirty="0">
              <a:latin typeface="Trebuchet MS" panose="020B0603020202020204" pitchFamily="34" charset="0"/>
            </a:rPr>
            <a:t>Priorización: </a:t>
          </a:r>
          <a:r>
            <a:rPr lang="es-PE" sz="1000" kern="1200" dirty="0" err="1">
              <a:latin typeface="Trebuchet MS" panose="020B0603020202020204" pitchFamily="34" charset="0"/>
            </a:rPr>
            <a:t>Propietary</a:t>
          </a:r>
          <a:r>
            <a:rPr lang="es-PE" sz="1000" kern="1200" dirty="0">
              <a:latin typeface="Trebuchet MS" panose="020B0603020202020204" pitchFamily="34" charset="0"/>
            </a:rPr>
            <a:t> ESG Rating * Riesgo * </a:t>
          </a:r>
          <a:r>
            <a:rPr lang="es-PE" sz="1000" kern="1200" dirty="0" err="1">
              <a:latin typeface="Trebuchet MS" panose="020B0603020202020204" pitchFamily="34" charset="0"/>
            </a:rPr>
            <a:t>Influence</a:t>
          </a:r>
          <a:r>
            <a:rPr lang="es-PE" sz="1000" kern="1200" dirty="0">
              <a:latin typeface="Trebuchet MS" panose="020B0603020202020204" pitchFamily="34" charset="0"/>
            </a:rPr>
            <a:t> * </a:t>
          </a:r>
          <a:r>
            <a:rPr lang="es-PE" sz="1000" kern="1200" dirty="0" err="1">
              <a:latin typeface="Trebuchet MS" panose="020B0603020202020204" pitchFamily="34" charset="0"/>
            </a:rPr>
            <a:t>Entity</a:t>
          </a:r>
          <a:endParaRPr lang="es-PE" sz="1000" kern="1200" dirty="0">
            <a:latin typeface="Trebuchet MS" panose="020B0603020202020204" pitchFamily="34" charset="0"/>
          </a:endParaRPr>
        </a:p>
      </dsp:txBody>
      <dsp:txXfrm rot="-5400000">
        <a:off x="894759" y="2311323"/>
        <a:ext cx="3356914" cy="749729"/>
      </dsp:txXfrm>
    </dsp:sp>
    <dsp:sp modelId="{28096780-9E03-4CBD-A1A1-DB74047B0C6F}">
      <dsp:nvSpPr>
        <dsp:cNvPr id="0" name=""/>
        <dsp:cNvSpPr/>
      </dsp:nvSpPr>
      <dsp:spPr>
        <a:xfrm rot="5400000">
          <a:off x="-191734" y="3594654"/>
          <a:ext cx="1278226" cy="894758"/>
        </a:xfrm>
        <a:prstGeom prst="chevron">
          <a:avLst/>
        </a:prstGeom>
        <a:solidFill>
          <a:schemeClr val="accen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PE" sz="1200" kern="1200">
              <a:latin typeface="Trebuchet MS" panose="020B0603020202020204" pitchFamily="34" charset="0"/>
            </a:rPr>
            <a:t>Robeco</a:t>
          </a:r>
        </a:p>
      </dsp:txBody>
      <dsp:txXfrm rot="-5400000">
        <a:off x="0" y="3850299"/>
        <a:ext cx="894758" cy="383468"/>
      </dsp:txXfrm>
    </dsp:sp>
    <dsp:sp modelId="{CD0976C8-12D6-426A-AAED-A249549F0DD9}">
      <dsp:nvSpPr>
        <dsp:cNvPr id="0" name=""/>
        <dsp:cNvSpPr/>
      </dsp:nvSpPr>
      <dsp:spPr>
        <a:xfrm rot="5400000">
          <a:off x="2178071" y="2119607"/>
          <a:ext cx="830847" cy="3397473"/>
        </a:xfrm>
        <a:prstGeom prst="round2SameRect">
          <a:avLst/>
        </a:prstGeom>
        <a:solidFill>
          <a:schemeClr val="lt1">
            <a:alpha val="90000"/>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6350" rIns="6350" bIns="6350" numCol="1" spcCol="1270" anchor="ctr" anchorCtr="0">
          <a:noAutofit/>
        </a:bodyPr>
        <a:lstStyle/>
        <a:p>
          <a:pPr marL="57150" lvl="1" indent="-57150" algn="l" defTabSz="444500">
            <a:lnSpc>
              <a:spcPct val="90000"/>
            </a:lnSpc>
            <a:spcBef>
              <a:spcPct val="0"/>
            </a:spcBef>
            <a:spcAft>
              <a:spcPct val="15000"/>
            </a:spcAft>
            <a:buChar char="•"/>
          </a:pPr>
          <a:r>
            <a:rPr lang="es-PE" sz="1000" kern="1200" dirty="0">
              <a:latin typeface="Trebuchet MS" panose="020B0603020202020204" pitchFamily="34" charset="0"/>
            </a:rPr>
            <a:t>Enfoque: Aspectos de Sostenibilidad Financieramente Materiales para generar Valor </a:t>
          </a:r>
        </a:p>
        <a:p>
          <a:pPr marL="57150" lvl="1" indent="-57150" algn="l" defTabSz="444500">
            <a:lnSpc>
              <a:spcPct val="90000"/>
            </a:lnSpc>
            <a:spcBef>
              <a:spcPct val="0"/>
            </a:spcBef>
            <a:spcAft>
              <a:spcPct val="15000"/>
            </a:spcAft>
            <a:buChar char="•"/>
          </a:pPr>
          <a:endParaRPr lang="es-PE" sz="1000" kern="1200" dirty="0">
            <a:latin typeface="Trebuchet MS" panose="020B0603020202020204" pitchFamily="34" charset="0"/>
          </a:endParaRPr>
        </a:p>
        <a:p>
          <a:pPr marL="57150" lvl="1" indent="-57150" algn="l" defTabSz="444500">
            <a:lnSpc>
              <a:spcPct val="90000"/>
            </a:lnSpc>
            <a:spcBef>
              <a:spcPct val="0"/>
            </a:spcBef>
            <a:spcAft>
              <a:spcPct val="15000"/>
            </a:spcAft>
            <a:buChar char="•"/>
          </a:pPr>
          <a:r>
            <a:rPr lang="es-PE" sz="1000" kern="1200" dirty="0">
              <a:latin typeface="Trebuchet MS" panose="020B0603020202020204" pitchFamily="34" charset="0"/>
            </a:rPr>
            <a:t>Priorización: Temas anuales: Exposición al tema * Exposición * Riesgo</a:t>
          </a:r>
        </a:p>
      </dsp:txBody>
      <dsp:txXfrm rot="-5400000">
        <a:off x="894759" y="3443479"/>
        <a:ext cx="3356914" cy="7497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5D69FF-C402-46CD-9A23-044101340EF0}">
      <dsp:nvSpPr>
        <dsp:cNvPr id="0" name=""/>
        <dsp:cNvSpPr/>
      </dsp:nvSpPr>
      <dsp:spPr>
        <a:xfrm>
          <a:off x="0" y="0"/>
          <a:ext cx="2321754" cy="504678"/>
        </a:xfrm>
        <a:prstGeom prst="roundRect">
          <a:avLst>
            <a:gd name="adj" fmla="val 10000"/>
          </a:avLst>
        </a:prstGeom>
        <a:solidFill>
          <a:schemeClr val="lt1">
            <a:hueOff val="0"/>
            <a:satOff val="0"/>
            <a:lumOff val="0"/>
            <a:alphaOff val="0"/>
          </a:schemeClr>
        </a:solidFill>
        <a:ln>
          <a:solidFill>
            <a:schemeClr val="accent1"/>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38100" rIns="38100" bIns="38100" numCol="1" spcCol="1270" anchor="ctr" anchorCtr="0">
          <a:noAutofit/>
        </a:bodyPr>
        <a:lstStyle/>
        <a:p>
          <a:pPr marL="0" lvl="0" indent="0" algn="just" defTabSz="444500">
            <a:lnSpc>
              <a:spcPct val="90000"/>
            </a:lnSpc>
            <a:spcBef>
              <a:spcPct val="0"/>
            </a:spcBef>
            <a:spcAft>
              <a:spcPct val="35000"/>
            </a:spcAft>
            <a:buNone/>
          </a:pPr>
          <a:r>
            <a:rPr lang="es-PE" sz="1000" b="1" kern="1200" dirty="0">
              <a:latin typeface="Trebuchet MS" panose="020B0603020202020204" pitchFamily="34" charset="0"/>
            </a:rPr>
            <a:t>Enfoque:</a:t>
          </a:r>
          <a:r>
            <a:rPr lang="es-PE" sz="1000" kern="1200" dirty="0">
              <a:latin typeface="Trebuchet MS" panose="020B0603020202020204" pitchFamily="34" charset="0"/>
            </a:rPr>
            <a:t> Creación de Valor de Largo Plazo para Portafolio </a:t>
          </a:r>
        </a:p>
      </dsp:txBody>
      <dsp:txXfrm>
        <a:off x="14782" y="14782"/>
        <a:ext cx="1777166" cy="475114"/>
      </dsp:txXfrm>
    </dsp:sp>
    <dsp:sp modelId="{80E3B8D5-3C94-495C-889F-3335FC8BD906}">
      <dsp:nvSpPr>
        <dsp:cNvPr id="0" name=""/>
        <dsp:cNvSpPr/>
      </dsp:nvSpPr>
      <dsp:spPr>
        <a:xfrm>
          <a:off x="204860" y="588791"/>
          <a:ext cx="2321754" cy="504678"/>
        </a:xfrm>
        <a:prstGeom prst="roundRect">
          <a:avLst>
            <a:gd name="adj" fmla="val 10000"/>
          </a:avLst>
        </a:prstGeom>
        <a:solidFill>
          <a:schemeClr val="lt1">
            <a:hueOff val="0"/>
            <a:satOff val="0"/>
            <a:lumOff val="0"/>
            <a:alphaOff val="0"/>
          </a:schemeClr>
        </a:solidFill>
        <a:ln>
          <a:solidFill>
            <a:schemeClr val="accent1"/>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E" sz="1000" b="1" kern="1200" dirty="0">
              <a:latin typeface="Trebuchet MS" panose="020B0603020202020204" pitchFamily="34" charset="0"/>
            </a:rPr>
            <a:t>Lista de Prioridades Periódica:</a:t>
          </a:r>
          <a:r>
            <a:rPr lang="es-PE" sz="1000" kern="1200" dirty="0">
              <a:latin typeface="Trebuchet MS" panose="020B0603020202020204" pitchFamily="34" charset="0"/>
            </a:rPr>
            <a:t> Temas y Emisores</a:t>
          </a:r>
        </a:p>
      </dsp:txBody>
      <dsp:txXfrm>
        <a:off x="219642" y="603573"/>
        <a:ext cx="1759289" cy="475114"/>
      </dsp:txXfrm>
    </dsp:sp>
    <dsp:sp modelId="{71FC1B40-B4E6-481D-9086-178717519EFA}">
      <dsp:nvSpPr>
        <dsp:cNvPr id="0" name=""/>
        <dsp:cNvSpPr/>
      </dsp:nvSpPr>
      <dsp:spPr>
        <a:xfrm>
          <a:off x="409721" y="1177582"/>
          <a:ext cx="2321754" cy="504678"/>
        </a:xfrm>
        <a:prstGeom prst="roundRect">
          <a:avLst>
            <a:gd name="adj" fmla="val 10000"/>
          </a:avLst>
        </a:prstGeom>
        <a:solidFill>
          <a:schemeClr val="lt1">
            <a:hueOff val="0"/>
            <a:satOff val="0"/>
            <a:lumOff val="0"/>
            <a:alphaOff val="0"/>
          </a:schemeClr>
        </a:solidFill>
        <a:ln>
          <a:solidFill>
            <a:schemeClr val="accent1"/>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E" sz="1000" b="1" kern="1200" dirty="0">
              <a:latin typeface="Trebuchet MS" panose="020B0603020202020204" pitchFamily="34" charset="0"/>
            </a:rPr>
            <a:t>Variables Clave: </a:t>
          </a:r>
          <a:r>
            <a:rPr lang="es-PE" sz="1000" kern="1200" dirty="0">
              <a:latin typeface="Trebuchet MS" panose="020B0603020202020204" pitchFamily="34" charset="0"/>
            </a:rPr>
            <a:t>Score ESG, Exposición, Riesgo, Influencia, Beneficio</a:t>
          </a:r>
        </a:p>
      </dsp:txBody>
      <dsp:txXfrm>
        <a:off x="424503" y="1192364"/>
        <a:ext cx="1759289" cy="475114"/>
      </dsp:txXfrm>
    </dsp:sp>
    <dsp:sp modelId="{3F49EC23-C72C-4DEA-8C69-2228C6EF0831}">
      <dsp:nvSpPr>
        <dsp:cNvPr id="0" name=""/>
        <dsp:cNvSpPr/>
      </dsp:nvSpPr>
      <dsp:spPr>
        <a:xfrm>
          <a:off x="1993713" y="382714"/>
          <a:ext cx="328040" cy="328040"/>
        </a:xfrm>
        <a:prstGeom prst="downArrow">
          <a:avLst>
            <a:gd name="adj1" fmla="val 55000"/>
            <a:gd name="adj2" fmla="val 45000"/>
          </a:avLst>
        </a:prstGeom>
        <a:solidFill>
          <a:schemeClr val="lt1">
            <a:alpha val="90000"/>
            <a:tint val="40000"/>
            <a:hueOff val="0"/>
            <a:satOff val="0"/>
            <a:lumOff val="0"/>
            <a:alphaOff val="0"/>
          </a:schemeClr>
        </a:solidFill>
        <a:ln w="9525" cap="flat" cmpd="sng" algn="ctr">
          <a:solidFill>
            <a:schemeClr val="accent1">
              <a:alpha val="9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s-PE" sz="700" kern="1200">
            <a:latin typeface="Trebuchet MS" panose="020B0603020202020204" pitchFamily="34" charset="0"/>
          </a:endParaRPr>
        </a:p>
      </dsp:txBody>
      <dsp:txXfrm>
        <a:off x="2067522" y="382714"/>
        <a:ext cx="180422" cy="246850"/>
      </dsp:txXfrm>
    </dsp:sp>
    <dsp:sp modelId="{6244A729-2F6A-4C0A-AF7E-B9F004CCAB22}">
      <dsp:nvSpPr>
        <dsp:cNvPr id="0" name=""/>
        <dsp:cNvSpPr/>
      </dsp:nvSpPr>
      <dsp:spPr>
        <a:xfrm>
          <a:off x="2198574" y="968141"/>
          <a:ext cx="328040" cy="328040"/>
        </a:xfrm>
        <a:prstGeom prst="downArrow">
          <a:avLst>
            <a:gd name="adj1" fmla="val 55000"/>
            <a:gd name="adj2" fmla="val 45000"/>
          </a:avLst>
        </a:prstGeom>
        <a:solidFill>
          <a:schemeClr val="lt1">
            <a:alpha val="90000"/>
            <a:tint val="40000"/>
            <a:hueOff val="0"/>
            <a:satOff val="0"/>
            <a:lumOff val="0"/>
            <a:alphaOff val="0"/>
          </a:schemeClr>
        </a:solidFill>
        <a:ln w="9525" cap="flat" cmpd="sng" algn="ctr">
          <a:solidFill>
            <a:schemeClr val="accent1">
              <a:alpha val="9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s-PE" sz="700" kern="1200">
            <a:latin typeface="Trebuchet MS" panose="020B0603020202020204" pitchFamily="34" charset="0"/>
          </a:endParaRPr>
        </a:p>
      </dsp:txBody>
      <dsp:txXfrm>
        <a:off x="2272383" y="968141"/>
        <a:ext cx="180422" cy="2468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A9C874-E95F-4036-AF08-0035DDC2103E}">
      <dsp:nvSpPr>
        <dsp:cNvPr id="0" name=""/>
        <dsp:cNvSpPr/>
      </dsp:nvSpPr>
      <dsp:spPr>
        <a:xfrm>
          <a:off x="0" y="0"/>
          <a:ext cx="2756301" cy="367833"/>
        </a:xfrm>
        <a:prstGeom prst="homePlate">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2004" rIns="16002" bIns="32004" numCol="1" spcCol="1270" anchor="ctr" anchorCtr="0">
          <a:noAutofit/>
        </a:bodyPr>
        <a:lstStyle/>
        <a:p>
          <a:pPr marL="0" lvl="0" indent="0" algn="ctr" defTabSz="533400">
            <a:lnSpc>
              <a:spcPct val="90000"/>
            </a:lnSpc>
            <a:spcBef>
              <a:spcPct val="0"/>
            </a:spcBef>
            <a:spcAft>
              <a:spcPct val="35000"/>
            </a:spcAft>
            <a:buNone/>
          </a:pPr>
          <a:r>
            <a:rPr lang="es-PE" sz="1200" kern="1200" dirty="0">
              <a:latin typeface="Trebuchet MS" panose="020B0603020202020204" pitchFamily="34" charset="0"/>
            </a:rPr>
            <a:t>Managers: Puntos en común</a:t>
          </a:r>
        </a:p>
      </dsp:txBody>
      <dsp:txXfrm>
        <a:off x="0" y="0"/>
        <a:ext cx="2664343" cy="36783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A9C874-E95F-4036-AF08-0035DDC2103E}">
      <dsp:nvSpPr>
        <dsp:cNvPr id="0" name=""/>
        <dsp:cNvSpPr/>
      </dsp:nvSpPr>
      <dsp:spPr>
        <a:xfrm>
          <a:off x="0" y="36728"/>
          <a:ext cx="2756301" cy="367833"/>
        </a:xfrm>
        <a:prstGeom prst="homePlate">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2004" rIns="16002" bIns="32004" numCol="1" spcCol="1270" anchor="ctr" anchorCtr="0">
          <a:noAutofit/>
        </a:bodyPr>
        <a:lstStyle/>
        <a:p>
          <a:pPr marL="0" lvl="0" indent="0" algn="ctr" defTabSz="533400">
            <a:lnSpc>
              <a:spcPct val="90000"/>
            </a:lnSpc>
            <a:spcBef>
              <a:spcPct val="0"/>
            </a:spcBef>
            <a:spcAft>
              <a:spcPct val="35000"/>
            </a:spcAft>
            <a:buNone/>
          </a:pPr>
          <a:r>
            <a:rPr lang="es-ES" sz="1200" kern="1200" dirty="0">
              <a:latin typeface="Trebuchet MS" panose="020B0603020202020204" pitchFamily="34" charset="0"/>
            </a:rPr>
            <a:t>Integra: Metodología Base</a:t>
          </a:r>
          <a:endParaRPr lang="es-PE" sz="1200" kern="1200" dirty="0">
            <a:latin typeface="Trebuchet MS" panose="020B0603020202020204" pitchFamily="34" charset="0"/>
          </a:endParaRPr>
        </a:p>
      </dsp:txBody>
      <dsp:txXfrm>
        <a:off x="0" y="36728"/>
        <a:ext cx="2664343" cy="36783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5D69FF-C402-46CD-9A23-044101340EF0}">
      <dsp:nvSpPr>
        <dsp:cNvPr id="0" name=""/>
        <dsp:cNvSpPr/>
      </dsp:nvSpPr>
      <dsp:spPr>
        <a:xfrm>
          <a:off x="0" y="-423627"/>
          <a:ext cx="2321754" cy="1413855"/>
        </a:xfrm>
        <a:prstGeom prst="roundRect">
          <a:avLst>
            <a:gd name="adj" fmla="val 10000"/>
          </a:avLst>
        </a:prstGeom>
        <a:solidFill>
          <a:srgbClr val="FFC000"/>
        </a:solidFill>
        <a:ln>
          <a:solidFill>
            <a:schemeClr val="accent1"/>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E" sz="1000" b="1" kern="1200" dirty="0">
              <a:latin typeface="Trebuchet MS" panose="020B0603020202020204" pitchFamily="34" charset="0"/>
            </a:rPr>
            <a:t>Enfoque:</a:t>
          </a:r>
          <a:r>
            <a:rPr lang="es-PE" sz="1000" kern="1200" dirty="0">
              <a:latin typeface="Trebuchet MS" panose="020B0603020202020204" pitchFamily="34" charset="0"/>
            </a:rPr>
            <a:t> Creación de Valor de Largo Plazo para Portafolio en factores de sostenibilidad (ESG+:Tecnología, Cultura, Productividad)</a:t>
          </a:r>
        </a:p>
      </dsp:txBody>
      <dsp:txXfrm>
        <a:off x="37906" y="-385721"/>
        <a:ext cx="1218396" cy="1338043"/>
      </dsp:txXfrm>
    </dsp:sp>
    <dsp:sp modelId="{80E3B8D5-3C94-495C-889F-3335FC8BD906}">
      <dsp:nvSpPr>
        <dsp:cNvPr id="0" name=""/>
        <dsp:cNvSpPr/>
      </dsp:nvSpPr>
      <dsp:spPr>
        <a:xfrm>
          <a:off x="204860" y="936108"/>
          <a:ext cx="2321754" cy="580349"/>
        </a:xfrm>
        <a:prstGeom prst="roundRect">
          <a:avLst>
            <a:gd name="adj" fmla="val 10000"/>
          </a:avLst>
        </a:prstGeom>
        <a:solidFill>
          <a:srgbClr val="FFC000"/>
        </a:solidFill>
        <a:ln>
          <a:solidFill>
            <a:schemeClr val="accent1"/>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E" sz="1000" b="1" kern="1200" dirty="0">
              <a:latin typeface="Trebuchet MS" panose="020B0603020202020204" pitchFamily="34" charset="0"/>
            </a:rPr>
            <a:t>Lista de Prioridades Anual: </a:t>
          </a:r>
          <a:r>
            <a:rPr lang="es-PE" sz="1000" b="0" kern="1200" dirty="0">
              <a:latin typeface="Trebuchet MS" panose="020B0603020202020204" pitchFamily="34" charset="0"/>
            </a:rPr>
            <a:t>Emisores</a:t>
          </a:r>
        </a:p>
      </dsp:txBody>
      <dsp:txXfrm>
        <a:off x="221858" y="953106"/>
        <a:ext cx="1428409" cy="546353"/>
      </dsp:txXfrm>
    </dsp:sp>
    <dsp:sp modelId="{71FC1B40-B4E6-481D-9086-178717519EFA}">
      <dsp:nvSpPr>
        <dsp:cNvPr id="0" name=""/>
        <dsp:cNvSpPr/>
      </dsp:nvSpPr>
      <dsp:spPr>
        <a:xfrm>
          <a:off x="409721" y="1385416"/>
          <a:ext cx="2321754" cy="2294463"/>
        </a:xfrm>
        <a:prstGeom prst="roundRect">
          <a:avLst>
            <a:gd name="adj" fmla="val 10000"/>
          </a:avLst>
        </a:prstGeom>
        <a:solidFill>
          <a:srgbClr val="FFC000"/>
        </a:solidFill>
        <a:ln>
          <a:solidFill>
            <a:schemeClr val="accent1"/>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E" sz="1000" b="1" u="sng" kern="1200" dirty="0">
              <a:latin typeface="Trebuchet MS" panose="020B0603020202020204" pitchFamily="34" charset="0"/>
            </a:rPr>
            <a:t>Variables Clave</a:t>
          </a:r>
          <a:r>
            <a:rPr lang="es-PE" sz="1000" b="1" kern="1200" dirty="0">
              <a:latin typeface="Trebuchet MS" panose="020B0603020202020204" pitchFamily="34" charset="0"/>
            </a:rPr>
            <a:t>: </a:t>
          </a:r>
        </a:p>
        <a:p>
          <a:pPr marL="0" lvl="0" indent="0" algn="l" defTabSz="444500">
            <a:lnSpc>
              <a:spcPct val="90000"/>
            </a:lnSpc>
            <a:spcBef>
              <a:spcPct val="0"/>
            </a:spcBef>
            <a:spcAft>
              <a:spcPct val="35000"/>
            </a:spcAft>
            <a:buNone/>
          </a:pPr>
          <a:r>
            <a:rPr lang="es-PE" sz="1000" kern="1200" dirty="0">
              <a:latin typeface="Trebuchet MS" panose="020B0603020202020204" pitchFamily="34" charset="0"/>
            </a:rPr>
            <a:t>- </a:t>
          </a:r>
          <a:r>
            <a:rPr lang="es-PE" sz="1000" b="1" i="1" kern="1200" dirty="0">
              <a:latin typeface="Trebuchet MS" panose="020B0603020202020204" pitchFamily="34" charset="0"/>
            </a:rPr>
            <a:t>Materialidad Financiera de la Empresa:</a:t>
          </a:r>
          <a:r>
            <a:rPr lang="es-PE" sz="1000" kern="1200" dirty="0">
              <a:latin typeface="Trebuchet MS" panose="020B0603020202020204" pitchFamily="34" charset="0"/>
            </a:rPr>
            <a:t> Variables Materiales (Importancia) evaluadas contra  Score ESG MSCI/otros (Riesgo).</a:t>
          </a:r>
        </a:p>
        <a:p>
          <a:pPr marL="0" lvl="0" indent="0" algn="l" defTabSz="444500">
            <a:lnSpc>
              <a:spcPct val="90000"/>
            </a:lnSpc>
            <a:spcBef>
              <a:spcPct val="0"/>
            </a:spcBef>
            <a:spcAft>
              <a:spcPct val="35000"/>
            </a:spcAft>
            <a:buNone/>
          </a:pPr>
          <a:r>
            <a:rPr lang="es-PE" sz="1000" b="1" i="1" kern="1200" dirty="0">
              <a:latin typeface="Trebuchet MS" panose="020B0603020202020204" pitchFamily="34" charset="0"/>
            </a:rPr>
            <a:t>- Exposición:</a:t>
          </a:r>
          <a:r>
            <a:rPr lang="es-PE" sz="1000" kern="1200" dirty="0">
              <a:latin typeface="Trebuchet MS" panose="020B0603020202020204" pitchFamily="34" charset="0"/>
            </a:rPr>
            <a:t> Posición en instrumento y vs competencia.</a:t>
          </a:r>
        </a:p>
        <a:p>
          <a:pPr marL="0" lvl="0" indent="0" algn="l" defTabSz="444500">
            <a:lnSpc>
              <a:spcPct val="90000"/>
            </a:lnSpc>
            <a:spcBef>
              <a:spcPct val="0"/>
            </a:spcBef>
            <a:spcAft>
              <a:spcPct val="35000"/>
            </a:spcAft>
            <a:buNone/>
          </a:pPr>
          <a:r>
            <a:rPr lang="es-PE" sz="1000" kern="1200" dirty="0">
              <a:latin typeface="Trebuchet MS" panose="020B0603020202020204" pitchFamily="34" charset="0"/>
            </a:rPr>
            <a:t>- </a:t>
          </a:r>
          <a:r>
            <a:rPr lang="es-PE" sz="1000" b="1" i="1" kern="1200" dirty="0">
              <a:latin typeface="Trebuchet MS" panose="020B0603020202020204" pitchFamily="34" charset="0"/>
            </a:rPr>
            <a:t>Influencia:</a:t>
          </a:r>
          <a:r>
            <a:rPr lang="es-PE" sz="1000" kern="1200" dirty="0">
              <a:latin typeface="Trebuchet MS" panose="020B0603020202020204" pitchFamily="34" charset="0"/>
            </a:rPr>
            <a:t> Capacidad real de promover cambios.</a:t>
          </a:r>
        </a:p>
      </dsp:txBody>
      <dsp:txXfrm>
        <a:off x="452553" y="1428248"/>
        <a:ext cx="1376741" cy="2208799"/>
      </dsp:txXfrm>
    </dsp:sp>
    <dsp:sp modelId="{3F49EC23-C72C-4DEA-8C69-2228C6EF0831}">
      <dsp:nvSpPr>
        <dsp:cNvPr id="0" name=""/>
        <dsp:cNvSpPr/>
      </dsp:nvSpPr>
      <dsp:spPr>
        <a:xfrm>
          <a:off x="1667266" y="543417"/>
          <a:ext cx="654488" cy="654488"/>
        </a:xfrm>
        <a:prstGeom prst="downArrow">
          <a:avLst>
            <a:gd name="adj1" fmla="val 55000"/>
            <a:gd name="adj2" fmla="val 45000"/>
          </a:avLst>
        </a:prstGeom>
        <a:solidFill>
          <a:schemeClr val="lt1">
            <a:alpha val="90000"/>
            <a:tint val="40000"/>
            <a:hueOff val="0"/>
            <a:satOff val="0"/>
            <a:lumOff val="0"/>
            <a:alphaOff val="0"/>
          </a:schemeClr>
        </a:solidFill>
        <a:ln w="9525" cap="flat" cmpd="sng" algn="ctr">
          <a:solidFill>
            <a:schemeClr val="accent1">
              <a:alpha val="9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s-PE" sz="700" kern="1200">
            <a:latin typeface="Trebuchet MS" panose="020B0603020202020204" pitchFamily="34" charset="0"/>
          </a:endParaRPr>
        </a:p>
      </dsp:txBody>
      <dsp:txXfrm>
        <a:off x="1814526" y="543417"/>
        <a:ext cx="359968" cy="492502"/>
      </dsp:txXfrm>
    </dsp:sp>
    <dsp:sp modelId="{6244A729-2F6A-4C0A-AF7E-B9F004CCAB22}">
      <dsp:nvSpPr>
        <dsp:cNvPr id="0" name=""/>
        <dsp:cNvSpPr/>
      </dsp:nvSpPr>
      <dsp:spPr>
        <a:xfrm>
          <a:off x="1872127" y="1430814"/>
          <a:ext cx="654488" cy="654488"/>
        </a:xfrm>
        <a:prstGeom prst="downArrow">
          <a:avLst>
            <a:gd name="adj1" fmla="val 55000"/>
            <a:gd name="adj2" fmla="val 45000"/>
          </a:avLst>
        </a:prstGeom>
        <a:solidFill>
          <a:schemeClr val="lt1">
            <a:alpha val="90000"/>
            <a:tint val="40000"/>
            <a:hueOff val="0"/>
            <a:satOff val="0"/>
            <a:lumOff val="0"/>
            <a:alphaOff val="0"/>
          </a:schemeClr>
        </a:solidFill>
        <a:ln w="9525" cap="flat" cmpd="sng" algn="ctr">
          <a:solidFill>
            <a:schemeClr val="accent1">
              <a:alpha val="9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s-PE" sz="700" kern="1200">
            <a:latin typeface="Trebuchet MS" panose="020B0603020202020204" pitchFamily="34" charset="0"/>
          </a:endParaRPr>
        </a:p>
      </dsp:txBody>
      <dsp:txXfrm>
        <a:off x="2019387" y="1430814"/>
        <a:ext cx="359968" cy="49250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7391F-9A36-44AD-A9AC-906EFCF7A388}">
      <dsp:nvSpPr>
        <dsp:cNvPr id="0" name=""/>
        <dsp:cNvSpPr/>
      </dsp:nvSpPr>
      <dsp:spPr>
        <a:xfrm rot="5400000">
          <a:off x="1454074" y="-519996"/>
          <a:ext cx="421499" cy="1566894"/>
        </a:xfrm>
        <a:prstGeom prst="round2SameRect">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17145" rIns="34290" bIns="17145" numCol="1" spcCol="1270" anchor="ctr" anchorCtr="0">
          <a:noAutofit/>
        </a:bodyPr>
        <a:lstStyle/>
        <a:p>
          <a:pPr marL="57150" lvl="1" indent="-57150" algn="l" defTabSz="400050">
            <a:lnSpc>
              <a:spcPct val="90000"/>
            </a:lnSpc>
            <a:spcBef>
              <a:spcPct val="0"/>
            </a:spcBef>
            <a:spcAft>
              <a:spcPct val="15000"/>
            </a:spcAft>
            <a:buChar char="•"/>
          </a:pPr>
          <a:r>
            <a:rPr lang="es-ES" sz="900" kern="1200" dirty="0">
              <a:latin typeface="Trebuchet MS" panose="020B0603020202020204" pitchFamily="34" charset="0"/>
            </a:rPr>
            <a:t>Precipitaciones</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r>
            <a:rPr lang="es-ES" sz="900" kern="1200" dirty="0">
              <a:latin typeface="Trebuchet MS" panose="020B0603020202020204" pitchFamily="34" charset="0"/>
            </a:rPr>
            <a:t>Peligro por inundaciones</a:t>
          </a:r>
          <a:endParaRPr lang="es-PE" sz="900" kern="1200" dirty="0">
            <a:latin typeface="Trebuchet MS" panose="020B0603020202020204" pitchFamily="34" charset="0"/>
          </a:endParaRPr>
        </a:p>
      </dsp:txBody>
      <dsp:txXfrm rot="-5400000">
        <a:off x="881377" y="73277"/>
        <a:ext cx="1546318" cy="380347"/>
      </dsp:txXfrm>
    </dsp:sp>
    <dsp:sp modelId="{C460FCF8-8DF7-43CA-A399-0D197C058604}">
      <dsp:nvSpPr>
        <dsp:cNvPr id="0" name=""/>
        <dsp:cNvSpPr/>
      </dsp:nvSpPr>
      <dsp:spPr>
        <a:xfrm>
          <a:off x="0" y="13"/>
          <a:ext cx="881377" cy="526874"/>
        </a:xfrm>
        <a:prstGeom prst="round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es-ES" sz="1000" kern="1200" dirty="0">
              <a:latin typeface="Trebuchet MS" panose="020B0603020202020204" pitchFamily="34" charset="0"/>
            </a:rPr>
            <a:t>Inundaciones</a:t>
          </a:r>
          <a:endParaRPr lang="es-PE" sz="1000" kern="1200" dirty="0">
            <a:latin typeface="Trebuchet MS" panose="020B0603020202020204" pitchFamily="34" charset="0"/>
          </a:endParaRPr>
        </a:p>
      </dsp:txBody>
      <dsp:txXfrm>
        <a:off x="25720" y="25733"/>
        <a:ext cx="829937" cy="475434"/>
      </dsp:txXfrm>
    </dsp:sp>
    <dsp:sp modelId="{620361AE-73C5-4CFA-AE8E-DCBF09608BDD}">
      <dsp:nvSpPr>
        <dsp:cNvPr id="0" name=""/>
        <dsp:cNvSpPr/>
      </dsp:nvSpPr>
      <dsp:spPr>
        <a:xfrm rot="5400000">
          <a:off x="1454074" y="33222"/>
          <a:ext cx="421499" cy="1566894"/>
        </a:xfrm>
        <a:prstGeom prst="round2SameRect">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17145" rIns="34290" bIns="17145" numCol="1" spcCol="1270" anchor="ctr" anchorCtr="0">
          <a:noAutofit/>
        </a:bodyPr>
        <a:lstStyle/>
        <a:p>
          <a:pPr marL="57150" lvl="1" indent="-57150" algn="l" defTabSz="400050">
            <a:lnSpc>
              <a:spcPct val="90000"/>
            </a:lnSpc>
            <a:spcBef>
              <a:spcPct val="0"/>
            </a:spcBef>
            <a:spcAft>
              <a:spcPct val="15000"/>
            </a:spcAft>
            <a:buChar char="•"/>
          </a:pPr>
          <a:r>
            <a:rPr lang="es-ES" sz="900" kern="1200" dirty="0">
              <a:latin typeface="Trebuchet MS" panose="020B0603020202020204" pitchFamily="34" charset="0"/>
            </a:rPr>
            <a:t>Riesgo y Peligro de Sequía</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r>
            <a:rPr lang="es-ES" sz="900" kern="1200" dirty="0">
              <a:latin typeface="Trebuchet MS" panose="020B0603020202020204" pitchFamily="34" charset="0"/>
            </a:rPr>
            <a:t>Duración de la Sequía</a:t>
          </a:r>
          <a:endParaRPr lang="es-PE" sz="900" kern="1200" dirty="0">
            <a:latin typeface="Trebuchet MS" panose="020B0603020202020204" pitchFamily="34" charset="0"/>
          </a:endParaRPr>
        </a:p>
      </dsp:txBody>
      <dsp:txXfrm rot="-5400000">
        <a:off x="881377" y="626495"/>
        <a:ext cx="1546318" cy="380347"/>
      </dsp:txXfrm>
    </dsp:sp>
    <dsp:sp modelId="{10FC1AEE-40A4-4A4B-88F8-A32A0A97253A}">
      <dsp:nvSpPr>
        <dsp:cNvPr id="0" name=""/>
        <dsp:cNvSpPr/>
      </dsp:nvSpPr>
      <dsp:spPr>
        <a:xfrm>
          <a:off x="0" y="553231"/>
          <a:ext cx="881377" cy="526874"/>
        </a:xfrm>
        <a:prstGeom prst="round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es-ES" sz="1000" kern="1200" dirty="0">
              <a:latin typeface="Trebuchet MS" panose="020B0603020202020204" pitchFamily="34" charset="0"/>
            </a:rPr>
            <a:t>Sequías</a:t>
          </a:r>
          <a:endParaRPr lang="es-PE" sz="1000" kern="1200" dirty="0">
            <a:latin typeface="Trebuchet MS" panose="020B0603020202020204" pitchFamily="34" charset="0"/>
          </a:endParaRPr>
        </a:p>
      </dsp:txBody>
      <dsp:txXfrm>
        <a:off x="25720" y="578951"/>
        <a:ext cx="829937" cy="4754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7391F-9A36-44AD-A9AC-906EFCF7A388}">
      <dsp:nvSpPr>
        <dsp:cNvPr id="0" name=""/>
        <dsp:cNvSpPr/>
      </dsp:nvSpPr>
      <dsp:spPr>
        <a:xfrm rot="5400000">
          <a:off x="1503040" y="-543038"/>
          <a:ext cx="421499" cy="1612979"/>
        </a:xfrm>
        <a:prstGeom prst="round2SameRect">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17145" rIns="34290" bIns="17145" numCol="1" spcCol="1270" anchor="ctr" anchorCtr="0">
          <a:noAutofit/>
        </a:bodyPr>
        <a:lstStyle/>
        <a:p>
          <a:pPr marL="57150" lvl="1" indent="-57150" algn="l" defTabSz="400050">
            <a:lnSpc>
              <a:spcPct val="90000"/>
            </a:lnSpc>
            <a:spcBef>
              <a:spcPct val="0"/>
            </a:spcBef>
            <a:spcAft>
              <a:spcPct val="15000"/>
            </a:spcAft>
            <a:buChar char="•"/>
          </a:pPr>
          <a:r>
            <a:rPr lang="es-ES" sz="900" kern="1200" dirty="0">
              <a:latin typeface="Trebuchet MS" panose="020B0603020202020204" pitchFamily="34" charset="0"/>
            </a:rPr>
            <a:t>Riesgos y Peligro de Granizo</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r>
            <a:rPr lang="es-ES" sz="900" kern="1200" dirty="0">
              <a:latin typeface="Trebuchet MS" panose="020B0603020202020204" pitchFamily="34" charset="0"/>
            </a:rPr>
            <a:t>Riesgo Baja Temperatura</a:t>
          </a:r>
          <a:endParaRPr lang="es-PE" sz="900" kern="1200" dirty="0">
            <a:latin typeface="Trebuchet MS" panose="020B0603020202020204" pitchFamily="34" charset="0"/>
          </a:endParaRPr>
        </a:p>
      </dsp:txBody>
      <dsp:txXfrm rot="-5400000">
        <a:off x="907300" y="73278"/>
        <a:ext cx="1592403" cy="380347"/>
      </dsp:txXfrm>
    </dsp:sp>
    <dsp:sp modelId="{C460FCF8-8DF7-43CA-A399-0D197C058604}">
      <dsp:nvSpPr>
        <dsp:cNvPr id="0" name=""/>
        <dsp:cNvSpPr/>
      </dsp:nvSpPr>
      <dsp:spPr>
        <a:xfrm>
          <a:off x="0" y="13"/>
          <a:ext cx="907300" cy="526874"/>
        </a:xfrm>
        <a:prstGeom prst="round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es-ES" sz="1000" kern="1200" dirty="0">
              <a:latin typeface="Trebuchet MS" panose="020B0603020202020204" pitchFamily="34" charset="0"/>
            </a:rPr>
            <a:t>Granizo</a:t>
          </a:r>
          <a:endParaRPr lang="es-PE" sz="1000" kern="1200" dirty="0">
            <a:latin typeface="Trebuchet MS" panose="020B0603020202020204" pitchFamily="34" charset="0"/>
          </a:endParaRPr>
        </a:p>
      </dsp:txBody>
      <dsp:txXfrm>
        <a:off x="25720" y="25733"/>
        <a:ext cx="855860" cy="475434"/>
      </dsp:txXfrm>
    </dsp:sp>
    <dsp:sp modelId="{620361AE-73C5-4CFA-AE8E-DCBF09608BDD}">
      <dsp:nvSpPr>
        <dsp:cNvPr id="0" name=""/>
        <dsp:cNvSpPr/>
      </dsp:nvSpPr>
      <dsp:spPr>
        <a:xfrm rot="5400000">
          <a:off x="1503040" y="10179"/>
          <a:ext cx="421499" cy="1612979"/>
        </a:xfrm>
        <a:prstGeom prst="round2SameRect">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17145" rIns="34290" bIns="17145" numCol="1" spcCol="1270" anchor="ctr" anchorCtr="0">
          <a:noAutofit/>
        </a:bodyPr>
        <a:lstStyle/>
        <a:p>
          <a:pPr marL="57150" lvl="1" indent="-57150" algn="l" defTabSz="400050">
            <a:lnSpc>
              <a:spcPct val="90000"/>
            </a:lnSpc>
            <a:spcBef>
              <a:spcPct val="0"/>
            </a:spcBef>
            <a:spcAft>
              <a:spcPct val="15000"/>
            </a:spcAft>
            <a:buChar char="•"/>
          </a:pPr>
          <a:r>
            <a:rPr lang="es-ES" sz="900" kern="1200" dirty="0">
              <a:latin typeface="Trebuchet MS" panose="020B0603020202020204" pitchFamily="34" charset="0"/>
            </a:rPr>
            <a:t>Duración</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r>
            <a:rPr lang="es-ES" sz="900" kern="1200" dirty="0">
              <a:latin typeface="Trebuchet MS" panose="020B0603020202020204" pitchFamily="34" charset="0"/>
            </a:rPr>
            <a:t>Clasificación de Incendios</a:t>
          </a:r>
          <a:endParaRPr lang="es-PE" sz="900" kern="1200" dirty="0">
            <a:latin typeface="Trebuchet MS" panose="020B0603020202020204" pitchFamily="34" charset="0"/>
          </a:endParaRPr>
        </a:p>
      </dsp:txBody>
      <dsp:txXfrm rot="-5400000">
        <a:off x="907300" y="626495"/>
        <a:ext cx="1592403" cy="380347"/>
      </dsp:txXfrm>
    </dsp:sp>
    <dsp:sp modelId="{10FC1AEE-40A4-4A4B-88F8-A32A0A97253A}">
      <dsp:nvSpPr>
        <dsp:cNvPr id="0" name=""/>
        <dsp:cNvSpPr/>
      </dsp:nvSpPr>
      <dsp:spPr>
        <a:xfrm>
          <a:off x="0" y="553231"/>
          <a:ext cx="907300" cy="526874"/>
        </a:xfrm>
        <a:prstGeom prst="round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es-ES" sz="1000" kern="1200" dirty="0">
              <a:latin typeface="Trebuchet MS" panose="020B0603020202020204" pitchFamily="34" charset="0"/>
            </a:rPr>
            <a:t>Incendios</a:t>
          </a:r>
          <a:endParaRPr lang="es-PE" sz="1000" kern="1200" dirty="0">
            <a:latin typeface="Trebuchet MS" panose="020B0603020202020204" pitchFamily="34" charset="0"/>
          </a:endParaRPr>
        </a:p>
      </dsp:txBody>
      <dsp:txXfrm>
        <a:off x="25720" y="578951"/>
        <a:ext cx="855860" cy="4754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2DF397-2F79-495C-831E-BBEA51F215F7}">
      <dsp:nvSpPr>
        <dsp:cNvPr id="0" name=""/>
        <dsp:cNvSpPr/>
      </dsp:nvSpPr>
      <dsp:spPr>
        <a:xfrm>
          <a:off x="382821" y="462636"/>
          <a:ext cx="1103602" cy="1103726"/>
        </a:xfrm>
        <a:prstGeom prst="ellipse">
          <a:avLst/>
        </a:prstGeom>
        <a:solidFill>
          <a:schemeClr val="accent1"/>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1" kern="1200" dirty="0">
              <a:latin typeface="Trebuchet MS" panose="020B0603020202020204" pitchFamily="34" charset="0"/>
            </a:rPr>
            <a:t>Pérdida Esperada</a:t>
          </a:r>
          <a:endParaRPr lang="es-PE" sz="900" b="1" kern="1200" dirty="0">
            <a:latin typeface="Trebuchet MS" panose="020B0603020202020204" pitchFamily="34" charset="0"/>
          </a:endParaRPr>
        </a:p>
      </dsp:txBody>
      <dsp:txXfrm>
        <a:off x="544440" y="624273"/>
        <a:ext cx="780364" cy="780452"/>
      </dsp:txXfrm>
    </dsp:sp>
    <dsp:sp modelId="{8FF32402-E029-4BBC-9F7D-8993B60858F8}">
      <dsp:nvSpPr>
        <dsp:cNvPr id="0" name=""/>
        <dsp:cNvSpPr/>
      </dsp:nvSpPr>
      <dsp:spPr>
        <a:xfrm>
          <a:off x="1012610" y="412350"/>
          <a:ext cx="122697" cy="122750"/>
        </a:xfrm>
        <a:prstGeom prst="ellipse">
          <a:avLst/>
        </a:prstGeom>
        <a:no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17C70B0-FECB-45FE-9A08-F587DA13202A}">
      <dsp:nvSpPr>
        <dsp:cNvPr id="0" name=""/>
        <dsp:cNvSpPr/>
      </dsp:nvSpPr>
      <dsp:spPr>
        <a:xfrm>
          <a:off x="722165" y="1484357"/>
          <a:ext cx="88967" cy="88968"/>
        </a:xfrm>
        <a:prstGeom prst="ellipse">
          <a:avLst/>
        </a:prstGeom>
        <a:no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327291-673D-44BF-B242-4B2D673AC46A}">
      <dsp:nvSpPr>
        <dsp:cNvPr id="0" name=""/>
        <dsp:cNvSpPr/>
      </dsp:nvSpPr>
      <dsp:spPr>
        <a:xfrm>
          <a:off x="1557507" y="910574"/>
          <a:ext cx="88967" cy="88968"/>
        </a:xfrm>
        <a:prstGeom prst="ellipse">
          <a:avLst/>
        </a:prstGeom>
        <a:no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6728689-AD0C-4308-A111-3032BBFAAED3}">
      <dsp:nvSpPr>
        <dsp:cNvPr id="0" name=""/>
        <dsp:cNvSpPr/>
      </dsp:nvSpPr>
      <dsp:spPr>
        <a:xfrm>
          <a:off x="1132365" y="1578999"/>
          <a:ext cx="122697" cy="122750"/>
        </a:xfrm>
        <a:prstGeom prst="ellipse">
          <a:avLst/>
        </a:prstGeom>
        <a:no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0F33B0-47CC-4341-A4F7-7D86582C728F}">
      <dsp:nvSpPr>
        <dsp:cNvPr id="0" name=""/>
        <dsp:cNvSpPr/>
      </dsp:nvSpPr>
      <dsp:spPr>
        <a:xfrm>
          <a:off x="747067" y="586806"/>
          <a:ext cx="88967" cy="88968"/>
        </a:xfrm>
        <a:prstGeom prst="ellipse">
          <a:avLst/>
        </a:prstGeom>
        <a:no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60A06AF-54B6-49D2-85F6-913751537F67}">
      <dsp:nvSpPr>
        <dsp:cNvPr id="0" name=""/>
        <dsp:cNvSpPr/>
      </dsp:nvSpPr>
      <dsp:spPr>
        <a:xfrm>
          <a:off x="467034" y="1095732"/>
          <a:ext cx="88967" cy="88968"/>
        </a:xfrm>
        <a:prstGeom prst="ellipse">
          <a:avLst/>
        </a:prstGeom>
        <a:no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774ED0-0187-47EA-AFC1-8CA0A824BB9A}">
      <dsp:nvSpPr>
        <dsp:cNvPr id="0" name=""/>
        <dsp:cNvSpPr/>
      </dsp:nvSpPr>
      <dsp:spPr>
        <a:xfrm>
          <a:off x="-241896" y="333069"/>
          <a:ext cx="1008114" cy="674093"/>
        </a:xfrm>
        <a:prstGeom prst="ellipse">
          <a:avLst/>
        </a:prstGeom>
        <a:solidFill>
          <a:srgbClr val="D2DFE9"/>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1" kern="1200" dirty="0">
              <a:solidFill>
                <a:schemeClr val="tx1"/>
              </a:solidFill>
              <a:latin typeface="Trebuchet MS" panose="020B0603020202020204" pitchFamily="34" charset="0"/>
            </a:rPr>
            <a:t>Severidad</a:t>
          </a:r>
          <a:endParaRPr lang="es-PE" sz="900" b="1" kern="1200" dirty="0">
            <a:solidFill>
              <a:schemeClr val="tx1"/>
            </a:solidFill>
            <a:latin typeface="Trebuchet MS" panose="020B0603020202020204" pitchFamily="34" charset="0"/>
          </a:endParaRPr>
        </a:p>
      </dsp:txBody>
      <dsp:txXfrm>
        <a:off x="-94261" y="431788"/>
        <a:ext cx="712844" cy="476655"/>
      </dsp:txXfrm>
    </dsp:sp>
    <dsp:sp modelId="{1D2099ED-CB66-4A8F-BD94-5CFF30005B83}">
      <dsp:nvSpPr>
        <dsp:cNvPr id="0" name=""/>
        <dsp:cNvSpPr/>
      </dsp:nvSpPr>
      <dsp:spPr>
        <a:xfrm>
          <a:off x="888554" y="590674"/>
          <a:ext cx="122697" cy="122750"/>
        </a:xfrm>
        <a:prstGeom prst="ellipse">
          <a:avLst/>
        </a:prstGeom>
        <a:no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F453723-B0CA-4D57-8447-29069B06AE53}">
      <dsp:nvSpPr>
        <dsp:cNvPr id="0" name=""/>
        <dsp:cNvSpPr/>
      </dsp:nvSpPr>
      <dsp:spPr>
        <a:xfrm>
          <a:off x="80151" y="1241950"/>
          <a:ext cx="221852" cy="221905"/>
        </a:xfrm>
        <a:prstGeom prst="ellipse">
          <a:avLst/>
        </a:prstGeom>
        <a:no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008157-CED5-49EE-A3E3-05A52B43C7D5}">
      <dsp:nvSpPr>
        <dsp:cNvPr id="0" name=""/>
        <dsp:cNvSpPr/>
      </dsp:nvSpPr>
      <dsp:spPr>
        <a:xfrm>
          <a:off x="1009938" y="117044"/>
          <a:ext cx="1052422" cy="721226"/>
        </a:xfrm>
        <a:prstGeom prst="ellipse">
          <a:avLst/>
        </a:prstGeom>
        <a:solidFill>
          <a:srgbClr val="D2DFE9"/>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1" kern="1200" dirty="0">
              <a:solidFill>
                <a:schemeClr val="tx1"/>
              </a:solidFill>
              <a:latin typeface="Trebuchet MS" panose="020B0603020202020204" pitchFamily="34" charset="0"/>
            </a:rPr>
            <a:t>Probabilidad</a:t>
          </a:r>
          <a:endParaRPr lang="es-PE" sz="900" b="1" kern="1200" dirty="0">
            <a:solidFill>
              <a:schemeClr val="tx1"/>
            </a:solidFill>
            <a:latin typeface="Trebuchet MS" panose="020B0603020202020204" pitchFamily="34" charset="0"/>
          </a:endParaRPr>
        </a:p>
      </dsp:txBody>
      <dsp:txXfrm>
        <a:off x="1164062" y="222665"/>
        <a:ext cx="744174" cy="509984"/>
      </dsp:txXfrm>
    </dsp:sp>
    <dsp:sp modelId="{82E441C9-DDC0-4311-98C8-6DFE019994BF}">
      <dsp:nvSpPr>
        <dsp:cNvPr id="0" name=""/>
        <dsp:cNvSpPr/>
      </dsp:nvSpPr>
      <dsp:spPr>
        <a:xfrm>
          <a:off x="1399494" y="760488"/>
          <a:ext cx="122697" cy="122750"/>
        </a:xfrm>
        <a:prstGeom prst="ellipse">
          <a:avLst/>
        </a:prstGeom>
        <a:no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9623B9-E8D2-4711-8828-70568EE81BCB}">
      <dsp:nvSpPr>
        <dsp:cNvPr id="0" name=""/>
        <dsp:cNvSpPr/>
      </dsp:nvSpPr>
      <dsp:spPr>
        <a:xfrm>
          <a:off x="-4288" y="1506019"/>
          <a:ext cx="88967" cy="88968"/>
        </a:xfrm>
        <a:prstGeom prst="ellipse">
          <a:avLst/>
        </a:prstGeom>
        <a:no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AF35E8-D3ED-4F22-83E9-338CF0F1B685}">
      <dsp:nvSpPr>
        <dsp:cNvPr id="0" name=""/>
        <dsp:cNvSpPr/>
      </dsp:nvSpPr>
      <dsp:spPr>
        <a:xfrm>
          <a:off x="882215" y="1379400"/>
          <a:ext cx="88967" cy="88968"/>
        </a:xfrm>
        <a:prstGeom prst="ellipse">
          <a:avLst/>
        </a:prstGeom>
        <a:no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6B10E1-2751-40DB-86BF-419364E7B38F}">
      <dsp:nvSpPr>
        <dsp:cNvPr id="0" name=""/>
        <dsp:cNvSpPr/>
      </dsp:nvSpPr>
      <dsp:spPr>
        <a:xfrm>
          <a:off x="1096093" y="1108628"/>
          <a:ext cx="941054" cy="592595"/>
        </a:xfrm>
        <a:prstGeom prst="ellipse">
          <a:avLst/>
        </a:prstGeom>
        <a:solidFill>
          <a:srgbClr val="D2DFE9"/>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b="1" kern="1200" dirty="0">
              <a:solidFill>
                <a:schemeClr val="tx1"/>
              </a:solidFill>
              <a:latin typeface="Trebuchet MS" panose="020B0603020202020204" pitchFamily="34" charset="0"/>
            </a:rPr>
            <a:t>Exposición por Emisor</a:t>
          </a:r>
          <a:endParaRPr lang="es-PE" sz="900" b="1" kern="1200" dirty="0">
            <a:solidFill>
              <a:schemeClr val="tx1"/>
            </a:solidFill>
            <a:latin typeface="Trebuchet MS" panose="020B0603020202020204" pitchFamily="34" charset="0"/>
          </a:endParaRPr>
        </a:p>
      </dsp:txBody>
      <dsp:txXfrm>
        <a:off x="1233907" y="1195412"/>
        <a:ext cx="665426" cy="419027"/>
      </dsp:txXfrm>
    </dsp:sp>
    <dsp:sp modelId="{86ECC758-09D8-4B5E-ACBA-388D95E0EF78}">
      <dsp:nvSpPr>
        <dsp:cNvPr id="0" name=""/>
        <dsp:cNvSpPr/>
      </dsp:nvSpPr>
      <dsp:spPr>
        <a:xfrm>
          <a:off x="1684280" y="1210489"/>
          <a:ext cx="88967" cy="88968"/>
        </a:xfrm>
        <a:prstGeom prst="ellipse">
          <a:avLst/>
        </a:prstGeom>
        <a:no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B83620-09FF-492A-A383-D37A5C6ABFA5}">
      <dsp:nvSpPr>
        <dsp:cNvPr id="0" name=""/>
        <dsp:cNvSpPr/>
      </dsp:nvSpPr>
      <dsp:spPr>
        <a:xfrm>
          <a:off x="1065718" y="1194"/>
          <a:ext cx="1598577" cy="947696"/>
        </a:xfrm>
        <a:prstGeom prst="rightArrow">
          <a:avLst>
            <a:gd name="adj1" fmla="val 75000"/>
            <a:gd name="adj2" fmla="val 50000"/>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Char char="•"/>
          </a:pPr>
          <a:r>
            <a:rPr lang="es-ES" sz="900" kern="1200" dirty="0">
              <a:latin typeface="Trebuchet MS" panose="020B0603020202020204" pitchFamily="34" charset="0"/>
            </a:rPr>
            <a:t>Buenaventura</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r>
            <a:rPr lang="es-ES" sz="900" kern="1200" dirty="0">
              <a:latin typeface="Trebuchet MS" panose="020B0603020202020204" pitchFamily="34" charset="0"/>
            </a:rPr>
            <a:t>Cerro Verde</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r>
            <a:rPr lang="es-ES" sz="900" kern="1200" dirty="0" err="1">
              <a:latin typeface="Trebuchet MS" panose="020B0603020202020204" pitchFamily="34" charset="0"/>
            </a:rPr>
            <a:t>Minsur</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r>
            <a:rPr lang="es-ES" sz="900" kern="1200" dirty="0" err="1">
              <a:latin typeface="Trebuchet MS" panose="020B0603020202020204" pitchFamily="34" charset="0"/>
            </a:rPr>
            <a:t>Nexa</a:t>
          </a:r>
          <a:r>
            <a:rPr lang="es-ES" sz="900" kern="1200" dirty="0">
              <a:latin typeface="Trebuchet MS" panose="020B0603020202020204" pitchFamily="34" charset="0"/>
            </a:rPr>
            <a:t> Perú</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r>
            <a:rPr lang="es-ES" sz="900" kern="1200" dirty="0" err="1">
              <a:latin typeface="Trebuchet MS" panose="020B0603020202020204" pitchFamily="34" charset="0"/>
            </a:rPr>
            <a:t>Volcan</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endParaRPr lang="es-PE" sz="900" kern="1200" dirty="0">
            <a:latin typeface="Trebuchet MS" panose="020B0603020202020204" pitchFamily="34" charset="0"/>
          </a:endParaRPr>
        </a:p>
      </dsp:txBody>
      <dsp:txXfrm>
        <a:off x="1065718" y="119656"/>
        <a:ext cx="1243191" cy="710772"/>
      </dsp:txXfrm>
    </dsp:sp>
    <dsp:sp modelId="{B25CF434-0093-4362-B90D-E25B7D04E83F}">
      <dsp:nvSpPr>
        <dsp:cNvPr id="0" name=""/>
        <dsp:cNvSpPr/>
      </dsp:nvSpPr>
      <dsp:spPr>
        <a:xfrm>
          <a:off x="0" y="1194"/>
          <a:ext cx="1065718" cy="947696"/>
        </a:xfrm>
        <a:prstGeom prst="round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s-ES" sz="1200" kern="1200" dirty="0">
              <a:latin typeface="Trebuchet MS" panose="020B0603020202020204" pitchFamily="34" charset="0"/>
            </a:rPr>
            <a:t>Minería</a:t>
          </a:r>
          <a:endParaRPr lang="es-PE" sz="1200" kern="1200" dirty="0">
            <a:latin typeface="Trebuchet MS" panose="020B0603020202020204" pitchFamily="34" charset="0"/>
          </a:endParaRPr>
        </a:p>
      </dsp:txBody>
      <dsp:txXfrm>
        <a:off x="46263" y="47457"/>
        <a:ext cx="973192" cy="855170"/>
      </dsp:txXfrm>
    </dsp:sp>
    <dsp:sp modelId="{802346A0-6462-42B2-95E8-397EA812FE16}">
      <dsp:nvSpPr>
        <dsp:cNvPr id="0" name=""/>
        <dsp:cNvSpPr/>
      </dsp:nvSpPr>
      <dsp:spPr>
        <a:xfrm>
          <a:off x="1065718" y="1043660"/>
          <a:ext cx="1598577" cy="947696"/>
        </a:xfrm>
        <a:prstGeom prst="rightArrow">
          <a:avLst>
            <a:gd name="adj1" fmla="val 75000"/>
            <a:gd name="adj2" fmla="val 50000"/>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Char char="•"/>
          </a:pPr>
          <a:r>
            <a:rPr lang="es-ES" sz="900" kern="1200" dirty="0" err="1">
              <a:latin typeface="Trebuchet MS" panose="020B0603020202020204" pitchFamily="34" charset="0"/>
            </a:rPr>
            <a:t>Engie</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r>
            <a:rPr lang="es-ES" sz="900" kern="1200">
              <a:latin typeface="Trebuchet MS" panose="020B0603020202020204" pitchFamily="34" charset="0"/>
            </a:rPr>
            <a:t>Orazen</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r>
            <a:rPr lang="es-ES" sz="900" kern="1200">
              <a:latin typeface="Trebuchet MS" panose="020B0603020202020204" pitchFamily="34" charset="0"/>
            </a:rPr>
            <a:t>Orygen</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r>
            <a:rPr lang="es-ES" sz="900" kern="1200">
              <a:latin typeface="Trebuchet MS" panose="020B0603020202020204" pitchFamily="34" charset="0"/>
            </a:rPr>
            <a:t>Pluz Energía</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endParaRPr lang="es-PE" sz="900" kern="1200" dirty="0">
            <a:latin typeface="Trebuchet MS" panose="020B0603020202020204" pitchFamily="34" charset="0"/>
          </a:endParaRPr>
        </a:p>
      </dsp:txBody>
      <dsp:txXfrm>
        <a:off x="1065718" y="1162122"/>
        <a:ext cx="1243191" cy="710772"/>
      </dsp:txXfrm>
    </dsp:sp>
    <dsp:sp modelId="{56C2625F-FE43-42B2-9EB6-81683F0F4D3D}">
      <dsp:nvSpPr>
        <dsp:cNvPr id="0" name=""/>
        <dsp:cNvSpPr/>
      </dsp:nvSpPr>
      <dsp:spPr>
        <a:xfrm>
          <a:off x="0" y="1043660"/>
          <a:ext cx="1065718" cy="947696"/>
        </a:xfrm>
        <a:prstGeom prst="round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s-ES" sz="1200" i="1" kern="1200" dirty="0" err="1">
              <a:latin typeface="Trebuchet MS" panose="020B0603020202020204" pitchFamily="34" charset="0"/>
            </a:rPr>
            <a:t>Utilities</a:t>
          </a:r>
          <a:endParaRPr lang="es-PE" sz="1200" i="1" kern="1200" dirty="0">
            <a:latin typeface="Trebuchet MS" panose="020B0603020202020204" pitchFamily="34" charset="0"/>
          </a:endParaRPr>
        </a:p>
      </dsp:txBody>
      <dsp:txXfrm>
        <a:off x="46263" y="1089923"/>
        <a:ext cx="973192" cy="855170"/>
      </dsp:txXfrm>
    </dsp:sp>
    <dsp:sp modelId="{D3E92FD6-38E0-464F-930E-A8F79646A8F0}">
      <dsp:nvSpPr>
        <dsp:cNvPr id="0" name=""/>
        <dsp:cNvSpPr/>
      </dsp:nvSpPr>
      <dsp:spPr>
        <a:xfrm>
          <a:off x="1065718" y="2086127"/>
          <a:ext cx="1598577" cy="947696"/>
        </a:xfrm>
        <a:prstGeom prst="rightArrow">
          <a:avLst>
            <a:gd name="adj1" fmla="val 75000"/>
            <a:gd name="adj2" fmla="val 50000"/>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Char char="•"/>
          </a:pPr>
          <a:r>
            <a:rPr lang="es-ES" sz="900" kern="1200" dirty="0">
              <a:latin typeface="Trebuchet MS" panose="020B0603020202020204" pitchFamily="34" charset="0"/>
            </a:rPr>
            <a:t>Pacasmayo</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r>
            <a:rPr lang="es-ES" sz="900" kern="1200" dirty="0" err="1">
              <a:latin typeface="Trebuchet MS" panose="020B0603020202020204" pitchFamily="34" charset="0"/>
            </a:rPr>
            <a:t>Unacem</a:t>
          </a:r>
          <a:endParaRPr lang="es-PE" sz="900" kern="1200" dirty="0">
            <a:latin typeface="Trebuchet MS" panose="020B0603020202020204" pitchFamily="34" charset="0"/>
          </a:endParaRPr>
        </a:p>
      </dsp:txBody>
      <dsp:txXfrm>
        <a:off x="1065718" y="2204589"/>
        <a:ext cx="1243191" cy="710772"/>
      </dsp:txXfrm>
    </dsp:sp>
    <dsp:sp modelId="{53CE9987-374B-4349-B55C-23C6D0448C23}">
      <dsp:nvSpPr>
        <dsp:cNvPr id="0" name=""/>
        <dsp:cNvSpPr/>
      </dsp:nvSpPr>
      <dsp:spPr>
        <a:xfrm>
          <a:off x="0" y="2086127"/>
          <a:ext cx="1065718" cy="947696"/>
        </a:xfrm>
        <a:prstGeom prst="round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s-ES" sz="1200" kern="1200" dirty="0">
              <a:latin typeface="Trebuchet MS" panose="020B0603020202020204" pitchFamily="34" charset="0"/>
            </a:rPr>
            <a:t>Cemento</a:t>
          </a:r>
          <a:endParaRPr lang="es-PE" sz="1200" kern="1200" dirty="0">
            <a:latin typeface="Trebuchet MS" panose="020B0603020202020204" pitchFamily="34" charset="0"/>
          </a:endParaRPr>
        </a:p>
      </dsp:txBody>
      <dsp:txXfrm>
        <a:off x="46263" y="2132390"/>
        <a:ext cx="973192" cy="855170"/>
      </dsp:txXfrm>
    </dsp:sp>
    <dsp:sp modelId="{AB0452E1-1AA0-43E2-A6E6-CE0D916D19C7}">
      <dsp:nvSpPr>
        <dsp:cNvPr id="0" name=""/>
        <dsp:cNvSpPr/>
      </dsp:nvSpPr>
      <dsp:spPr>
        <a:xfrm>
          <a:off x="1065718" y="3128593"/>
          <a:ext cx="1598577" cy="947696"/>
        </a:xfrm>
        <a:prstGeom prst="rightArrow">
          <a:avLst>
            <a:gd name="adj1" fmla="val 75000"/>
            <a:gd name="adj2" fmla="val 50000"/>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Char char="•"/>
          </a:pPr>
          <a:r>
            <a:rPr lang="es-ES" sz="900" kern="1200" dirty="0">
              <a:latin typeface="Trebuchet MS" panose="020B0603020202020204" pitchFamily="34" charset="0"/>
            </a:rPr>
            <a:t>Hunt</a:t>
          </a:r>
          <a:endParaRPr lang="es-PE" sz="900" kern="1200" dirty="0">
            <a:latin typeface="Trebuchet MS" panose="020B0603020202020204" pitchFamily="34" charset="0"/>
          </a:endParaRPr>
        </a:p>
        <a:p>
          <a:pPr marL="57150" lvl="1" indent="-57150" algn="l" defTabSz="400050">
            <a:lnSpc>
              <a:spcPct val="90000"/>
            </a:lnSpc>
            <a:spcBef>
              <a:spcPct val="0"/>
            </a:spcBef>
            <a:spcAft>
              <a:spcPct val="15000"/>
            </a:spcAft>
            <a:buChar char="•"/>
          </a:pPr>
          <a:r>
            <a:rPr lang="es-ES" sz="900" kern="1200" dirty="0">
              <a:latin typeface="Trebuchet MS" panose="020B0603020202020204" pitchFamily="34" charset="0"/>
            </a:rPr>
            <a:t>Primax</a:t>
          </a:r>
          <a:endParaRPr lang="es-PE" sz="900" kern="1200" dirty="0">
            <a:latin typeface="Trebuchet MS" panose="020B0603020202020204" pitchFamily="34" charset="0"/>
          </a:endParaRPr>
        </a:p>
      </dsp:txBody>
      <dsp:txXfrm>
        <a:off x="1065718" y="3247055"/>
        <a:ext cx="1243191" cy="710772"/>
      </dsp:txXfrm>
    </dsp:sp>
    <dsp:sp modelId="{0FFCF02F-DA54-4F51-A3C7-26BBDD2EF08A}">
      <dsp:nvSpPr>
        <dsp:cNvPr id="0" name=""/>
        <dsp:cNvSpPr/>
      </dsp:nvSpPr>
      <dsp:spPr>
        <a:xfrm>
          <a:off x="0" y="3128593"/>
          <a:ext cx="1065718" cy="947696"/>
        </a:xfrm>
        <a:prstGeom prst="round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s-ES" sz="1200" kern="1200" dirty="0">
              <a:latin typeface="Trebuchet MS" panose="020B0603020202020204" pitchFamily="34" charset="0"/>
            </a:rPr>
            <a:t>Energía</a:t>
          </a:r>
          <a:endParaRPr lang="es-PE" sz="1200" kern="1200" dirty="0">
            <a:latin typeface="Trebuchet MS" panose="020B0603020202020204" pitchFamily="34" charset="0"/>
          </a:endParaRPr>
        </a:p>
      </dsp:txBody>
      <dsp:txXfrm>
        <a:off x="46263" y="3174856"/>
        <a:ext cx="973192" cy="855170"/>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0.58518</cdr:x>
      <cdr:y>0.60099</cdr:y>
    </cdr:from>
    <cdr:to>
      <cdr:x>0.67636</cdr:x>
      <cdr:y>0.73843</cdr:y>
    </cdr:to>
    <cdr:sp macro="" textlink="">
      <cdr:nvSpPr>
        <cdr:cNvPr id="2" name="TextBox 67">
          <a:extLst xmlns:a="http://schemas.openxmlformats.org/drawingml/2006/main">
            <a:ext uri="{FF2B5EF4-FFF2-40B4-BE49-F238E27FC236}">
              <a16:creationId xmlns:a16="http://schemas.microsoft.com/office/drawing/2014/main" id="{FE16CCC9-8E3F-7A0B-2E3D-B902FC34BF28}"/>
            </a:ext>
          </a:extLst>
        </cdr:cNvPr>
        <cdr:cNvSpPr txBox="1"/>
      </cdr:nvSpPr>
      <cdr:spPr>
        <a:xfrm xmlns:a="http://schemas.openxmlformats.org/drawingml/2006/main">
          <a:off x="2807569" y="1076658"/>
          <a:ext cx="437463" cy="246221"/>
        </a:xfrm>
        <a:prstGeom xmlns:a="http://schemas.openxmlformats.org/drawingml/2006/main" prst="rect">
          <a:avLst/>
        </a:prstGeom>
        <a:solidFill xmlns:a="http://schemas.openxmlformats.org/drawingml/2006/main">
          <a:schemeClr val="bg1">
            <a:lumMod val="95000"/>
          </a:schemeClr>
        </a:solidFill>
      </cdr:spPr>
      <cdr:txBody>
        <a:bodyPr xmlns:a="http://schemas.openxmlformats.org/drawingml/2006/main" wrap="square" rtlCol="0">
          <a:spAutoFit/>
        </a:bodyPr>
        <a:lstStyle xmlns:a="http://schemas.openxmlformats.org/drawingml/2006/main">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s-PE" sz="1000" dirty="0">
              <a:latin typeface="Trebuchet MS" panose="020B0603020202020204" pitchFamily="34" charset="0"/>
            </a:rPr>
            <a:t>34</a:t>
          </a:r>
        </a:p>
      </cdr:txBody>
    </cdr:sp>
  </cdr:relSizeAnchor>
  <cdr:relSizeAnchor xmlns:cdr="http://schemas.openxmlformats.org/drawingml/2006/chartDrawing">
    <cdr:from>
      <cdr:x>0.84804</cdr:x>
      <cdr:y>0.05954</cdr:y>
    </cdr:from>
    <cdr:to>
      <cdr:x>0.93922</cdr:x>
      <cdr:y>0.19698</cdr:y>
    </cdr:to>
    <cdr:sp macro="" textlink="">
      <cdr:nvSpPr>
        <cdr:cNvPr id="3" name="TextBox 67">
          <a:extLst xmlns:a="http://schemas.openxmlformats.org/drawingml/2006/main">
            <a:ext uri="{FF2B5EF4-FFF2-40B4-BE49-F238E27FC236}">
              <a16:creationId xmlns:a16="http://schemas.microsoft.com/office/drawing/2014/main" id="{FE16CCC9-8E3F-7A0B-2E3D-B902FC34BF28}"/>
            </a:ext>
          </a:extLst>
        </cdr:cNvPr>
        <cdr:cNvSpPr txBox="1"/>
      </cdr:nvSpPr>
      <cdr:spPr>
        <a:xfrm xmlns:a="http://schemas.openxmlformats.org/drawingml/2006/main">
          <a:off x="4068698" y="106659"/>
          <a:ext cx="437463" cy="246221"/>
        </a:xfrm>
        <a:prstGeom xmlns:a="http://schemas.openxmlformats.org/drawingml/2006/main" prst="rect">
          <a:avLst/>
        </a:prstGeom>
        <a:solidFill xmlns:a="http://schemas.openxmlformats.org/drawingml/2006/main">
          <a:schemeClr val="bg1">
            <a:lumMod val="95000"/>
          </a:schemeClr>
        </a:solidFill>
      </cdr:spPr>
      <cdr:txBody>
        <a:bodyPr xmlns:a="http://schemas.openxmlformats.org/drawingml/2006/main" wrap="square" rtlCol="0">
          <a:spAutoFit/>
        </a:bodyPr>
        <a:lstStyle xmlns:a="http://schemas.openxmlformats.org/drawingml/2006/main">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s-PE" sz="1000" dirty="0">
              <a:latin typeface="Trebuchet MS" panose="020B0603020202020204" pitchFamily="34" charset="0"/>
            </a:rPr>
            <a:t>186</a:t>
          </a:r>
        </a:p>
      </cdr:txBody>
    </cdr:sp>
  </cdr:relSizeAnchor>
  <cdr:relSizeAnchor xmlns:cdr="http://schemas.openxmlformats.org/drawingml/2006/chartDrawing">
    <cdr:from>
      <cdr:x>0.71716</cdr:x>
      <cdr:y>0.34935</cdr:y>
    </cdr:from>
    <cdr:to>
      <cdr:x>0.80834</cdr:x>
      <cdr:y>0.48679</cdr:y>
    </cdr:to>
    <cdr:sp macro="" textlink="">
      <cdr:nvSpPr>
        <cdr:cNvPr id="4" name="TextBox 67">
          <a:extLst xmlns:a="http://schemas.openxmlformats.org/drawingml/2006/main">
            <a:ext uri="{FF2B5EF4-FFF2-40B4-BE49-F238E27FC236}">
              <a16:creationId xmlns:a16="http://schemas.microsoft.com/office/drawing/2014/main" id="{FE16CCC9-8E3F-7A0B-2E3D-B902FC34BF28}"/>
            </a:ext>
          </a:extLst>
        </cdr:cNvPr>
        <cdr:cNvSpPr txBox="1"/>
      </cdr:nvSpPr>
      <cdr:spPr>
        <a:xfrm xmlns:a="http://schemas.openxmlformats.org/drawingml/2006/main">
          <a:off x="3440749" y="625855"/>
          <a:ext cx="437463" cy="246221"/>
        </a:xfrm>
        <a:prstGeom xmlns:a="http://schemas.openxmlformats.org/drawingml/2006/main" prst="rect">
          <a:avLst/>
        </a:prstGeom>
        <a:solidFill xmlns:a="http://schemas.openxmlformats.org/drawingml/2006/main">
          <a:schemeClr val="bg1">
            <a:lumMod val="95000"/>
          </a:schemeClr>
        </a:solidFill>
      </cdr:spPr>
      <cdr:txBody>
        <a:bodyPr xmlns:a="http://schemas.openxmlformats.org/drawingml/2006/main" wrap="square" rtlCol="0">
          <a:spAutoFit/>
        </a:bodyPr>
        <a:lstStyle xmlns:a="http://schemas.openxmlformats.org/drawingml/2006/main">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s-PE" sz="1000" dirty="0">
              <a:latin typeface="Trebuchet MS" panose="020B0603020202020204" pitchFamily="34" charset="0"/>
            </a:rPr>
            <a:t>109</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88AC34-1A2D-4803-A7CF-70A0C83A2648}" type="datetimeFigureOut">
              <a:rPr lang="es-PE" smtClean="0"/>
              <a:t>27/08/2026</a:t>
            </a:fld>
            <a:endParaRPr lang="es-P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952D30-6F86-4FF4-A587-D3574E19F44E}" type="slidenum">
              <a:rPr lang="es-PE" smtClean="0"/>
              <a:t>‹#›</a:t>
            </a:fld>
            <a:endParaRPr lang="es-PE"/>
          </a:p>
        </p:txBody>
      </p:sp>
    </p:spTree>
    <p:extLst>
      <p:ext uri="{BB962C8B-B14F-4D97-AF65-F5344CB8AC3E}">
        <p14:creationId xmlns:p14="http://schemas.microsoft.com/office/powerpoint/2010/main" val="1408451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Presenta: Renzo</a:t>
            </a:r>
          </a:p>
          <a:p>
            <a:endParaRPr lang="es-ES" dirty="0"/>
          </a:p>
          <a:p>
            <a:r>
              <a:rPr lang="es-ES" dirty="0"/>
              <a:t>Encargado: Renzo + Vane</a:t>
            </a:r>
            <a:endParaRPr lang="es-PE" dirty="0"/>
          </a:p>
          <a:p>
            <a:endParaRPr lang="es-PE" sz="1200"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0553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AC5B4-FCF7-F840-52C9-20012AC9C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A1E77-E982-6F46-0991-72A8E6C03A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1E1F6E-189E-BF2B-0EF6-1AB9B0CA05EC}"/>
              </a:ext>
            </a:extLst>
          </p:cNvPr>
          <p:cNvSpPr>
            <a:spLocks noGrp="1"/>
          </p:cNvSpPr>
          <p:nvPr>
            <p:ph type="body" idx="1"/>
          </p:nvPr>
        </p:nvSpPr>
        <p:spPr/>
        <p:txBody>
          <a:bodyPr/>
          <a:lstStyle/>
          <a:p>
            <a:endParaRPr lang="es-PE" sz="1200" dirty="0"/>
          </a:p>
        </p:txBody>
      </p:sp>
      <p:sp>
        <p:nvSpPr>
          <p:cNvPr id="4" name="Slide Number Placeholder 3">
            <a:extLst>
              <a:ext uri="{FF2B5EF4-FFF2-40B4-BE49-F238E27FC236}">
                <a16:creationId xmlns:a16="http://schemas.microsoft.com/office/drawing/2014/main" id="{6DF002F6-A701-9B6E-76AB-67D19149452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2298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475AC-8643-2626-8A64-5E44CF6A0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68F1A-7303-68EA-233C-6095E10912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629943-118A-F6F4-EE1E-02094047846A}"/>
              </a:ext>
            </a:extLst>
          </p:cNvPr>
          <p:cNvSpPr>
            <a:spLocks noGrp="1"/>
          </p:cNvSpPr>
          <p:nvPr>
            <p:ph type="body" idx="1"/>
          </p:nvPr>
        </p:nvSpPr>
        <p:spPr/>
        <p:txBody>
          <a:bodyPr/>
          <a:lstStyle/>
          <a:p>
            <a:endParaRPr lang="es-PE" sz="1200" dirty="0"/>
          </a:p>
        </p:txBody>
      </p:sp>
      <p:sp>
        <p:nvSpPr>
          <p:cNvPr id="4" name="Slide Number Placeholder 3">
            <a:extLst>
              <a:ext uri="{FF2B5EF4-FFF2-40B4-BE49-F238E27FC236}">
                <a16:creationId xmlns:a16="http://schemas.microsoft.com/office/drawing/2014/main" id="{32683885-F93A-504A-7CEF-DA1BA9F9035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690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AB49E-0E06-8670-F325-2B30FC8FE5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69CA67-DB79-86D7-52D7-C24AC863A0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E29F5-D418-FE45-B940-975191F58E40}"/>
              </a:ext>
            </a:extLst>
          </p:cNvPr>
          <p:cNvSpPr>
            <a:spLocks noGrp="1"/>
          </p:cNvSpPr>
          <p:nvPr>
            <p:ph type="body" idx="1"/>
          </p:nvPr>
        </p:nvSpPr>
        <p:spPr/>
        <p:txBody>
          <a:bodyPr/>
          <a:lstStyle/>
          <a:p>
            <a:endParaRPr lang="es-PE" sz="1200" dirty="0"/>
          </a:p>
        </p:txBody>
      </p:sp>
      <p:sp>
        <p:nvSpPr>
          <p:cNvPr id="4" name="Slide Number Placeholder 3">
            <a:extLst>
              <a:ext uri="{FF2B5EF4-FFF2-40B4-BE49-F238E27FC236}">
                <a16:creationId xmlns:a16="http://schemas.microsoft.com/office/drawing/2014/main" id="{23D22362-88CF-0D80-0940-68126CA1E19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49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5101F-AA0C-C3B1-E700-2BF2D4ADA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E8FBDA-CEA0-CE42-E656-EC8461F98C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7B182C-5927-4C8B-732E-D58D3F832A62}"/>
              </a:ext>
            </a:extLst>
          </p:cNvPr>
          <p:cNvSpPr>
            <a:spLocks noGrp="1"/>
          </p:cNvSpPr>
          <p:nvPr>
            <p:ph type="body" idx="1"/>
          </p:nvPr>
        </p:nvSpPr>
        <p:spPr/>
        <p:txBody>
          <a:bodyPr/>
          <a:lstStyle/>
          <a:p>
            <a:endParaRPr lang="es-PE" sz="1200" dirty="0"/>
          </a:p>
        </p:txBody>
      </p:sp>
      <p:sp>
        <p:nvSpPr>
          <p:cNvPr id="4" name="Slide Number Placeholder 3">
            <a:extLst>
              <a:ext uri="{FF2B5EF4-FFF2-40B4-BE49-F238E27FC236}">
                <a16:creationId xmlns:a16="http://schemas.microsoft.com/office/drawing/2014/main" id="{BA76595D-2C6E-9021-B350-2F39A1FD980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3212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53734-22BE-7EF6-19E9-C145372BF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DF6F4-BA2C-DCC6-FFEC-3CB218A09C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031883-C7FE-E15B-ECF9-224B5EA8025C}"/>
              </a:ext>
            </a:extLst>
          </p:cNvPr>
          <p:cNvSpPr>
            <a:spLocks noGrp="1"/>
          </p:cNvSpPr>
          <p:nvPr>
            <p:ph type="body" idx="1"/>
          </p:nvPr>
        </p:nvSpPr>
        <p:spPr/>
        <p:txBody>
          <a:bodyPr/>
          <a:lstStyle/>
          <a:p>
            <a:endParaRPr lang="es-PE" sz="1200" dirty="0"/>
          </a:p>
        </p:txBody>
      </p:sp>
      <p:sp>
        <p:nvSpPr>
          <p:cNvPr id="4" name="Slide Number Placeholder 3">
            <a:extLst>
              <a:ext uri="{FF2B5EF4-FFF2-40B4-BE49-F238E27FC236}">
                <a16:creationId xmlns:a16="http://schemas.microsoft.com/office/drawing/2014/main" id="{56E56316-A73C-CF77-BF87-DA3E2DE0CD9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3447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422FB-6AFA-1916-9CD2-69961E744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784BA-A7E5-1E8E-52D4-284DAC983E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A6C95-8C35-38B2-DF77-3B3F4A985571}"/>
              </a:ext>
            </a:extLst>
          </p:cNvPr>
          <p:cNvSpPr>
            <a:spLocks noGrp="1"/>
          </p:cNvSpPr>
          <p:nvPr>
            <p:ph type="body" idx="1"/>
          </p:nvPr>
        </p:nvSpPr>
        <p:spPr/>
        <p:txBody>
          <a:bodyPr/>
          <a:lstStyle/>
          <a:p>
            <a:endParaRPr lang="es-PE" sz="1200" dirty="0"/>
          </a:p>
        </p:txBody>
      </p:sp>
      <p:sp>
        <p:nvSpPr>
          <p:cNvPr id="4" name="Slide Number Placeholder 3">
            <a:extLst>
              <a:ext uri="{FF2B5EF4-FFF2-40B4-BE49-F238E27FC236}">
                <a16:creationId xmlns:a16="http://schemas.microsoft.com/office/drawing/2014/main" id="{952F2E1C-67D3-89E7-0581-33F3F2047FC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251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09802-A022-4F41-474A-EE6661F3E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60EF16-24B5-CF34-9535-451C86A9D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C1BBE0-F4D4-34AE-0103-BAFC6FDB40A6}"/>
              </a:ext>
            </a:extLst>
          </p:cNvPr>
          <p:cNvSpPr>
            <a:spLocks noGrp="1"/>
          </p:cNvSpPr>
          <p:nvPr>
            <p:ph type="body" idx="1"/>
          </p:nvPr>
        </p:nvSpPr>
        <p:spPr/>
        <p:txBody>
          <a:bodyPr/>
          <a:lstStyle/>
          <a:p>
            <a:endParaRPr lang="es-PE" sz="1200" dirty="0"/>
          </a:p>
        </p:txBody>
      </p:sp>
      <p:sp>
        <p:nvSpPr>
          <p:cNvPr id="4" name="Slide Number Placeholder 3">
            <a:extLst>
              <a:ext uri="{FF2B5EF4-FFF2-40B4-BE49-F238E27FC236}">
                <a16:creationId xmlns:a16="http://schemas.microsoft.com/office/drawing/2014/main" id="{D623AFC8-5994-F709-827E-0C668956AB5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0545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1E380-0C92-3B1F-06C3-FE689D7331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0996B-3D1B-3827-4F3D-6466D2AE65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B2E660-C408-FDE8-854B-A405F9847A57}"/>
              </a:ext>
            </a:extLst>
          </p:cNvPr>
          <p:cNvSpPr>
            <a:spLocks noGrp="1"/>
          </p:cNvSpPr>
          <p:nvPr>
            <p:ph type="body" idx="1"/>
          </p:nvPr>
        </p:nvSpPr>
        <p:spPr/>
        <p:txBody>
          <a:bodyPr/>
          <a:lstStyle/>
          <a:p>
            <a:endParaRPr lang="es-ES" dirty="0"/>
          </a:p>
        </p:txBody>
      </p:sp>
      <p:sp>
        <p:nvSpPr>
          <p:cNvPr id="4" name="Slide Number Placeholder 3">
            <a:extLst>
              <a:ext uri="{FF2B5EF4-FFF2-40B4-BE49-F238E27FC236}">
                <a16:creationId xmlns:a16="http://schemas.microsoft.com/office/drawing/2014/main" id="{55022FEE-AA4F-092A-A8E2-BB738C5A12C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2960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PE" dirty="0"/>
          </a:p>
        </p:txBody>
      </p:sp>
      <p:sp>
        <p:nvSpPr>
          <p:cNvPr id="4" name="Slide Number Placeholder 3"/>
          <p:cNvSpPr>
            <a:spLocks noGrp="1"/>
          </p:cNvSpPr>
          <p:nvPr>
            <p:ph type="sldNum" sz="quarter" idx="5"/>
          </p:nvPr>
        </p:nvSpPr>
        <p:spPr/>
        <p:txBody>
          <a:bodyPr/>
          <a:lstStyle/>
          <a:p>
            <a:fld id="{2FC3A468-8A22-4129-B6B7-A7CBC903EA05}" type="slidenum">
              <a:rPr lang="es-PE" smtClean="0"/>
              <a:t>11</a:t>
            </a:fld>
            <a:endParaRPr lang="es-PE"/>
          </a:p>
        </p:txBody>
      </p:sp>
    </p:spTree>
    <p:extLst>
      <p:ext uri="{BB962C8B-B14F-4D97-AF65-F5344CB8AC3E}">
        <p14:creationId xmlns:p14="http://schemas.microsoft.com/office/powerpoint/2010/main" val="909388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4EFBD-2163-B51A-B2DF-7CD415F78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79C7F-D0A3-7DDE-6088-F7BD2EAAEA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96E8AA-A41E-2FDC-4C72-10032E03A0E7}"/>
              </a:ext>
            </a:extLst>
          </p:cNvPr>
          <p:cNvSpPr>
            <a:spLocks noGrp="1"/>
          </p:cNvSpPr>
          <p:nvPr>
            <p:ph type="body" idx="1"/>
          </p:nvPr>
        </p:nvSpPr>
        <p:spPr/>
        <p:txBody>
          <a:bodyPr/>
          <a:lstStyle/>
          <a:p>
            <a:r>
              <a:rPr lang="es-ES" dirty="0" err="1"/>
              <a:t>Reduccion</a:t>
            </a:r>
            <a:r>
              <a:rPr lang="es-ES" dirty="0"/>
              <a:t> Q de Metal </a:t>
            </a:r>
            <a:r>
              <a:rPr lang="es-ES" dirty="0" err="1"/>
              <a:t>Mining</a:t>
            </a:r>
            <a:r>
              <a:rPr lang="es-ES" dirty="0"/>
              <a:t> ETF SS; Menos Q y un poquito de Huella Ecopetrol; </a:t>
            </a:r>
            <a:r>
              <a:rPr lang="es-ES" dirty="0" err="1"/>
              <a:t>Pimco</a:t>
            </a:r>
            <a:r>
              <a:rPr lang="es-ES" dirty="0"/>
              <a:t> EM (más huella que Q); </a:t>
            </a:r>
            <a:r>
              <a:rPr lang="es-ES" dirty="0" err="1"/>
              <a:t>Nexa</a:t>
            </a:r>
            <a:r>
              <a:rPr lang="es-ES" dirty="0"/>
              <a:t> </a:t>
            </a:r>
            <a:r>
              <a:rPr lang="es-ES" dirty="0" err="1"/>
              <a:t>Resources</a:t>
            </a:r>
            <a:r>
              <a:rPr lang="es-ES" dirty="0"/>
              <a:t> menos Q; Van Eck Gold Miners menos Q.</a:t>
            </a:r>
          </a:p>
          <a:p>
            <a:r>
              <a:rPr lang="es-ES" dirty="0" err="1"/>
              <a:t>Sobs</a:t>
            </a:r>
            <a:r>
              <a:rPr lang="es-ES" dirty="0"/>
              <a:t>: </a:t>
            </a:r>
            <a:r>
              <a:rPr lang="es-ES" dirty="0" err="1"/>
              <a:t>Reduccion</a:t>
            </a:r>
            <a:r>
              <a:rPr lang="es-ES" dirty="0"/>
              <a:t> </a:t>
            </a:r>
            <a:r>
              <a:rPr lang="es-ES" dirty="0" err="1"/>
              <a:t>Peru</a:t>
            </a:r>
            <a:r>
              <a:rPr lang="es-ES" dirty="0"/>
              <a:t> Q y entrada de </a:t>
            </a:r>
            <a:r>
              <a:rPr lang="es-ES" dirty="0" err="1"/>
              <a:t>Sobs</a:t>
            </a:r>
            <a:r>
              <a:rPr lang="es-ES" dirty="0"/>
              <a:t> </a:t>
            </a:r>
            <a:r>
              <a:rPr lang="es-ES" dirty="0" err="1"/>
              <a:t>Sudafrica</a:t>
            </a:r>
            <a:r>
              <a:rPr lang="es-ES" dirty="0"/>
              <a:t> y + Brasil Q y Colombia.</a:t>
            </a:r>
          </a:p>
        </p:txBody>
      </p:sp>
      <p:sp>
        <p:nvSpPr>
          <p:cNvPr id="4" name="Slide Number Placeholder 3">
            <a:extLst>
              <a:ext uri="{FF2B5EF4-FFF2-40B4-BE49-F238E27FC236}">
                <a16:creationId xmlns:a16="http://schemas.microsoft.com/office/drawing/2014/main" id="{6B1138B7-7EE6-1224-016F-E7D964553E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s-P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11115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1342A-F639-407A-D0AE-61647220C3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25537-37E3-C3C4-C2A3-0B2775604F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E6905-57AC-E4F8-FFE2-6D2F4E2400BB}"/>
              </a:ext>
            </a:extLst>
          </p:cNvPr>
          <p:cNvSpPr>
            <a:spLocks noGrp="1"/>
          </p:cNvSpPr>
          <p:nvPr>
            <p:ph type="body" idx="1"/>
          </p:nvPr>
        </p:nvSpPr>
        <p:spPr/>
        <p:txBody>
          <a:bodyPr/>
          <a:lstStyle/>
          <a:p>
            <a:r>
              <a:rPr lang="es-ES" dirty="0"/>
              <a:t>Reducción de la huella: </a:t>
            </a:r>
          </a:p>
          <a:p>
            <a:r>
              <a:rPr lang="es-ES" sz="1200" b="0" i="0" u="none" strike="noStrike" kern="1200" dirty="0">
                <a:solidFill>
                  <a:schemeClr val="tx1"/>
                </a:solidFill>
                <a:effectLst/>
                <a:latin typeface="+mn-lt"/>
                <a:ea typeface="+mn-ea"/>
                <a:cs typeface="+mn-cs"/>
              </a:rPr>
              <a:t>TD: </a:t>
            </a:r>
            <a:r>
              <a:rPr lang="es-PE" sz="1200" b="0" i="0" u="none" strike="noStrike" kern="1200" dirty="0" err="1">
                <a:solidFill>
                  <a:schemeClr val="tx1"/>
                </a:solidFill>
                <a:effectLst/>
                <a:latin typeface="+mn-lt"/>
                <a:ea typeface="+mn-ea"/>
                <a:cs typeface="+mn-cs"/>
              </a:rPr>
              <a:t>State</a:t>
            </a:r>
            <a:r>
              <a:rPr lang="es-PE" sz="1200" b="0" i="0" u="none" strike="noStrike" kern="1200" dirty="0">
                <a:solidFill>
                  <a:schemeClr val="tx1"/>
                </a:solidFill>
                <a:effectLst/>
                <a:latin typeface="+mn-lt"/>
                <a:ea typeface="+mn-ea"/>
                <a:cs typeface="+mn-cs"/>
              </a:rPr>
              <a:t> Street - S&amp;P </a:t>
            </a:r>
            <a:r>
              <a:rPr lang="es-PE" sz="1200" b="0" i="0" u="none" strike="noStrike" kern="1200" dirty="0" err="1">
                <a:solidFill>
                  <a:schemeClr val="tx1"/>
                </a:solidFill>
                <a:effectLst/>
                <a:latin typeface="+mn-lt"/>
                <a:ea typeface="+mn-ea"/>
                <a:cs typeface="+mn-cs"/>
              </a:rPr>
              <a:t>Metals</a:t>
            </a:r>
            <a:r>
              <a:rPr lang="es-PE" sz="1200" b="0" i="0" u="none" strike="noStrike" kern="1200" dirty="0">
                <a:solidFill>
                  <a:schemeClr val="tx1"/>
                </a:solidFill>
                <a:effectLst/>
                <a:latin typeface="+mn-lt"/>
                <a:ea typeface="+mn-ea"/>
                <a:cs typeface="+mn-cs"/>
              </a:rPr>
              <a:t> &amp; </a:t>
            </a:r>
            <a:r>
              <a:rPr lang="es-PE" sz="1200" b="0" i="0" u="none" strike="noStrike" kern="1200" dirty="0" err="1">
                <a:solidFill>
                  <a:schemeClr val="tx1"/>
                </a:solidFill>
                <a:effectLst/>
                <a:latin typeface="+mn-lt"/>
                <a:ea typeface="+mn-ea"/>
                <a:cs typeface="+mn-cs"/>
              </a:rPr>
              <a:t>Mining</a:t>
            </a:r>
            <a:r>
              <a:rPr lang="es-PE" sz="1200" b="0" i="0" u="none" strike="noStrike" kern="1200" dirty="0">
                <a:solidFill>
                  <a:schemeClr val="tx1"/>
                </a:solidFill>
                <a:effectLst/>
                <a:latin typeface="+mn-lt"/>
                <a:ea typeface="+mn-ea"/>
                <a:cs typeface="+mn-cs"/>
              </a:rPr>
              <a:t> ETF</a:t>
            </a:r>
            <a:r>
              <a:rPr lang="es-PE" dirty="0">
                <a:effectLst/>
              </a:rPr>
              <a:t> (nuevo), </a:t>
            </a:r>
            <a:r>
              <a:rPr lang="es-PE" sz="1200" b="0" i="0" u="none" strike="noStrike" kern="1200" dirty="0">
                <a:solidFill>
                  <a:schemeClr val="tx1"/>
                </a:solidFill>
                <a:effectLst/>
                <a:latin typeface="+mn-lt"/>
                <a:ea typeface="+mn-ea"/>
                <a:cs typeface="+mn-cs"/>
              </a:rPr>
              <a:t>Global X - </a:t>
            </a:r>
            <a:r>
              <a:rPr lang="es-PE" sz="1200" b="0" i="0" u="none" strike="noStrike" kern="1200" dirty="0" err="1">
                <a:solidFill>
                  <a:schemeClr val="tx1"/>
                </a:solidFill>
                <a:effectLst/>
                <a:latin typeface="+mn-lt"/>
                <a:ea typeface="+mn-ea"/>
                <a:cs typeface="+mn-cs"/>
              </a:rPr>
              <a:t>Copper</a:t>
            </a:r>
            <a:r>
              <a:rPr lang="es-PE" sz="1200" b="0" i="0" u="none" strike="noStrike" kern="1200" dirty="0">
                <a:solidFill>
                  <a:schemeClr val="tx1"/>
                </a:solidFill>
                <a:effectLst/>
                <a:latin typeface="+mn-lt"/>
                <a:ea typeface="+mn-ea"/>
                <a:cs typeface="+mn-cs"/>
              </a:rPr>
              <a:t> </a:t>
            </a:r>
            <a:r>
              <a:rPr lang="es-PE" sz="1200" b="0" i="0" u="none" strike="noStrike" kern="1200" dirty="0" err="1">
                <a:solidFill>
                  <a:schemeClr val="tx1"/>
                </a:solidFill>
                <a:effectLst/>
                <a:latin typeface="+mn-lt"/>
                <a:ea typeface="+mn-ea"/>
                <a:cs typeface="+mn-cs"/>
              </a:rPr>
              <a:t>Miners</a:t>
            </a:r>
            <a:r>
              <a:rPr lang="es-PE" sz="1200" b="0" i="0" u="none" strike="noStrike" kern="1200" dirty="0">
                <a:solidFill>
                  <a:schemeClr val="tx1"/>
                </a:solidFill>
                <a:effectLst/>
                <a:latin typeface="+mn-lt"/>
                <a:ea typeface="+mn-ea"/>
                <a:cs typeface="+mn-cs"/>
              </a:rPr>
              <a:t> ETF</a:t>
            </a:r>
            <a:r>
              <a:rPr lang="es-PE" dirty="0">
                <a:effectLst/>
              </a:rPr>
              <a:t>  (reducción en intensidad), </a:t>
            </a:r>
            <a:r>
              <a:rPr lang="es-PE" sz="1200" b="0" i="0" u="none" strike="noStrike" kern="1200" dirty="0" err="1">
                <a:solidFill>
                  <a:schemeClr val="tx1"/>
                </a:solidFill>
                <a:effectLst/>
                <a:latin typeface="+mn-lt"/>
                <a:ea typeface="+mn-ea"/>
                <a:cs typeface="+mn-cs"/>
              </a:rPr>
              <a:t>BlackRock</a:t>
            </a:r>
            <a:r>
              <a:rPr lang="es-PE" sz="1200" b="0" i="0" u="none" strike="noStrike" kern="1200" dirty="0">
                <a:solidFill>
                  <a:schemeClr val="tx1"/>
                </a:solidFill>
                <a:effectLst/>
                <a:latin typeface="+mn-lt"/>
                <a:ea typeface="+mn-ea"/>
                <a:cs typeface="+mn-cs"/>
              </a:rPr>
              <a:t> - </a:t>
            </a:r>
            <a:r>
              <a:rPr lang="es-PE" sz="1200" b="0" i="0" u="none" strike="noStrike" kern="1200" dirty="0" err="1">
                <a:solidFill>
                  <a:schemeClr val="tx1"/>
                </a:solidFill>
                <a:effectLst/>
                <a:latin typeface="+mn-lt"/>
                <a:ea typeface="+mn-ea"/>
                <a:cs typeface="+mn-cs"/>
              </a:rPr>
              <a:t>iShares</a:t>
            </a:r>
            <a:r>
              <a:rPr lang="es-PE" sz="1200" b="0" i="0" u="none" strike="noStrike" kern="1200" dirty="0">
                <a:solidFill>
                  <a:schemeClr val="tx1"/>
                </a:solidFill>
                <a:effectLst/>
                <a:latin typeface="+mn-lt"/>
                <a:ea typeface="+mn-ea"/>
                <a:cs typeface="+mn-cs"/>
              </a:rPr>
              <a:t> - </a:t>
            </a:r>
            <a:r>
              <a:rPr lang="es-PE" sz="1200" b="0" i="0" u="none" strike="noStrike" kern="1200" dirty="0" err="1">
                <a:solidFill>
                  <a:schemeClr val="tx1"/>
                </a:solidFill>
                <a:effectLst/>
                <a:latin typeface="+mn-lt"/>
                <a:ea typeface="+mn-ea"/>
                <a:cs typeface="+mn-cs"/>
              </a:rPr>
              <a:t>Tips</a:t>
            </a:r>
            <a:r>
              <a:rPr lang="es-PE" sz="1200" b="0" i="0" u="none" strike="noStrike" kern="1200" dirty="0">
                <a:solidFill>
                  <a:schemeClr val="tx1"/>
                </a:solidFill>
                <a:effectLst/>
                <a:latin typeface="+mn-lt"/>
                <a:ea typeface="+mn-ea"/>
                <a:cs typeface="+mn-cs"/>
              </a:rPr>
              <a:t> ETF</a:t>
            </a:r>
            <a:r>
              <a:rPr lang="es-PE" dirty="0">
                <a:effectLst/>
              </a:rPr>
              <a:t> (reducción en intensidad), </a:t>
            </a:r>
            <a:r>
              <a:rPr lang="en-US" sz="1200" b="0" i="0" u="none" strike="noStrike" kern="1200" dirty="0">
                <a:solidFill>
                  <a:schemeClr val="tx1"/>
                </a:solidFill>
                <a:effectLst/>
                <a:latin typeface="+mn-lt"/>
                <a:ea typeface="+mn-ea"/>
                <a:cs typeface="+mn-cs"/>
              </a:rPr>
              <a:t>BNP Paribas - Japan Small Caps</a:t>
            </a:r>
            <a:r>
              <a:rPr lang="en-US" dirty="0">
                <a:effectLst/>
              </a:rPr>
              <a:t> (</a:t>
            </a:r>
            <a:r>
              <a:rPr lang="en-US" dirty="0" err="1">
                <a:effectLst/>
              </a:rPr>
              <a:t>aumento</a:t>
            </a:r>
            <a:r>
              <a:rPr lang="en-US" dirty="0">
                <a:effectLst/>
              </a:rPr>
              <a:t> </a:t>
            </a:r>
            <a:r>
              <a:rPr lang="en-US" dirty="0" err="1">
                <a:effectLst/>
              </a:rPr>
              <a:t>en</a:t>
            </a:r>
            <a:r>
              <a:rPr lang="en-US" dirty="0">
                <a:effectLst/>
              </a:rPr>
              <a:t> </a:t>
            </a:r>
            <a:r>
              <a:rPr lang="en-US" dirty="0" err="1">
                <a:effectLst/>
              </a:rPr>
              <a:t>itensidad</a:t>
            </a:r>
            <a:r>
              <a:rPr lang="en-US" dirty="0">
                <a:effectLst/>
              </a:rPr>
              <a:t>)</a:t>
            </a:r>
            <a:endParaRPr lang="es-ES" dirty="0"/>
          </a:p>
          <a:p>
            <a:endParaRPr lang="es-ES" dirty="0"/>
          </a:p>
          <a:p>
            <a:r>
              <a:rPr lang="es-ES" dirty="0"/>
              <a:t>BU:  </a:t>
            </a:r>
          </a:p>
          <a:p>
            <a:r>
              <a:rPr lang="es-ES" dirty="0"/>
              <a:t>      </a:t>
            </a:r>
          </a:p>
        </p:txBody>
      </p:sp>
      <p:sp>
        <p:nvSpPr>
          <p:cNvPr id="4" name="Slide Number Placeholder 3">
            <a:extLst>
              <a:ext uri="{FF2B5EF4-FFF2-40B4-BE49-F238E27FC236}">
                <a16:creationId xmlns:a16="http://schemas.microsoft.com/office/drawing/2014/main" id="{96A54DF2-995A-034B-E4CC-159BE646EF6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s-P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4235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35B00-CBFB-EF3C-F409-000339091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67C285-A690-EA12-7B01-2E0E67FF64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5E427-6CBE-CAFD-8A6D-87F139DFD7F9}"/>
              </a:ext>
            </a:extLst>
          </p:cNvPr>
          <p:cNvSpPr>
            <a:spLocks noGrp="1"/>
          </p:cNvSpPr>
          <p:nvPr>
            <p:ph type="body" idx="1"/>
          </p:nvPr>
        </p:nvSpPr>
        <p:spPr/>
        <p:txBody>
          <a:bodyPr/>
          <a:lstStyle/>
          <a:p>
            <a:endParaRPr lang="es-ES" dirty="0"/>
          </a:p>
        </p:txBody>
      </p:sp>
      <p:sp>
        <p:nvSpPr>
          <p:cNvPr id="4" name="Slide Number Placeholder 3">
            <a:extLst>
              <a:ext uri="{FF2B5EF4-FFF2-40B4-BE49-F238E27FC236}">
                <a16:creationId xmlns:a16="http://schemas.microsoft.com/office/drawing/2014/main" id="{DCAD47A2-8B6A-A731-9A5F-078CE01C0D9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0842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29400-18B0-058E-78C7-4BF1894B35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174BD0-2A01-F53F-2B42-AD6B25A68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D1892D-22F3-A02A-9E81-B6925D300232}"/>
              </a:ext>
            </a:extLst>
          </p:cNvPr>
          <p:cNvSpPr>
            <a:spLocks noGrp="1"/>
          </p:cNvSpPr>
          <p:nvPr>
            <p:ph type="body" idx="1"/>
          </p:nvPr>
        </p:nvSpPr>
        <p:spPr/>
        <p:txBody>
          <a:bodyPr/>
          <a:lstStyle/>
          <a:p>
            <a:r>
              <a:rPr lang="es-ES" dirty="0"/>
              <a:t>Presenta: Renzo</a:t>
            </a:r>
          </a:p>
          <a:p>
            <a:endParaRPr lang="es-ES" dirty="0"/>
          </a:p>
          <a:p>
            <a:r>
              <a:rPr lang="es-ES" dirty="0"/>
              <a:t>Encargado: Renzo + Vane</a:t>
            </a:r>
            <a:endParaRPr lang="es-PE" dirty="0"/>
          </a:p>
          <a:p>
            <a:endParaRPr lang="es-PE" dirty="0"/>
          </a:p>
        </p:txBody>
      </p:sp>
      <p:sp>
        <p:nvSpPr>
          <p:cNvPr id="4" name="Slide Number Placeholder 3">
            <a:extLst>
              <a:ext uri="{FF2B5EF4-FFF2-40B4-BE49-F238E27FC236}">
                <a16:creationId xmlns:a16="http://schemas.microsoft.com/office/drawing/2014/main" id="{090D937C-3C8B-0B93-9B1A-88EDCEA6176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9371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PE" dirty="0"/>
          </a:p>
        </p:txBody>
      </p:sp>
      <p:sp>
        <p:nvSpPr>
          <p:cNvPr id="4" name="Slide Number Placeholder 3"/>
          <p:cNvSpPr>
            <a:spLocks noGrp="1"/>
          </p:cNvSpPr>
          <p:nvPr>
            <p:ph type="sldNum" sz="quarter" idx="5"/>
          </p:nvPr>
        </p:nvSpPr>
        <p:spPr/>
        <p:txBody>
          <a:bodyPr/>
          <a:lstStyle/>
          <a:p>
            <a:fld id="{1B952D30-6F86-4FF4-A587-D3574E19F44E}" type="slidenum">
              <a:rPr lang="es-PE" smtClean="0"/>
              <a:t>18</a:t>
            </a:fld>
            <a:endParaRPr lang="es-PE"/>
          </a:p>
        </p:txBody>
      </p:sp>
    </p:spTree>
    <p:extLst>
      <p:ext uri="{BB962C8B-B14F-4D97-AF65-F5344CB8AC3E}">
        <p14:creationId xmlns:p14="http://schemas.microsoft.com/office/powerpoint/2010/main" val="2384748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64FF5-1031-6EB9-8D56-3522DE0BB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15B70-033D-AA42-D9AB-A0BB33402D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199122-630C-DB92-9C24-A9D8DBEF36BF}"/>
              </a:ext>
            </a:extLst>
          </p:cNvPr>
          <p:cNvSpPr>
            <a:spLocks noGrp="1"/>
          </p:cNvSpPr>
          <p:nvPr>
            <p:ph type="body" idx="1"/>
          </p:nvPr>
        </p:nvSpPr>
        <p:spPr/>
        <p:txBody>
          <a:bodyPr/>
          <a:lstStyle/>
          <a:p>
            <a:endParaRPr lang="es-PE" dirty="0"/>
          </a:p>
        </p:txBody>
      </p:sp>
      <p:sp>
        <p:nvSpPr>
          <p:cNvPr id="4" name="Slide Number Placeholder 3">
            <a:extLst>
              <a:ext uri="{FF2B5EF4-FFF2-40B4-BE49-F238E27FC236}">
                <a16:creationId xmlns:a16="http://schemas.microsoft.com/office/drawing/2014/main" id="{B23363E9-C502-042D-B0C1-90CE6C0629E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6200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D5CEB-0B72-2B53-1797-CD66CB1CA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8085D-9810-BD49-A83C-28CB9B0CC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35DF59-C681-F229-1C98-9DE68C515334}"/>
              </a:ext>
            </a:extLst>
          </p:cNvPr>
          <p:cNvSpPr>
            <a:spLocks noGrp="1"/>
          </p:cNvSpPr>
          <p:nvPr>
            <p:ph type="body" idx="1"/>
          </p:nvPr>
        </p:nvSpPr>
        <p:spPr/>
        <p:txBody>
          <a:bodyPr/>
          <a:lstStyle/>
          <a:p>
            <a:endParaRPr lang="es-PE" dirty="0"/>
          </a:p>
        </p:txBody>
      </p:sp>
      <p:sp>
        <p:nvSpPr>
          <p:cNvPr id="4" name="Slide Number Placeholder 3">
            <a:extLst>
              <a:ext uri="{FF2B5EF4-FFF2-40B4-BE49-F238E27FC236}">
                <a16:creationId xmlns:a16="http://schemas.microsoft.com/office/drawing/2014/main" id="{9B379D82-9839-EDC8-07DA-49C43FD6B62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9158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C243B-6282-CDC3-4023-862453F3F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72458-3280-DA5A-A3E9-7AA38D5B7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F7925E-45D5-79D3-72DC-4F78B7F9B5F7}"/>
              </a:ext>
            </a:extLst>
          </p:cNvPr>
          <p:cNvSpPr>
            <a:spLocks noGrp="1"/>
          </p:cNvSpPr>
          <p:nvPr>
            <p:ph type="body" idx="1"/>
          </p:nvPr>
        </p:nvSpPr>
        <p:spPr/>
        <p:txBody>
          <a:bodyPr/>
          <a:lstStyle/>
          <a:p>
            <a:endParaRPr lang="es-PE" dirty="0"/>
          </a:p>
        </p:txBody>
      </p:sp>
      <p:sp>
        <p:nvSpPr>
          <p:cNvPr id="4" name="Slide Number Placeholder 3">
            <a:extLst>
              <a:ext uri="{FF2B5EF4-FFF2-40B4-BE49-F238E27FC236}">
                <a16:creationId xmlns:a16="http://schemas.microsoft.com/office/drawing/2014/main" id="{7B888953-AA2D-18DA-12E7-DB2F83D80AA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30276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1F651-2AF4-3B2C-D7A5-539D92986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DBD201-6265-3CED-6267-2B59C41A43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445D7C-0889-6180-DC6C-EE5A78F05231}"/>
              </a:ext>
            </a:extLst>
          </p:cNvPr>
          <p:cNvSpPr>
            <a:spLocks noGrp="1"/>
          </p:cNvSpPr>
          <p:nvPr>
            <p:ph type="body" idx="1"/>
          </p:nvPr>
        </p:nvSpPr>
        <p:spPr/>
        <p:txBody>
          <a:bodyPr/>
          <a:lstStyle/>
          <a:p>
            <a:endParaRPr lang="es-PE" dirty="0"/>
          </a:p>
        </p:txBody>
      </p:sp>
      <p:sp>
        <p:nvSpPr>
          <p:cNvPr id="4" name="Slide Number Placeholder 3">
            <a:extLst>
              <a:ext uri="{FF2B5EF4-FFF2-40B4-BE49-F238E27FC236}">
                <a16:creationId xmlns:a16="http://schemas.microsoft.com/office/drawing/2014/main" id="{8DD4C1E9-BCB9-E119-6830-9127EC2532C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6201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003AA-C271-DD70-4A2C-FF9A131E94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BD801-9674-A7AB-3932-3A74947A8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18646-C88A-CB78-6023-6057C405ED45}"/>
              </a:ext>
            </a:extLst>
          </p:cNvPr>
          <p:cNvSpPr>
            <a:spLocks noGrp="1"/>
          </p:cNvSpPr>
          <p:nvPr>
            <p:ph type="body" idx="1"/>
          </p:nvPr>
        </p:nvSpPr>
        <p:spPr/>
        <p:txBody>
          <a:bodyPr/>
          <a:lstStyle/>
          <a:p>
            <a:endParaRPr lang="es-PE" dirty="0"/>
          </a:p>
        </p:txBody>
      </p:sp>
      <p:sp>
        <p:nvSpPr>
          <p:cNvPr id="4" name="Slide Number Placeholder 3">
            <a:extLst>
              <a:ext uri="{FF2B5EF4-FFF2-40B4-BE49-F238E27FC236}">
                <a16:creationId xmlns:a16="http://schemas.microsoft.com/office/drawing/2014/main" id="{07DF1297-3456-CB48-5BB0-8E53A57C699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83369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186E-D068-35BA-0F59-8D14C3DFD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6A509-BE43-712D-2C9F-85455DEDC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84F9E-48B2-CCD4-3420-978BAAED8694}"/>
              </a:ext>
            </a:extLst>
          </p:cNvPr>
          <p:cNvSpPr>
            <a:spLocks noGrp="1"/>
          </p:cNvSpPr>
          <p:nvPr>
            <p:ph type="body" idx="1"/>
          </p:nvPr>
        </p:nvSpPr>
        <p:spPr/>
        <p:txBody>
          <a:bodyPr/>
          <a:lstStyle/>
          <a:p>
            <a:endParaRPr lang="es-ES" dirty="0"/>
          </a:p>
        </p:txBody>
      </p:sp>
      <p:sp>
        <p:nvSpPr>
          <p:cNvPr id="4" name="Slide Number Placeholder 3">
            <a:extLst>
              <a:ext uri="{FF2B5EF4-FFF2-40B4-BE49-F238E27FC236}">
                <a16:creationId xmlns:a16="http://schemas.microsoft.com/office/drawing/2014/main" id="{9C7D83C3-9CF9-E697-BA4D-C8BED573847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84277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83DA0-6DB2-CB8D-E7F3-B28BAF74D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3C6A4-94E3-C064-7F21-6DD6FC828A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E0393-211D-701B-2A91-9AFD4A9498F2}"/>
              </a:ext>
            </a:extLst>
          </p:cNvPr>
          <p:cNvSpPr>
            <a:spLocks noGrp="1"/>
          </p:cNvSpPr>
          <p:nvPr>
            <p:ph type="body" idx="1"/>
          </p:nvPr>
        </p:nvSpPr>
        <p:spPr/>
        <p:txBody>
          <a:bodyPr/>
          <a:lstStyle/>
          <a:p>
            <a:endParaRPr lang="es-ES" dirty="0"/>
          </a:p>
        </p:txBody>
      </p:sp>
      <p:sp>
        <p:nvSpPr>
          <p:cNvPr id="4" name="Slide Number Placeholder 3">
            <a:extLst>
              <a:ext uri="{FF2B5EF4-FFF2-40B4-BE49-F238E27FC236}">
                <a16:creationId xmlns:a16="http://schemas.microsoft.com/office/drawing/2014/main" id="{2625903B-9002-0D60-CCA5-2940683AC5B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C3A468-8A22-4129-B6B7-A7CBC903EA05}" type="slidenum">
              <a:rPr kumimoji="0" lang="es-P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s-P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75269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1316524" y="6261231"/>
            <a:ext cx="914400" cy="593725"/>
          </a:xfrm>
        </p:spPr>
        <p:txBody>
          <a:bodyPr>
            <a:normAutofit/>
          </a:bodyPr>
          <a:lstStyle>
            <a:lvl1pPr>
              <a:defRPr sz="1400">
                <a:solidFill>
                  <a:schemeClr val="tx1">
                    <a:lumMod val="75000"/>
                  </a:schemeClr>
                </a:solidFill>
                <a:latin typeface="Trebuchet MS" panose="020B0603020202020204" pitchFamily="34" charset="0"/>
              </a:defRPr>
            </a:lvl1pPr>
          </a:lstStyle>
          <a:p>
            <a:fld id="{4022B31E-1B25-402D-B825-4747191115EA}" type="slidenum">
              <a:rPr lang="es-PE" smtClean="0"/>
              <a:pPr/>
              <a:t>‹#›</a:t>
            </a:fld>
            <a:endParaRPr lang="es-PE" dirty="0"/>
          </a:p>
        </p:txBody>
      </p:sp>
      <p:pic>
        <p:nvPicPr>
          <p:cNvPr id="11" name="Picture 3">
            <a:extLst>
              <a:ext uri="{FF2B5EF4-FFF2-40B4-BE49-F238E27FC236}">
                <a16:creationId xmlns:a16="http://schemas.microsoft.com/office/drawing/2014/main" id="{B9B165C2-EC07-4A44-AAF3-D49785C9084D}"/>
              </a:ext>
            </a:extLst>
          </p:cNvPr>
          <p:cNvPicPr>
            <a:picLocks noChangeAspect="1" noChangeArrowheads="1"/>
          </p:cNvPicPr>
          <p:nvPr userDrawn="1"/>
        </p:nvPicPr>
        <p:blipFill>
          <a:blip r:embed="rId2" cstate="print">
            <a:clrChange>
              <a:clrFrom>
                <a:srgbClr val="1F2E6F"/>
              </a:clrFrom>
              <a:clrTo>
                <a:srgbClr val="1F2E6F">
                  <a:alpha val="0"/>
                </a:srgbClr>
              </a:clrTo>
            </a:clrChange>
            <a:extLst>
              <a:ext uri="{28A0092B-C50C-407E-A947-70E740481C1C}">
                <a14:useLocalDpi xmlns:a14="http://schemas.microsoft.com/office/drawing/2010/main" val="0"/>
              </a:ext>
            </a:extLst>
          </a:blip>
          <a:srcRect t="29691" r="65363" b="8409"/>
          <a:stretch>
            <a:fillRect/>
          </a:stretch>
        </p:blipFill>
        <p:spPr bwMode="auto">
          <a:xfrm>
            <a:off x="9709834" y="285953"/>
            <a:ext cx="2292490" cy="6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Connector 13">
            <a:extLst>
              <a:ext uri="{FF2B5EF4-FFF2-40B4-BE49-F238E27FC236}">
                <a16:creationId xmlns:a16="http://schemas.microsoft.com/office/drawing/2014/main" id="{F5388E4D-9E42-489A-9FB7-C39ED2A8C38F}"/>
              </a:ext>
            </a:extLst>
          </p:cNvPr>
          <p:cNvCxnSpPr/>
          <p:nvPr userDrawn="1"/>
        </p:nvCxnSpPr>
        <p:spPr>
          <a:xfrm>
            <a:off x="984167" y="3234380"/>
            <a:ext cx="10404389" cy="0"/>
          </a:xfrm>
          <a:prstGeom prst="line">
            <a:avLst/>
          </a:prstGeom>
          <a:ln w="22225">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EFCDA8B6-8696-4C2A-A9C0-2960493DA26E}"/>
              </a:ext>
            </a:extLst>
          </p:cNvPr>
          <p:cNvSpPr>
            <a:spLocks noGrp="1"/>
          </p:cNvSpPr>
          <p:nvPr>
            <p:ph type="title"/>
          </p:nvPr>
        </p:nvSpPr>
        <p:spPr>
          <a:xfrm>
            <a:off x="907967" y="2165350"/>
            <a:ext cx="10512508" cy="1325563"/>
          </a:xfrm>
        </p:spPr>
        <p:txBody>
          <a:bodyPr>
            <a:normAutofit/>
          </a:bodyPr>
          <a:lstStyle>
            <a:lvl1pPr>
              <a:defRPr sz="5800">
                <a:solidFill>
                  <a:schemeClr val="tx1">
                    <a:lumMod val="75000"/>
                  </a:schemeClr>
                </a:solidFill>
              </a:defRPr>
            </a:lvl1pPr>
          </a:lstStyle>
          <a:p>
            <a:r>
              <a:rPr lang="en-US"/>
              <a:t>Click to edit Master title style</a:t>
            </a:r>
            <a:endParaRPr lang="es-PE"/>
          </a:p>
        </p:txBody>
      </p:sp>
      <p:sp>
        <p:nvSpPr>
          <p:cNvPr id="26" name="Date Placeholder 25">
            <a:extLst>
              <a:ext uri="{FF2B5EF4-FFF2-40B4-BE49-F238E27FC236}">
                <a16:creationId xmlns:a16="http://schemas.microsoft.com/office/drawing/2014/main" id="{BF02668E-D823-4154-AAF8-93B95CCBD5B3}"/>
              </a:ext>
            </a:extLst>
          </p:cNvPr>
          <p:cNvSpPr>
            <a:spLocks noGrp="1"/>
          </p:cNvSpPr>
          <p:nvPr>
            <p:ph type="dt" sz="half" idx="13"/>
          </p:nvPr>
        </p:nvSpPr>
        <p:spPr>
          <a:xfrm>
            <a:off x="1076325" y="6192968"/>
            <a:ext cx="2743200" cy="365125"/>
          </a:xfrm>
        </p:spPr>
        <p:txBody>
          <a:bodyPr/>
          <a:lstStyle>
            <a:lvl1pPr>
              <a:defRPr sz="2800">
                <a:solidFill>
                  <a:schemeClr val="tx1">
                    <a:lumMod val="75000"/>
                  </a:schemeClr>
                </a:solidFill>
              </a:defRPr>
            </a:lvl1pPr>
          </a:lstStyle>
          <a:p>
            <a:endParaRPr lang="es-PE" dirty="0"/>
          </a:p>
        </p:txBody>
      </p:sp>
      <p:sp>
        <p:nvSpPr>
          <p:cNvPr id="28" name="Text Placeholder 27">
            <a:extLst>
              <a:ext uri="{FF2B5EF4-FFF2-40B4-BE49-F238E27FC236}">
                <a16:creationId xmlns:a16="http://schemas.microsoft.com/office/drawing/2014/main" id="{C0A5B85C-1F35-4131-8455-1CDD4DF5057E}"/>
              </a:ext>
            </a:extLst>
          </p:cNvPr>
          <p:cNvSpPr>
            <a:spLocks noGrp="1"/>
          </p:cNvSpPr>
          <p:nvPr>
            <p:ph type="body" sz="quarter" idx="14"/>
          </p:nvPr>
        </p:nvSpPr>
        <p:spPr>
          <a:xfrm>
            <a:off x="946150" y="3305175"/>
            <a:ext cx="8293100" cy="457200"/>
          </a:xfrm>
        </p:spPr>
        <p:txBody>
          <a:bodyPr>
            <a:noAutofit/>
          </a:bodyPr>
          <a:lstStyle>
            <a:lvl1pPr marL="0" indent="0">
              <a:buNone/>
              <a:defRPr sz="3600">
                <a:solidFill>
                  <a:schemeClr val="tx1">
                    <a:lumMod val="75000"/>
                  </a:schemeClr>
                </a:solidFill>
              </a:defRPr>
            </a:lvl1pPr>
          </a:lstStyle>
          <a:p>
            <a:pPr lvl="0"/>
            <a:r>
              <a:rPr lang="en-US" dirty="0"/>
              <a:t>Click to edit Master text styles</a:t>
            </a:r>
          </a:p>
        </p:txBody>
      </p:sp>
    </p:spTree>
    <p:extLst>
      <p:ext uri="{BB962C8B-B14F-4D97-AF65-F5344CB8AC3E}">
        <p14:creationId xmlns:p14="http://schemas.microsoft.com/office/powerpoint/2010/main" val="86545390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FA5C5D2B-21F7-4EFC-9241-B6BB2C695C98}"/>
              </a:ext>
            </a:extLst>
          </p:cNvPr>
          <p:cNvSpPr>
            <a:spLocks noGrp="1"/>
          </p:cNvSpPr>
          <p:nvPr>
            <p:ph type="sldNum" sz="quarter" idx="12"/>
          </p:nvPr>
        </p:nvSpPr>
        <p:spPr>
          <a:xfrm>
            <a:off x="11316524" y="6261231"/>
            <a:ext cx="914400" cy="593725"/>
          </a:xfrm>
        </p:spPr>
        <p:txBody>
          <a:bodyPr>
            <a:normAutofit/>
          </a:bodyPr>
          <a:lstStyle>
            <a:lvl1pPr>
              <a:defRPr sz="1400">
                <a:solidFill>
                  <a:schemeClr val="tx1"/>
                </a:solidFill>
                <a:latin typeface="Trebuchet MS" panose="020B0603020202020204" pitchFamily="34" charset="0"/>
              </a:defRPr>
            </a:lvl1pPr>
          </a:lstStyle>
          <a:p>
            <a:fld id="{4022B31E-1B25-402D-B825-4747191115EA}" type="slidenum">
              <a:rPr lang="es-PE" smtClean="0"/>
              <a:pPr/>
              <a:t>‹#›</a:t>
            </a:fld>
            <a:endParaRPr lang="es-PE" dirty="0"/>
          </a:p>
        </p:txBody>
      </p:sp>
      <p:sp>
        <p:nvSpPr>
          <p:cNvPr id="17" name="Rectangle 16">
            <a:extLst>
              <a:ext uri="{FF2B5EF4-FFF2-40B4-BE49-F238E27FC236}">
                <a16:creationId xmlns:a16="http://schemas.microsoft.com/office/drawing/2014/main" id="{601D12D5-3E74-4EB5-BCBD-D99711EB306D}"/>
              </a:ext>
            </a:extLst>
          </p:cNvPr>
          <p:cNvSpPr/>
          <p:nvPr userDrawn="1"/>
        </p:nvSpPr>
        <p:spPr>
          <a:xfrm>
            <a:off x="0" y="0"/>
            <a:ext cx="647700" cy="6858000"/>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PE"/>
          </a:p>
        </p:txBody>
      </p:sp>
      <p:sp>
        <p:nvSpPr>
          <p:cNvPr id="18" name="Rectangle 17">
            <a:extLst>
              <a:ext uri="{FF2B5EF4-FFF2-40B4-BE49-F238E27FC236}">
                <a16:creationId xmlns:a16="http://schemas.microsoft.com/office/drawing/2014/main" id="{44722583-AE82-48A9-B938-31A0397973F3}"/>
              </a:ext>
            </a:extLst>
          </p:cNvPr>
          <p:cNvSpPr/>
          <p:nvPr userDrawn="1"/>
        </p:nvSpPr>
        <p:spPr>
          <a:xfrm>
            <a:off x="0" y="0"/>
            <a:ext cx="12204700" cy="75247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Title 15">
            <a:extLst>
              <a:ext uri="{FF2B5EF4-FFF2-40B4-BE49-F238E27FC236}">
                <a16:creationId xmlns:a16="http://schemas.microsoft.com/office/drawing/2014/main" id="{EEEED07E-68C7-4FDF-A9AB-489E13519C85}"/>
              </a:ext>
            </a:extLst>
          </p:cNvPr>
          <p:cNvSpPr>
            <a:spLocks noGrp="1"/>
          </p:cNvSpPr>
          <p:nvPr>
            <p:ph type="title"/>
          </p:nvPr>
        </p:nvSpPr>
        <p:spPr>
          <a:xfrm>
            <a:off x="70591" y="45809"/>
            <a:ext cx="10512508" cy="676275"/>
          </a:xfrm>
        </p:spPr>
        <p:txBody>
          <a:bodyPr>
            <a:normAutofit/>
          </a:bodyPr>
          <a:lstStyle>
            <a:lvl1pPr>
              <a:defRPr sz="3000">
                <a:solidFill>
                  <a:schemeClr val="tx1">
                    <a:lumMod val="75000"/>
                  </a:schemeClr>
                </a:solidFill>
              </a:defRPr>
            </a:lvl1pPr>
          </a:lstStyle>
          <a:p>
            <a:r>
              <a:rPr lang="en-US"/>
              <a:t>Click to edit Master title style</a:t>
            </a:r>
            <a:endParaRPr lang="es-PE"/>
          </a:p>
        </p:txBody>
      </p:sp>
      <p:pic>
        <p:nvPicPr>
          <p:cNvPr id="20" name="Picture 2" descr="Asociación AFP">
            <a:extLst>
              <a:ext uri="{FF2B5EF4-FFF2-40B4-BE49-F238E27FC236}">
                <a16:creationId xmlns:a16="http://schemas.microsoft.com/office/drawing/2014/main" id="{EB18AC67-690E-4C93-8DC7-1FD8B21E7B2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0123" y="158293"/>
            <a:ext cx="1371600" cy="422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149829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lumMod val="75000"/>
          </a:schemeClr>
        </a:solidFill>
        <a:effectLst/>
      </p:bgPr>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745E542E-1977-4B8F-8255-AD8D6B494758}"/>
              </a:ext>
            </a:extLst>
          </p:cNvPr>
          <p:cNvSpPr>
            <a:spLocks noGrp="1"/>
          </p:cNvSpPr>
          <p:nvPr>
            <p:ph type="sldNum" sz="quarter" idx="12"/>
          </p:nvPr>
        </p:nvSpPr>
        <p:spPr>
          <a:xfrm>
            <a:off x="11202224" y="6178681"/>
            <a:ext cx="914400" cy="593725"/>
          </a:xfrm>
        </p:spPr>
        <p:txBody>
          <a:bodyPr>
            <a:normAutofit/>
          </a:bodyPr>
          <a:lstStyle>
            <a:lvl1pPr>
              <a:defRPr sz="1400">
                <a:solidFill>
                  <a:schemeClr val="bg1">
                    <a:lumMod val="75000"/>
                  </a:schemeClr>
                </a:solidFill>
                <a:latin typeface="Trebuchet MS" panose="020B0603020202020204" pitchFamily="34" charset="0"/>
              </a:defRPr>
            </a:lvl1pPr>
          </a:lstStyle>
          <a:p>
            <a:fld id="{4022B31E-1B25-402D-B825-4747191115EA}" type="slidenum">
              <a:rPr lang="es-PE" smtClean="0"/>
              <a:pPr/>
              <a:t>‹#›</a:t>
            </a:fld>
            <a:endParaRPr lang="es-PE" dirty="0"/>
          </a:p>
        </p:txBody>
      </p:sp>
      <p:cxnSp>
        <p:nvCxnSpPr>
          <p:cNvPr id="14" name="Straight Connector 13">
            <a:extLst>
              <a:ext uri="{FF2B5EF4-FFF2-40B4-BE49-F238E27FC236}">
                <a16:creationId xmlns:a16="http://schemas.microsoft.com/office/drawing/2014/main" id="{0B409C0D-C226-4E6B-84A1-D2EC2A3FCCC4}"/>
              </a:ext>
            </a:extLst>
          </p:cNvPr>
          <p:cNvCxnSpPr/>
          <p:nvPr userDrawn="1"/>
        </p:nvCxnSpPr>
        <p:spPr>
          <a:xfrm>
            <a:off x="517442" y="3234380"/>
            <a:ext cx="10404389"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3">
            <a:extLst>
              <a:ext uri="{FF2B5EF4-FFF2-40B4-BE49-F238E27FC236}">
                <a16:creationId xmlns:a16="http://schemas.microsoft.com/office/drawing/2014/main" id="{84D1D82A-4A47-4BD3-B660-3CFF950EC607}"/>
              </a:ext>
            </a:extLst>
          </p:cNvPr>
          <p:cNvPicPr>
            <a:picLocks noChangeAspect="1" noChangeArrowheads="1"/>
          </p:cNvPicPr>
          <p:nvPr userDrawn="1"/>
        </p:nvPicPr>
        <p:blipFill>
          <a:blip r:embed="rId2" cstate="print">
            <a:clrChange>
              <a:clrFrom>
                <a:srgbClr val="1F2E6F"/>
              </a:clrFrom>
              <a:clrTo>
                <a:srgbClr val="1F2E6F">
                  <a:alpha val="0"/>
                </a:srgbClr>
              </a:clrTo>
            </a:clrChange>
            <a:extLst>
              <a:ext uri="{28A0092B-C50C-407E-A947-70E740481C1C}">
                <a14:useLocalDpi xmlns:a14="http://schemas.microsoft.com/office/drawing/2010/main" val="0"/>
              </a:ext>
            </a:extLst>
          </a:blip>
          <a:srcRect t="29691" r="65363" b="8409"/>
          <a:stretch>
            <a:fillRect/>
          </a:stretch>
        </p:blipFill>
        <p:spPr bwMode="auto">
          <a:xfrm>
            <a:off x="9024034" y="110167"/>
            <a:ext cx="2292490" cy="6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974071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s-PE"/>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s-PE"/>
          </a:p>
        </p:txBody>
      </p:sp>
      <p:sp>
        <p:nvSpPr>
          <p:cNvPr id="4" name="Date Placeholder 3"/>
          <p:cNvSpPr>
            <a:spLocks noGrp="1"/>
          </p:cNvSpPr>
          <p:nvPr>
            <p:ph type="dt" sz="half" idx="10"/>
          </p:nvPr>
        </p:nvSpPr>
        <p:spPr/>
        <p:txBody>
          <a:bodyPr/>
          <a:lstStyle>
            <a:lvl1pPr>
              <a:defRPr>
                <a:cs typeface="Arial" pitchFamily="34" charset="0"/>
              </a:defRPr>
            </a:lvl1pPr>
          </a:lstStyle>
          <a:p>
            <a:pPr>
              <a:defRPr/>
            </a:pPr>
            <a:fld id="{E92972CB-D19E-4AC0-BA2F-7705D0E57F0F}" type="datetime1">
              <a:rPr lang="es-PE"/>
              <a:pPr>
                <a:defRPr/>
              </a:pPr>
              <a:t>27/08/2026</a:t>
            </a:fld>
            <a:endParaRPr lang="es-PE" dirty="0"/>
          </a:p>
        </p:txBody>
      </p:sp>
      <p:sp>
        <p:nvSpPr>
          <p:cNvPr id="5" name="Footer Placeholder 4"/>
          <p:cNvSpPr>
            <a:spLocks noGrp="1"/>
          </p:cNvSpPr>
          <p:nvPr>
            <p:ph type="ftr" sz="quarter" idx="11"/>
          </p:nvPr>
        </p:nvSpPr>
        <p:spPr/>
        <p:txBody>
          <a:bodyPr/>
          <a:lstStyle>
            <a:lvl1pPr>
              <a:defRPr>
                <a:cs typeface="Arial" pitchFamily="34" charset="0"/>
              </a:defRPr>
            </a:lvl1pPr>
          </a:lstStyle>
          <a:p>
            <a:pPr>
              <a:defRPr/>
            </a:pPr>
            <a:endParaRPr lang="es-PE"/>
          </a:p>
        </p:txBody>
      </p:sp>
      <p:sp>
        <p:nvSpPr>
          <p:cNvPr id="6" name="Slide Number Placeholder 5"/>
          <p:cNvSpPr>
            <a:spLocks noGrp="1"/>
          </p:cNvSpPr>
          <p:nvPr>
            <p:ph type="sldNum" sz="quarter" idx="12"/>
          </p:nvPr>
        </p:nvSpPr>
        <p:spPr/>
        <p:txBody>
          <a:bodyPr/>
          <a:lstStyle>
            <a:lvl1pPr>
              <a:defRPr>
                <a:cs typeface="Arial" pitchFamily="34" charset="0"/>
              </a:defRPr>
            </a:lvl1pPr>
          </a:lstStyle>
          <a:p>
            <a:pPr>
              <a:defRPr/>
            </a:pPr>
            <a:fld id="{A2A0E1D8-4EDD-47A6-8ACB-E0A86D58D134}" type="slidenum">
              <a:rPr lang="es-PE"/>
              <a:pPr>
                <a:defRPr/>
              </a:pPr>
              <a:t>‹#›</a:t>
            </a:fld>
            <a:endParaRPr lang="es-PE" dirty="0"/>
          </a:p>
        </p:txBody>
      </p:sp>
      <p:sp>
        <p:nvSpPr>
          <p:cNvPr id="7" name="Rectangle 6"/>
          <p:cNvSpPr/>
          <p:nvPr userDrawn="1"/>
        </p:nvSpPr>
        <p:spPr>
          <a:xfrm>
            <a:off x="0" y="6453188"/>
            <a:ext cx="12192000" cy="404812"/>
          </a:xfrm>
          <a:prstGeom prst="rect">
            <a:avLst/>
          </a:prstGeom>
          <a:solidFill>
            <a:srgbClr val="E3E829"/>
          </a:solidFill>
          <a:ln>
            <a:solidFill>
              <a:srgbClr val="E3E82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PE" sz="1800">
              <a:solidFill>
                <a:prstClr val="white"/>
              </a:solidFill>
            </a:endParaRPr>
          </a:p>
        </p:txBody>
      </p:sp>
      <p:sp>
        <p:nvSpPr>
          <p:cNvPr id="8" name="Rectangle 7"/>
          <p:cNvSpPr/>
          <p:nvPr userDrawn="1"/>
        </p:nvSpPr>
        <p:spPr>
          <a:xfrm>
            <a:off x="0" y="1"/>
            <a:ext cx="12192000" cy="1223963"/>
          </a:xfrm>
          <a:prstGeom prst="rect">
            <a:avLst/>
          </a:prstGeom>
          <a:solidFill>
            <a:srgbClr val="1E2E6E"/>
          </a:solidFill>
          <a:ln>
            <a:solidFill>
              <a:srgbClr val="1E2E6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s-PE" sz="1800" dirty="0">
              <a:solidFill>
                <a:srgbClr val="0070C0"/>
              </a:solidFill>
              <a:latin typeface="Trebuchet MS" pitchFamily="34" charset="0"/>
            </a:endParaRPr>
          </a:p>
        </p:txBody>
      </p:sp>
      <p:pic>
        <p:nvPicPr>
          <p:cNvPr id="9"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t="29691" r="65363" b="8409"/>
          <a:stretch>
            <a:fillRect/>
          </a:stretch>
        </p:blipFill>
        <p:spPr bwMode="auto">
          <a:xfrm>
            <a:off x="9791701" y="260351"/>
            <a:ext cx="24003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8803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1_list-Item">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69185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1400">
                <a:solidFill>
                  <a:schemeClr val="bg1">
                    <a:lumMod val="75000"/>
                  </a:schemeClr>
                </a:solidFill>
                <a:latin typeface="Trebuchet MS" panose="020B0603020202020204" pitchFamily="34" charset="0"/>
              </a:defRPr>
            </a:lvl1pPr>
          </a:lstStyle>
          <a:p>
            <a:fld id="{4022B31E-1B25-402D-B825-4747191115EA}" type="slidenum">
              <a:rPr lang="es-PE" smtClean="0"/>
              <a:pPr/>
              <a:t>‹#›</a:t>
            </a:fld>
            <a:endParaRPr lang="es-PE" dirty="0"/>
          </a:p>
        </p:txBody>
      </p:sp>
      <p:sp>
        <p:nvSpPr>
          <p:cNvPr id="12" name="Title Placeholder 11">
            <a:extLst>
              <a:ext uri="{FF2B5EF4-FFF2-40B4-BE49-F238E27FC236}">
                <a16:creationId xmlns:a16="http://schemas.microsoft.com/office/drawing/2014/main" id="{A9C050EE-E511-4C74-AD33-7E03252CCA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PE"/>
          </a:p>
        </p:txBody>
      </p:sp>
      <p:sp>
        <p:nvSpPr>
          <p:cNvPr id="13" name="Text Placeholder 12">
            <a:extLst>
              <a:ext uri="{FF2B5EF4-FFF2-40B4-BE49-F238E27FC236}">
                <a16:creationId xmlns:a16="http://schemas.microsoft.com/office/drawing/2014/main" id="{DF6B57E4-CBD8-4081-93D6-A7BF4066AA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14" name="Date Placeholder 13">
            <a:extLst>
              <a:ext uri="{FF2B5EF4-FFF2-40B4-BE49-F238E27FC236}">
                <a16:creationId xmlns:a16="http://schemas.microsoft.com/office/drawing/2014/main" id="{6FC7DF6F-A920-4C15-9B00-E696465F65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rebuchet MS" panose="020B0603020202020204" pitchFamily="34" charset="0"/>
              </a:defRPr>
            </a:lvl1pPr>
          </a:lstStyle>
          <a:p>
            <a:endParaRPr lang="es-PE"/>
          </a:p>
        </p:txBody>
      </p:sp>
      <p:sp>
        <p:nvSpPr>
          <p:cNvPr id="15" name="Rectangle 14">
            <a:extLst>
              <a:ext uri="{FF2B5EF4-FFF2-40B4-BE49-F238E27FC236}">
                <a16:creationId xmlns:a16="http://schemas.microsoft.com/office/drawing/2014/main" id="{7763537E-F69F-49D9-A667-F14676FFBAEF}"/>
              </a:ext>
            </a:extLst>
          </p:cNvPr>
          <p:cNvSpPr/>
          <p:nvPr userDrawn="1"/>
        </p:nvSpPr>
        <p:spPr>
          <a:xfrm>
            <a:off x="0" y="0"/>
            <a:ext cx="647700" cy="6858000"/>
          </a:xfrm>
          <a:prstGeom prst="rect">
            <a:avLst/>
          </a:prstGeom>
          <a:solidFill>
            <a:srgbClr val="00AEC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PE"/>
          </a:p>
        </p:txBody>
      </p:sp>
    </p:spTree>
    <p:extLst>
      <p:ext uri="{BB962C8B-B14F-4D97-AF65-F5344CB8AC3E}">
        <p14:creationId xmlns:p14="http://schemas.microsoft.com/office/powerpoint/2010/main" val="29567758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lgn="l" defTabSz="914400" rtl="0" eaLnBrk="1" latinLnBrk="0" hangingPunct="1">
        <a:lnSpc>
          <a:spcPct val="90000"/>
        </a:lnSpc>
        <a:spcBef>
          <a:spcPct val="0"/>
        </a:spcBef>
        <a:buNone/>
        <a:defRPr sz="4400" kern="1200" spc="-50" baseline="0">
          <a:solidFill>
            <a:schemeClr val="tx1"/>
          </a:solidFill>
          <a:latin typeface="Trebuchet MS" panose="020B0603020202020204" pitchFamily="34"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rebuchet MS" panose="020B0603020202020204" pitchFamily="34"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rebuchet MS" panose="020B0603020202020204" pitchFamily="34"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rebuchet MS" panose="020B0603020202020204" pitchFamily="34"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rebuchet MS" panose="020B0603020202020204" pitchFamily="34"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rebuchet MS" panose="020B0603020202020204" pitchFamily="34"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18" Type="http://schemas.openxmlformats.org/officeDocument/2006/relationships/diagramData" Target="../diagrams/data4.xml"/><Relationship Id="rId26" Type="http://schemas.openxmlformats.org/officeDocument/2006/relationships/diagramColors" Target="../diagrams/colors5.xml"/><Relationship Id="rId3" Type="http://schemas.openxmlformats.org/officeDocument/2006/relationships/diagramData" Target="../diagrams/data1.xml"/><Relationship Id="rId21" Type="http://schemas.openxmlformats.org/officeDocument/2006/relationships/diagramColors" Target="../diagrams/colors4.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5" Type="http://schemas.openxmlformats.org/officeDocument/2006/relationships/diagramQuickStyle" Target="../diagrams/quickStyle5.xml"/><Relationship Id="rId2" Type="http://schemas.openxmlformats.org/officeDocument/2006/relationships/notesSlide" Target="../notesSlides/notesSlide2.xml"/><Relationship Id="rId16" Type="http://schemas.openxmlformats.org/officeDocument/2006/relationships/diagramColors" Target="../diagrams/colors3.xml"/><Relationship Id="rId20" Type="http://schemas.openxmlformats.org/officeDocument/2006/relationships/diagramQuickStyle" Target="../diagrams/quickStyle4.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24" Type="http://schemas.openxmlformats.org/officeDocument/2006/relationships/diagramLayout" Target="../diagrams/layout5.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23" Type="http://schemas.openxmlformats.org/officeDocument/2006/relationships/diagramData" Target="../diagrams/data5.xml"/><Relationship Id="rId10" Type="http://schemas.openxmlformats.org/officeDocument/2006/relationships/diagramQuickStyle" Target="../diagrams/quickStyle2.xml"/><Relationship Id="rId19" Type="http://schemas.openxmlformats.org/officeDocument/2006/relationships/diagramLayout" Target="../diagrams/layout4.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 Id="rId27" Type="http://schemas.microsoft.com/office/2007/relationships/diagramDrawing" Target="../diagrams/drawing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chart" Target="../charts/chart5.xml"/><Relationship Id="rId3" Type="http://schemas.openxmlformats.org/officeDocument/2006/relationships/image" Target="../media/image10.png"/><Relationship Id="rId12" Type="http://schemas.openxmlformats.org/officeDocument/2006/relationships/chart" Target="../charts/chart4.xml"/><Relationship Id="rId2" Type="http://schemas.openxmlformats.org/officeDocument/2006/relationships/notesSlide" Target="../notesSlides/notesSlide11.xml"/><Relationship Id="rId16" Type="http://schemas.openxmlformats.org/officeDocument/2006/relationships/chart" Target="../charts/chart8.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chart" Target="../charts/chart3.xml"/><Relationship Id="rId15" Type="http://schemas.openxmlformats.org/officeDocument/2006/relationships/chart" Target="../charts/chart7.xml"/><Relationship Id="rId10" Type="http://schemas.openxmlformats.org/officeDocument/2006/relationships/chart" Target="../charts/chart2.xml"/><Relationship Id="rId4" Type="http://schemas.openxmlformats.org/officeDocument/2006/relationships/image" Target="../media/image11.png"/><Relationship Id="rId9" Type="http://schemas.openxmlformats.org/officeDocument/2006/relationships/chart" Target="../charts/chart1.xml"/><Relationship Id="rId14" Type="http://schemas.openxmlformats.org/officeDocument/2006/relationships/chart" Target="../charts/chart6.xml"/></Relationships>
</file>

<file path=ppt/slides/_rels/slide1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chart" Target="../charts/chart10.xml"/></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microsoft.com/office/2014/relationships/chartEx" Target="../charts/chartEx2.xml"/><Relationship Id="rId3" Type="http://schemas.openxmlformats.org/officeDocument/2006/relationships/image" Target="../media/image16.emf"/><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microsoft.com/office/2014/relationships/chartEx" Target="../charts/chartEx1.xml"/><Relationship Id="rId11" Type="http://schemas.openxmlformats.org/officeDocument/2006/relationships/image" Target="../media/image21.png"/><Relationship Id="rId5" Type="http://schemas.openxmlformats.org/officeDocument/2006/relationships/image" Target="../media/image18.emf"/><Relationship Id="rId10" Type="http://schemas.microsoft.com/office/2014/relationships/chartEx" Target="../charts/chartEx3.xml"/><Relationship Id="rId4" Type="http://schemas.openxmlformats.org/officeDocument/2006/relationships/image" Target="../media/image17.emf"/><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7.xml"/><Relationship Id="rId13" Type="http://schemas.openxmlformats.org/officeDocument/2006/relationships/image" Target="../media/image23.png"/><Relationship Id="rId18" Type="http://schemas.openxmlformats.org/officeDocument/2006/relationships/diagramColors" Target="../diagrams/colors8.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17" Type="http://schemas.openxmlformats.org/officeDocument/2006/relationships/diagramQuickStyle" Target="../diagrams/quickStyle8.xml"/><Relationship Id="rId2" Type="http://schemas.openxmlformats.org/officeDocument/2006/relationships/image" Target="../media/image22.png"/><Relationship Id="rId16" Type="http://schemas.openxmlformats.org/officeDocument/2006/relationships/diagramLayout" Target="../diagrams/layout8.xml"/><Relationship Id="rId1" Type="http://schemas.openxmlformats.org/officeDocument/2006/relationships/slideLayout" Target="../slideLayouts/slideLayout2.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5" Type="http://schemas.openxmlformats.org/officeDocument/2006/relationships/diagramData" Target="../diagrams/data8.xml"/><Relationship Id="rId10" Type="http://schemas.openxmlformats.org/officeDocument/2006/relationships/diagramQuickStyle" Target="../diagrams/quickStyle7.xml"/><Relationship Id="rId19" Type="http://schemas.microsoft.com/office/2007/relationships/diagramDrawing" Target="../diagrams/drawing8.xml"/><Relationship Id="rId4" Type="http://schemas.openxmlformats.org/officeDocument/2006/relationships/diagramLayout" Target="../diagrams/layout6.xml"/><Relationship Id="rId9" Type="http://schemas.openxmlformats.org/officeDocument/2006/relationships/diagramLayout" Target="../diagrams/layout7.xml"/><Relationship Id="rId14" Type="http://schemas.openxmlformats.org/officeDocument/2006/relationships/image" Target="../media/image24.png"/></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D42214A-BC1F-4B39-8106-53936560D9EE}"/>
              </a:ext>
            </a:extLst>
          </p:cNvPr>
          <p:cNvSpPr txBox="1"/>
          <p:nvPr/>
        </p:nvSpPr>
        <p:spPr>
          <a:xfrm>
            <a:off x="904875" y="2300908"/>
            <a:ext cx="9620250" cy="830997"/>
          </a:xfrm>
          <a:prstGeom prst="rect">
            <a:avLst/>
          </a:prstGeom>
          <a:noFill/>
        </p:spPr>
        <p:txBody>
          <a:bodyPr wrap="square" rtlCol="0">
            <a:spAutoFit/>
          </a:bodyPr>
          <a:lstStyle/>
          <a:p>
            <a:pPr lvl="0" defTabSz="457200">
              <a:defRPr/>
            </a:pPr>
            <a:r>
              <a:rPr lang="es-ES" sz="4800">
                <a:solidFill>
                  <a:prstClr val="white">
                    <a:lumMod val="75000"/>
                  </a:prstClr>
                </a:solidFill>
                <a:latin typeface="Trebuchet MS" panose="020B0603020202020204" pitchFamily="34" charset="0"/>
              </a:rPr>
              <a:t>Inversión Sostenible</a:t>
            </a:r>
            <a:endParaRPr lang="es-ES" sz="4800" dirty="0">
              <a:solidFill>
                <a:prstClr val="white">
                  <a:lumMod val="75000"/>
                </a:prstClr>
              </a:solidFill>
              <a:latin typeface="Trebuchet MS" panose="020B0603020202020204" pitchFamily="34" charset="0"/>
            </a:endParaRPr>
          </a:p>
        </p:txBody>
      </p:sp>
      <p:sp>
        <p:nvSpPr>
          <p:cNvPr id="3" name="Date Placeholder 7">
            <a:extLst>
              <a:ext uri="{FF2B5EF4-FFF2-40B4-BE49-F238E27FC236}">
                <a16:creationId xmlns:a16="http://schemas.microsoft.com/office/drawing/2014/main" id="{7544B487-C20D-2ADA-DE87-8138FC9E1F70}"/>
              </a:ext>
            </a:extLst>
          </p:cNvPr>
          <p:cNvSpPr>
            <a:spLocks noGrp="1"/>
          </p:cNvSpPr>
          <p:nvPr>
            <p:ph type="dt" sz="half" idx="13"/>
          </p:nvPr>
        </p:nvSpPr>
        <p:spPr>
          <a:xfrm>
            <a:off x="1076325" y="6192968"/>
            <a:ext cx="2743200"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white">
                    <a:lumMod val="75000"/>
                  </a:prstClr>
                </a:solidFill>
                <a:effectLst/>
                <a:uLnTx/>
                <a:uFillTx/>
                <a:latin typeface="Trebuchet MS" panose="020B0603020202020204" pitchFamily="34" charset="0"/>
                <a:ea typeface="+mn-ea"/>
                <a:cs typeface="+mn-cs"/>
              </a:rPr>
              <a:t>Agosto - 2026</a:t>
            </a:r>
            <a:endParaRPr kumimoji="0" lang="es-PE" sz="1600" b="0" i="0" u="none" strike="noStrike" kern="1200" cap="none" spc="0" normalizeH="0" baseline="0" noProof="0" dirty="0">
              <a:ln>
                <a:noFill/>
              </a:ln>
              <a:solidFill>
                <a:prstClr val="white">
                  <a:lumMod val="75000"/>
                </a:prstClr>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397490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F52D4259-345A-4389-B0C0-3666437CB661}"/>
              </a:ext>
            </a:extLst>
          </p:cNvPr>
          <p:cNvSpPr txBox="1"/>
          <p:nvPr/>
        </p:nvSpPr>
        <p:spPr>
          <a:xfrm>
            <a:off x="5805" y="133799"/>
            <a:ext cx="7570833"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2000" spc="-50" dirty="0">
                <a:solidFill>
                  <a:srgbClr val="1E2E6E">
                    <a:lumMod val="75000"/>
                  </a:srgbClr>
                </a:solidFill>
                <a:latin typeface="Trebuchet MS" panose="020B0603020202020204" pitchFamily="34" charset="0"/>
              </a:rPr>
              <a:t>Agenda</a:t>
            </a:r>
            <a:r>
              <a:rPr kumimoji="0" lang="es-ES" sz="2000" b="0" i="0" u="none" strike="noStrike" kern="1200" cap="none" spc="-50" normalizeH="0" baseline="0" noProof="0" dirty="0">
                <a:ln>
                  <a:noFill/>
                </a:ln>
                <a:solidFill>
                  <a:srgbClr val="1E2E6E">
                    <a:lumMod val="75000"/>
                  </a:srgbClr>
                </a:solidFill>
                <a:effectLst/>
                <a:uLnTx/>
                <a:uFillTx/>
                <a:latin typeface="Trebuchet MS" panose="020B0603020202020204" pitchFamily="34" charset="0"/>
                <a:ea typeface="+mn-ea"/>
                <a:cs typeface="+mn-cs"/>
              </a:rPr>
              <a:t> </a:t>
            </a:r>
            <a:endParaRPr kumimoji="0" lang="es-PE" sz="2000" b="0" i="0" u="none" strike="noStrike" kern="1200" cap="none" spc="-50" normalizeH="0" baseline="0" noProof="0" dirty="0">
              <a:ln>
                <a:noFill/>
              </a:ln>
              <a:solidFill>
                <a:srgbClr val="1E2E6E">
                  <a:lumMod val="75000"/>
                </a:srgbClr>
              </a:solidFill>
              <a:effectLst/>
              <a:uLnTx/>
              <a:uFillTx/>
              <a:latin typeface="Trebuchet MS" panose="020B0603020202020204" pitchFamily="34" charset="0"/>
              <a:ea typeface="+mn-ea"/>
              <a:cs typeface="+mn-cs"/>
            </a:endParaRPr>
          </a:p>
        </p:txBody>
      </p:sp>
      <p:sp>
        <p:nvSpPr>
          <p:cNvPr id="2" name="Rectangle: Rounded Corners 1">
            <a:extLst>
              <a:ext uri="{FF2B5EF4-FFF2-40B4-BE49-F238E27FC236}">
                <a16:creationId xmlns:a16="http://schemas.microsoft.com/office/drawing/2014/main" id="{0E634C77-A51F-4FBC-6136-758C4F673C79}"/>
              </a:ext>
            </a:extLst>
          </p:cNvPr>
          <p:cNvSpPr/>
          <p:nvPr/>
        </p:nvSpPr>
        <p:spPr>
          <a:xfrm>
            <a:off x="952969" y="1301330"/>
            <a:ext cx="10629431" cy="3403532"/>
          </a:xfrm>
          <a:prstGeom prst="roundRect">
            <a:avLst/>
          </a:prstGeom>
          <a:solidFill>
            <a:schemeClr val="accent1">
              <a:lumMod val="20000"/>
              <a:lumOff val="80000"/>
            </a:schemeClr>
          </a:solidFill>
          <a:ln w="12700">
            <a:solidFill>
              <a:srgbClr val="59D4C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457200" rtl="0" eaLnBrk="1" fontAlgn="auto" latinLnBrk="0" hangingPunct="1">
              <a:lnSpc>
                <a:spcPct val="100000"/>
              </a:lnSpc>
              <a:spcBef>
                <a:spcPts val="0"/>
              </a:spcBef>
              <a:spcAft>
                <a:spcPts val="0"/>
              </a:spcAft>
              <a:buClrTx/>
              <a:buSzTx/>
              <a:tabLst/>
              <a:defRPr/>
            </a:pPr>
            <a:r>
              <a:rPr lang="es-PE" sz="1200" b="1" dirty="0">
                <a:solidFill>
                  <a:srgbClr val="1F497D"/>
                </a:solidFill>
                <a:latin typeface="Trebuchet MS" panose="020B0603020202020204" pitchFamily="34" charset="0"/>
              </a:rPr>
              <a:t>a</a:t>
            </a:r>
            <a:r>
              <a:rPr kumimoji="0" lang="es-PE" sz="12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Inversión Sostenible: Estado al2S2025, Objetivos SURA AM ILP 2025-2027, Estado al 1S2026 </a:t>
            </a:r>
          </a:p>
          <a:p>
            <a:pPr lvl="1" defTabSz="457200">
              <a:defRPr/>
            </a:pPr>
            <a:endParaRPr kumimoji="0" lang="es-PE" sz="12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685800" lvl="1" indent="-228600" defTabSz="457200">
              <a:buAutoNum type="arabicParenR"/>
              <a:defRPr/>
            </a:pPr>
            <a:r>
              <a:rPr lang="es-PE" sz="1200" b="1" dirty="0" err="1">
                <a:solidFill>
                  <a:srgbClr val="1F497D"/>
                </a:solidFill>
                <a:latin typeface="Trebuchet MS" panose="020B0603020202020204" pitchFamily="34" charset="0"/>
              </a:rPr>
              <a:t>Engagement</a:t>
            </a:r>
            <a:endParaRPr lang="es-PE" sz="1200" b="1" dirty="0">
              <a:solidFill>
                <a:srgbClr val="1F497D"/>
              </a:solidFill>
              <a:latin typeface="Trebuchet MS" panose="020B0603020202020204" pitchFamily="34" charset="0"/>
            </a:endParaRPr>
          </a:p>
          <a:p>
            <a:pPr marL="685800" lvl="1" indent="-228600" defTabSz="457200">
              <a:buAutoNum type="arabicParenR"/>
              <a:defRPr/>
            </a:pPr>
            <a:endParaRPr lang="es-PE" sz="1200" b="1" dirty="0">
              <a:solidFill>
                <a:srgbClr val="1F497D"/>
              </a:solidFill>
              <a:latin typeface="Trebuchet MS" panose="020B0603020202020204" pitchFamily="34" charset="0"/>
            </a:endParaRPr>
          </a:p>
          <a:p>
            <a:pPr marL="685800" lvl="1" indent="-228600" defTabSz="457200">
              <a:buAutoNum type="arabicParenR"/>
              <a:defRPr/>
            </a:pPr>
            <a:r>
              <a:rPr lang="es-PE" sz="1200" b="1" dirty="0">
                <a:solidFill>
                  <a:srgbClr val="1F497D"/>
                </a:solidFill>
                <a:latin typeface="Trebuchet MS" panose="020B0603020202020204" pitchFamily="34" charset="0"/>
              </a:rPr>
              <a:t>Huella de Carbono</a:t>
            </a:r>
          </a:p>
          <a:p>
            <a:pPr marL="685800" lvl="1" indent="-228600" defTabSz="457200">
              <a:buAutoNum type="arabicParenR"/>
              <a:defRPr/>
            </a:pPr>
            <a:endParaRPr lang="es-PE" sz="1200" b="1" dirty="0">
              <a:solidFill>
                <a:srgbClr val="1F497D"/>
              </a:solidFill>
              <a:latin typeface="Trebuchet MS" panose="020B0603020202020204" pitchFamily="34" charset="0"/>
            </a:endParaRPr>
          </a:p>
          <a:p>
            <a:pPr marL="685800" lvl="1" indent="-228600" defTabSz="457200">
              <a:buAutoNum type="arabicParenR"/>
              <a:defRPr/>
            </a:pPr>
            <a:r>
              <a:rPr lang="es-PE" sz="1200" b="1" dirty="0">
                <a:solidFill>
                  <a:srgbClr val="1F497D"/>
                </a:solidFill>
                <a:latin typeface="Trebuchet MS" panose="020B0603020202020204" pitchFamily="34" charset="0"/>
              </a:rPr>
              <a:t>Gestión Climática</a:t>
            </a:r>
          </a:p>
          <a:p>
            <a:pPr marL="685800" lvl="1" indent="-228600" defTabSz="457200">
              <a:buAutoNum type="arabicParenR"/>
              <a:defRPr/>
            </a:pPr>
            <a:endParaRPr lang="es-PE" sz="1200" b="1" dirty="0">
              <a:solidFill>
                <a:srgbClr val="1F497D"/>
              </a:solidFill>
              <a:latin typeface="Trebuchet MS" panose="020B0603020202020204" pitchFamily="34" charset="0"/>
            </a:endParaRPr>
          </a:p>
          <a:p>
            <a:pPr marL="685800" lvl="1" indent="-228600" defTabSz="457200">
              <a:buAutoNum type="arabicParenR"/>
              <a:defRPr/>
            </a:pPr>
            <a:r>
              <a:rPr lang="es-PE" sz="1200" b="1" dirty="0">
                <a:solidFill>
                  <a:srgbClr val="1F497D"/>
                </a:solidFill>
                <a:latin typeface="Trebuchet MS" panose="020B0603020202020204" pitchFamily="34" charset="0"/>
              </a:rPr>
              <a:t>Portafolios Temáticos</a:t>
            </a:r>
            <a:endParaRPr kumimoji="0" lang="es-PE" sz="12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PE" sz="1200" b="1" i="0" u="none" strike="noStrike" kern="1200" cap="none" spc="0" normalizeH="0" baseline="0" noProof="0" dirty="0">
              <a:ln>
                <a:noFill/>
              </a:ln>
              <a:solidFill>
                <a:srgbClr val="1F497D"/>
              </a:solidFill>
              <a:effectLst/>
              <a:highlight>
                <a:srgbClr val="FFFF00"/>
              </a:highlight>
              <a:uLnTx/>
              <a:uFillTx/>
              <a:latin typeface="Trebuchet MS" panose="020B0603020202020204" pitchFamily="34" charset="0"/>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mj-lt"/>
              <a:buAutoNum type="arabicParenR" startAt="2"/>
              <a:tabLst/>
              <a:defRPr/>
            </a:pPr>
            <a:endParaRPr kumimoji="0" lang="es-PE" sz="1200" b="1" i="0" u="none" strike="noStrike" kern="1200" cap="none" spc="0" normalizeH="0" baseline="0" noProof="0" dirty="0">
              <a:ln>
                <a:noFill/>
              </a:ln>
              <a:solidFill>
                <a:srgbClr val="1F497D"/>
              </a:solidFill>
              <a:effectLst/>
              <a:highlight>
                <a:srgbClr val="FFFF00"/>
              </a:highlight>
              <a:uLnTx/>
              <a:uFillTx/>
              <a:latin typeface="Trebuchet MS" panose="020B0603020202020204" pitchFamily="34" charset="0"/>
              <a:ea typeface="+mn-ea"/>
              <a:cs typeface="+mn-cs"/>
            </a:endParaRPr>
          </a:p>
          <a:p>
            <a:pPr marR="0" lvl="0" algn="l" defTabSz="457200" rtl="0" eaLnBrk="1" fontAlgn="auto" latinLnBrk="0" hangingPunct="1">
              <a:lnSpc>
                <a:spcPct val="100000"/>
              </a:lnSpc>
              <a:spcBef>
                <a:spcPts val="0"/>
              </a:spcBef>
              <a:spcAft>
                <a:spcPts val="0"/>
              </a:spcAft>
              <a:buClrTx/>
              <a:buSzTx/>
              <a:tabLst/>
              <a:defRPr/>
            </a:pPr>
            <a:r>
              <a:rPr kumimoji="0" lang="es-PE" sz="1200" b="1" i="0" u="none" strike="noStrike" kern="1200" cap="none" spc="0" normalizeH="0" baseline="0" noProof="0">
                <a:ln>
                  <a:noFill/>
                </a:ln>
                <a:solidFill>
                  <a:srgbClr val="1F497D"/>
                </a:solidFill>
                <a:effectLst/>
                <a:uLnTx/>
                <a:uFillTx/>
                <a:latin typeface="Trebuchet MS" panose="020B0603020202020204" pitchFamily="34" charset="0"/>
                <a:ea typeface="+mn-ea"/>
                <a:cs typeface="+mn-cs"/>
              </a:rPr>
              <a:t>b) </a:t>
            </a:r>
            <a:r>
              <a:rPr lang="es-PE" sz="1200" b="1" dirty="0">
                <a:solidFill>
                  <a:srgbClr val="1F497D"/>
                </a:solidFill>
                <a:latin typeface="Trebuchet MS" panose="020B0603020202020204" pitchFamily="34" charset="0"/>
              </a:rPr>
              <a:t>Bonus Track</a:t>
            </a:r>
            <a:endParaRPr kumimoji="0" lang="es-PE" sz="12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mj-lt"/>
              <a:buAutoNum type="arabicParenR" startAt="2"/>
              <a:tabLst/>
              <a:defRPr/>
            </a:pPr>
            <a:endParaRPr kumimoji="0" lang="es-PE" sz="1200" b="1" i="0" u="none" strike="noStrike" kern="1200" cap="none" spc="0" normalizeH="0" baseline="0" noProof="0" dirty="0">
              <a:ln>
                <a:noFill/>
              </a:ln>
              <a:solidFill>
                <a:srgbClr val="1F497D"/>
              </a:solidFill>
              <a:effectLst/>
              <a:highlight>
                <a:srgbClr val="FFFF00"/>
              </a:highligh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2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499388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739C4-9B65-EDDA-9C81-1B85EA97046D}"/>
            </a:ext>
          </a:extLst>
        </p:cNvPr>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BA53BD66-F848-6C4E-F6BD-E0D1AD97EC87}"/>
              </a:ext>
            </a:extLst>
          </p:cNvPr>
          <p:cNvSpPr/>
          <p:nvPr/>
        </p:nvSpPr>
        <p:spPr>
          <a:xfrm>
            <a:off x="858742" y="1196752"/>
            <a:ext cx="11075350" cy="432048"/>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just" defTabSz="457200">
              <a:defRPr/>
            </a:pPr>
            <a:r>
              <a:rPr lang="es-PE" sz="1000" dirty="0">
                <a:solidFill>
                  <a:srgbClr val="1F497D"/>
                </a:solidFill>
                <a:latin typeface="Trebuchet MS" panose="020B0603020202020204" pitchFamily="34" charset="0"/>
              </a:rPr>
              <a:t>Definimos una Metodología Base que sirve de punto de partida para el diseño de la Nueva Metodología de </a:t>
            </a:r>
            <a:r>
              <a:rPr lang="es-PE" sz="1000" i="1" dirty="0" err="1">
                <a:solidFill>
                  <a:srgbClr val="1F497D"/>
                </a:solidFill>
                <a:latin typeface="Trebuchet MS" panose="020B0603020202020204" pitchFamily="34" charset="0"/>
              </a:rPr>
              <a:t>Engagement</a:t>
            </a:r>
            <a:r>
              <a:rPr lang="es-PE" sz="1000" i="1" dirty="0">
                <a:solidFill>
                  <a:srgbClr val="1F497D"/>
                </a:solidFill>
                <a:latin typeface="Trebuchet MS" panose="020B0603020202020204" pitchFamily="34" charset="0"/>
              </a:rPr>
              <a:t>. </a:t>
            </a:r>
            <a:r>
              <a:rPr lang="es-PE" sz="1000" dirty="0">
                <a:solidFill>
                  <a:srgbClr val="1F497D"/>
                </a:solidFill>
                <a:latin typeface="Trebuchet MS" panose="020B0603020202020204" pitchFamily="34" charset="0"/>
              </a:rPr>
              <a:t>Esta metodología se construyó con </a:t>
            </a:r>
            <a:r>
              <a:rPr kumimoji="0" lang="es-PE" sz="100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la información </a:t>
            </a:r>
            <a:r>
              <a:rPr lang="es-PE" sz="1000" dirty="0">
                <a:solidFill>
                  <a:srgbClr val="1F497D"/>
                </a:solidFill>
                <a:latin typeface="Trebuchet MS" panose="020B0603020202020204" pitchFamily="34" charset="0"/>
              </a:rPr>
              <a:t>recopilada</a:t>
            </a:r>
            <a:r>
              <a:rPr kumimoji="0" lang="es-PE" sz="100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r>
              <a:rPr lang="es-PE" sz="1000" dirty="0">
                <a:solidFill>
                  <a:srgbClr val="1F497D"/>
                </a:solidFill>
                <a:latin typeface="Trebuchet MS" panose="020B0603020202020204" pitchFamily="34" charset="0"/>
              </a:rPr>
              <a:t>d</a:t>
            </a:r>
            <a:r>
              <a:rPr kumimoji="0" lang="es-PE" sz="100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el ejercicio de referenciación con managers internacionales (Dic2024).</a:t>
            </a:r>
          </a:p>
          <a:p>
            <a:pPr marL="171450" marR="0" lvl="0" indent="-171450" algn="just" defTabSz="457200" rtl="0" eaLnBrk="1" fontAlgn="auto" latinLnBrk="0" hangingPunct="1">
              <a:lnSpc>
                <a:spcPct val="100000"/>
              </a:lnSpc>
              <a:spcBef>
                <a:spcPts val="0"/>
              </a:spcBef>
              <a:spcAft>
                <a:spcPts val="0"/>
              </a:spcAft>
              <a:buClrTx/>
              <a:buSzTx/>
              <a:buFontTx/>
              <a:buChar char="-"/>
              <a:tabLst/>
              <a:defRPr/>
            </a:pPr>
            <a:endPar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Tx/>
              <a:buChar char="-"/>
              <a:tabLst/>
              <a:defRPr/>
            </a:pPr>
            <a:endPar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graphicFrame>
        <p:nvGraphicFramePr>
          <p:cNvPr id="2" name="Diagram 1">
            <a:extLst>
              <a:ext uri="{FF2B5EF4-FFF2-40B4-BE49-F238E27FC236}">
                <a16:creationId xmlns:a16="http://schemas.microsoft.com/office/drawing/2014/main" id="{3BFC1295-950B-6367-F626-CCF95F9D1058}"/>
              </a:ext>
            </a:extLst>
          </p:cNvPr>
          <p:cNvGraphicFramePr/>
          <p:nvPr/>
        </p:nvGraphicFramePr>
        <p:xfrm>
          <a:off x="881552" y="1916832"/>
          <a:ext cx="4292232" cy="46875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a:extLst>
              <a:ext uri="{FF2B5EF4-FFF2-40B4-BE49-F238E27FC236}">
                <a16:creationId xmlns:a16="http://schemas.microsoft.com/office/drawing/2014/main" id="{B1654CA4-46CC-0520-43C4-01520A3C8160}"/>
              </a:ext>
            </a:extLst>
          </p:cNvPr>
          <p:cNvGraphicFramePr/>
          <p:nvPr/>
        </p:nvGraphicFramePr>
        <p:xfrm>
          <a:off x="5560648" y="3321540"/>
          <a:ext cx="2731476" cy="168226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Right Brace 5">
            <a:extLst>
              <a:ext uri="{FF2B5EF4-FFF2-40B4-BE49-F238E27FC236}">
                <a16:creationId xmlns:a16="http://schemas.microsoft.com/office/drawing/2014/main" id="{228ACF9B-1FCE-4747-64E8-0BE9A29291B7}"/>
              </a:ext>
            </a:extLst>
          </p:cNvPr>
          <p:cNvSpPr/>
          <p:nvPr/>
        </p:nvSpPr>
        <p:spPr>
          <a:xfrm>
            <a:off x="5244123" y="2297723"/>
            <a:ext cx="328246" cy="3727939"/>
          </a:xfrm>
          <a:prstGeom prst="rightBrace">
            <a:avLst/>
          </a:prstGeom>
          <a:ln w="41275"/>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1E2E6E"/>
              </a:solidFill>
              <a:effectLst/>
              <a:uLnTx/>
              <a:uFillTx/>
              <a:latin typeface="Century Schoolbook" panose="02040604050505020304"/>
              <a:ea typeface="+mn-ea"/>
              <a:cs typeface="+mn-cs"/>
            </a:endParaRPr>
          </a:p>
        </p:txBody>
      </p:sp>
      <p:graphicFrame>
        <p:nvGraphicFramePr>
          <p:cNvPr id="7" name="Diagram 6">
            <a:extLst>
              <a:ext uri="{FF2B5EF4-FFF2-40B4-BE49-F238E27FC236}">
                <a16:creationId xmlns:a16="http://schemas.microsoft.com/office/drawing/2014/main" id="{02D2D22A-9037-4C6F-975A-D094759355D0}"/>
              </a:ext>
            </a:extLst>
          </p:cNvPr>
          <p:cNvGraphicFramePr/>
          <p:nvPr/>
        </p:nvGraphicFramePr>
        <p:xfrm>
          <a:off x="5551452" y="1844824"/>
          <a:ext cx="2756301" cy="40456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4" name="Right Brace 3">
            <a:extLst>
              <a:ext uri="{FF2B5EF4-FFF2-40B4-BE49-F238E27FC236}">
                <a16:creationId xmlns:a16="http://schemas.microsoft.com/office/drawing/2014/main" id="{BF197C8F-E877-AC8F-C02C-626426461683}"/>
              </a:ext>
            </a:extLst>
          </p:cNvPr>
          <p:cNvSpPr/>
          <p:nvPr/>
        </p:nvSpPr>
        <p:spPr>
          <a:xfrm>
            <a:off x="8397628" y="2393384"/>
            <a:ext cx="328246" cy="3727939"/>
          </a:xfrm>
          <a:prstGeom prst="rightBrace">
            <a:avLst/>
          </a:prstGeom>
          <a:ln w="41275"/>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1E2E6E"/>
              </a:solidFill>
              <a:effectLst/>
              <a:uLnTx/>
              <a:uFillTx/>
              <a:latin typeface="Century Schoolbook" panose="02040604050505020304"/>
              <a:ea typeface="+mn-ea"/>
              <a:cs typeface="+mn-cs"/>
            </a:endParaRPr>
          </a:p>
        </p:txBody>
      </p:sp>
      <p:graphicFrame>
        <p:nvGraphicFramePr>
          <p:cNvPr id="5" name="Diagram 4">
            <a:extLst>
              <a:ext uri="{FF2B5EF4-FFF2-40B4-BE49-F238E27FC236}">
                <a16:creationId xmlns:a16="http://schemas.microsoft.com/office/drawing/2014/main" id="{A2ED7F6B-3EFB-4CDD-BAE7-68DF3320AF8B}"/>
              </a:ext>
            </a:extLst>
          </p:cNvPr>
          <p:cNvGraphicFramePr/>
          <p:nvPr/>
        </p:nvGraphicFramePr>
        <p:xfrm>
          <a:off x="8876907" y="1800302"/>
          <a:ext cx="2756301" cy="404562"/>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8" name="Diagram 7">
            <a:extLst>
              <a:ext uri="{FF2B5EF4-FFF2-40B4-BE49-F238E27FC236}">
                <a16:creationId xmlns:a16="http://schemas.microsoft.com/office/drawing/2014/main" id="{89113056-37B3-8565-0DEB-5E72C427E826}"/>
              </a:ext>
            </a:extLst>
          </p:cNvPr>
          <p:cNvGraphicFramePr/>
          <p:nvPr/>
        </p:nvGraphicFramePr>
        <p:xfrm>
          <a:off x="8878284" y="2808955"/>
          <a:ext cx="2731476" cy="3356349"/>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10" name="Title 2">
            <a:extLst>
              <a:ext uri="{FF2B5EF4-FFF2-40B4-BE49-F238E27FC236}">
                <a16:creationId xmlns:a16="http://schemas.microsoft.com/office/drawing/2014/main" id="{D7DC3D54-86B6-372F-8D05-C9F23C7373C3}"/>
              </a:ext>
            </a:extLst>
          </p:cNvPr>
          <p:cNvSpPr>
            <a:spLocks noGrp="1"/>
          </p:cNvSpPr>
          <p:nvPr>
            <p:ph type="title"/>
          </p:nvPr>
        </p:nvSpPr>
        <p:spPr>
          <a:xfrm>
            <a:off x="-903" y="88429"/>
            <a:ext cx="10819699" cy="676275"/>
          </a:xfrm>
        </p:spPr>
        <p:txBody>
          <a:bodyPr>
            <a:noAutofit/>
          </a:bodyPr>
          <a:lstStyle/>
          <a:p>
            <a:r>
              <a:rPr lang="es-ES" sz="2000" dirty="0"/>
              <a:t>1.1 </a:t>
            </a:r>
            <a:r>
              <a:rPr lang="es-ES" sz="2000" i="1" dirty="0" err="1"/>
              <a:t>Engagement</a:t>
            </a:r>
            <a:r>
              <a:rPr lang="es-ES" sz="2000" dirty="0"/>
              <a:t> – Estado al 2S2025</a:t>
            </a:r>
          </a:p>
        </p:txBody>
      </p:sp>
      <p:sp>
        <p:nvSpPr>
          <p:cNvPr id="11" name="Rectangle: Rounded Corners 10">
            <a:extLst>
              <a:ext uri="{FF2B5EF4-FFF2-40B4-BE49-F238E27FC236}">
                <a16:creationId xmlns:a16="http://schemas.microsoft.com/office/drawing/2014/main" id="{94976CB9-CD1F-B6A8-814E-BBBAA16B19F2}"/>
              </a:ext>
            </a:extLst>
          </p:cNvPr>
          <p:cNvSpPr/>
          <p:nvPr/>
        </p:nvSpPr>
        <p:spPr>
          <a:xfrm>
            <a:off x="767408" y="764704"/>
            <a:ext cx="1728192"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Metodología Base</a:t>
            </a:r>
            <a:r>
              <a:rPr lang="es-PE" sz="1000" b="1" dirty="0">
                <a:solidFill>
                  <a:srgbClr val="1F497D"/>
                </a:solidFill>
                <a:latin typeface="Trebuchet MS" panose="020B0603020202020204" pitchFamily="34" charset="0"/>
              </a:rPr>
              <a:t>:</a:t>
            </a: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Tree>
    <p:extLst>
      <p:ext uri="{BB962C8B-B14F-4D97-AF65-F5344CB8AC3E}">
        <p14:creationId xmlns:p14="http://schemas.microsoft.com/office/powerpoint/2010/main" val="3361678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D47F0-C019-3846-8235-CF243800B5CD}"/>
            </a:ext>
          </a:extLst>
        </p:cNvPr>
        <p:cNvGrpSpPr/>
        <p:nvPr/>
      </p:nvGrpSpPr>
      <p:grpSpPr>
        <a:xfrm>
          <a:off x="0" y="0"/>
          <a:ext cx="0" cy="0"/>
          <a:chOff x="0" y="0"/>
          <a:chExt cx="0" cy="0"/>
        </a:xfrm>
      </p:grpSpPr>
      <p:sp>
        <p:nvSpPr>
          <p:cNvPr id="10" name="Title 2">
            <a:extLst>
              <a:ext uri="{FF2B5EF4-FFF2-40B4-BE49-F238E27FC236}">
                <a16:creationId xmlns:a16="http://schemas.microsoft.com/office/drawing/2014/main" id="{774BC668-B0B4-772E-8553-D13B29BF3A0C}"/>
              </a:ext>
            </a:extLst>
          </p:cNvPr>
          <p:cNvSpPr>
            <a:spLocks noGrp="1"/>
          </p:cNvSpPr>
          <p:nvPr>
            <p:ph type="title"/>
          </p:nvPr>
        </p:nvSpPr>
        <p:spPr>
          <a:xfrm>
            <a:off x="-903" y="88429"/>
            <a:ext cx="10819699" cy="676275"/>
          </a:xfrm>
        </p:spPr>
        <p:txBody>
          <a:bodyPr>
            <a:noAutofit/>
          </a:bodyPr>
          <a:lstStyle/>
          <a:p>
            <a:r>
              <a:rPr lang="es-ES" sz="2000" dirty="0"/>
              <a:t>1.2 </a:t>
            </a:r>
            <a:r>
              <a:rPr lang="es-ES" sz="2000" i="1" dirty="0" err="1"/>
              <a:t>Engagement</a:t>
            </a:r>
            <a:r>
              <a:rPr lang="es-ES" sz="2000" dirty="0"/>
              <a:t> – Estado al 2S2025</a:t>
            </a:r>
          </a:p>
        </p:txBody>
      </p:sp>
      <p:sp>
        <p:nvSpPr>
          <p:cNvPr id="11" name="Rectangle: Rounded Corners 10">
            <a:extLst>
              <a:ext uri="{FF2B5EF4-FFF2-40B4-BE49-F238E27FC236}">
                <a16:creationId xmlns:a16="http://schemas.microsoft.com/office/drawing/2014/main" id="{E42ECEF8-EDE4-2CA7-703A-853BE44C6D80}"/>
              </a:ext>
            </a:extLst>
          </p:cNvPr>
          <p:cNvSpPr/>
          <p:nvPr/>
        </p:nvSpPr>
        <p:spPr>
          <a:xfrm>
            <a:off x="858742" y="1124744"/>
            <a:ext cx="11075350" cy="432048"/>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just" defTabSz="457200">
              <a:defRPr/>
            </a:pPr>
            <a:r>
              <a:rPr lang="es-PE" sz="1000" dirty="0">
                <a:solidFill>
                  <a:srgbClr val="1F497D"/>
                </a:solidFill>
                <a:latin typeface="Trebuchet MS" panose="020B0603020202020204" pitchFamily="34" charset="0"/>
              </a:rPr>
              <a:t>Ampliar la Metodología Base para incluir lineamientos que guíen </a:t>
            </a:r>
            <a:r>
              <a:rPr lang="es-PE" sz="1000" u="sng" dirty="0">
                <a:solidFill>
                  <a:srgbClr val="1F497D"/>
                </a:solidFill>
                <a:latin typeface="Trebuchet MS" panose="020B0603020202020204" pitchFamily="34" charset="0"/>
              </a:rPr>
              <a:t>todo</a:t>
            </a:r>
            <a:r>
              <a:rPr lang="es-PE" sz="1000" dirty="0">
                <a:solidFill>
                  <a:srgbClr val="1F497D"/>
                </a:solidFill>
                <a:latin typeface="Trebuchet MS" panose="020B0603020202020204" pitchFamily="34" charset="0"/>
              </a:rPr>
              <a:t> el proceso de </a:t>
            </a:r>
            <a:r>
              <a:rPr lang="es-PE" sz="1000" i="1" dirty="0" err="1">
                <a:solidFill>
                  <a:srgbClr val="1F497D"/>
                </a:solidFill>
                <a:latin typeface="Trebuchet MS" panose="020B0603020202020204" pitchFamily="34" charset="0"/>
              </a:rPr>
              <a:t>engagement</a:t>
            </a:r>
            <a:r>
              <a:rPr lang="es-PE" sz="1000" i="1" dirty="0">
                <a:solidFill>
                  <a:srgbClr val="1F497D"/>
                </a:solidFill>
                <a:latin typeface="Trebuchet MS" panose="020B0603020202020204" pitchFamily="34" charset="0"/>
              </a:rPr>
              <a:t> </a:t>
            </a:r>
            <a:r>
              <a:rPr lang="es-PE" sz="1000" dirty="0">
                <a:solidFill>
                  <a:srgbClr val="1F497D"/>
                </a:solidFill>
                <a:latin typeface="Trebuchet MS" panose="020B0603020202020204" pitchFamily="34" charset="0"/>
              </a:rPr>
              <a:t>desde la aprobación formal de la Metodología hasta la Ejecución y Medición de Resultados contra Metas. </a:t>
            </a:r>
          </a:p>
        </p:txBody>
      </p:sp>
      <p:sp>
        <p:nvSpPr>
          <p:cNvPr id="14" name="Rectangle: Rounded Corners 13">
            <a:extLst>
              <a:ext uri="{FF2B5EF4-FFF2-40B4-BE49-F238E27FC236}">
                <a16:creationId xmlns:a16="http://schemas.microsoft.com/office/drawing/2014/main" id="{229F4DFF-255C-1731-C568-5321EC513D81}"/>
              </a:ext>
            </a:extLst>
          </p:cNvPr>
          <p:cNvSpPr/>
          <p:nvPr/>
        </p:nvSpPr>
        <p:spPr>
          <a:xfrm>
            <a:off x="1487488" y="2924944"/>
            <a:ext cx="1368152" cy="4320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dirty="0">
                <a:latin typeface="Trebuchet MS" panose="020B0603020202020204" pitchFamily="34" charset="0"/>
              </a:rPr>
              <a:t>Metodología</a:t>
            </a:r>
          </a:p>
        </p:txBody>
      </p:sp>
      <p:sp>
        <p:nvSpPr>
          <p:cNvPr id="15" name="Rectangle: Rounded Corners 14">
            <a:extLst>
              <a:ext uri="{FF2B5EF4-FFF2-40B4-BE49-F238E27FC236}">
                <a16:creationId xmlns:a16="http://schemas.microsoft.com/office/drawing/2014/main" id="{2770BAF9-978C-5E4D-0DE4-EA97D79E8909}"/>
              </a:ext>
            </a:extLst>
          </p:cNvPr>
          <p:cNvSpPr/>
          <p:nvPr/>
        </p:nvSpPr>
        <p:spPr>
          <a:xfrm>
            <a:off x="1487488" y="5373216"/>
            <a:ext cx="1368152" cy="4320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dirty="0">
                <a:latin typeface="Trebuchet MS" panose="020B0603020202020204" pitchFamily="34" charset="0"/>
              </a:rPr>
              <a:t>Ejecución</a:t>
            </a:r>
          </a:p>
        </p:txBody>
      </p:sp>
      <p:sp>
        <p:nvSpPr>
          <p:cNvPr id="16" name="Rectangle: Rounded Corners 15">
            <a:extLst>
              <a:ext uri="{FF2B5EF4-FFF2-40B4-BE49-F238E27FC236}">
                <a16:creationId xmlns:a16="http://schemas.microsoft.com/office/drawing/2014/main" id="{95DE685C-1991-EB31-89BF-942EC9C65D1F}"/>
              </a:ext>
            </a:extLst>
          </p:cNvPr>
          <p:cNvSpPr/>
          <p:nvPr/>
        </p:nvSpPr>
        <p:spPr>
          <a:xfrm>
            <a:off x="3575720" y="4797152"/>
            <a:ext cx="3672408" cy="2880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Priorización Anual</a:t>
            </a:r>
          </a:p>
        </p:txBody>
      </p:sp>
      <p:sp>
        <p:nvSpPr>
          <p:cNvPr id="17" name="Rectangle: Rounded Corners 16">
            <a:extLst>
              <a:ext uri="{FF2B5EF4-FFF2-40B4-BE49-F238E27FC236}">
                <a16:creationId xmlns:a16="http://schemas.microsoft.com/office/drawing/2014/main" id="{D453927C-D465-A6BF-D2F7-E3FB40283EE4}"/>
              </a:ext>
            </a:extLst>
          </p:cNvPr>
          <p:cNvSpPr/>
          <p:nvPr/>
        </p:nvSpPr>
        <p:spPr>
          <a:xfrm>
            <a:off x="3575720" y="5229200"/>
            <a:ext cx="3672408" cy="2880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Aprobación de Planes</a:t>
            </a:r>
            <a:endParaRPr lang="es-ES" sz="1000" i="1" dirty="0">
              <a:solidFill>
                <a:schemeClr val="tx1"/>
              </a:solidFill>
              <a:latin typeface="Trebuchet MS" panose="020B0603020202020204" pitchFamily="34" charset="0"/>
            </a:endParaRPr>
          </a:p>
        </p:txBody>
      </p:sp>
      <p:sp>
        <p:nvSpPr>
          <p:cNvPr id="18" name="Rectangle: Rounded Corners 17">
            <a:extLst>
              <a:ext uri="{FF2B5EF4-FFF2-40B4-BE49-F238E27FC236}">
                <a16:creationId xmlns:a16="http://schemas.microsoft.com/office/drawing/2014/main" id="{EB79FF06-4F94-0029-90A6-B5C114A8576F}"/>
              </a:ext>
            </a:extLst>
          </p:cNvPr>
          <p:cNvSpPr/>
          <p:nvPr/>
        </p:nvSpPr>
        <p:spPr>
          <a:xfrm>
            <a:off x="3575720" y="5661248"/>
            <a:ext cx="3672408" cy="2880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Ejecución de Planes y Monitoreo</a:t>
            </a:r>
            <a:endParaRPr lang="es-ES" sz="1000" i="1" dirty="0">
              <a:solidFill>
                <a:schemeClr val="tx1"/>
              </a:solidFill>
              <a:latin typeface="Trebuchet MS" panose="020B0603020202020204" pitchFamily="34" charset="0"/>
            </a:endParaRPr>
          </a:p>
        </p:txBody>
      </p:sp>
      <p:sp>
        <p:nvSpPr>
          <p:cNvPr id="19" name="Rectangle: Rounded Corners 18">
            <a:extLst>
              <a:ext uri="{FF2B5EF4-FFF2-40B4-BE49-F238E27FC236}">
                <a16:creationId xmlns:a16="http://schemas.microsoft.com/office/drawing/2014/main" id="{785D2946-D2B2-ECFC-2638-F37F1010E1DA}"/>
              </a:ext>
            </a:extLst>
          </p:cNvPr>
          <p:cNvSpPr/>
          <p:nvPr/>
        </p:nvSpPr>
        <p:spPr>
          <a:xfrm>
            <a:off x="3575720" y="6093296"/>
            <a:ext cx="3672408" cy="2880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Medición de Resultados contra Metas</a:t>
            </a:r>
          </a:p>
        </p:txBody>
      </p:sp>
      <p:sp>
        <p:nvSpPr>
          <p:cNvPr id="20" name="Rectangle: Rounded Corners 19">
            <a:extLst>
              <a:ext uri="{FF2B5EF4-FFF2-40B4-BE49-F238E27FC236}">
                <a16:creationId xmlns:a16="http://schemas.microsoft.com/office/drawing/2014/main" id="{5080A91B-032E-0863-CEAD-2098888473C5}"/>
              </a:ext>
            </a:extLst>
          </p:cNvPr>
          <p:cNvSpPr/>
          <p:nvPr/>
        </p:nvSpPr>
        <p:spPr>
          <a:xfrm>
            <a:off x="3575720" y="1916832"/>
            <a:ext cx="3672408" cy="2880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Enfoque (Valor a Largo Plazo)</a:t>
            </a:r>
          </a:p>
        </p:txBody>
      </p:sp>
      <p:sp>
        <p:nvSpPr>
          <p:cNvPr id="21" name="Rectangle: Rounded Corners 20">
            <a:extLst>
              <a:ext uri="{FF2B5EF4-FFF2-40B4-BE49-F238E27FC236}">
                <a16:creationId xmlns:a16="http://schemas.microsoft.com/office/drawing/2014/main" id="{733B6A5F-B419-2717-87FF-2B1C46B61BAB}"/>
              </a:ext>
            </a:extLst>
          </p:cNvPr>
          <p:cNvSpPr/>
          <p:nvPr/>
        </p:nvSpPr>
        <p:spPr>
          <a:xfrm>
            <a:off x="3575720" y="2348880"/>
            <a:ext cx="3672408" cy="2880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Variables Clave</a:t>
            </a:r>
          </a:p>
        </p:txBody>
      </p:sp>
      <p:sp>
        <p:nvSpPr>
          <p:cNvPr id="22" name="Rectangle: Rounded Corners 21">
            <a:extLst>
              <a:ext uri="{FF2B5EF4-FFF2-40B4-BE49-F238E27FC236}">
                <a16:creationId xmlns:a16="http://schemas.microsoft.com/office/drawing/2014/main" id="{3EA65D27-E210-1507-8CAF-A9DB8934CA45}"/>
              </a:ext>
            </a:extLst>
          </p:cNvPr>
          <p:cNvSpPr/>
          <p:nvPr/>
        </p:nvSpPr>
        <p:spPr>
          <a:xfrm>
            <a:off x="3575720" y="2780928"/>
            <a:ext cx="3672408" cy="2880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Priorización Anual (Elección de Emisores)</a:t>
            </a:r>
          </a:p>
        </p:txBody>
      </p:sp>
      <p:sp>
        <p:nvSpPr>
          <p:cNvPr id="23" name="Rectangle: Rounded Corners 22">
            <a:extLst>
              <a:ext uri="{FF2B5EF4-FFF2-40B4-BE49-F238E27FC236}">
                <a16:creationId xmlns:a16="http://schemas.microsoft.com/office/drawing/2014/main" id="{73B5948D-4B01-F42F-70D2-F246041432C8}"/>
              </a:ext>
            </a:extLst>
          </p:cNvPr>
          <p:cNvSpPr/>
          <p:nvPr/>
        </p:nvSpPr>
        <p:spPr>
          <a:xfrm>
            <a:off x="3575720" y="3212976"/>
            <a:ext cx="3672408" cy="2880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Planes de </a:t>
            </a:r>
            <a:r>
              <a:rPr lang="es-ES" sz="1000" i="1" dirty="0" err="1">
                <a:solidFill>
                  <a:schemeClr val="tx1"/>
                </a:solidFill>
                <a:latin typeface="Trebuchet MS" panose="020B0603020202020204" pitchFamily="34" charset="0"/>
              </a:rPr>
              <a:t>Engagement</a:t>
            </a:r>
            <a:r>
              <a:rPr lang="es-ES" sz="1000" i="1" dirty="0">
                <a:solidFill>
                  <a:schemeClr val="tx1"/>
                </a:solidFill>
                <a:latin typeface="Trebuchet MS" panose="020B0603020202020204" pitchFamily="34" charset="0"/>
              </a:rPr>
              <a:t> (Tesis, Plazo, </a:t>
            </a:r>
            <a:r>
              <a:rPr lang="es-ES" sz="1000" i="1" dirty="0" err="1">
                <a:solidFill>
                  <a:schemeClr val="tx1"/>
                </a:solidFill>
                <a:latin typeface="Trebuchet MS" panose="020B0603020202020204" pitchFamily="34" charset="0"/>
              </a:rPr>
              <a:t>KPIs</a:t>
            </a:r>
            <a:r>
              <a:rPr lang="es-ES" sz="1000" i="1" dirty="0">
                <a:solidFill>
                  <a:schemeClr val="tx1"/>
                </a:solidFill>
                <a:latin typeface="Trebuchet MS" panose="020B0603020202020204" pitchFamily="34" charset="0"/>
              </a:rPr>
              <a:t>, Metas)</a:t>
            </a:r>
          </a:p>
        </p:txBody>
      </p:sp>
      <p:sp>
        <p:nvSpPr>
          <p:cNvPr id="24" name="Rectangle: Rounded Corners 23">
            <a:extLst>
              <a:ext uri="{FF2B5EF4-FFF2-40B4-BE49-F238E27FC236}">
                <a16:creationId xmlns:a16="http://schemas.microsoft.com/office/drawing/2014/main" id="{9C76C188-457F-1AEC-1EE2-6AC5326ED36D}"/>
              </a:ext>
            </a:extLst>
          </p:cNvPr>
          <p:cNvSpPr/>
          <p:nvPr/>
        </p:nvSpPr>
        <p:spPr>
          <a:xfrm>
            <a:off x="3575720" y="3645024"/>
            <a:ext cx="3672408" cy="2880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Aprobación de Planes (Instancias, Plazos)</a:t>
            </a:r>
            <a:endParaRPr lang="es-ES" sz="1000" i="1" dirty="0">
              <a:solidFill>
                <a:schemeClr val="tx1"/>
              </a:solidFill>
              <a:latin typeface="Trebuchet MS" panose="020B0603020202020204" pitchFamily="34" charset="0"/>
            </a:endParaRPr>
          </a:p>
        </p:txBody>
      </p:sp>
      <p:sp>
        <p:nvSpPr>
          <p:cNvPr id="25" name="Rectangle: Rounded Corners 24">
            <a:extLst>
              <a:ext uri="{FF2B5EF4-FFF2-40B4-BE49-F238E27FC236}">
                <a16:creationId xmlns:a16="http://schemas.microsoft.com/office/drawing/2014/main" id="{B2EEA9F8-56E3-F74E-BBA6-27290E80057F}"/>
              </a:ext>
            </a:extLst>
          </p:cNvPr>
          <p:cNvSpPr/>
          <p:nvPr/>
        </p:nvSpPr>
        <p:spPr>
          <a:xfrm>
            <a:off x="7896200" y="1772816"/>
            <a:ext cx="3672408" cy="648072"/>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Materialidad Financiera: </a:t>
            </a:r>
            <a:r>
              <a:rPr lang="es-ES" sz="1000" dirty="0">
                <a:solidFill>
                  <a:srgbClr val="FF0000"/>
                </a:solidFill>
                <a:latin typeface="Trebuchet MS" panose="020B0603020202020204" pitchFamily="34" charset="0"/>
              </a:rPr>
              <a:t> Matriz de Materialidad por Sectores (SASB </a:t>
            </a:r>
            <a:r>
              <a:rPr lang="es-ES" sz="1000" dirty="0" err="1">
                <a:solidFill>
                  <a:srgbClr val="FF0000"/>
                </a:solidFill>
                <a:latin typeface="Trebuchet MS" panose="020B0603020202020204" pitchFamily="34" charset="0"/>
              </a:rPr>
              <a:t>tropicalizado</a:t>
            </a:r>
            <a:r>
              <a:rPr lang="es-ES" sz="1000" dirty="0">
                <a:solidFill>
                  <a:srgbClr val="FF0000"/>
                </a:solidFill>
                <a:latin typeface="Trebuchet MS" panose="020B0603020202020204" pitchFamily="34" charset="0"/>
              </a:rPr>
              <a:t> + Benchmarking Managers) y contrastar con Score ASG de emisores </a:t>
            </a:r>
          </a:p>
        </p:txBody>
      </p:sp>
      <p:sp>
        <p:nvSpPr>
          <p:cNvPr id="26" name="Rectangle: Rounded Corners 25">
            <a:extLst>
              <a:ext uri="{FF2B5EF4-FFF2-40B4-BE49-F238E27FC236}">
                <a16:creationId xmlns:a16="http://schemas.microsoft.com/office/drawing/2014/main" id="{343B635F-9E3F-0E19-B7F5-AAC7C40C2812}"/>
              </a:ext>
            </a:extLst>
          </p:cNvPr>
          <p:cNvSpPr/>
          <p:nvPr/>
        </p:nvSpPr>
        <p:spPr>
          <a:xfrm>
            <a:off x="7896200" y="2564904"/>
            <a:ext cx="3672408" cy="2880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Exposición </a:t>
            </a:r>
          </a:p>
        </p:txBody>
      </p:sp>
      <p:sp>
        <p:nvSpPr>
          <p:cNvPr id="27" name="Rectangle: Rounded Corners 26">
            <a:extLst>
              <a:ext uri="{FF2B5EF4-FFF2-40B4-BE49-F238E27FC236}">
                <a16:creationId xmlns:a16="http://schemas.microsoft.com/office/drawing/2014/main" id="{31A0B036-1B22-C021-A60F-5B22A44E13BA}"/>
              </a:ext>
            </a:extLst>
          </p:cNvPr>
          <p:cNvSpPr/>
          <p:nvPr/>
        </p:nvSpPr>
        <p:spPr>
          <a:xfrm>
            <a:off x="7896200" y="2996952"/>
            <a:ext cx="3672408" cy="2880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Influencia </a:t>
            </a:r>
          </a:p>
        </p:txBody>
      </p:sp>
      <p:sp>
        <p:nvSpPr>
          <p:cNvPr id="2" name="Rectangle: Rounded Corners 1">
            <a:extLst>
              <a:ext uri="{FF2B5EF4-FFF2-40B4-BE49-F238E27FC236}">
                <a16:creationId xmlns:a16="http://schemas.microsoft.com/office/drawing/2014/main" id="{A3487A72-A0EA-E4DE-9032-8F7F180218DB}"/>
              </a:ext>
            </a:extLst>
          </p:cNvPr>
          <p:cNvSpPr/>
          <p:nvPr/>
        </p:nvSpPr>
        <p:spPr>
          <a:xfrm>
            <a:off x="3575720" y="4077072"/>
            <a:ext cx="3672408" cy="2880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Evaluación de Resultados (Instancias, Plazos)</a:t>
            </a:r>
            <a:endParaRPr lang="es-ES" sz="1000" i="1" dirty="0">
              <a:solidFill>
                <a:schemeClr val="tx1"/>
              </a:solidFill>
              <a:latin typeface="Trebuchet MS" panose="020B0603020202020204" pitchFamily="34" charset="0"/>
            </a:endParaRPr>
          </a:p>
        </p:txBody>
      </p:sp>
      <p:sp>
        <p:nvSpPr>
          <p:cNvPr id="3" name="Left Brace 2">
            <a:extLst>
              <a:ext uri="{FF2B5EF4-FFF2-40B4-BE49-F238E27FC236}">
                <a16:creationId xmlns:a16="http://schemas.microsoft.com/office/drawing/2014/main" id="{48F7863B-EA16-2ADB-032A-DAEE46B7A311}"/>
              </a:ext>
            </a:extLst>
          </p:cNvPr>
          <p:cNvSpPr/>
          <p:nvPr/>
        </p:nvSpPr>
        <p:spPr>
          <a:xfrm>
            <a:off x="2999656" y="1916832"/>
            <a:ext cx="288032" cy="2448272"/>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4" name="Left Brace 3">
            <a:extLst>
              <a:ext uri="{FF2B5EF4-FFF2-40B4-BE49-F238E27FC236}">
                <a16:creationId xmlns:a16="http://schemas.microsoft.com/office/drawing/2014/main" id="{45BEF6D5-5B92-1C56-5214-338E1B790882}"/>
              </a:ext>
            </a:extLst>
          </p:cNvPr>
          <p:cNvSpPr/>
          <p:nvPr/>
        </p:nvSpPr>
        <p:spPr>
          <a:xfrm>
            <a:off x="2999656" y="4797152"/>
            <a:ext cx="288032" cy="1656184"/>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5" name="Left Brace 4">
            <a:extLst>
              <a:ext uri="{FF2B5EF4-FFF2-40B4-BE49-F238E27FC236}">
                <a16:creationId xmlns:a16="http://schemas.microsoft.com/office/drawing/2014/main" id="{2CFC1189-2C46-4B38-8CC0-BCA4B1B671A1}"/>
              </a:ext>
            </a:extLst>
          </p:cNvPr>
          <p:cNvSpPr/>
          <p:nvPr/>
        </p:nvSpPr>
        <p:spPr>
          <a:xfrm>
            <a:off x="7392144" y="1772816"/>
            <a:ext cx="288032" cy="1512168"/>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7" name="Left Brace 6">
            <a:extLst>
              <a:ext uri="{FF2B5EF4-FFF2-40B4-BE49-F238E27FC236}">
                <a16:creationId xmlns:a16="http://schemas.microsoft.com/office/drawing/2014/main" id="{C1581D14-6332-7FC7-7A89-601A6874CD99}"/>
              </a:ext>
            </a:extLst>
          </p:cNvPr>
          <p:cNvSpPr/>
          <p:nvPr/>
        </p:nvSpPr>
        <p:spPr>
          <a:xfrm rot="10800000">
            <a:off x="7392144" y="4725144"/>
            <a:ext cx="288032" cy="1656184"/>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8" name="Rectangle: Rounded Corners 7">
            <a:extLst>
              <a:ext uri="{FF2B5EF4-FFF2-40B4-BE49-F238E27FC236}">
                <a16:creationId xmlns:a16="http://schemas.microsoft.com/office/drawing/2014/main" id="{779A255D-9448-B68E-1950-BEE7A40856D1}"/>
              </a:ext>
            </a:extLst>
          </p:cNvPr>
          <p:cNvSpPr/>
          <p:nvPr/>
        </p:nvSpPr>
        <p:spPr>
          <a:xfrm>
            <a:off x="7896200" y="5229200"/>
            <a:ext cx="3672408" cy="64807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Trebuchet MS" panose="020B0603020202020204" pitchFamily="34" charset="0"/>
              </a:rPr>
              <a:t>Publicación – Reporte de Inversión Sostenible Anual: Metodología y Procesos de </a:t>
            </a:r>
            <a:r>
              <a:rPr lang="es-ES" sz="1000" dirty="0" err="1">
                <a:solidFill>
                  <a:schemeClr val="tx1"/>
                </a:solidFill>
                <a:latin typeface="Trebuchet MS" panose="020B0603020202020204" pitchFamily="34" charset="0"/>
              </a:rPr>
              <a:t>Engagement</a:t>
            </a:r>
            <a:r>
              <a:rPr lang="es-ES" sz="1000" dirty="0">
                <a:solidFill>
                  <a:schemeClr val="tx1"/>
                </a:solidFill>
                <a:latin typeface="Trebuchet MS" panose="020B0603020202020204" pitchFamily="34" charset="0"/>
              </a:rPr>
              <a:t> en curso y Resultados.  </a:t>
            </a:r>
          </a:p>
        </p:txBody>
      </p:sp>
      <p:cxnSp>
        <p:nvCxnSpPr>
          <p:cNvPr id="9" name="Straight Connector 8">
            <a:extLst>
              <a:ext uri="{FF2B5EF4-FFF2-40B4-BE49-F238E27FC236}">
                <a16:creationId xmlns:a16="http://schemas.microsoft.com/office/drawing/2014/main" id="{87DDF176-7A5A-71BE-DFD7-76EA2B0CAC7E}"/>
              </a:ext>
            </a:extLst>
          </p:cNvPr>
          <p:cNvCxnSpPr/>
          <p:nvPr/>
        </p:nvCxnSpPr>
        <p:spPr>
          <a:xfrm>
            <a:off x="1271464" y="4653136"/>
            <a:ext cx="10369152"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 name="Rectangle: Rounded Corners 10">
            <a:extLst>
              <a:ext uri="{FF2B5EF4-FFF2-40B4-BE49-F238E27FC236}">
                <a16:creationId xmlns:a16="http://schemas.microsoft.com/office/drawing/2014/main" id="{0EDD710F-BECD-F15F-7A8F-B38E80CA310B}"/>
              </a:ext>
            </a:extLst>
          </p:cNvPr>
          <p:cNvSpPr/>
          <p:nvPr/>
        </p:nvSpPr>
        <p:spPr>
          <a:xfrm>
            <a:off x="767408" y="764704"/>
            <a:ext cx="3168352"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Nueva Metodología y Ejecución</a:t>
            </a:r>
            <a:r>
              <a:rPr lang="es-PE" sz="1000" b="1" dirty="0">
                <a:solidFill>
                  <a:srgbClr val="1F497D"/>
                </a:solidFill>
                <a:latin typeface="Trebuchet MS" panose="020B0603020202020204" pitchFamily="34" charset="0"/>
              </a:rPr>
              <a:t>:</a:t>
            </a: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Tree>
    <p:extLst>
      <p:ext uri="{BB962C8B-B14F-4D97-AF65-F5344CB8AC3E}">
        <p14:creationId xmlns:p14="http://schemas.microsoft.com/office/powerpoint/2010/main" val="1689927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B09C3-DA38-F6C6-1F0F-6FA11EE0B06F}"/>
            </a:ext>
          </a:extLst>
        </p:cNvPr>
        <p:cNvGrpSpPr/>
        <p:nvPr/>
      </p:nvGrpSpPr>
      <p:grpSpPr>
        <a:xfrm>
          <a:off x="0" y="0"/>
          <a:ext cx="0" cy="0"/>
          <a:chOff x="0" y="0"/>
          <a:chExt cx="0" cy="0"/>
        </a:xfrm>
      </p:grpSpPr>
      <p:sp>
        <p:nvSpPr>
          <p:cNvPr id="10" name="Title 2">
            <a:extLst>
              <a:ext uri="{FF2B5EF4-FFF2-40B4-BE49-F238E27FC236}">
                <a16:creationId xmlns:a16="http://schemas.microsoft.com/office/drawing/2014/main" id="{B59B5412-1FA0-B171-64C4-A40945C36B86}"/>
              </a:ext>
            </a:extLst>
          </p:cNvPr>
          <p:cNvSpPr>
            <a:spLocks noGrp="1"/>
          </p:cNvSpPr>
          <p:nvPr>
            <p:ph type="title"/>
          </p:nvPr>
        </p:nvSpPr>
        <p:spPr>
          <a:xfrm>
            <a:off x="-903" y="88429"/>
            <a:ext cx="10819699" cy="676275"/>
          </a:xfrm>
        </p:spPr>
        <p:txBody>
          <a:bodyPr>
            <a:noAutofit/>
          </a:bodyPr>
          <a:lstStyle/>
          <a:p>
            <a:r>
              <a:rPr lang="es-ES" sz="2000" dirty="0"/>
              <a:t>1.3 </a:t>
            </a:r>
            <a:r>
              <a:rPr lang="es-ES" sz="2000" i="1" dirty="0" err="1"/>
              <a:t>Engagement</a:t>
            </a:r>
            <a:r>
              <a:rPr lang="es-ES" sz="2000" dirty="0"/>
              <a:t> – Objetivo 2025-2027: Nueva Metodología de </a:t>
            </a:r>
            <a:r>
              <a:rPr lang="es-ES" sz="2000" i="1" dirty="0" err="1"/>
              <a:t>Engagement</a:t>
            </a:r>
            <a:r>
              <a:rPr lang="es-ES" sz="2000" dirty="0"/>
              <a:t> y Ejecución    </a:t>
            </a:r>
          </a:p>
        </p:txBody>
      </p:sp>
      <p:sp>
        <p:nvSpPr>
          <p:cNvPr id="11" name="Rectangle: Rounded Corners 10">
            <a:extLst>
              <a:ext uri="{FF2B5EF4-FFF2-40B4-BE49-F238E27FC236}">
                <a16:creationId xmlns:a16="http://schemas.microsoft.com/office/drawing/2014/main" id="{E430C2FF-BC5A-7135-BAA3-21CBC27AB2C3}"/>
              </a:ext>
            </a:extLst>
          </p:cNvPr>
          <p:cNvSpPr/>
          <p:nvPr/>
        </p:nvSpPr>
        <p:spPr>
          <a:xfrm>
            <a:off x="858742" y="1124744"/>
            <a:ext cx="11075350" cy="432048"/>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just" defTabSz="457200">
              <a:defRPr/>
            </a:pPr>
            <a:r>
              <a:rPr lang="es-ES" sz="1000" dirty="0">
                <a:solidFill>
                  <a:srgbClr val="1F497D"/>
                </a:solidFill>
                <a:latin typeface="Trebuchet MS" panose="020B0603020202020204" pitchFamily="34" charset="0"/>
              </a:rPr>
              <a:t>Durante el 1Q2026 se aprobó la Metodología de </a:t>
            </a:r>
            <a:r>
              <a:rPr lang="es-ES" sz="1000" dirty="0" err="1">
                <a:solidFill>
                  <a:srgbClr val="1F497D"/>
                </a:solidFill>
                <a:latin typeface="Trebuchet MS" panose="020B0603020202020204" pitchFamily="34" charset="0"/>
              </a:rPr>
              <a:t>Engagement</a:t>
            </a:r>
            <a:r>
              <a:rPr lang="es-ES" sz="1000" dirty="0">
                <a:solidFill>
                  <a:srgbClr val="1F497D"/>
                </a:solidFill>
                <a:latin typeface="Trebuchet MS" panose="020B0603020202020204" pitchFamily="34" charset="0"/>
              </a:rPr>
              <a:t> de SURA AM, la cual fue elaborada con el input de las </a:t>
            </a:r>
            <a:r>
              <a:rPr lang="es-ES" sz="1000" dirty="0" err="1">
                <a:solidFill>
                  <a:srgbClr val="1F497D"/>
                </a:solidFill>
                <a:latin typeface="Trebuchet MS" panose="020B0603020202020204" pitchFamily="34" charset="0"/>
              </a:rPr>
              <a:t>AFPs</a:t>
            </a:r>
            <a:r>
              <a:rPr lang="es-ES" sz="1000" dirty="0">
                <a:solidFill>
                  <a:srgbClr val="1F497D"/>
                </a:solidFill>
                <a:latin typeface="Trebuchet MS" panose="020B0603020202020204" pitchFamily="34" charset="0"/>
              </a:rPr>
              <a:t> del grupo. La Metodología establece lineamientos para estandarizar las actividades de </a:t>
            </a:r>
            <a:r>
              <a:rPr lang="es-ES" sz="1000" dirty="0" err="1">
                <a:solidFill>
                  <a:srgbClr val="1F497D"/>
                </a:solidFill>
                <a:latin typeface="Trebuchet MS" panose="020B0603020202020204" pitchFamily="34" charset="0"/>
              </a:rPr>
              <a:t>engagement</a:t>
            </a:r>
            <a:r>
              <a:rPr lang="es-ES" sz="1000" dirty="0">
                <a:solidFill>
                  <a:srgbClr val="1F497D"/>
                </a:solidFill>
                <a:latin typeface="Trebuchet MS" panose="020B0603020202020204" pitchFamily="34" charset="0"/>
              </a:rPr>
              <a:t> con énfasis en el sustento para definir por qué se propone iniciar un </a:t>
            </a:r>
            <a:r>
              <a:rPr lang="es-ES" sz="1000" dirty="0" err="1">
                <a:solidFill>
                  <a:srgbClr val="1F497D"/>
                </a:solidFill>
                <a:latin typeface="Trebuchet MS" panose="020B0603020202020204" pitchFamily="34" charset="0"/>
              </a:rPr>
              <a:t>engagement</a:t>
            </a:r>
            <a:r>
              <a:rPr lang="es-ES" sz="1000" dirty="0">
                <a:solidFill>
                  <a:srgbClr val="1F497D"/>
                </a:solidFill>
                <a:latin typeface="Trebuchet MS" panose="020B0603020202020204" pitchFamily="34" charset="0"/>
              </a:rPr>
              <a:t>, la formas para ejecutarlo, y la forma de evaluar sus resultados. </a:t>
            </a:r>
            <a:endParaRPr lang="es-PE" sz="1000" dirty="0">
              <a:solidFill>
                <a:srgbClr val="1F497D"/>
              </a:solidFill>
              <a:latin typeface="Trebuchet MS" panose="020B0603020202020204" pitchFamily="34" charset="0"/>
            </a:endParaRPr>
          </a:p>
        </p:txBody>
      </p:sp>
      <p:sp>
        <p:nvSpPr>
          <p:cNvPr id="13" name="Rectangle: Rounded Corners 12">
            <a:extLst>
              <a:ext uri="{FF2B5EF4-FFF2-40B4-BE49-F238E27FC236}">
                <a16:creationId xmlns:a16="http://schemas.microsoft.com/office/drawing/2014/main" id="{D91EB4EE-30F8-0BAC-F337-88638E88C1F9}"/>
              </a:ext>
            </a:extLst>
          </p:cNvPr>
          <p:cNvSpPr/>
          <p:nvPr/>
        </p:nvSpPr>
        <p:spPr>
          <a:xfrm>
            <a:off x="767408" y="764704"/>
            <a:ext cx="4824536"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000" b="1" dirty="0">
                <a:solidFill>
                  <a:srgbClr val="1F497D"/>
                </a:solidFill>
                <a:latin typeface="Trebuchet MS" panose="020B0603020202020204" pitchFamily="34" charset="0"/>
              </a:rPr>
              <a:t>a) Metodología de </a:t>
            </a:r>
            <a:r>
              <a:rPr lang="es-PE" sz="1000" b="1" i="1" dirty="0" err="1">
                <a:solidFill>
                  <a:srgbClr val="1F497D"/>
                </a:solidFill>
                <a:latin typeface="Trebuchet MS" panose="020B0603020202020204" pitchFamily="34" charset="0"/>
              </a:rPr>
              <a:t>Engagement</a:t>
            </a:r>
            <a:r>
              <a:rPr lang="es-PE" sz="1000" b="1" i="1" dirty="0">
                <a:solidFill>
                  <a:srgbClr val="1F497D"/>
                </a:solidFill>
                <a:latin typeface="Trebuchet MS" panose="020B0603020202020204" pitchFamily="34" charset="0"/>
              </a:rPr>
              <a:t> SURA AM e Integra </a:t>
            </a:r>
            <a:r>
              <a:rPr lang="es-PE" sz="1000" b="1" dirty="0">
                <a:solidFill>
                  <a:srgbClr val="1F497D"/>
                </a:solidFill>
                <a:latin typeface="Trebuchet MS" panose="020B0603020202020204" pitchFamily="34" charset="0"/>
              </a:rPr>
              <a:t>– Lineamientos:</a:t>
            </a:r>
            <a:endParaRPr kumimoji="0" lang="es-PE" sz="1000" b="1"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cxnSp>
        <p:nvCxnSpPr>
          <p:cNvPr id="2" name="Connector 3">
            <a:extLst>
              <a:ext uri="{FF2B5EF4-FFF2-40B4-BE49-F238E27FC236}">
                <a16:creationId xmlns:a16="http://schemas.microsoft.com/office/drawing/2014/main" id="{E19C28AF-3B8E-F6E0-089A-A47432C00CD4}"/>
              </a:ext>
            </a:extLst>
          </p:cNvPr>
          <p:cNvCxnSpPr/>
          <p:nvPr/>
        </p:nvCxnSpPr>
        <p:spPr>
          <a:xfrm>
            <a:off x="1935551" y="1928264"/>
            <a:ext cx="9720072" cy="0"/>
          </a:xfrm>
          <a:prstGeom prst="line">
            <a:avLst/>
          </a:prstGeom>
          <a:ln w="22225">
            <a:solidFill>
              <a:srgbClr val="3494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 name="Oval 4">
            <a:extLst>
              <a:ext uri="{FF2B5EF4-FFF2-40B4-BE49-F238E27FC236}">
                <a16:creationId xmlns:a16="http://schemas.microsoft.com/office/drawing/2014/main" id="{4A9778CB-3A78-4067-BDD3-95B5ED15F1A0}"/>
              </a:ext>
            </a:extLst>
          </p:cNvPr>
          <p:cNvSpPr/>
          <p:nvPr/>
        </p:nvSpPr>
        <p:spPr>
          <a:xfrm>
            <a:off x="1780103" y="1772816"/>
            <a:ext cx="310896" cy="310896"/>
          </a:xfrm>
          <a:prstGeom prst="ellipse">
            <a:avLst/>
          </a:prstGeom>
          <a:solidFill>
            <a:srgbClr val="1E2E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300" b="1" i="0">
                <a:solidFill>
                  <a:srgbClr val="FFFFFF"/>
                </a:solidFill>
                <a:latin typeface="Trebuchet MS"/>
              </a:rPr>
              <a:t>1</a:t>
            </a:r>
          </a:p>
        </p:txBody>
      </p:sp>
      <p:sp>
        <p:nvSpPr>
          <p:cNvPr id="4" name="Oval 11">
            <a:extLst>
              <a:ext uri="{FF2B5EF4-FFF2-40B4-BE49-F238E27FC236}">
                <a16:creationId xmlns:a16="http://schemas.microsoft.com/office/drawing/2014/main" id="{4FDC8F92-0BF4-23EC-256E-D8848232FFB9}"/>
              </a:ext>
            </a:extLst>
          </p:cNvPr>
          <p:cNvSpPr/>
          <p:nvPr/>
        </p:nvSpPr>
        <p:spPr>
          <a:xfrm>
            <a:off x="4011240" y="1772816"/>
            <a:ext cx="310896" cy="310896"/>
          </a:xfrm>
          <a:prstGeom prst="ellipse">
            <a:avLst/>
          </a:prstGeom>
          <a:solidFill>
            <a:srgbClr val="1E2E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300" b="1" i="0">
                <a:solidFill>
                  <a:srgbClr val="FFFFFF"/>
                </a:solidFill>
                <a:latin typeface="Trebuchet MS"/>
              </a:rPr>
              <a:t>2</a:t>
            </a:r>
          </a:p>
        </p:txBody>
      </p:sp>
      <p:sp>
        <p:nvSpPr>
          <p:cNvPr id="5" name="Rounded Rectangle 12">
            <a:extLst>
              <a:ext uri="{FF2B5EF4-FFF2-40B4-BE49-F238E27FC236}">
                <a16:creationId xmlns:a16="http://schemas.microsoft.com/office/drawing/2014/main" id="{43F2D9CB-7EBE-A7F6-98D5-D666E1799527}"/>
              </a:ext>
            </a:extLst>
          </p:cNvPr>
          <p:cNvSpPr/>
          <p:nvPr/>
        </p:nvSpPr>
        <p:spPr>
          <a:xfrm>
            <a:off x="941569" y="2175152"/>
            <a:ext cx="2048255" cy="420624"/>
          </a:xfrm>
          <a:prstGeom prst="roundRect">
            <a:avLst>
              <a:gd name="adj" fmla="val 15000"/>
            </a:avLst>
          </a:prstGeom>
          <a:solidFill>
            <a:srgbClr val="3494BA"/>
          </a:solidFill>
          <a:ln w="12700">
            <a:solidFill>
              <a:srgbClr val="3494B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dirty="0">
                <a:solidFill>
                  <a:srgbClr val="FFFFFF"/>
                </a:solidFill>
                <a:latin typeface="Trebuchet MS"/>
              </a:rPr>
              <a:t>Temas ESG clave</a:t>
            </a:r>
          </a:p>
        </p:txBody>
      </p:sp>
      <p:sp>
        <p:nvSpPr>
          <p:cNvPr id="6" name="Rounded Rectangle 13">
            <a:extLst>
              <a:ext uri="{FF2B5EF4-FFF2-40B4-BE49-F238E27FC236}">
                <a16:creationId xmlns:a16="http://schemas.microsoft.com/office/drawing/2014/main" id="{6E4D1ED2-9C25-D0C6-49B0-A57D94287B48}"/>
              </a:ext>
            </a:extLst>
          </p:cNvPr>
          <p:cNvSpPr/>
          <p:nvPr/>
        </p:nvSpPr>
        <p:spPr>
          <a:xfrm>
            <a:off x="941569" y="2650640"/>
            <a:ext cx="2048255" cy="237744"/>
          </a:xfrm>
          <a:prstGeom prst="roundRect">
            <a:avLst>
              <a:gd name="adj" fmla="val 35000"/>
            </a:avLst>
          </a:prstGeom>
          <a:solidFill>
            <a:srgbClr val="CEDBE6"/>
          </a:solidFill>
          <a:ln w="12700">
            <a:solidFill>
              <a:srgbClr val="CEDBE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1">
                <a:solidFill>
                  <a:srgbClr val="1E2E6E"/>
                </a:solidFill>
                <a:latin typeface="Trebuchet MS"/>
              </a:rPr>
              <a:t>¿Sobre qué asuntos?</a:t>
            </a:r>
          </a:p>
        </p:txBody>
      </p:sp>
      <p:sp>
        <p:nvSpPr>
          <p:cNvPr id="7" name="Oval 18">
            <a:extLst>
              <a:ext uri="{FF2B5EF4-FFF2-40B4-BE49-F238E27FC236}">
                <a16:creationId xmlns:a16="http://schemas.microsoft.com/office/drawing/2014/main" id="{42C05486-7B6C-0B0F-1188-C588C4D5D85A}"/>
              </a:ext>
            </a:extLst>
          </p:cNvPr>
          <p:cNvSpPr/>
          <p:nvPr/>
        </p:nvSpPr>
        <p:spPr>
          <a:xfrm>
            <a:off x="6242376" y="1772816"/>
            <a:ext cx="310896" cy="310896"/>
          </a:xfrm>
          <a:prstGeom prst="ellipse">
            <a:avLst/>
          </a:prstGeom>
          <a:solidFill>
            <a:srgbClr val="1E2E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300" b="1" i="0">
                <a:solidFill>
                  <a:srgbClr val="FFFFFF"/>
                </a:solidFill>
                <a:latin typeface="Trebuchet MS"/>
              </a:rPr>
              <a:t>3</a:t>
            </a:r>
          </a:p>
        </p:txBody>
      </p:sp>
      <p:sp>
        <p:nvSpPr>
          <p:cNvPr id="8" name="Rounded Rectangle 19">
            <a:extLst>
              <a:ext uri="{FF2B5EF4-FFF2-40B4-BE49-F238E27FC236}">
                <a16:creationId xmlns:a16="http://schemas.microsoft.com/office/drawing/2014/main" id="{9388D313-C946-A280-13F4-263ACB6BE440}"/>
              </a:ext>
            </a:extLst>
          </p:cNvPr>
          <p:cNvSpPr/>
          <p:nvPr/>
        </p:nvSpPr>
        <p:spPr>
          <a:xfrm>
            <a:off x="5373696" y="2175152"/>
            <a:ext cx="2048255" cy="420624"/>
          </a:xfrm>
          <a:prstGeom prst="roundRect">
            <a:avLst>
              <a:gd name="adj" fmla="val 15000"/>
            </a:avLst>
          </a:prstGeom>
          <a:solidFill>
            <a:srgbClr val="3494BA"/>
          </a:solidFill>
          <a:ln w="12700">
            <a:solidFill>
              <a:srgbClr val="3494B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latin typeface="Trebuchet MS"/>
              </a:rPr>
              <a:t>Interacción con el emisor</a:t>
            </a:r>
          </a:p>
        </p:txBody>
      </p:sp>
      <p:sp>
        <p:nvSpPr>
          <p:cNvPr id="9" name="Rounded Rectangle 20">
            <a:extLst>
              <a:ext uri="{FF2B5EF4-FFF2-40B4-BE49-F238E27FC236}">
                <a16:creationId xmlns:a16="http://schemas.microsoft.com/office/drawing/2014/main" id="{17B3D877-5B36-A820-ECC4-499293DFAE43}"/>
              </a:ext>
            </a:extLst>
          </p:cNvPr>
          <p:cNvSpPr/>
          <p:nvPr/>
        </p:nvSpPr>
        <p:spPr>
          <a:xfrm>
            <a:off x="5373696" y="2650640"/>
            <a:ext cx="2048255" cy="237744"/>
          </a:xfrm>
          <a:prstGeom prst="roundRect">
            <a:avLst>
              <a:gd name="adj" fmla="val 35000"/>
            </a:avLst>
          </a:prstGeom>
          <a:solidFill>
            <a:srgbClr val="CEDBE6"/>
          </a:solidFill>
          <a:ln w="12700">
            <a:solidFill>
              <a:srgbClr val="CEDBE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1">
                <a:solidFill>
                  <a:srgbClr val="1E2E6E"/>
                </a:solidFill>
                <a:latin typeface="Trebuchet MS"/>
              </a:rPr>
              <a:t>¿Cómo se lleva a cabo?</a:t>
            </a:r>
          </a:p>
        </p:txBody>
      </p:sp>
      <p:sp>
        <p:nvSpPr>
          <p:cNvPr id="12" name="Oval 25">
            <a:extLst>
              <a:ext uri="{FF2B5EF4-FFF2-40B4-BE49-F238E27FC236}">
                <a16:creationId xmlns:a16="http://schemas.microsoft.com/office/drawing/2014/main" id="{D665E7C5-A824-25FF-4765-4F4F9E8EAEBD}"/>
              </a:ext>
            </a:extLst>
          </p:cNvPr>
          <p:cNvSpPr/>
          <p:nvPr/>
        </p:nvSpPr>
        <p:spPr>
          <a:xfrm>
            <a:off x="8473511" y="1772816"/>
            <a:ext cx="310896" cy="310896"/>
          </a:xfrm>
          <a:prstGeom prst="ellipse">
            <a:avLst/>
          </a:prstGeom>
          <a:solidFill>
            <a:srgbClr val="1E2E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300" b="1" i="0">
                <a:solidFill>
                  <a:srgbClr val="FFFFFF"/>
                </a:solidFill>
                <a:latin typeface="Trebuchet MS"/>
              </a:rPr>
              <a:t>4</a:t>
            </a:r>
          </a:p>
        </p:txBody>
      </p:sp>
      <p:sp>
        <p:nvSpPr>
          <p:cNvPr id="14" name="Rounded Rectangle 26">
            <a:extLst>
              <a:ext uri="{FF2B5EF4-FFF2-40B4-BE49-F238E27FC236}">
                <a16:creationId xmlns:a16="http://schemas.microsoft.com/office/drawing/2014/main" id="{9779C3CA-59EA-3568-FF9E-ADF6D23F83B6}"/>
              </a:ext>
            </a:extLst>
          </p:cNvPr>
          <p:cNvSpPr/>
          <p:nvPr/>
        </p:nvSpPr>
        <p:spPr>
          <a:xfrm>
            <a:off x="7604832" y="2175152"/>
            <a:ext cx="2048255" cy="420624"/>
          </a:xfrm>
          <a:prstGeom prst="roundRect">
            <a:avLst>
              <a:gd name="adj" fmla="val 15000"/>
            </a:avLst>
          </a:prstGeom>
          <a:solidFill>
            <a:srgbClr val="3494BA"/>
          </a:solidFill>
          <a:ln w="12700">
            <a:solidFill>
              <a:srgbClr val="3494B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latin typeface="Trebuchet MS"/>
              </a:rPr>
              <a:t>Duración y escalamiento</a:t>
            </a:r>
          </a:p>
        </p:txBody>
      </p:sp>
      <p:sp>
        <p:nvSpPr>
          <p:cNvPr id="15" name="Rounded Rectangle 27">
            <a:extLst>
              <a:ext uri="{FF2B5EF4-FFF2-40B4-BE49-F238E27FC236}">
                <a16:creationId xmlns:a16="http://schemas.microsoft.com/office/drawing/2014/main" id="{22517E29-1E94-20C1-AC03-3639B3A7974B}"/>
              </a:ext>
            </a:extLst>
          </p:cNvPr>
          <p:cNvSpPr/>
          <p:nvPr/>
        </p:nvSpPr>
        <p:spPr>
          <a:xfrm>
            <a:off x="7604832" y="2650640"/>
            <a:ext cx="2048255" cy="237744"/>
          </a:xfrm>
          <a:prstGeom prst="roundRect">
            <a:avLst>
              <a:gd name="adj" fmla="val 35000"/>
            </a:avLst>
          </a:prstGeom>
          <a:solidFill>
            <a:srgbClr val="CEDBE6"/>
          </a:solidFill>
          <a:ln w="12700">
            <a:solidFill>
              <a:srgbClr val="CEDBE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1">
                <a:solidFill>
                  <a:srgbClr val="1E2E6E"/>
                </a:solidFill>
                <a:latin typeface="Trebuchet MS"/>
              </a:rPr>
              <a:t>¿En qué plazos?</a:t>
            </a:r>
          </a:p>
        </p:txBody>
      </p:sp>
      <p:sp>
        <p:nvSpPr>
          <p:cNvPr id="16" name="Rounded Rectangle 28">
            <a:extLst>
              <a:ext uri="{FF2B5EF4-FFF2-40B4-BE49-F238E27FC236}">
                <a16:creationId xmlns:a16="http://schemas.microsoft.com/office/drawing/2014/main" id="{D0A5B0A6-FC08-A51B-5312-170453EE0D6A}"/>
              </a:ext>
            </a:extLst>
          </p:cNvPr>
          <p:cNvSpPr/>
          <p:nvPr/>
        </p:nvSpPr>
        <p:spPr>
          <a:xfrm>
            <a:off x="7604832" y="2979824"/>
            <a:ext cx="2048255" cy="317296"/>
          </a:xfrm>
          <a:prstGeom prst="roundRect">
            <a:avLst>
              <a:gd name="adj" fmla="val 15000"/>
            </a:avLst>
          </a:prstGeom>
          <a:solidFill>
            <a:schemeClr val="accent1">
              <a:lumMod val="20000"/>
              <a:lumOff val="80000"/>
            </a:schemeClr>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a:solidFill>
                  <a:srgbClr val="1E2E6E"/>
                </a:solidFill>
                <a:latin typeface="Trebuchet MS"/>
              </a:rPr>
              <a:t>1. Diálogo inicial y brechas — hasta 3 meses</a:t>
            </a:r>
          </a:p>
        </p:txBody>
      </p:sp>
      <p:sp>
        <p:nvSpPr>
          <p:cNvPr id="17" name="Rounded Rectangle 29">
            <a:extLst>
              <a:ext uri="{FF2B5EF4-FFF2-40B4-BE49-F238E27FC236}">
                <a16:creationId xmlns:a16="http://schemas.microsoft.com/office/drawing/2014/main" id="{20618DCD-AA5F-8860-159B-2A37CE3FEE20}"/>
              </a:ext>
            </a:extLst>
          </p:cNvPr>
          <p:cNvSpPr/>
          <p:nvPr/>
        </p:nvSpPr>
        <p:spPr>
          <a:xfrm>
            <a:off x="7604832" y="3388560"/>
            <a:ext cx="2048255" cy="317296"/>
          </a:xfrm>
          <a:prstGeom prst="roundRect">
            <a:avLst>
              <a:gd name="adj" fmla="val 15000"/>
            </a:avLst>
          </a:prstGeom>
          <a:solidFill>
            <a:schemeClr val="accent1">
              <a:lumMod val="20000"/>
              <a:lumOff val="80000"/>
            </a:schemeClr>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a:solidFill>
                  <a:srgbClr val="1E2E6E"/>
                </a:solidFill>
                <a:latin typeface="Trebuchet MS"/>
              </a:rPr>
              <a:t>2. Reconocimiento y compromisos — 3 a 6 meses</a:t>
            </a:r>
          </a:p>
        </p:txBody>
      </p:sp>
      <p:sp>
        <p:nvSpPr>
          <p:cNvPr id="18" name="Rounded Rectangle 30">
            <a:extLst>
              <a:ext uri="{FF2B5EF4-FFF2-40B4-BE49-F238E27FC236}">
                <a16:creationId xmlns:a16="http://schemas.microsoft.com/office/drawing/2014/main" id="{75D07C1C-BB72-9B31-6B0F-6E8D6C5E588B}"/>
              </a:ext>
            </a:extLst>
          </p:cNvPr>
          <p:cNvSpPr/>
          <p:nvPr/>
        </p:nvSpPr>
        <p:spPr>
          <a:xfrm>
            <a:off x="7604832" y="3797297"/>
            <a:ext cx="2048255" cy="317296"/>
          </a:xfrm>
          <a:prstGeom prst="roundRect">
            <a:avLst>
              <a:gd name="adj" fmla="val 15000"/>
            </a:avLst>
          </a:prstGeom>
          <a:solidFill>
            <a:schemeClr val="accent1">
              <a:lumMod val="20000"/>
              <a:lumOff val="80000"/>
            </a:schemeClr>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a:solidFill>
                  <a:srgbClr val="1E2E6E"/>
                </a:solidFill>
                <a:latin typeface="Trebuchet MS"/>
              </a:rPr>
              <a:t>3. Implementación y seguimiento — 6 a 24 meses</a:t>
            </a:r>
          </a:p>
        </p:txBody>
      </p:sp>
      <p:sp>
        <p:nvSpPr>
          <p:cNvPr id="19" name="Rounded Rectangle 31">
            <a:extLst>
              <a:ext uri="{FF2B5EF4-FFF2-40B4-BE49-F238E27FC236}">
                <a16:creationId xmlns:a16="http://schemas.microsoft.com/office/drawing/2014/main" id="{0684DCE5-E5B4-95E0-1EEA-E8F71B69F219}"/>
              </a:ext>
            </a:extLst>
          </p:cNvPr>
          <p:cNvSpPr/>
          <p:nvPr/>
        </p:nvSpPr>
        <p:spPr>
          <a:xfrm>
            <a:off x="7604832" y="4206034"/>
            <a:ext cx="2048255" cy="317296"/>
          </a:xfrm>
          <a:prstGeom prst="roundRect">
            <a:avLst>
              <a:gd name="adj" fmla="val 15000"/>
            </a:avLst>
          </a:prstGeom>
          <a:solidFill>
            <a:schemeClr val="accent1">
              <a:lumMod val="20000"/>
              <a:lumOff val="80000"/>
            </a:schemeClr>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a:solidFill>
                  <a:srgbClr val="1E2E6E"/>
                </a:solidFill>
                <a:latin typeface="Trebuchet MS"/>
              </a:rPr>
              <a:t>4. Evaluación: cierre o escalamiento — 1 a 2 meses</a:t>
            </a:r>
          </a:p>
        </p:txBody>
      </p:sp>
      <p:sp>
        <p:nvSpPr>
          <p:cNvPr id="20" name="Rounded Rectangle 32">
            <a:extLst>
              <a:ext uri="{FF2B5EF4-FFF2-40B4-BE49-F238E27FC236}">
                <a16:creationId xmlns:a16="http://schemas.microsoft.com/office/drawing/2014/main" id="{0379B17C-6987-06A1-23B5-CFF7981B866B}"/>
              </a:ext>
            </a:extLst>
          </p:cNvPr>
          <p:cNvSpPr/>
          <p:nvPr/>
        </p:nvSpPr>
        <p:spPr>
          <a:xfrm>
            <a:off x="7604832" y="4614771"/>
            <a:ext cx="2048255" cy="742492"/>
          </a:xfrm>
          <a:prstGeom prst="roundRect">
            <a:avLst>
              <a:gd name="adj" fmla="val 15000"/>
            </a:avLst>
          </a:prstGeom>
          <a:solidFill>
            <a:schemeClr val="accent1">
              <a:lumMod val="20000"/>
              <a:lumOff val="80000"/>
            </a:schemeClr>
          </a:solidFill>
          <a:ln w="12700">
            <a:solidFill>
              <a:srgbClr val="3494B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1" i="0">
                <a:solidFill>
                  <a:srgbClr val="1E2E6E"/>
                </a:solidFill>
                <a:latin typeface="Trebuchet MS"/>
              </a:rPr>
              <a:t>Escalamiento progresivo: seguimiento reforzado → instancias internas → acción colectiva → voto en contra, reducción o exclusión</a:t>
            </a:r>
          </a:p>
        </p:txBody>
      </p:sp>
      <p:sp>
        <p:nvSpPr>
          <p:cNvPr id="21" name="Oval 33">
            <a:extLst>
              <a:ext uri="{FF2B5EF4-FFF2-40B4-BE49-F238E27FC236}">
                <a16:creationId xmlns:a16="http://schemas.microsoft.com/office/drawing/2014/main" id="{1B1DDBF4-2B04-1C22-EA62-43608BE18C3F}"/>
              </a:ext>
            </a:extLst>
          </p:cNvPr>
          <p:cNvSpPr/>
          <p:nvPr/>
        </p:nvSpPr>
        <p:spPr>
          <a:xfrm>
            <a:off x="10704647" y="1772816"/>
            <a:ext cx="310896" cy="310896"/>
          </a:xfrm>
          <a:prstGeom prst="ellipse">
            <a:avLst/>
          </a:prstGeom>
          <a:solidFill>
            <a:srgbClr val="1E2E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300" b="1" i="0">
                <a:solidFill>
                  <a:srgbClr val="FFFFFF"/>
                </a:solidFill>
                <a:latin typeface="Trebuchet MS"/>
              </a:rPr>
              <a:t>5</a:t>
            </a:r>
          </a:p>
        </p:txBody>
      </p:sp>
      <p:sp>
        <p:nvSpPr>
          <p:cNvPr id="22" name="Rounded Rectangle 34">
            <a:extLst>
              <a:ext uri="{FF2B5EF4-FFF2-40B4-BE49-F238E27FC236}">
                <a16:creationId xmlns:a16="http://schemas.microsoft.com/office/drawing/2014/main" id="{788F7FB2-8DE3-BC46-1C03-A91F1EA9A92F}"/>
              </a:ext>
            </a:extLst>
          </p:cNvPr>
          <p:cNvSpPr/>
          <p:nvPr/>
        </p:nvSpPr>
        <p:spPr>
          <a:xfrm>
            <a:off x="9835968" y="2175152"/>
            <a:ext cx="2048255" cy="420624"/>
          </a:xfrm>
          <a:prstGeom prst="roundRect">
            <a:avLst>
              <a:gd name="adj" fmla="val 15000"/>
            </a:avLst>
          </a:prstGeom>
          <a:solidFill>
            <a:srgbClr val="3494BA"/>
          </a:solidFill>
          <a:ln w="12700">
            <a:solidFill>
              <a:srgbClr val="3494B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latin typeface="Trebuchet MS"/>
              </a:rPr>
              <a:t>Medición y reporte</a:t>
            </a:r>
          </a:p>
        </p:txBody>
      </p:sp>
      <p:sp>
        <p:nvSpPr>
          <p:cNvPr id="23" name="Rounded Rectangle 35">
            <a:extLst>
              <a:ext uri="{FF2B5EF4-FFF2-40B4-BE49-F238E27FC236}">
                <a16:creationId xmlns:a16="http://schemas.microsoft.com/office/drawing/2014/main" id="{33EE026F-8188-C9C3-B96F-4423F4A84B6C}"/>
              </a:ext>
            </a:extLst>
          </p:cNvPr>
          <p:cNvSpPr/>
          <p:nvPr/>
        </p:nvSpPr>
        <p:spPr>
          <a:xfrm>
            <a:off x="9835968" y="2650640"/>
            <a:ext cx="2048255" cy="237744"/>
          </a:xfrm>
          <a:prstGeom prst="roundRect">
            <a:avLst>
              <a:gd name="adj" fmla="val 35000"/>
            </a:avLst>
          </a:prstGeom>
          <a:solidFill>
            <a:srgbClr val="CEDBE6"/>
          </a:solidFill>
          <a:ln w="12700">
            <a:solidFill>
              <a:srgbClr val="CEDBE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1">
                <a:solidFill>
                  <a:srgbClr val="1E2E6E"/>
                </a:solidFill>
                <a:latin typeface="Trebuchet MS"/>
              </a:rPr>
              <a:t>¿Con qué resultados?</a:t>
            </a:r>
          </a:p>
        </p:txBody>
      </p:sp>
      <p:sp>
        <p:nvSpPr>
          <p:cNvPr id="24" name="Rounded Rectangle 36">
            <a:extLst>
              <a:ext uri="{FF2B5EF4-FFF2-40B4-BE49-F238E27FC236}">
                <a16:creationId xmlns:a16="http://schemas.microsoft.com/office/drawing/2014/main" id="{9ECD6399-F9DB-D842-A57D-163E288BDDB9}"/>
              </a:ext>
            </a:extLst>
          </p:cNvPr>
          <p:cNvSpPr/>
          <p:nvPr/>
        </p:nvSpPr>
        <p:spPr>
          <a:xfrm>
            <a:off x="9840416" y="2979825"/>
            <a:ext cx="2048255" cy="521183"/>
          </a:xfrm>
          <a:prstGeom prst="roundRect">
            <a:avLst>
              <a:gd name="adj" fmla="val 15000"/>
            </a:avLst>
          </a:prstGeom>
          <a:solidFill>
            <a:schemeClr val="accent1">
              <a:lumMod val="20000"/>
              <a:lumOff val="80000"/>
            </a:schemeClr>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dirty="0" err="1">
                <a:solidFill>
                  <a:srgbClr val="1E2E6E"/>
                </a:solidFill>
                <a:latin typeface="Trebuchet MS"/>
              </a:rPr>
              <a:t>Evaluación</a:t>
            </a:r>
            <a:r>
              <a:rPr sz="900" b="0" i="0" dirty="0">
                <a:solidFill>
                  <a:srgbClr val="1E2E6E"/>
                </a:solidFill>
                <a:latin typeface="Trebuchet MS"/>
              </a:rPr>
              <a:t> </a:t>
            </a:r>
            <a:r>
              <a:rPr sz="900" b="0" i="0" dirty="0" err="1">
                <a:solidFill>
                  <a:srgbClr val="1E2E6E"/>
                </a:solidFill>
                <a:latin typeface="Trebuchet MS"/>
              </a:rPr>
              <a:t>anual</a:t>
            </a:r>
            <a:r>
              <a:rPr sz="900" b="0" i="0" dirty="0">
                <a:solidFill>
                  <a:srgbClr val="1E2E6E"/>
                </a:solidFill>
                <a:latin typeface="Trebuchet MS"/>
              </a:rPr>
              <a:t> del </a:t>
            </a:r>
            <a:r>
              <a:rPr sz="900" b="0" i="0" dirty="0" err="1">
                <a:solidFill>
                  <a:srgbClr val="1E2E6E"/>
                </a:solidFill>
                <a:latin typeface="Trebuchet MS"/>
              </a:rPr>
              <a:t>objetivo</a:t>
            </a:r>
            <a:r>
              <a:rPr sz="900" b="0" i="0" dirty="0">
                <a:solidFill>
                  <a:srgbClr val="1E2E6E"/>
                </a:solidFill>
                <a:latin typeface="Trebuchet MS"/>
              </a:rPr>
              <a:t>: </a:t>
            </a:r>
            <a:r>
              <a:rPr sz="900" b="0" i="0" dirty="0" err="1">
                <a:solidFill>
                  <a:srgbClr val="1E2E6E"/>
                </a:solidFill>
                <a:latin typeface="Trebuchet MS"/>
              </a:rPr>
              <a:t>exitoso</a:t>
            </a:r>
            <a:r>
              <a:rPr sz="900" b="0" i="0" dirty="0">
                <a:solidFill>
                  <a:srgbClr val="1E2E6E"/>
                </a:solidFill>
                <a:latin typeface="Trebuchet MS"/>
              </a:rPr>
              <a:t>, </a:t>
            </a:r>
            <a:r>
              <a:rPr sz="900" b="0" i="0" dirty="0" err="1">
                <a:solidFill>
                  <a:srgbClr val="1E2E6E"/>
                </a:solidFill>
                <a:latin typeface="Trebuchet MS"/>
              </a:rPr>
              <a:t>parcialmente</a:t>
            </a:r>
            <a:r>
              <a:rPr sz="900" b="0" i="0" dirty="0">
                <a:solidFill>
                  <a:srgbClr val="1E2E6E"/>
                </a:solidFill>
                <a:latin typeface="Trebuchet MS"/>
              </a:rPr>
              <a:t> </a:t>
            </a:r>
            <a:r>
              <a:rPr sz="900" b="0" i="0" dirty="0" err="1">
                <a:solidFill>
                  <a:srgbClr val="1E2E6E"/>
                </a:solidFill>
                <a:latin typeface="Trebuchet MS"/>
              </a:rPr>
              <a:t>exitoso</a:t>
            </a:r>
            <a:r>
              <a:rPr sz="900" b="0" i="0" dirty="0">
                <a:solidFill>
                  <a:srgbClr val="1E2E6E"/>
                </a:solidFill>
                <a:latin typeface="Trebuchet MS"/>
              </a:rPr>
              <a:t> o no </a:t>
            </a:r>
            <a:r>
              <a:rPr sz="900" b="0" i="0" dirty="0" err="1">
                <a:solidFill>
                  <a:srgbClr val="1E2E6E"/>
                </a:solidFill>
                <a:latin typeface="Trebuchet MS"/>
              </a:rPr>
              <a:t>exitoso</a:t>
            </a:r>
            <a:endParaRPr sz="900" b="0" i="0" dirty="0">
              <a:solidFill>
                <a:srgbClr val="1E2E6E"/>
              </a:solidFill>
              <a:latin typeface="Trebuchet MS"/>
            </a:endParaRPr>
          </a:p>
        </p:txBody>
      </p:sp>
      <p:sp>
        <p:nvSpPr>
          <p:cNvPr id="25" name="Rounded Rectangle 37">
            <a:extLst>
              <a:ext uri="{FF2B5EF4-FFF2-40B4-BE49-F238E27FC236}">
                <a16:creationId xmlns:a16="http://schemas.microsoft.com/office/drawing/2014/main" id="{AFD6A22A-1E0A-1079-E6E6-23150476C76A}"/>
              </a:ext>
            </a:extLst>
          </p:cNvPr>
          <p:cNvSpPr/>
          <p:nvPr/>
        </p:nvSpPr>
        <p:spPr>
          <a:xfrm>
            <a:off x="9840416" y="3552435"/>
            <a:ext cx="2048255" cy="524637"/>
          </a:xfrm>
          <a:prstGeom prst="roundRect">
            <a:avLst>
              <a:gd name="adj" fmla="val 15000"/>
            </a:avLst>
          </a:prstGeom>
          <a:solidFill>
            <a:schemeClr val="accent1">
              <a:lumMod val="20000"/>
              <a:lumOff val="80000"/>
            </a:schemeClr>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dirty="0">
                <a:solidFill>
                  <a:srgbClr val="1E2E6E"/>
                </a:solidFill>
                <a:latin typeface="Trebuchet MS"/>
              </a:rPr>
              <a:t>KPIs: </a:t>
            </a:r>
            <a:r>
              <a:rPr sz="900" b="0" i="0" dirty="0" err="1">
                <a:solidFill>
                  <a:srgbClr val="1E2E6E"/>
                </a:solidFill>
                <a:latin typeface="Trebuchet MS"/>
              </a:rPr>
              <a:t>nuevos</a:t>
            </a:r>
            <a:r>
              <a:rPr sz="900" b="0" i="0" dirty="0">
                <a:solidFill>
                  <a:srgbClr val="1E2E6E"/>
                </a:solidFill>
                <a:latin typeface="Trebuchet MS"/>
              </a:rPr>
              <a:t> </a:t>
            </a:r>
            <a:r>
              <a:rPr sz="900" b="0" i="0" dirty="0" err="1">
                <a:solidFill>
                  <a:srgbClr val="1E2E6E"/>
                </a:solidFill>
                <a:latin typeface="Trebuchet MS"/>
              </a:rPr>
              <a:t>objetivos</a:t>
            </a:r>
            <a:r>
              <a:rPr sz="900" b="0" i="0" dirty="0">
                <a:solidFill>
                  <a:srgbClr val="1E2E6E"/>
                </a:solidFill>
                <a:latin typeface="Trebuchet MS"/>
              </a:rPr>
              <a:t>, </a:t>
            </a:r>
            <a:r>
              <a:rPr sz="900" b="0" i="0" dirty="0" err="1">
                <a:solidFill>
                  <a:srgbClr val="1E2E6E"/>
                </a:solidFill>
                <a:latin typeface="Trebuchet MS"/>
              </a:rPr>
              <a:t>avances</a:t>
            </a:r>
            <a:r>
              <a:rPr sz="900" b="0" i="0" dirty="0">
                <a:solidFill>
                  <a:srgbClr val="1E2E6E"/>
                </a:solidFill>
                <a:latin typeface="Trebuchet MS"/>
              </a:rPr>
              <a:t> </a:t>
            </a:r>
            <a:r>
              <a:rPr sz="900" b="0" i="0" dirty="0" err="1">
                <a:solidFill>
                  <a:srgbClr val="1E2E6E"/>
                </a:solidFill>
                <a:latin typeface="Trebuchet MS"/>
              </a:rPr>
              <a:t>verificables</a:t>
            </a:r>
            <a:r>
              <a:rPr sz="900" b="0" i="0" dirty="0">
                <a:solidFill>
                  <a:srgbClr val="1E2E6E"/>
                </a:solidFill>
                <a:latin typeface="Trebuchet MS"/>
              </a:rPr>
              <a:t>, </a:t>
            </a:r>
            <a:r>
              <a:rPr sz="900" b="0" i="0" dirty="0" err="1">
                <a:solidFill>
                  <a:srgbClr val="1E2E6E"/>
                </a:solidFill>
                <a:latin typeface="Trebuchet MS"/>
              </a:rPr>
              <a:t>cierres</a:t>
            </a:r>
            <a:r>
              <a:rPr sz="900" b="0" i="0" dirty="0">
                <a:solidFill>
                  <a:srgbClr val="1E2E6E"/>
                </a:solidFill>
                <a:latin typeface="Trebuchet MS"/>
              </a:rPr>
              <a:t> </a:t>
            </a:r>
            <a:r>
              <a:rPr sz="900" b="0" i="0" dirty="0" err="1">
                <a:solidFill>
                  <a:srgbClr val="1E2E6E"/>
                </a:solidFill>
                <a:latin typeface="Trebuchet MS"/>
              </a:rPr>
              <a:t>exitosos</a:t>
            </a:r>
            <a:r>
              <a:rPr sz="900" b="0" i="0" dirty="0">
                <a:solidFill>
                  <a:srgbClr val="1E2E6E"/>
                </a:solidFill>
                <a:latin typeface="Trebuchet MS"/>
              </a:rPr>
              <a:t> y </a:t>
            </a:r>
            <a:r>
              <a:rPr sz="900" b="0" i="0" dirty="0" err="1">
                <a:solidFill>
                  <a:srgbClr val="1E2E6E"/>
                </a:solidFill>
                <a:latin typeface="Trebuchet MS"/>
              </a:rPr>
              <a:t>colaboraciones</a:t>
            </a:r>
            <a:endParaRPr sz="900" b="0" i="0" dirty="0">
              <a:solidFill>
                <a:srgbClr val="1E2E6E"/>
              </a:solidFill>
              <a:latin typeface="Trebuchet MS"/>
            </a:endParaRPr>
          </a:p>
        </p:txBody>
      </p:sp>
      <p:sp>
        <p:nvSpPr>
          <p:cNvPr id="26" name="Rounded Rectangle 38">
            <a:extLst>
              <a:ext uri="{FF2B5EF4-FFF2-40B4-BE49-F238E27FC236}">
                <a16:creationId xmlns:a16="http://schemas.microsoft.com/office/drawing/2014/main" id="{285ADDEF-AF9E-D632-DB62-6853217C5C40}"/>
              </a:ext>
            </a:extLst>
          </p:cNvPr>
          <p:cNvSpPr/>
          <p:nvPr/>
        </p:nvSpPr>
        <p:spPr>
          <a:xfrm>
            <a:off x="9840416" y="4126215"/>
            <a:ext cx="2048255" cy="670937"/>
          </a:xfrm>
          <a:prstGeom prst="roundRect">
            <a:avLst>
              <a:gd name="adj" fmla="val 15000"/>
            </a:avLst>
          </a:prstGeom>
          <a:solidFill>
            <a:schemeClr val="accent1">
              <a:lumMod val="20000"/>
              <a:lumOff val="80000"/>
            </a:schemeClr>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a:solidFill>
                  <a:srgbClr val="1E2E6E"/>
                </a:solidFill>
                <a:latin typeface="Trebuchet MS"/>
              </a:rPr>
              <a:t>Reporte interno al órgano de gobierno, al menos semestral</a:t>
            </a:r>
          </a:p>
        </p:txBody>
      </p:sp>
      <p:sp>
        <p:nvSpPr>
          <p:cNvPr id="27" name="Rounded Rectangle 39">
            <a:extLst>
              <a:ext uri="{FF2B5EF4-FFF2-40B4-BE49-F238E27FC236}">
                <a16:creationId xmlns:a16="http://schemas.microsoft.com/office/drawing/2014/main" id="{D3DBD740-50DE-A81F-6C01-FADC3C5C53ED}"/>
              </a:ext>
            </a:extLst>
          </p:cNvPr>
          <p:cNvSpPr/>
          <p:nvPr/>
        </p:nvSpPr>
        <p:spPr>
          <a:xfrm>
            <a:off x="9840416" y="4869160"/>
            <a:ext cx="2048255" cy="488103"/>
          </a:xfrm>
          <a:prstGeom prst="roundRect">
            <a:avLst>
              <a:gd name="adj" fmla="val 15000"/>
            </a:avLst>
          </a:prstGeom>
          <a:solidFill>
            <a:schemeClr val="accent1">
              <a:lumMod val="20000"/>
              <a:lumOff val="80000"/>
            </a:schemeClr>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a:solidFill>
                  <a:srgbClr val="1E2E6E"/>
                </a:solidFill>
                <a:latin typeface="Trebuchet MS"/>
              </a:rPr>
              <a:t>Divulgación externa anual: emisor, tema y avances</a:t>
            </a:r>
          </a:p>
        </p:txBody>
      </p:sp>
      <p:cxnSp>
        <p:nvCxnSpPr>
          <p:cNvPr id="28" name="Connector 40">
            <a:extLst>
              <a:ext uri="{FF2B5EF4-FFF2-40B4-BE49-F238E27FC236}">
                <a16:creationId xmlns:a16="http://schemas.microsoft.com/office/drawing/2014/main" id="{AECF2E87-6D7C-F4C2-7143-A5072E5E489B}"/>
              </a:ext>
            </a:extLst>
          </p:cNvPr>
          <p:cNvCxnSpPr/>
          <p:nvPr/>
        </p:nvCxnSpPr>
        <p:spPr>
          <a:xfrm>
            <a:off x="911424" y="5595008"/>
            <a:ext cx="10972800" cy="0"/>
          </a:xfrm>
          <a:prstGeom prst="line">
            <a:avLst/>
          </a:prstGeom>
          <a:ln w="19050">
            <a:solidFill>
              <a:srgbClr val="3494BA"/>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41">
            <a:extLst>
              <a:ext uri="{FF2B5EF4-FFF2-40B4-BE49-F238E27FC236}">
                <a16:creationId xmlns:a16="http://schemas.microsoft.com/office/drawing/2014/main" id="{EE1C4E3D-E638-7329-6CA8-D72418706A0E}"/>
              </a:ext>
            </a:extLst>
          </p:cNvPr>
          <p:cNvSpPr/>
          <p:nvPr/>
        </p:nvSpPr>
        <p:spPr>
          <a:xfrm>
            <a:off x="911424" y="5823608"/>
            <a:ext cx="5394960" cy="713232"/>
          </a:xfrm>
          <a:prstGeom prst="roundRect">
            <a:avLst>
              <a:gd name="adj" fmla="val 15000"/>
            </a:avLst>
          </a:prstGeom>
          <a:solidFill>
            <a:srgbClr val="FFFFFF"/>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50" b="1" i="0">
                <a:solidFill>
                  <a:srgbClr val="1E2E6E"/>
                </a:solidFill>
                <a:latin typeface="Trebuchet MS"/>
              </a:rPr>
              <a:t>Documentación y trazabilidad: </a:t>
            </a:r>
            <a:r>
              <a:rPr sz="950" b="0" i="0">
                <a:solidFill>
                  <a:srgbClr val="1E2E6E"/>
                </a:solidFill>
                <a:latin typeface="Trebuchet MS"/>
              </a:rPr>
              <a:t>Registro único por emisor: información general, interacciones, avances, decisiones y cierre. Sustento verificable para auditoría y reportes.</a:t>
            </a:r>
          </a:p>
        </p:txBody>
      </p:sp>
      <p:sp>
        <p:nvSpPr>
          <p:cNvPr id="34" name="Rounded Rectangle 42">
            <a:extLst>
              <a:ext uri="{FF2B5EF4-FFF2-40B4-BE49-F238E27FC236}">
                <a16:creationId xmlns:a16="http://schemas.microsoft.com/office/drawing/2014/main" id="{90336BA8-77A8-542F-8AD3-87D63AEDB88F}"/>
              </a:ext>
            </a:extLst>
          </p:cNvPr>
          <p:cNvSpPr/>
          <p:nvPr/>
        </p:nvSpPr>
        <p:spPr>
          <a:xfrm>
            <a:off x="6489264" y="5823608"/>
            <a:ext cx="5394960" cy="713232"/>
          </a:xfrm>
          <a:prstGeom prst="roundRect">
            <a:avLst>
              <a:gd name="adj" fmla="val 15000"/>
            </a:avLst>
          </a:prstGeom>
          <a:solidFill>
            <a:srgbClr val="FFFFFF"/>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50" b="1" i="0">
                <a:solidFill>
                  <a:srgbClr val="1E2E6E"/>
                </a:solidFill>
                <a:latin typeface="Trebuchet MS"/>
              </a:rPr>
              <a:t>Gobierno del proceso: </a:t>
            </a:r>
            <a:r>
              <a:rPr sz="950" b="0" i="0">
                <a:solidFill>
                  <a:srgbClr val="1E2E6E"/>
                </a:solidFill>
                <a:latin typeface="Trebuchet MS"/>
              </a:rPr>
              <a:t>El Comité / Subcomité ESG local aprueba prioridades y planes, valida las medidas de escalamiento y revisa la metodología al menos una vez al año.</a:t>
            </a:r>
          </a:p>
        </p:txBody>
      </p:sp>
      <p:sp>
        <p:nvSpPr>
          <p:cNvPr id="36" name="Rounded Rectangle 43">
            <a:extLst>
              <a:ext uri="{FF2B5EF4-FFF2-40B4-BE49-F238E27FC236}">
                <a16:creationId xmlns:a16="http://schemas.microsoft.com/office/drawing/2014/main" id="{B4E680C0-D7CA-42BB-45ED-F771E0584D2A}"/>
              </a:ext>
            </a:extLst>
          </p:cNvPr>
          <p:cNvSpPr/>
          <p:nvPr/>
        </p:nvSpPr>
        <p:spPr>
          <a:xfrm>
            <a:off x="911424" y="5476136"/>
            <a:ext cx="1737360" cy="237744"/>
          </a:xfrm>
          <a:prstGeom prst="roundRect">
            <a:avLst>
              <a:gd name="adj" fmla="val 3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1" i="0" dirty="0">
                <a:solidFill>
                  <a:srgbClr val="3494BA"/>
                </a:solidFill>
                <a:latin typeface="Trebuchet MS"/>
              </a:rPr>
              <a:t>Ejes </a:t>
            </a:r>
            <a:r>
              <a:rPr sz="900" b="1" i="0" dirty="0" err="1">
                <a:solidFill>
                  <a:srgbClr val="3494BA"/>
                </a:solidFill>
                <a:latin typeface="Trebuchet MS"/>
              </a:rPr>
              <a:t>transversales</a:t>
            </a:r>
            <a:endParaRPr sz="900" b="1" i="0" dirty="0">
              <a:solidFill>
                <a:srgbClr val="3494BA"/>
              </a:solidFill>
              <a:latin typeface="Trebuchet MS"/>
            </a:endParaRPr>
          </a:p>
        </p:txBody>
      </p:sp>
      <p:sp>
        <p:nvSpPr>
          <p:cNvPr id="39" name="Rounded Rectangle 5">
            <a:extLst>
              <a:ext uri="{FF2B5EF4-FFF2-40B4-BE49-F238E27FC236}">
                <a16:creationId xmlns:a16="http://schemas.microsoft.com/office/drawing/2014/main" id="{88018E99-6B7F-B848-6212-B4E83F695711}"/>
              </a:ext>
            </a:extLst>
          </p:cNvPr>
          <p:cNvSpPr/>
          <p:nvPr/>
        </p:nvSpPr>
        <p:spPr>
          <a:xfrm>
            <a:off x="3173817" y="2175152"/>
            <a:ext cx="2048255" cy="420624"/>
          </a:xfrm>
          <a:prstGeom prst="roundRect">
            <a:avLst>
              <a:gd name="adj" fmla="val 15000"/>
            </a:avLst>
          </a:prstGeom>
          <a:solidFill>
            <a:srgbClr val="3494BA"/>
          </a:solidFill>
          <a:ln w="12700">
            <a:solidFill>
              <a:srgbClr val="3494B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dirty="0" err="1">
                <a:solidFill>
                  <a:srgbClr val="FFFFFF"/>
                </a:solidFill>
                <a:latin typeface="Trebuchet MS"/>
              </a:rPr>
              <a:t>Priorización</a:t>
            </a:r>
            <a:r>
              <a:rPr sz="1100" b="1" i="0" dirty="0">
                <a:solidFill>
                  <a:srgbClr val="FFFFFF"/>
                </a:solidFill>
                <a:latin typeface="Trebuchet MS"/>
              </a:rPr>
              <a:t> de </a:t>
            </a:r>
            <a:r>
              <a:rPr sz="1100" b="1" i="0" dirty="0" err="1">
                <a:solidFill>
                  <a:srgbClr val="FFFFFF"/>
                </a:solidFill>
                <a:latin typeface="Trebuchet MS"/>
              </a:rPr>
              <a:t>emisores</a:t>
            </a:r>
            <a:endParaRPr sz="1100" b="1" i="0" dirty="0">
              <a:solidFill>
                <a:srgbClr val="FFFFFF"/>
              </a:solidFill>
              <a:latin typeface="Trebuchet MS"/>
            </a:endParaRPr>
          </a:p>
        </p:txBody>
      </p:sp>
      <p:sp>
        <p:nvSpPr>
          <p:cNvPr id="40" name="Rounded Rectangle 6">
            <a:extLst>
              <a:ext uri="{FF2B5EF4-FFF2-40B4-BE49-F238E27FC236}">
                <a16:creationId xmlns:a16="http://schemas.microsoft.com/office/drawing/2014/main" id="{E2DEF1F1-32A0-DAF0-B527-72A4C448A23C}"/>
              </a:ext>
            </a:extLst>
          </p:cNvPr>
          <p:cNvSpPr/>
          <p:nvPr/>
        </p:nvSpPr>
        <p:spPr>
          <a:xfrm>
            <a:off x="3173817" y="2650640"/>
            <a:ext cx="2048255" cy="237744"/>
          </a:xfrm>
          <a:prstGeom prst="roundRect">
            <a:avLst>
              <a:gd name="adj" fmla="val 35000"/>
            </a:avLst>
          </a:prstGeom>
          <a:solidFill>
            <a:srgbClr val="CEDBE6"/>
          </a:solidFill>
          <a:ln w="12700">
            <a:solidFill>
              <a:srgbClr val="CEDBE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1">
                <a:solidFill>
                  <a:srgbClr val="1E2E6E"/>
                </a:solidFill>
                <a:latin typeface="Trebuchet MS"/>
              </a:rPr>
              <a:t>¿Con quién y por qué?</a:t>
            </a:r>
          </a:p>
        </p:txBody>
      </p:sp>
      <p:sp>
        <p:nvSpPr>
          <p:cNvPr id="41" name="Rounded Rectangle 14">
            <a:extLst>
              <a:ext uri="{FF2B5EF4-FFF2-40B4-BE49-F238E27FC236}">
                <a16:creationId xmlns:a16="http://schemas.microsoft.com/office/drawing/2014/main" id="{B8F55875-A183-551A-4C31-6570847B995A}"/>
              </a:ext>
            </a:extLst>
          </p:cNvPr>
          <p:cNvSpPr/>
          <p:nvPr/>
        </p:nvSpPr>
        <p:spPr>
          <a:xfrm>
            <a:off x="941569" y="2979824"/>
            <a:ext cx="2048255" cy="490346"/>
          </a:xfrm>
          <a:prstGeom prst="roundRect">
            <a:avLst>
              <a:gd name="adj" fmla="val 15000"/>
            </a:avLst>
          </a:prstGeom>
          <a:solidFill>
            <a:srgbClr val="92D050"/>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dirty="0" err="1">
                <a:solidFill>
                  <a:srgbClr val="1E2E6E"/>
                </a:solidFill>
                <a:latin typeface="Trebuchet MS"/>
              </a:rPr>
              <a:t>Diagnóstico</a:t>
            </a:r>
            <a:r>
              <a:rPr sz="900" b="0" i="0" dirty="0">
                <a:solidFill>
                  <a:srgbClr val="1E2E6E"/>
                </a:solidFill>
                <a:latin typeface="Trebuchet MS"/>
              </a:rPr>
              <a:t> de </a:t>
            </a:r>
            <a:r>
              <a:rPr lang="es-ES" sz="900" dirty="0">
                <a:solidFill>
                  <a:srgbClr val="1E2E6E"/>
                </a:solidFill>
                <a:latin typeface="Trebuchet MS"/>
              </a:rPr>
              <a:t>R</a:t>
            </a:r>
            <a:r>
              <a:rPr sz="900" b="0" i="0" dirty="0" err="1">
                <a:solidFill>
                  <a:srgbClr val="1E2E6E"/>
                </a:solidFill>
                <a:latin typeface="Trebuchet MS"/>
              </a:rPr>
              <a:t>iesgos</a:t>
            </a:r>
            <a:r>
              <a:rPr sz="900" b="0" i="0" dirty="0">
                <a:solidFill>
                  <a:srgbClr val="1E2E6E"/>
                </a:solidFill>
                <a:latin typeface="Trebuchet MS"/>
              </a:rPr>
              <a:t> del </a:t>
            </a:r>
            <a:r>
              <a:rPr lang="es-ES" sz="900" dirty="0">
                <a:solidFill>
                  <a:srgbClr val="1E2E6E"/>
                </a:solidFill>
                <a:latin typeface="Trebuchet MS"/>
              </a:rPr>
              <a:t>P</a:t>
            </a:r>
            <a:r>
              <a:rPr sz="900" b="0" i="0" dirty="0" err="1">
                <a:solidFill>
                  <a:srgbClr val="1E2E6E"/>
                </a:solidFill>
                <a:latin typeface="Trebuchet MS"/>
              </a:rPr>
              <a:t>ortafolio</a:t>
            </a:r>
            <a:r>
              <a:rPr sz="900" b="0" i="0" dirty="0">
                <a:solidFill>
                  <a:srgbClr val="1E2E6E"/>
                </a:solidFill>
                <a:latin typeface="Trebuchet MS"/>
              </a:rPr>
              <a:t> (</a:t>
            </a:r>
            <a:r>
              <a:rPr lang="es-ES" sz="900" dirty="0">
                <a:solidFill>
                  <a:srgbClr val="1E2E6E"/>
                </a:solidFill>
                <a:latin typeface="Trebuchet MS"/>
              </a:rPr>
              <a:t>Evaluación Continua </a:t>
            </a:r>
          </a:p>
          <a:p>
            <a:pPr algn="ctr"/>
            <a:r>
              <a:rPr lang="es-ES" sz="900" dirty="0">
                <a:solidFill>
                  <a:srgbClr val="1E2E6E"/>
                </a:solidFill>
                <a:latin typeface="Trebuchet MS"/>
              </a:rPr>
              <a:t>MSCI</a:t>
            </a:r>
            <a:r>
              <a:rPr sz="900" b="0" i="0" dirty="0">
                <a:solidFill>
                  <a:srgbClr val="1E2E6E"/>
                </a:solidFill>
                <a:latin typeface="Trebuchet MS"/>
              </a:rPr>
              <a:t>)</a:t>
            </a:r>
          </a:p>
        </p:txBody>
      </p:sp>
      <p:sp>
        <p:nvSpPr>
          <p:cNvPr id="42" name="Rounded Rectangle 15">
            <a:extLst>
              <a:ext uri="{FF2B5EF4-FFF2-40B4-BE49-F238E27FC236}">
                <a16:creationId xmlns:a16="http://schemas.microsoft.com/office/drawing/2014/main" id="{930AA18A-C6B0-BEC6-EB3F-E2BCF538E436}"/>
              </a:ext>
            </a:extLst>
          </p:cNvPr>
          <p:cNvSpPr/>
          <p:nvPr/>
        </p:nvSpPr>
        <p:spPr>
          <a:xfrm>
            <a:off x="941569" y="3561611"/>
            <a:ext cx="2048255" cy="490346"/>
          </a:xfrm>
          <a:prstGeom prst="roundRect">
            <a:avLst>
              <a:gd name="adj" fmla="val 15000"/>
            </a:avLst>
          </a:prstGeom>
          <a:solidFill>
            <a:srgbClr val="92D050"/>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dirty="0" err="1">
                <a:solidFill>
                  <a:srgbClr val="1E2E6E"/>
                </a:solidFill>
                <a:latin typeface="Trebuchet MS"/>
              </a:rPr>
              <a:t>Mapeo</a:t>
            </a:r>
            <a:r>
              <a:rPr sz="900" b="0" i="0" dirty="0">
                <a:solidFill>
                  <a:srgbClr val="1E2E6E"/>
                </a:solidFill>
                <a:latin typeface="Trebuchet MS"/>
              </a:rPr>
              <a:t> de </a:t>
            </a:r>
            <a:r>
              <a:rPr lang="es-ES" sz="900" b="0" i="0" dirty="0">
                <a:solidFill>
                  <a:srgbClr val="1E2E6E"/>
                </a:solidFill>
                <a:latin typeface="Trebuchet MS"/>
              </a:rPr>
              <a:t>M</a:t>
            </a:r>
            <a:r>
              <a:rPr sz="900" b="0" i="0" dirty="0" err="1">
                <a:solidFill>
                  <a:srgbClr val="1E2E6E"/>
                </a:solidFill>
                <a:latin typeface="Trebuchet MS"/>
              </a:rPr>
              <a:t>aterialidad</a:t>
            </a:r>
            <a:r>
              <a:rPr sz="900" b="0" i="0" dirty="0">
                <a:solidFill>
                  <a:srgbClr val="1E2E6E"/>
                </a:solidFill>
                <a:latin typeface="Trebuchet MS"/>
              </a:rPr>
              <a:t> </a:t>
            </a:r>
            <a:r>
              <a:rPr sz="900" b="0" i="0" dirty="0" err="1">
                <a:solidFill>
                  <a:srgbClr val="1E2E6E"/>
                </a:solidFill>
                <a:latin typeface="Trebuchet MS"/>
              </a:rPr>
              <a:t>por</a:t>
            </a:r>
            <a:r>
              <a:rPr sz="900" b="0" i="0" dirty="0">
                <a:solidFill>
                  <a:srgbClr val="1E2E6E"/>
                </a:solidFill>
                <a:latin typeface="Trebuchet MS"/>
              </a:rPr>
              <a:t> </a:t>
            </a:r>
            <a:r>
              <a:rPr lang="es-ES" sz="900" b="0" i="0" dirty="0">
                <a:solidFill>
                  <a:srgbClr val="1E2E6E"/>
                </a:solidFill>
                <a:latin typeface="Trebuchet MS"/>
              </a:rPr>
              <a:t>S</a:t>
            </a:r>
            <a:r>
              <a:rPr sz="900" b="0" i="0" dirty="0" err="1">
                <a:solidFill>
                  <a:srgbClr val="1E2E6E"/>
                </a:solidFill>
                <a:latin typeface="Trebuchet MS"/>
              </a:rPr>
              <a:t>ector</a:t>
            </a:r>
            <a:r>
              <a:rPr sz="900" b="0" i="0" dirty="0">
                <a:solidFill>
                  <a:srgbClr val="1E2E6E"/>
                </a:solidFill>
                <a:latin typeface="Trebuchet MS"/>
              </a:rPr>
              <a:t> (</a:t>
            </a:r>
            <a:r>
              <a:rPr lang="es-ES" sz="900" b="0" i="0" dirty="0">
                <a:solidFill>
                  <a:srgbClr val="1E2E6E"/>
                </a:solidFill>
                <a:latin typeface="Trebuchet MS"/>
              </a:rPr>
              <a:t>Evaluación Materialida</a:t>
            </a:r>
            <a:r>
              <a:rPr lang="es-ES" sz="900" dirty="0">
                <a:solidFill>
                  <a:srgbClr val="1E2E6E"/>
                </a:solidFill>
                <a:latin typeface="Trebuchet MS"/>
              </a:rPr>
              <a:t>d </a:t>
            </a:r>
          </a:p>
          <a:p>
            <a:pPr algn="ctr"/>
            <a:r>
              <a:rPr lang="es-ES" sz="900" dirty="0">
                <a:solidFill>
                  <a:srgbClr val="1E2E6E"/>
                </a:solidFill>
                <a:latin typeface="Trebuchet MS"/>
              </a:rPr>
              <a:t>Enero2026</a:t>
            </a:r>
            <a:r>
              <a:rPr sz="900" b="0" i="0" dirty="0">
                <a:solidFill>
                  <a:srgbClr val="1E2E6E"/>
                </a:solidFill>
                <a:latin typeface="Trebuchet MS"/>
              </a:rPr>
              <a:t>)</a:t>
            </a:r>
          </a:p>
        </p:txBody>
      </p:sp>
      <p:sp>
        <p:nvSpPr>
          <p:cNvPr id="43" name="Rounded Rectangle 16">
            <a:extLst>
              <a:ext uri="{FF2B5EF4-FFF2-40B4-BE49-F238E27FC236}">
                <a16:creationId xmlns:a16="http://schemas.microsoft.com/office/drawing/2014/main" id="{194BC1FD-E828-CA50-37B9-77985864EC7A}"/>
              </a:ext>
            </a:extLst>
          </p:cNvPr>
          <p:cNvSpPr/>
          <p:nvPr/>
        </p:nvSpPr>
        <p:spPr>
          <a:xfrm>
            <a:off x="941569" y="4143398"/>
            <a:ext cx="2048255" cy="632078"/>
          </a:xfrm>
          <a:prstGeom prst="roundRect">
            <a:avLst>
              <a:gd name="adj" fmla="val 15000"/>
            </a:avLst>
          </a:prstGeom>
          <a:solidFill>
            <a:srgbClr val="92D050"/>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dirty="0" err="1">
                <a:solidFill>
                  <a:srgbClr val="1E2E6E"/>
                </a:solidFill>
                <a:latin typeface="Trebuchet MS"/>
              </a:rPr>
              <a:t>Selección</a:t>
            </a:r>
            <a:r>
              <a:rPr sz="900" b="0" i="0" dirty="0">
                <a:solidFill>
                  <a:srgbClr val="1E2E6E"/>
                </a:solidFill>
                <a:latin typeface="Trebuchet MS"/>
              </a:rPr>
              <a:t> </a:t>
            </a:r>
            <a:r>
              <a:rPr lang="es-ES" sz="900" dirty="0">
                <a:solidFill>
                  <a:srgbClr val="1E2E6E"/>
                </a:solidFill>
                <a:latin typeface="Trebuchet MS"/>
              </a:rPr>
              <a:t>y Categorización  de Temas Prioritarios (Evaluación Materialidad Enero2026)</a:t>
            </a:r>
            <a:endParaRPr sz="900" b="0" i="0" dirty="0">
              <a:solidFill>
                <a:srgbClr val="1E2E6E"/>
              </a:solidFill>
              <a:latin typeface="Trebuchet MS"/>
            </a:endParaRPr>
          </a:p>
        </p:txBody>
      </p:sp>
      <p:sp>
        <p:nvSpPr>
          <p:cNvPr id="44" name="Rounded Rectangle 17">
            <a:extLst>
              <a:ext uri="{FF2B5EF4-FFF2-40B4-BE49-F238E27FC236}">
                <a16:creationId xmlns:a16="http://schemas.microsoft.com/office/drawing/2014/main" id="{F6183AFE-0423-FB66-954C-53AD7F649129}"/>
              </a:ext>
            </a:extLst>
          </p:cNvPr>
          <p:cNvSpPr/>
          <p:nvPr/>
        </p:nvSpPr>
        <p:spPr>
          <a:xfrm>
            <a:off x="941569" y="4866917"/>
            <a:ext cx="2048255" cy="490346"/>
          </a:xfrm>
          <a:prstGeom prst="roundRect">
            <a:avLst>
              <a:gd name="adj" fmla="val 15000"/>
            </a:avLst>
          </a:prstGeom>
          <a:solidFill>
            <a:srgbClr val="FFC000"/>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dirty="0" err="1">
                <a:solidFill>
                  <a:srgbClr val="1E2E6E"/>
                </a:solidFill>
                <a:latin typeface="Trebuchet MS"/>
              </a:rPr>
              <a:t>Aprobación</a:t>
            </a:r>
            <a:r>
              <a:rPr sz="900" b="0" i="0" dirty="0">
                <a:solidFill>
                  <a:srgbClr val="1E2E6E"/>
                </a:solidFill>
                <a:latin typeface="Trebuchet MS"/>
              </a:rPr>
              <a:t> </a:t>
            </a:r>
            <a:r>
              <a:rPr sz="900" b="0" i="0" dirty="0" err="1">
                <a:solidFill>
                  <a:srgbClr val="1E2E6E"/>
                </a:solidFill>
                <a:latin typeface="Trebuchet MS"/>
              </a:rPr>
              <a:t>en</a:t>
            </a:r>
            <a:r>
              <a:rPr sz="900" b="0" i="0" dirty="0">
                <a:solidFill>
                  <a:srgbClr val="1E2E6E"/>
                </a:solidFill>
                <a:latin typeface="Trebuchet MS"/>
              </a:rPr>
              <a:t> </a:t>
            </a:r>
            <a:r>
              <a:rPr lang="es-ES" sz="900" dirty="0">
                <a:solidFill>
                  <a:srgbClr val="1E2E6E"/>
                </a:solidFill>
                <a:latin typeface="Trebuchet MS"/>
              </a:rPr>
              <a:t>C</a:t>
            </a:r>
            <a:r>
              <a:rPr sz="900" b="0" i="0" dirty="0" err="1">
                <a:solidFill>
                  <a:srgbClr val="1E2E6E"/>
                </a:solidFill>
                <a:latin typeface="Trebuchet MS"/>
              </a:rPr>
              <a:t>omités</a:t>
            </a:r>
            <a:r>
              <a:rPr lang="es-ES" sz="900" b="0" i="0" dirty="0">
                <a:solidFill>
                  <a:srgbClr val="1E2E6E"/>
                </a:solidFill>
                <a:latin typeface="Trebuchet MS"/>
              </a:rPr>
              <a:t> (Revisión Periódic</a:t>
            </a:r>
            <a:r>
              <a:rPr lang="es-ES" sz="900" dirty="0">
                <a:solidFill>
                  <a:srgbClr val="1E2E6E"/>
                </a:solidFill>
                <a:latin typeface="Trebuchet MS"/>
              </a:rPr>
              <a:t>a)</a:t>
            </a:r>
            <a:endParaRPr sz="900" b="0" i="0" dirty="0">
              <a:solidFill>
                <a:srgbClr val="1E2E6E"/>
              </a:solidFill>
              <a:latin typeface="Trebuchet MS"/>
            </a:endParaRPr>
          </a:p>
        </p:txBody>
      </p:sp>
      <p:sp>
        <p:nvSpPr>
          <p:cNvPr id="47" name="Rounded Rectangle 16">
            <a:extLst>
              <a:ext uri="{FF2B5EF4-FFF2-40B4-BE49-F238E27FC236}">
                <a16:creationId xmlns:a16="http://schemas.microsoft.com/office/drawing/2014/main" id="{FB6682E4-8AA6-F85A-AB81-B1F6BC01F51E}"/>
              </a:ext>
            </a:extLst>
          </p:cNvPr>
          <p:cNvSpPr/>
          <p:nvPr/>
        </p:nvSpPr>
        <p:spPr>
          <a:xfrm>
            <a:off x="3205848" y="2996952"/>
            <a:ext cx="2048255" cy="1778501"/>
          </a:xfrm>
          <a:prstGeom prst="roundRect">
            <a:avLst>
              <a:gd name="adj" fmla="val 15000"/>
            </a:avLst>
          </a:prstGeom>
          <a:solidFill>
            <a:srgbClr val="FFC000"/>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s-ES" sz="900" dirty="0">
                <a:solidFill>
                  <a:srgbClr val="1E2E6E"/>
                </a:solidFill>
                <a:latin typeface="Trebuchet MS"/>
              </a:rPr>
              <a:t>Matriz de priorización para Empresas:                 </a:t>
            </a:r>
          </a:p>
          <a:p>
            <a:pPr algn="ctr"/>
            <a:r>
              <a:rPr lang="es-ES" sz="900" dirty="0">
                <a:solidFill>
                  <a:srgbClr val="1E2E6E"/>
                </a:solidFill>
                <a:latin typeface="Trebuchet MS"/>
              </a:rPr>
              <a:t>1) Materialidad; </a:t>
            </a:r>
          </a:p>
          <a:p>
            <a:pPr algn="ctr"/>
            <a:r>
              <a:rPr lang="es-ES" sz="900" dirty="0">
                <a:solidFill>
                  <a:srgbClr val="1E2E6E"/>
                </a:solidFill>
                <a:latin typeface="Trebuchet MS"/>
              </a:rPr>
              <a:t>2) Exposición; </a:t>
            </a:r>
          </a:p>
          <a:p>
            <a:pPr algn="ctr"/>
            <a:r>
              <a:rPr lang="es-ES" sz="900" dirty="0">
                <a:solidFill>
                  <a:srgbClr val="1E2E6E"/>
                </a:solidFill>
                <a:latin typeface="Trebuchet MS"/>
              </a:rPr>
              <a:t>3) Riesgo; y</a:t>
            </a:r>
          </a:p>
          <a:p>
            <a:pPr algn="ctr"/>
            <a:r>
              <a:rPr lang="es-ES" sz="900" dirty="0">
                <a:solidFill>
                  <a:srgbClr val="1E2E6E"/>
                </a:solidFill>
                <a:latin typeface="Trebuchet MS"/>
              </a:rPr>
              <a:t>4) Influencia</a:t>
            </a:r>
          </a:p>
        </p:txBody>
      </p:sp>
      <p:sp>
        <p:nvSpPr>
          <p:cNvPr id="48" name="Rounded Rectangle 17">
            <a:extLst>
              <a:ext uri="{FF2B5EF4-FFF2-40B4-BE49-F238E27FC236}">
                <a16:creationId xmlns:a16="http://schemas.microsoft.com/office/drawing/2014/main" id="{6FB524F2-2D8E-1C6F-797F-AE5CA2FDC37B}"/>
              </a:ext>
            </a:extLst>
          </p:cNvPr>
          <p:cNvSpPr/>
          <p:nvPr/>
        </p:nvSpPr>
        <p:spPr>
          <a:xfrm>
            <a:off x="3205848" y="4866894"/>
            <a:ext cx="2048255" cy="490346"/>
          </a:xfrm>
          <a:prstGeom prst="roundRect">
            <a:avLst>
              <a:gd name="adj" fmla="val 15000"/>
            </a:avLst>
          </a:prstGeom>
          <a:solidFill>
            <a:srgbClr val="FFC000"/>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s-ES" sz="900" dirty="0">
                <a:solidFill>
                  <a:srgbClr val="1E2E6E"/>
                </a:solidFill>
                <a:latin typeface="Trebuchet MS"/>
              </a:rPr>
              <a:t>Aprobación en Comités: Plan anual de </a:t>
            </a:r>
            <a:r>
              <a:rPr lang="es-ES" sz="900" dirty="0" err="1">
                <a:solidFill>
                  <a:srgbClr val="1E2E6E"/>
                </a:solidFill>
                <a:latin typeface="Trebuchet MS"/>
              </a:rPr>
              <a:t>engagement</a:t>
            </a:r>
            <a:r>
              <a:rPr lang="es-ES" sz="900" dirty="0">
                <a:solidFill>
                  <a:srgbClr val="1E2E6E"/>
                </a:solidFill>
                <a:latin typeface="Trebuchet MS"/>
              </a:rPr>
              <a:t> por empresa</a:t>
            </a:r>
          </a:p>
        </p:txBody>
      </p:sp>
      <p:sp>
        <p:nvSpPr>
          <p:cNvPr id="49" name="Rounded Rectangle 14">
            <a:extLst>
              <a:ext uri="{FF2B5EF4-FFF2-40B4-BE49-F238E27FC236}">
                <a16:creationId xmlns:a16="http://schemas.microsoft.com/office/drawing/2014/main" id="{0DF1206A-8BBC-4E08-6A2B-21DCD948AA73}"/>
              </a:ext>
            </a:extLst>
          </p:cNvPr>
          <p:cNvSpPr/>
          <p:nvPr/>
        </p:nvSpPr>
        <p:spPr>
          <a:xfrm>
            <a:off x="5366088" y="2979801"/>
            <a:ext cx="2048255" cy="490346"/>
          </a:xfrm>
          <a:prstGeom prst="roundRect">
            <a:avLst>
              <a:gd name="adj" fmla="val 15000"/>
            </a:avLst>
          </a:prstGeom>
          <a:solidFill>
            <a:schemeClr val="accent1">
              <a:lumMod val="20000"/>
              <a:lumOff val="80000"/>
            </a:schemeClr>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s-ES" sz="900" dirty="0">
                <a:solidFill>
                  <a:srgbClr val="1E2E6E"/>
                </a:solidFill>
                <a:latin typeface="Trebuchet MS"/>
              </a:rPr>
              <a:t>Enfoques: reactivo, proactivo y colaborativo</a:t>
            </a:r>
          </a:p>
        </p:txBody>
      </p:sp>
      <p:sp>
        <p:nvSpPr>
          <p:cNvPr id="50" name="Rounded Rectangle 15">
            <a:extLst>
              <a:ext uri="{FF2B5EF4-FFF2-40B4-BE49-F238E27FC236}">
                <a16:creationId xmlns:a16="http://schemas.microsoft.com/office/drawing/2014/main" id="{0BDBB2FE-D009-D687-2930-7B5CA301CA1F}"/>
              </a:ext>
            </a:extLst>
          </p:cNvPr>
          <p:cNvSpPr/>
          <p:nvPr/>
        </p:nvSpPr>
        <p:spPr>
          <a:xfrm>
            <a:off x="5366088" y="3561588"/>
            <a:ext cx="2048255" cy="490346"/>
          </a:xfrm>
          <a:prstGeom prst="roundRect">
            <a:avLst>
              <a:gd name="adj" fmla="val 15000"/>
            </a:avLst>
          </a:prstGeom>
          <a:solidFill>
            <a:schemeClr val="accent1">
              <a:lumMod val="20000"/>
              <a:lumOff val="80000"/>
            </a:schemeClr>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s-ES" sz="900" dirty="0">
                <a:solidFill>
                  <a:srgbClr val="1E2E6E"/>
                </a:solidFill>
                <a:latin typeface="Trebuchet MS"/>
              </a:rPr>
              <a:t>Canales: reuniones bilaterales, correspondencia formal, espacios </a:t>
            </a:r>
            <a:r>
              <a:rPr lang="es-ES" sz="900" dirty="0" err="1">
                <a:solidFill>
                  <a:srgbClr val="1E2E6E"/>
                </a:solidFill>
                <a:latin typeface="Trebuchet MS"/>
              </a:rPr>
              <a:t>multi-inversionista</a:t>
            </a:r>
            <a:r>
              <a:rPr lang="es-ES" sz="900" dirty="0">
                <a:solidFill>
                  <a:srgbClr val="1E2E6E"/>
                </a:solidFill>
                <a:latin typeface="Trebuchet MS"/>
              </a:rPr>
              <a:t> y foros</a:t>
            </a:r>
          </a:p>
        </p:txBody>
      </p:sp>
      <p:sp>
        <p:nvSpPr>
          <p:cNvPr id="51" name="Rounded Rectangle 16">
            <a:extLst>
              <a:ext uri="{FF2B5EF4-FFF2-40B4-BE49-F238E27FC236}">
                <a16:creationId xmlns:a16="http://schemas.microsoft.com/office/drawing/2014/main" id="{D32EB9B6-3AC7-A85D-DC54-C47D4A83C33C}"/>
              </a:ext>
            </a:extLst>
          </p:cNvPr>
          <p:cNvSpPr/>
          <p:nvPr/>
        </p:nvSpPr>
        <p:spPr>
          <a:xfrm>
            <a:off x="5366088" y="4143375"/>
            <a:ext cx="2048255" cy="632078"/>
          </a:xfrm>
          <a:prstGeom prst="roundRect">
            <a:avLst>
              <a:gd name="adj" fmla="val 15000"/>
            </a:avLst>
          </a:prstGeom>
          <a:solidFill>
            <a:schemeClr val="accent1">
              <a:lumMod val="20000"/>
              <a:lumOff val="80000"/>
            </a:schemeClr>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s-PE" sz="900" dirty="0">
                <a:solidFill>
                  <a:srgbClr val="1E2E6E"/>
                </a:solidFill>
                <a:latin typeface="Trebuchet MS"/>
              </a:rPr>
              <a:t>Proxy </a:t>
            </a:r>
            <a:r>
              <a:rPr lang="es-PE" sz="900" dirty="0" err="1">
                <a:solidFill>
                  <a:srgbClr val="1E2E6E"/>
                </a:solidFill>
                <a:latin typeface="Trebuchet MS"/>
              </a:rPr>
              <a:t>voting</a:t>
            </a:r>
            <a:r>
              <a:rPr lang="es-PE" sz="900" dirty="0">
                <a:solidFill>
                  <a:srgbClr val="1E2E6E"/>
                </a:solidFill>
                <a:latin typeface="Trebuchet MS"/>
              </a:rPr>
              <a:t> como herramienta complementaria de </a:t>
            </a:r>
            <a:r>
              <a:rPr lang="es-PE" sz="900" dirty="0" err="1">
                <a:solidFill>
                  <a:srgbClr val="1E2E6E"/>
                </a:solidFill>
                <a:latin typeface="Trebuchet MS"/>
              </a:rPr>
              <a:t>stewardship</a:t>
            </a:r>
            <a:endParaRPr lang="es-PE" sz="900" dirty="0">
              <a:solidFill>
                <a:srgbClr val="1E2E6E"/>
              </a:solidFill>
              <a:latin typeface="Trebuchet MS"/>
            </a:endParaRPr>
          </a:p>
        </p:txBody>
      </p:sp>
      <p:sp>
        <p:nvSpPr>
          <p:cNvPr id="52" name="Rounded Rectangle 17">
            <a:extLst>
              <a:ext uri="{FF2B5EF4-FFF2-40B4-BE49-F238E27FC236}">
                <a16:creationId xmlns:a16="http://schemas.microsoft.com/office/drawing/2014/main" id="{51E9B2DE-8B26-4A73-9A92-8CC60F6D61F1}"/>
              </a:ext>
            </a:extLst>
          </p:cNvPr>
          <p:cNvSpPr/>
          <p:nvPr/>
        </p:nvSpPr>
        <p:spPr>
          <a:xfrm>
            <a:off x="5366088" y="4866894"/>
            <a:ext cx="2048255" cy="490346"/>
          </a:xfrm>
          <a:prstGeom prst="roundRect">
            <a:avLst>
              <a:gd name="adj" fmla="val 15000"/>
            </a:avLst>
          </a:prstGeom>
          <a:solidFill>
            <a:schemeClr val="accent1">
              <a:lumMod val="20000"/>
              <a:lumOff val="80000"/>
            </a:schemeClr>
          </a:solidFill>
          <a:ln w="12700">
            <a:solidFill>
              <a:srgbClr val="1E2E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s-ES" sz="900" dirty="0">
                <a:solidFill>
                  <a:srgbClr val="1E2E6E"/>
                </a:solidFill>
                <a:latin typeface="Trebuchet MS"/>
              </a:rPr>
              <a:t>Diálogo formal, documentado y basado en evidencia</a:t>
            </a:r>
          </a:p>
        </p:txBody>
      </p:sp>
      <p:pic>
        <p:nvPicPr>
          <p:cNvPr id="53" name="Gráfico 52" descr="Marca de verificación con relleno sólido">
            <a:extLst>
              <a:ext uri="{FF2B5EF4-FFF2-40B4-BE49-F238E27FC236}">
                <a16:creationId xmlns:a16="http://schemas.microsoft.com/office/drawing/2014/main" id="{0AC7AE48-B781-CE75-F385-EF417B0F63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83632" y="3269008"/>
            <a:ext cx="144016" cy="144016"/>
          </a:xfrm>
          <a:prstGeom prst="rect">
            <a:avLst/>
          </a:prstGeom>
        </p:spPr>
      </p:pic>
      <p:pic>
        <p:nvPicPr>
          <p:cNvPr id="54" name="Gráfico 53" descr="Marca de verificación con relleno sólido">
            <a:extLst>
              <a:ext uri="{FF2B5EF4-FFF2-40B4-BE49-F238E27FC236}">
                <a16:creationId xmlns:a16="http://schemas.microsoft.com/office/drawing/2014/main" id="{9B986B42-260F-ED6A-1567-1F39724788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83632" y="3845072"/>
            <a:ext cx="144016" cy="144016"/>
          </a:xfrm>
          <a:prstGeom prst="rect">
            <a:avLst/>
          </a:prstGeom>
        </p:spPr>
      </p:pic>
      <p:pic>
        <p:nvPicPr>
          <p:cNvPr id="55" name="Gráfico 54" descr="Marca de verificación con relleno sólido">
            <a:extLst>
              <a:ext uri="{FF2B5EF4-FFF2-40B4-BE49-F238E27FC236}">
                <a16:creationId xmlns:a16="http://schemas.microsoft.com/office/drawing/2014/main" id="{BBD600D5-532E-6683-CFB6-80E0C72B3E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83632" y="4565152"/>
            <a:ext cx="144016" cy="144016"/>
          </a:xfrm>
          <a:prstGeom prst="rect">
            <a:avLst/>
          </a:prstGeom>
        </p:spPr>
      </p:pic>
      <p:pic>
        <p:nvPicPr>
          <p:cNvPr id="59" name="Gráfico 58" descr="Martillo con relleno sólido">
            <a:extLst>
              <a:ext uri="{FF2B5EF4-FFF2-40B4-BE49-F238E27FC236}">
                <a16:creationId xmlns:a16="http://schemas.microsoft.com/office/drawing/2014/main" id="{50914ABF-B8E9-DE42-19B0-83CE40F525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11624" y="5110336"/>
            <a:ext cx="216024" cy="216024"/>
          </a:xfrm>
          <a:prstGeom prst="rect">
            <a:avLst/>
          </a:prstGeom>
        </p:spPr>
      </p:pic>
      <p:pic>
        <p:nvPicPr>
          <p:cNvPr id="61" name="Gráfico 60" descr="Martillo con relleno sólido">
            <a:extLst>
              <a:ext uri="{FF2B5EF4-FFF2-40B4-BE49-F238E27FC236}">
                <a16:creationId xmlns:a16="http://schemas.microsoft.com/office/drawing/2014/main" id="{383A6B42-B61F-6E5B-E5AC-2B65E6CC87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15880" y="5085184"/>
            <a:ext cx="216024" cy="216024"/>
          </a:xfrm>
          <a:prstGeom prst="rect">
            <a:avLst/>
          </a:prstGeom>
        </p:spPr>
      </p:pic>
      <p:pic>
        <p:nvPicPr>
          <p:cNvPr id="63" name="Gráfico 62" descr="Martillo con relleno sólido">
            <a:extLst>
              <a:ext uri="{FF2B5EF4-FFF2-40B4-BE49-F238E27FC236}">
                <a16:creationId xmlns:a16="http://schemas.microsoft.com/office/drawing/2014/main" id="{CFA6C592-B537-40F7-F9A2-E918797625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15880" y="4509120"/>
            <a:ext cx="216024" cy="216024"/>
          </a:xfrm>
          <a:prstGeom prst="rect">
            <a:avLst/>
          </a:prstGeom>
        </p:spPr>
      </p:pic>
      <p:pic>
        <p:nvPicPr>
          <p:cNvPr id="74" name="Gráfico 73" descr="Reloj despertador con relleno sólido">
            <a:extLst>
              <a:ext uri="{FF2B5EF4-FFF2-40B4-BE49-F238E27FC236}">
                <a16:creationId xmlns:a16="http://schemas.microsoft.com/office/drawing/2014/main" id="{D5BC50BF-DB09-680D-C694-B554BC285BC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78960" y="2611760"/>
            <a:ext cx="313184" cy="313184"/>
          </a:xfrm>
          <a:prstGeom prst="rect">
            <a:avLst/>
          </a:prstGeom>
        </p:spPr>
      </p:pic>
      <p:pic>
        <p:nvPicPr>
          <p:cNvPr id="79" name="Gráfico 78" descr="Reloj despertador con relleno sólido">
            <a:extLst>
              <a:ext uri="{FF2B5EF4-FFF2-40B4-BE49-F238E27FC236}">
                <a16:creationId xmlns:a16="http://schemas.microsoft.com/office/drawing/2014/main" id="{F6568BE2-DE69-3059-0C3C-A76A6BBA32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36360" y="2611760"/>
            <a:ext cx="313184" cy="313184"/>
          </a:xfrm>
          <a:prstGeom prst="rect">
            <a:avLst/>
          </a:prstGeom>
        </p:spPr>
      </p:pic>
      <p:pic>
        <p:nvPicPr>
          <p:cNvPr id="81" name="Gráfico 80" descr="Reloj despertador con relleno sólido">
            <a:extLst>
              <a:ext uri="{FF2B5EF4-FFF2-40B4-BE49-F238E27FC236}">
                <a16:creationId xmlns:a16="http://schemas.microsoft.com/office/drawing/2014/main" id="{ED75B023-10B8-BA4F-F3AD-232AE137CA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68608" y="2611760"/>
            <a:ext cx="313184" cy="313184"/>
          </a:xfrm>
          <a:prstGeom prst="rect">
            <a:avLst/>
          </a:prstGeom>
        </p:spPr>
      </p:pic>
    </p:spTree>
    <p:extLst>
      <p:ext uri="{BB962C8B-B14F-4D97-AF65-F5344CB8AC3E}">
        <p14:creationId xmlns:p14="http://schemas.microsoft.com/office/powerpoint/2010/main" val="3626145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9DF24-937E-2566-5BCF-E30DD9BACBC2}"/>
            </a:ext>
          </a:extLst>
        </p:cNvPr>
        <p:cNvGrpSpPr/>
        <p:nvPr/>
      </p:nvGrpSpPr>
      <p:grpSpPr>
        <a:xfrm>
          <a:off x="0" y="0"/>
          <a:ext cx="0" cy="0"/>
          <a:chOff x="0" y="0"/>
          <a:chExt cx="0" cy="0"/>
        </a:xfrm>
      </p:grpSpPr>
      <p:sp>
        <p:nvSpPr>
          <p:cNvPr id="10" name="Title 2">
            <a:extLst>
              <a:ext uri="{FF2B5EF4-FFF2-40B4-BE49-F238E27FC236}">
                <a16:creationId xmlns:a16="http://schemas.microsoft.com/office/drawing/2014/main" id="{4AB16A9C-8E42-7E8F-4435-54DB205E8808}"/>
              </a:ext>
            </a:extLst>
          </p:cNvPr>
          <p:cNvSpPr>
            <a:spLocks noGrp="1"/>
          </p:cNvSpPr>
          <p:nvPr>
            <p:ph type="title"/>
          </p:nvPr>
        </p:nvSpPr>
        <p:spPr>
          <a:xfrm>
            <a:off x="-903" y="88429"/>
            <a:ext cx="10819699" cy="676275"/>
          </a:xfrm>
        </p:spPr>
        <p:txBody>
          <a:bodyPr>
            <a:noAutofit/>
          </a:bodyPr>
          <a:lstStyle/>
          <a:p>
            <a:r>
              <a:rPr lang="es-ES" sz="2000" dirty="0"/>
              <a:t> </a:t>
            </a:r>
          </a:p>
        </p:txBody>
      </p:sp>
      <p:sp>
        <p:nvSpPr>
          <p:cNvPr id="11" name="Rectangle: Rounded Corners 10">
            <a:extLst>
              <a:ext uri="{FF2B5EF4-FFF2-40B4-BE49-F238E27FC236}">
                <a16:creationId xmlns:a16="http://schemas.microsoft.com/office/drawing/2014/main" id="{10BE1F71-6AAE-657F-E79C-9010B4B8A0FB}"/>
              </a:ext>
            </a:extLst>
          </p:cNvPr>
          <p:cNvSpPr/>
          <p:nvPr/>
        </p:nvSpPr>
        <p:spPr>
          <a:xfrm>
            <a:off x="858742" y="1124744"/>
            <a:ext cx="11075350" cy="936104"/>
          </a:xfrm>
          <a:prstGeom prst="roundRect">
            <a:avLst>
              <a:gd name="adj" fmla="val 0"/>
            </a:avLst>
          </a:prstGeom>
          <a:no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ES" sz="1000" dirty="0">
                <a:solidFill>
                  <a:srgbClr val="1F497D"/>
                </a:solidFill>
                <a:latin typeface="Trebuchet MS" panose="020B0603020202020204" pitchFamily="34" charset="0"/>
              </a:rPr>
              <a:t>S</a:t>
            </a:r>
            <a:r>
              <a:rPr lang="es-PE" sz="1000" dirty="0">
                <a:solidFill>
                  <a:srgbClr val="1F497D"/>
                </a:solidFill>
                <a:latin typeface="Trebuchet MS" panose="020B0603020202020204" pitchFamily="34" charset="0"/>
              </a:rPr>
              <a:t>e realizó un análisis de materialidad financiera por sectores partiendo de los estándares de SASB y contrastando los resultados con la materialidad que usa un manager especializado en </a:t>
            </a:r>
            <a:r>
              <a:rPr lang="es-PE" sz="1000" dirty="0" err="1">
                <a:solidFill>
                  <a:srgbClr val="1F497D"/>
                </a:solidFill>
                <a:latin typeface="Trebuchet MS" panose="020B0603020202020204" pitchFamily="34" charset="0"/>
              </a:rPr>
              <a:t>Latam</a:t>
            </a:r>
            <a:r>
              <a:rPr lang="es-PE" sz="1000" dirty="0">
                <a:solidFill>
                  <a:srgbClr val="1F497D"/>
                </a:solidFill>
                <a:latin typeface="Trebuchet MS" panose="020B0603020202020204" pitchFamily="34" charset="0"/>
              </a:rPr>
              <a:t> (tropicalización), el ranking de un proveedor de data global, y la opinión de Integra respecto a los variables con mayor materialidad. </a:t>
            </a:r>
          </a:p>
          <a:p>
            <a:pPr algn="just" defTabSz="457200">
              <a:defRPr/>
            </a:pPr>
            <a:endParaRPr lang="es-PE" sz="1000" dirty="0">
              <a:solidFill>
                <a:srgbClr val="1F497D"/>
              </a:solidFill>
              <a:latin typeface="Trebuchet MS" panose="020B0603020202020204" pitchFamily="34" charset="0"/>
            </a:endParaRPr>
          </a:p>
          <a:p>
            <a:pPr algn="just" defTabSz="457200">
              <a:defRPr/>
            </a:pPr>
            <a:r>
              <a:rPr lang="es-ES" sz="1000" dirty="0">
                <a:solidFill>
                  <a:srgbClr val="1F497D"/>
                </a:solidFill>
                <a:latin typeface="Trebuchet MS" panose="020B0603020202020204" pitchFamily="34" charset="0"/>
              </a:rPr>
              <a:t>Las variables que generan mayor consenso sobre su relevancia son las elegidas como aquellas que tienen materialidad financiera. El número de variables identificadas depende del puntaje total promedio y tienen que superar un umbral de puntaje total para evitar incluir variables que no sean críticas.</a:t>
            </a:r>
            <a:endParaRPr lang="es-PE" sz="1000" dirty="0">
              <a:solidFill>
                <a:srgbClr val="1F497D"/>
              </a:solidFill>
              <a:latin typeface="Trebuchet MS" panose="020B0603020202020204" pitchFamily="34" charset="0"/>
            </a:endParaRPr>
          </a:p>
          <a:p>
            <a:pPr lvl="0" algn="just" defTabSz="457200">
              <a:defRPr/>
            </a:pPr>
            <a:endParaRPr lang="es-PE" sz="1000" dirty="0">
              <a:solidFill>
                <a:srgbClr val="1F497D"/>
              </a:solidFill>
              <a:latin typeface="Trebuchet MS" panose="020B0603020202020204" pitchFamily="34" charset="0"/>
            </a:endParaRPr>
          </a:p>
        </p:txBody>
      </p:sp>
      <p:sp>
        <p:nvSpPr>
          <p:cNvPr id="13" name="Rectangle: Rounded Corners 12">
            <a:extLst>
              <a:ext uri="{FF2B5EF4-FFF2-40B4-BE49-F238E27FC236}">
                <a16:creationId xmlns:a16="http://schemas.microsoft.com/office/drawing/2014/main" id="{3463DAE2-DCD7-1844-790C-153A9289DC91}"/>
              </a:ext>
            </a:extLst>
          </p:cNvPr>
          <p:cNvSpPr/>
          <p:nvPr/>
        </p:nvSpPr>
        <p:spPr>
          <a:xfrm>
            <a:off x="767408" y="764704"/>
            <a:ext cx="4824536"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000" b="1" dirty="0">
                <a:solidFill>
                  <a:srgbClr val="1F497D"/>
                </a:solidFill>
                <a:latin typeface="Trebuchet MS" panose="020B0603020202020204" pitchFamily="34" charset="0"/>
              </a:rPr>
              <a:t>a.1) Mapeo de Materialidad por Sector y Selección de Variables Prioritarias:</a:t>
            </a:r>
            <a:endParaRPr kumimoji="0" lang="es-PE" sz="1000" b="1"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pic>
        <p:nvPicPr>
          <p:cNvPr id="9" name="Imagen 8" descr="Interfaz de usuario gráfica&#10;&#10;El contenido generado por IA puede ser incorrecto.">
            <a:extLst>
              <a:ext uri="{FF2B5EF4-FFF2-40B4-BE49-F238E27FC236}">
                <a16:creationId xmlns:a16="http://schemas.microsoft.com/office/drawing/2014/main" id="{5DB3BA22-1E1A-B823-EB65-872EF8BEAC6E}"/>
              </a:ext>
            </a:extLst>
          </p:cNvPr>
          <p:cNvPicPr>
            <a:picLocks noChangeAspect="1"/>
          </p:cNvPicPr>
          <p:nvPr/>
        </p:nvPicPr>
        <p:blipFill>
          <a:blip r:embed="rId3"/>
          <a:stretch>
            <a:fillRect/>
          </a:stretch>
        </p:blipFill>
        <p:spPr>
          <a:xfrm>
            <a:off x="983432" y="2276872"/>
            <a:ext cx="10920536" cy="3619599"/>
          </a:xfrm>
          <a:prstGeom prst="rect">
            <a:avLst/>
          </a:prstGeom>
        </p:spPr>
      </p:pic>
      <p:pic>
        <p:nvPicPr>
          <p:cNvPr id="3" name="Gráfico 2" descr="Marca de verificación con relleno sólido">
            <a:extLst>
              <a:ext uri="{FF2B5EF4-FFF2-40B4-BE49-F238E27FC236}">
                <a16:creationId xmlns:a16="http://schemas.microsoft.com/office/drawing/2014/main" id="{517405F1-3BCC-C0AF-D157-316E6BB7C0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08168" y="1772816"/>
            <a:ext cx="144016" cy="144016"/>
          </a:xfrm>
          <a:prstGeom prst="rect">
            <a:avLst/>
          </a:prstGeom>
        </p:spPr>
      </p:pic>
      <p:sp>
        <p:nvSpPr>
          <p:cNvPr id="2" name="Title 2">
            <a:extLst>
              <a:ext uri="{FF2B5EF4-FFF2-40B4-BE49-F238E27FC236}">
                <a16:creationId xmlns:a16="http://schemas.microsoft.com/office/drawing/2014/main" id="{1F270723-2A1C-4066-7DE9-3F8178DFFBBD}"/>
              </a:ext>
            </a:extLst>
          </p:cNvPr>
          <p:cNvSpPr txBox="1">
            <a:spLocks/>
          </p:cNvSpPr>
          <p:nvPr/>
        </p:nvSpPr>
        <p:spPr>
          <a:xfrm>
            <a:off x="28829" y="88429"/>
            <a:ext cx="10819699" cy="676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kern="1200" spc="-50" baseline="0">
                <a:solidFill>
                  <a:schemeClr val="tx1">
                    <a:lumMod val="75000"/>
                  </a:schemeClr>
                </a:solidFill>
                <a:latin typeface="Trebuchet MS" panose="020B0603020202020204" pitchFamily="34" charset="0"/>
                <a:ea typeface="+mj-ea"/>
                <a:cs typeface="+mj-cs"/>
              </a:defRPr>
            </a:lvl1pPr>
          </a:lstStyle>
          <a:p>
            <a:r>
              <a:rPr lang="es-ES" sz="2000" dirty="0"/>
              <a:t>1.4 </a:t>
            </a:r>
            <a:r>
              <a:rPr lang="es-ES" sz="2000" i="1" dirty="0" err="1"/>
              <a:t>Engagement</a:t>
            </a:r>
            <a:r>
              <a:rPr lang="es-ES" sz="2000" dirty="0"/>
              <a:t> – Objetivo 2025-2027: Nueva Metodología de </a:t>
            </a:r>
            <a:r>
              <a:rPr lang="es-ES" sz="2000" i="1" dirty="0" err="1"/>
              <a:t>Engagement</a:t>
            </a:r>
            <a:r>
              <a:rPr lang="es-ES" sz="2000" dirty="0"/>
              <a:t> y Ejecución    </a:t>
            </a:r>
          </a:p>
        </p:txBody>
      </p:sp>
    </p:spTree>
    <p:extLst>
      <p:ext uri="{BB962C8B-B14F-4D97-AF65-F5344CB8AC3E}">
        <p14:creationId xmlns:p14="http://schemas.microsoft.com/office/powerpoint/2010/main" val="3174777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C94FA-98BB-962B-2894-DFFCA4559918}"/>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9C0B962A-386A-F5ED-23D7-51CAED40D873}"/>
              </a:ext>
            </a:extLst>
          </p:cNvPr>
          <p:cNvSpPr/>
          <p:nvPr/>
        </p:nvSpPr>
        <p:spPr>
          <a:xfrm>
            <a:off x="858742" y="1124744"/>
            <a:ext cx="11075350" cy="432048"/>
          </a:xfrm>
          <a:prstGeom prst="roundRect">
            <a:avLst>
              <a:gd name="adj" fmla="val 0"/>
            </a:avLst>
          </a:prstGeom>
          <a:no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just" defTabSz="457200">
              <a:defRPr/>
            </a:pPr>
            <a:r>
              <a:rPr lang="es-ES" sz="1000" dirty="0">
                <a:solidFill>
                  <a:srgbClr val="1F497D"/>
                </a:solidFill>
                <a:latin typeface="Trebuchet MS" panose="020B0603020202020204" pitchFamily="34" charset="0"/>
              </a:rPr>
              <a:t>El resultado del mapeo de materialidad por sector es la identificación de las variables no financieras clave para estos negocios. De esta forma, la posibilidad de realizar </a:t>
            </a:r>
            <a:r>
              <a:rPr lang="es-ES" sz="1000" dirty="0" err="1">
                <a:solidFill>
                  <a:srgbClr val="1F497D"/>
                </a:solidFill>
                <a:latin typeface="Trebuchet MS" panose="020B0603020202020204" pitchFamily="34" charset="0"/>
              </a:rPr>
              <a:t>engagements</a:t>
            </a:r>
            <a:r>
              <a:rPr lang="es-ES" sz="1000" dirty="0">
                <a:solidFill>
                  <a:srgbClr val="1F497D"/>
                </a:solidFill>
                <a:latin typeface="Trebuchet MS" panose="020B0603020202020204" pitchFamily="34" charset="0"/>
              </a:rPr>
              <a:t> se concentraría en estos temas que resultan ser los más relevantes.  </a:t>
            </a:r>
            <a:endParaRPr lang="es-PE" sz="1000" dirty="0">
              <a:solidFill>
                <a:srgbClr val="1F497D"/>
              </a:solidFill>
              <a:latin typeface="Trebuchet MS" panose="020B0603020202020204" pitchFamily="34" charset="0"/>
            </a:endParaRPr>
          </a:p>
        </p:txBody>
      </p:sp>
      <p:sp>
        <p:nvSpPr>
          <p:cNvPr id="13" name="Rectangle: Rounded Corners 12">
            <a:extLst>
              <a:ext uri="{FF2B5EF4-FFF2-40B4-BE49-F238E27FC236}">
                <a16:creationId xmlns:a16="http://schemas.microsoft.com/office/drawing/2014/main" id="{B053D7E5-EF5A-C41B-E150-0F59850859DE}"/>
              </a:ext>
            </a:extLst>
          </p:cNvPr>
          <p:cNvSpPr/>
          <p:nvPr/>
        </p:nvSpPr>
        <p:spPr>
          <a:xfrm>
            <a:off x="767408" y="764704"/>
            <a:ext cx="4824536"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000" b="1" dirty="0">
                <a:solidFill>
                  <a:srgbClr val="1F497D"/>
                </a:solidFill>
                <a:latin typeface="Trebuchet MS" panose="020B0603020202020204" pitchFamily="34" charset="0"/>
              </a:rPr>
              <a:t>a.2) Mapeo de Materialidad por Sector y Selección de Variables Prioritarias:</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pic>
        <p:nvPicPr>
          <p:cNvPr id="19" name="Imagen 18">
            <a:extLst>
              <a:ext uri="{FF2B5EF4-FFF2-40B4-BE49-F238E27FC236}">
                <a16:creationId xmlns:a16="http://schemas.microsoft.com/office/drawing/2014/main" id="{31EDBB99-AFAD-0076-2F62-319DFB8BFF79}"/>
              </a:ext>
            </a:extLst>
          </p:cNvPr>
          <p:cNvPicPr>
            <a:picLocks noChangeAspect="1"/>
          </p:cNvPicPr>
          <p:nvPr/>
        </p:nvPicPr>
        <p:blipFill>
          <a:blip r:embed="rId3"/>
          <a:stretch>
            <a:fillRect/>
          </a:stretch>
        </p:blipFill>
        <p:spPr>
          <a:xfrm>
            <a:off x="10416480" y="5517232"/>
            <a:ext cx="1346814" cy="784611"/>
          </a:xfrm>
          <a:prstGeom prst="rect">
            <a:avLst/>
          </a:prstGeom>
        </p:spPr>
      </p:pic>
      <p:pic>
        <p:nvPicPr>
          <p:cNvPr id="3" name="Gráfico 2" descr="Marca de verificación con relleno sólido">
            <a:extLst>
              <a:ext uri="{FF2B5EF4-FFF2-40B4-BE49-F238E27FC236}">
                <a16:creationId xmlns:a16="http://schemas.microsoft.com/office/drawing/2014/main" id="{EC3A96B4-C49B-4FB7-6310-D67901604A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56440" y="1340768"/>
            <a:ext cx="144016" cy="144016"/>
          </a:xfrm>
          <a:prstGeom prst="rect">
            <a:avLst/>
          </a:prstGeom>
        </p:spPr>
      </p:pic>
      <p:sp>
        <p:nvSpPr>
          <p:cNvPr id="6" name="Title 2">
            <a:extLst>
              <a:ext uri="{FF2B5EF4-FFF2-40B4-BE49-F238E27FC236}">
                <a16:creationId xmlns:a16="http://schemas.microsoft.com/office/drawing/2014/main" id="{CA220EB7-D148-5C0F-72DC-1D47189F4886}"/>
              </a:ext>
            </a:extLst>
          </p:cNvPr>
          <p:cNvSpPr txBox="1">
            <a:spLocks/>
          </p:cNvSpPr>
          <p:nvPr/>
        </p:nvSpPr>
        <p:spPr>
          <a:xfrm>
            <a:off x="28829" y="88429"/>
            <a:ext cx="10819699" cy="676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kern="1200" spc="-50" baseline="0">
                <a:solidFill>
                  <a:schemeClr val="tx1">
                    <a:lumMod val="75000"/>
                  </a:schemeClr>
                </a:solidFill>
                <a:latin typeface="Trebuchet MS" panose="020B0603020202020204" pitchFamily="34" charset="0"/>
                <a:ea typeface="+mj-ea"/>
                <a:cs typeface="+mj-cs"/>
              </a:defRPr>
            </a:lvl1pPr>
          </a:lstStyle>
          <a:p>
            <a:r>
              <a:rPr lang="es-ES" sz="2000" dirty="0"/>
              <a:t>1.5 </a:t>
            </a:r>
            <a:r>
              <a:rPr lang="es-ES" sz="2000" i="1" dirty="0" err="1"/>
              <a:t>Engagement</a:t>
            </a:r>
            <a:r>
              <a:rPr lang="es-ES" sz="2000" dirty="0"/>
              <a:t> – Objetivo 2025-2027: Nueva Metodología de </a:t>
            </a:r>
            <a:r>
              <a:rPr lang="es-ES" sz="2000" i="1" dirty="0" err="1"/>
              <a:t>Engagement</a:t>
            </a:r>
            <a:r>
              <a:rPr lang="es-ES" sz="2000" dirty="0"/>
              <a:t> y Ejecución    </a:t>
            </a:r>
          </a:p>
        </p:txBody>
      </p:sp>
      <p:graphicFrame>
        <p:nvGraphicFramePr>
          <p:cNvPr id="7" name="Tabla 6">
            <a:extLst>
              <a:ext uri="{FF2B5EF4-FFF2-40B4-BE49-F238E27FC236}">
                <a16:creationId xmlns:a16="http://schemas.microsoft.com/office/drawing/2014/main" id="{35EFE593-9E41-2115-7302-A27F015C6219}"/>
              </a:ext>
            </a:extLst>
          </p:cNvPr>
          <p:cNvGraphicFramePr>
            <a:graphicFrameLocks noGrp="1"/>
          </p:cNvGraphicFramePr>
          <p:nvPr/>
        </p:nvGraphicFramePr>
        <p:xfrm>
          <a:off x="838200" y="1988840"/>
          <a:ext cx="11090449" cy="3180241"/>
        </p:xfrm>
        <a:graphic>
          <a:graphicData uri="http://schemas.openxmlformats.org/drawingml/2006/table">
            <a:tbl>
              <a:tblPr/>
              <a:tblGrid>
                <a:gridCol w="2189072">
                  <a:extLst>
                    <a:ext uri="{9D8B030D-6E8A-4147-A177-3AD203B41FA5}">
                      <a16:colId xmlns:a16="http://schemas.microsoft.com/office/drawing/2014/main" val="1893860762"/>
                    </a:ext>
                  </a:extLst>
                </a:gridCol>
                <a:gridCol w="2191616">
                  <a:extLst>
                    <a:ext uri="{9D8B030D-6E8A-4147-A177-3AD203B41FA5}">
                      <a16:colId xmlns:a16="http://schemas.microsoft.com/office/drawing/2014/main" val="3529064758"/>
                    </a:ext>
                  </a:extLst>
                </a:gridCol>
                <a:gridCol w="1476350">
                  <a:extLst>
                    <a:ext uri="{9D8B030D-6E8A-4147-A177-3AD203B41FA5}">
                      <a16:colId xmlns:a16="http://schemas.microsoft.com/office/drawing/2014/main" val="3878412906"/>
                    </a:ext>
                  </a:extLst>
                </a:gridCol>
                <a:gridCol w="1303262">
                  <a:extLst>
                    <a:ext uri="{9D8B030D-6E8A-4147-A177-3AD203B41FA5}">
                      <a16:colId xmlns:a16="http://schemas.microsoft.com/office/drawing/2014/main" val="1342730562"/>
                    </a:ext>
                  </a:extLst>
                </a:gridCol>
                <a:gridCol w="1242171">
                  <a:extLst>
                    <a:ext uri="{9D8B030D-6E8A-4147-A177-3AD203B41FA5}">
                      <a16:colId xmlns:a16="http://schemas.microsoft.com/office/drawing/2014/main" val="573602880"/>
                    </a:ext>
                  </a:extLst>
                </a:gridCol>
                <a:gridCol w="1343989">
                  <a:extLst>
                    <a:ext uri="{9D8B030D-6E8A-4147-A177-3AD203B41FA5}">
                      <a16:colId xmlns:a16="http://schemas.microsoft.com/office/drawing/2014/main" val="1392152314"/>
                    </a:ext>
                  </a:extLst>
                </a:gridCol>
                <a:gridCol w="1343989">
                  <a:extLst>
                    <a:ext uri="{9D8B030D-6E8A-4147-A177-3AD203B41FA5}">
                      <a16:colId xmlns:a16="http://schemas.microsoft.com/office/drawing/2014/main" val="2739523467"/>
                    </a:ext>
                  </a:extLst>
                </a:gridCol>
              </a:tblGrid>
              <a:tr h="172921">
                <a:tc>
                  <a:txBody>
                    <a:bodyPr/>
                    <a:lstStyle/>
                    <a:p>
                      <a:pPr algn="l" fontAlgn="b">
                        <a:buNone/>
                      </a:pPr>
                      <a:endParaRPr lang="es-PE" sz="900" b="0" i="0" u="none" strike="noStrike">
                        <a:solidFill>
                          <a:srgbClr val="000000"/>
                        </a:solidFill>
                        <a:effectLst/>
                        <a:latin typeface="Aptos Narrow" panose="020B0004020202020204" pitchFamily="34" charset="0"/>
                      </a:endParaRPr>
                    </a:p>
                  </a:txBody>
                  <a:tcPr marL="7518" marR="7518" marT="75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900" b="0" i="0" u="none" strike="noStrike">
                        <a:solidFill>
                          <a:srgbClr val="000000"/>
                        </a:solidFill>
                        <a:effectLst/>
                        <a:latin typeface="Aptos Narrow" panose="020B0004020202020204" pitchFamily="34" charset="0"/>
                      </a:endParaRPr>
                    </a:p>
                  </a:txBody>
                  <a:tcPr marL="7518" marR="7518" marT="75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900" b="0" i="0" u="none" strike="noStrike">
                        <a:solidFill>
                          <a:srgbClr val="000000"/>
                        </a:solidFill>
                        <a:effectLst/>
                        <a:latin typeface="Aptos Narrow" panose="020B0004020202020204" pitchFamily="34" charset="0"/>
                      </a:endParaRPr>
                    </a:p>
                  </a:txBody>
                  <a:tcPr marL="7518" marR="7518" marT="7518"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gridSpan="4">
                  <a:txBody>
                    <a:bodyPr/>
                    <a:lstStyle/>
                    <a:p>
                      <a:pPr algn="ctr" fontAlgn="ctr">
                        <a:buNone/>
                      </a:pPr>
                      <a:r>
                        <a:rPr lang="es-PE" sz="900" b="1" i="0" u="none" strike="noStrike" dirty="0">
                          <a:solidFill>
                            <a:srgbClr val="FFFFFF"/>
                          </a:solidFill>
                          <a:effectLst/>
                          <a:latin typeface="Aptos Narrow" panose="020B0004020202020204" pitchFamily="34" charset="0"/>
                        </a:rPr>
                        <a:t>Resultados de Variables Materiales Rankeadas</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2170732694"/>
                  </a:ext>
                </a:extLst>
              </a:tr>
              <a:tr h="300732">
                <a:tc>
                  <a:txBody>
                    <a:bodyPr/>
                    <a:lstStyle/>
                    <a:p>
                      <a:pPr algn="ctr" fontAlgn="ctr">
                        <a:buNone/>
                      </a:pPr>
                      <a:r>
                        <a:rPr lang="es-PE" sz="900" b="1" i="0" u="none" strike="noStrike">
                          <a:solidFill>
                            <a:srgbClr val="FFFFFF"/>
                          </a:solidFill>
                          <a:effectLst/>
                          <a:latin typeface="Aptos Narrow" panose="020B0004020202020204" pitchFamily="34" charset="0"/>
                        </a:rPr>
                        <a:t>Sector</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900" b="1" i="0" u="none" strike="noStrike" dirty="0">
                          <a:solidFill>
                            <a:srgbClr val="FFFFFF"/>
                          </a:solidFill>
                          <a:effectLst/>
                          <a:latin typeface="Aptos Narrow" panose="020B0004020202020204" pitchFamily="34" charset="0"/>
                        </a:rPr>
                        <a:t>Subsector (Empresas)</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900" b="1" i="0" u="none" strike="noStrike">
                          <a:solidFill>
                            <a:srgbClr val="FFFFFF"/>
                          </a:solidFill>
                          <a:effectLst/>
                          <a:latin typeface="Aptos Narrow" panose="020B0004020202020204" pitchFamily="34" charset="0"/>
                        </a:rPr>
                        <a:t>Variable Transversal SURA AM (ILP 2025-2027)</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900" b="1" i="0" u="none" strike="noStrike">
                          <a:solidFill>
                            <a:srgbClr val="FFFFFF"/>
                          </a:solidFill>
                          <a:effectLst/>
                          <a:latin typeface="Aptos Narrow" panose="020B0004020202020204" pitchFamily="34" charset="0"/>
                        </a:rPr>
                        <a:t>1er Variable</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900" b="1" i="0" u="none" strike="noStrike">
                          <a:solidFill>
                            <a:srgbClr val="FFFFFF"/>
                          </a:solidFill>
                          <a:effectLst/>
                          <a:latin typeface="Aptos Narrow" panose="020B0004020202020204" pitchFamily="34" charset="0"/>
                        </a:rPr>
                        <a:t>2da Variable</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900" b="1" i="0" u="none" strike="noStrike">
                          <a:solidFill>
                            <a:srgbClr val="FFFFFF"/>
                          </a:solidFill>
                          <a:effectLst/>
                          <a:latin typeface="Aptos Narrow" panose="020B0004020202020204" pitchFamily="34" charset="0"/>
                        </a:rPr>
                        <a:t>3era Variable</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900" b="1" i="0" u="none" strike="noStrike" dirty="0">
                          <a:solidFill>
                            <a:srgbClr val="FFFFFF"/>
                          </a:solidFill>
                          <a:effectLst/>
                          <a:latin typeface="Aptos Narrow" panose="020B0004020202020204" pitchFamily="34" charset="0"/>
                        </a:rPr>
                        <a:t>4ta Variable</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extLst>
                  <a:ext uri="{0D108BD9-81ED-4DB2-BD59-A6C34878D82A}">
                    <a16:rowId xmlns:a16="http://schemas.microsoft.com/office/drawing/2014/main" val="3631245096"/>
                  </a:ext>
                </a:extLst>
              </a:tr>
              <a:tr h="300732">
                <a:tc rowSpan="2">
                  <a:txBody>
                    <a:bodyPr/>
                    <a:lstStyle/>
                    <a:p>
                      <a:pPr algn="ctr" fontAlgn="ctr">
                        <a:buNone/>
                      </a:pPr>
                      <a:r>
                        <a:rPr lang="es-PE" sz="900" b="0" i="0" u="none" strike="noStrike">
                          <a:solidFill>
                            <a:srgbClr val="000000"/>
                          </a:solidFill>
                          <a:effectLst/>
                          <a:latin typeface="Aptos Narrow" panose="020B0004020202020204" pitchFamily="34" charset="0"/>
                        </a:rPr>
                        <a:t>Extractivos y Procesamiento de Minerales</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Aptos Narrow" panose="020B0004020202020204" pitchFamily="34" charset="0"/>
                        </a:rPr>
                        <a:t>Materiales de Construcción (Pacasmayo, </a:t>
                      </a:r>
                      <a:r>
                        <a:rPr lang="es-PE" sz="900" b="0" i="0" u="none" strike="noStrike" dirty="0" err="1">
                          <a:solidFill>
                            <a:srgbClr val="000000"/>
                          </a:solidFill>
                          <a:effectLst/>
                          <a:latin typeface="Aptos Narrow" panose="020B0004020202020204" pitchFamily="34" charset="0"/>
                        </a:rPr>
                        <a:t>Unacem</a:t>
                      </a:r>
                      <a:r>
                        <a:rPr lang="es-PE" sz="900" b="0" i="0" u="none" strike="noStrike" dirty="0">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9">
                  <a:txBody>
                    <a:bodyPr/>
                    <a:lstStyle/>
                    <a:p>
                      <a:pPr algn="ctr" fontAlgn="ctr">
                        <a:buNone/>
                      </a:pPr>
                      <a:r>
                        <a:rPr lang="es-PE" sz="900" b="1" i="0" u="none" strike="noStrike">
                          <a:solidFill>
                            <a:srgbClr val="000000"/>
                          </a:solidFill>
                          <a:effectLst/>
                          <a:latin typeface="Aptos Narrow" panose="020B0004020202020204" pitchFamily="34" charset="0"/>
                        </a:rPr>
                        <a:t>Gestión Climática: Riesgos Físicos: Foco en FEN 2026-2027</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Emisiones de GEI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Gestión de la Energía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a:solidFill>
                            <a:srgbClr val="000000"/>
                          </a:solidFill>
                          <a:effectLst/>
                          <a:latin typeface="Aptos Narrow" panose="020B0004020202020204" pitchFamily="34" charset="0"/>
                        </a:rPr>
                        <a:t>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7134366"/>
                  </a:ext>
                </a:extLst>
              </a:tr>
              <a:tr h="300732">
                <a:tc vMerge="1">
                  <a:txBody>
                    <a:bodyPr/>
                    <a:lstStyle/>
                    <a:p>
                      <a:endParaRPr lang="es-PE"/>
                    </a:p>
                  </a:txBody>
                  <a:tcPr/>
                </a:tc>
                <a:tc>
                  <a:txBody>
                    <a:bodyPr/>
                    <a:lstStyle/>
                    <a:p>
                      <a:pPr algn="ctr" fontAlgn="ctr">
                        <a:buNone/>
                      </a:pPr>
                      <a:r>
                        <a:rPr lang="es-PE" sz="900" b="0" i="0" u="none" strike="noStrike" dirty="0">
                          <a:solidFill>
                            <a:srgbClr val="000000"/>
                          </a:solidFill>
                          <a:effectLst/>
                          <a:latin typeface="Aptos Narrow" panose="020B0004020202020204" pitchFamily="34" charset="0"/>
                        </a:rPr>
                        <a:t>Metales y Minería (Mineras)</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s-PE"/>
                    </a:p>
                  </a:txBody>
                  <a:tcPr/>
                </a:tc>
                <a:tc>
                  <a:txBody>
                    <a:bodyPr/>
                    <a:lstStyle/>
                    <a:p>
                      <a:pPr algn="ctr" fontAlgn="ctr">
                        <a:buNone/>
                      </a:pPr>
                      <a:r>
                        <a:rPr lang="es-PE" sz="900" b="0" i="0" u="none" strike="noStrike">
                          <a:solidFill>
                            <a:srgbClr val="000000"/>
                          </a:solidFill>
                          <a:effectLst/>
                          <a:latin typeface="Aptos Narrow" panose="020B0004020202020204" pitchFamily="34" charset="0"/>
                        </a:rPr>
                        <a:t>Prácticas Laborales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Salud y Seguridad de los Trabajadores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Gestión de la Energía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Gestión de Residuos y Agua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919078956"/>
                  </a:ext>
                </a:extLst>
              </a:tr>
              <a:tr h="300732">
                <a:tc>
                  <a:txBody>
                    <a:bodyPr/>
                    <a:lstStyle/>
                    <a:p>
                      <a:pPr algn="ctr" fontAlgn="ctr">
                        <a:buNone/>
                      </a:pPr>
                      <a:r>
                        <a:rPr lang="es-PE" sz="900" b="0" i="0" u="none" strike="noStrike">
                          <a:solidFill>
                            <a:srgbClr val="000000"/>
                          </a:solidFill>
                          <a:effectLst/>
                          <a:latin typeface="Aptos Narrow" panose="020B0004020202020204" pitchFamily="34" charset="0"/>
                        </a:rPr>
                        <a:t>Servicios Financieros</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Aptos Narrow" panose="020B0004020202020204" pitchFamily="34" charset="0"/>
                        </a:rPr>
                        <a:t>Banca Comercial (BBVA, Credicorp, IFS)</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s-PE"/>
                    </a:p>
                  </a:txBody>
                  <a:tcPr/>
                </a:tc>
                <a:tc>
                  <a:txBody>
                    <a:bodyPr/>
                    <a:lstStyle/>
                    <a:p>
                      <a:pPr algn="ctr" fontAlgn="ctr">
                        <a:buNone/>
                      </a:pPr>
                      <a:r>
                        <a:rPr lang="es-PE" sz="900" b="0" i="0" u="none" strike="noStrike">
                          <a:solidFill>
                            <a:srgbClr val="000000"/>
                          </a:solidFill>
                          <a:effectLst/>
                          <a:latin typeface="Aptos Narrow" panose="020B0004020202020204" pitchFamily="34" charset="0"/>
                        </a:rPr>
                        <a:t>Seguridad de los Datos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864287"/>
                  </a:ext>
                </a:extLst>
              </a:tr>
              <a:tr h="300732">
                <a:tc rowSpan="2">
                  <a:txBody>
                    <a:bodyPr/>
                    <a:lstStyle/>
                    <a:p>
                      <a:pPr algn="ctr" fontAlgn="ctr">
                        <a:buNone/>
                      </a:pPr>
                      <a:r>
                        <a:rPr lang="es-PE" sz="900" b="0" i="0" u="none" strike="noStrike">
                          <a:solidFill>
                            <a:srgbClr val="000000"/>
                          </a:solidFill>
                          <a:effectLst/>
                          <a:latin typeface="Aptos Narrow" panose="020B0004020202020204" pitchFamily="34" charset="0"/>
                        </a:rPr>
                        <a:t>Alimentos y Bebidas</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Aptos Narrow" panose="020B0004020202020204" pitchFamily="34" charset="0"/>
                        </a:rPr>
                        <a:t>Minoristas y Distribuidores de Alimentos (</a:t>
                      </a:r>
                      <a:r>
                        <a:rPr lang="es-PE" sz="900" b="0" i="0" u="none" strike="noStrike" dirty="0" err="1">
                          <a:solidFill>
                            <a:srgbClr val="000000"/>
                          </a:solidFill>
                          <a:effectLst/>
                          <a:latin typeface="Aptos Narrow" panose="020B0004020202020204" pitchFamily="34" charset="0"/>
                        </a:rPr>
                        <a:t>Inretail</a:t>
                      </a:r>
                      <a:r>
                        <a:rPr lang="es-PE" sz="900" b="0" i="0" u="none" strike="noStrike" dirty="0">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s-PE"/>
                    </a:p>
                  </a:txBody>
                  <a:tcPr/>
                </a:tc>
                <a:tc>
                  <a:txBody>
                    <a:bodyPr/>
                    <a:lstStyle/>
                    <a:p>
                      <a:pPr algn="ctr" fontAlgn="ctr">
                        <a:buNone/>
                      </a:pPr>
                      <a:r>
                        <a:rPr lang="es-PE" sz="900" b="0" i="0" u="none" strike="noStrike">
                          <a:solidFill>
                            <a:srgbClr val="000000"/>
                          </a:solidFill>
                          <a:effectLst/>
                          <a:latin typeface="Aptos Narrow" panose="020B0004020202020204" pitchFamily="34" charset="0"/>
                        </a:rPr>
                        <a:t>Emisiones de GEI / Productos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625028"/>
                  </a:ext>
                </a:extLst>
              </a:tr>
              <a:tr h="300732">
                <a:tc vMerge="1">
                  <a:txBody>
                    <a:bodyPr/>
                    <a:lstStyle/>
                    <a:p>
                      <a:endParaRPr lang="es-PE"/>
                    </a:p>
                  </a:txBody>
                  <a:tcPr/>
                </a:tc>
                <a:tc>
                  <a:txBody>
                    <a:bodyPr/>
                    <a:lstStyle/>
                    <a:p>
                      <a:pPr algn="ctr" fontAlgn="ctr">
                        <a:buNone/>
                      </a:pPr>
                      <a:r>
                        <a:rPr lang="es-PE" sz="900" b="0" i="0" u="none" strike="noStrike" dirty="0">
                          <a:solidFill>
                            <a:srgbClr val="000000"/>
                          </a:solidFill>
                          <a:effectLst/>
                          <a:latin typeface="Aptos Narrow" panose="020B0004020202020204" pitchFamily="34" charset="0"/>
                        </a:rPr>
                        <a:t>Alimentos Procesados (Alicorp)</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s-PE"/>
                    </a:p>
                  </a:txBody>
                  <a:tcPr/>
                </a:tc>
                <a:tc>
                  <a:txBody>
                    <a:bodyPr/>
                    <a:lstStyle/>
                    <a:p>
                      <a:pPr algn="ctr" fontAlgn="ctr">
                        <a:buNone/>
                      </a:pPr>
                      <a:r>
                        <a:rPr lang="es-PE" sz="900" b="0" i="0" u="none" strike="noStrike">
                          <a:solidFill>
                            <a:srgbClr val="000000"/>
                          </a:solidFill>
                          <a:effectLst/>
                          <a:latin typeface="Aptos Narrow" panose="020B0004020202020204" pitchFamily="34" charset="0"/>
                        </a:rPr>
                        <a:t>Calidad e Inocuidad de los Productos</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Gestión de Residuos y Agua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Gestión de la Energía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6262069"/>
                  </a:ext>
                </a:extLst>
              </a:tr>
              <a:tr h="300732">
                <a:tc>
                  <a:txBody>
                    <a:bodyPr/>
                    <a:lstStyle/>
                    <a:p>
                      <a:pPr algn="ctr" fontAlgn="ctr">
                        <a:buNone/>
                      </a:pPr>
                      <a:r>
                        <a:rPr lang="es-PE" sz="900" b="0" i="0" u="none" strike="noStrike">
                          <a:solidFill>
                            <a:srgbClr val="000000"/>
                          </a:solidFill>
                          <a:effectLst/>
                          <a:latin typeface="Aptos Narrow" panose="020B0004020202020204" pitchFamily="34" charset="0"/>
                        </a:rPr>
                        <a:t>Salud</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Aptos Narrow" panose="020B0004020202020204" pitchFamily="34" charset="0"/>
                        </a:rPr>
                        <a:t>Prestación de Servicios de Salud (Auna)</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s-PE"/>
                    </a:p>
                  </a:txBody>
                  <a:tcPr/>
                </a:tc>
                <a:tc>
                  <a:txBody>
                    <a:bodyPr/>
                    <a:lstStyle/>
                    <a:p>
                      <a:pPr algn="ctr" fontAlgn="ctr">
                        <a:buNone/>
                      </a:pPr>
                      <a:r>
                        <a:rPr lang="es-PE" sz="900" b="0" i="0" u="none" strike="noStrike">
                          <a:solidFill>
                            <a:srgbClr val="000000"/>
                          </a:solidFill>
                          <a:effectLst/>
                          <a:latin typeface="Aptos Narrow" panose="020B0004020202020204" pitchFamily="34" charset="0"/>
                        </a:rPr>
                        <a:t>Calidad e Inocuidad de los Productos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Seguridad de los Datos</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900" b="0" i="0" u="none" strike="noStrike" dirty="0">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9423625"/>
                  </a:ext>
                </a:extLst>
              </a:tr>
              <a:tr h="300732">
                <a:tc rowSpan="2">
                  <a:txBody>
                    <a:bodyPr/>
                    <a:lstStyle/>
                    <a:p>
                      <a:pPr algn="ctr" fontAlgn="ctr">
                        <a:buNone/>
                      </a:pPr>
                      <a:r>
                        <a:rPr lang="es-PE" sz="900" b="0" i="0" u="none" strike="noStrike">
                          <a:solidFill>
                            <a:srgbClr val="000000"/>
                          </a:solidFill>
                          <a:effectLst/>
                          <a:latin typeface="Aptos Narrow" panose="020B0004020202020204" pitchFamily="34" charset="0"/>
                        </a:rPr>
                        <a:t>Infraestructura</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Aptos Narrow" panose="020B0004020202020204" pitchFamily="34" charset="0"/>
                        </a:rPr>
                        <a:t>Generación y Transmisión de Electricidad y Energía (Engie, </a:t>
                      </a:r>
                      <a:r>
                        <a:rPr lang="es-PE" sz="900" b="0" i="0" u="none" strike="noStrike" dirty="0" err="1">
                          <a:solidFill>
                            <a:srgbClr val="000000"/>
                          </a:solidFill>
                          <a:effectLst/>
                          <a:latin typeface="Aptos Narrow" panose="020B0004020202020204" pitchFamily="34" charset="0"/>
                        </a:rPr>
                        <a:t>Pluz</a:t>
                      </a:r>
                      <a:r>
                        <a:rPr lang="es-PE" sz="900" b="0" i="0" u="none" strike="noStrike" dirty="0">
                          <a:solidFill>
                            <a:srgbClr val="000000"/>
                          </a:solidFill>
                          <a:effectLst/>
                          <a:latin typeface="Aptos Narrow" panose="020B0004020202020204" pitchFamily="34" charset="0"/>
                        </a:rPr>
                        <a:t>, </a:t>
                      </a:r>
                      <a:r>
                        <a:rPr lang="es-PE" sz="900" b="0" i="0" u="none" strike="noStrike" dirty="0" err="1">
                          <a:solidFill>
                            <a:srgbClr val="000000"/>
                          </a:solidFill>
                          <a:effectLst/>
                          <a:latin typeface="Aptos Narrow" panose="020B0004020202020204" pitchFamily="34" charset="0"/>
                        </a:rPr>
                        <a:t>Orygen</a:t>
                      </a:r>
                      <a:r>
                        <a:rPr lang="es-PE" sz="900" b="0" i="0" u="none" strike="noStrike" dirty="0">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s-PE"/>
                    </a:p>
                  </a:txBody>
                  <a:tcPr/>
                </a:tc>
                <a:tc>
                  <a:txBody>
                    <a:bodyPr/>
                    <a:lstStyle/>
                    <a:p>
                      <a:pPr algn="ctr" fontAlgn="ctr">
                        <a:buNone/>
                      </a:pPr>
                      <a:r>
                        <a:rPr lang="es-PE" sz="900" b="0" i="0" u="none" strike="noStrike">
                          <a:solidFill>
                            <a:srgbClr val="000000"/>
                          </a:solidFill>
                          <a:effectLst/>
                          <a:latin typeface="Aptos Narrow" panose="020B0004020202020204" pitchFamily="34" charset="0"/>
                        </a:rPr>
                        <a:t>Emisiones de GEI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3740152"/>
                  </a:ext>
                </a:extLst>
              </a:tr>
              <a:tr h="300732">
                <a:tc vMerge="1">
                  <a:txBody>
                    <a:bodyPr/>
                    <a:lstStyle/>
                    <a:p>
                      <a:endParaRPr lang="es-PE"/>
                    </a:p>
                  </a:txBody>
                  <a:tcPr/>
                </a:tc>
                <a:tc>
                  <a:txBody>
                    <a:bodyPr/>
                    <a:lstStyle/>
                    <a:p>
                      <a:pPr algn="ctr" fontAlgn="ctr">
                        <a:buNone/>
                      </a:pPr>
                      <a:r>
                        <a:rPr lang="es-PE" sz="900" b="0" i="0" u="none" strike="noStrike" dirty="0">
                          <a:solidFill>
                            <a:srgbClr val="000000"/>
                          </a:solidFill>
                          <a:effectLst/>
                          <a:latin typeface="Aptos Narrow" panose="020B0004020202020204" pitchFamily="34" charset="0"/>
                        </a:rPr>
                        <a:t>Servicios de Ingeniería y Construcción (</a:t>
                      </a:r>
                      <a:r>
                        <a:rPr lang="es-PE" sz="900" b="0" i="0" u="none" strike="noStrike" dirty="0" err="1">
                          <a:solidFill>
                            <a:srgbClr val="000000"/>
                          </a:solidFill>
                          <a:effectLst/>
                          <a:latin typeface="Aptos Narrow" panose="020B0004020202020204" pitchFamily="34" charset="0"/>
                        </a:rPr>
                        <a:t>Aenza</a:t>
                      </a:r>
                      <a:r>
                        <a:rPr lang="es-PE" sz="900" b="0" i="0" u="none" strike="noStrike" dirty="0">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s-PE"/>
                    </a:p>
                  </a:txBody>
                  <a:tcPr/>
                </a:tc>
                <a:tc>
                  <a:txBody>
                    <a:bodyPr/>
                    <a:lstStyle/>
                    <a:p>
                      <a:pPr algn="ctr" fontAlgn="ctr">
                        <a:buNone/>
                      </a:pPr>
                      <a:r>
                        <a:rPr lang="es-PE" sz="900" b="0" i="0" u="none" strike="noStrike" dirty="0">
                          <a:solidFill>
                            <a:srgbClr val="000000"/>
                          </a:solidFill>
                          <a:effectLst/>
                          <a:latin typeface="Aptos Narrow" panose="020B0004020202020204" pitchFamily="34" charset="0"/>
                        </a:rPr>
                        <a:t>Salud y Seguridad de los Trabajadores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9990735"/>
                  </a:ext>
                </a:extLst>
              </a:tr>
              <a:tr h="300732">
                <a:tc>
                  <a:txBody>
                    <a:bodyPr/>
                    <a:lstStyle/>
                    <a:p>
                      <a:pPr algn="ctr" fontAlgn="ctr">
                        <a:buNone/>
                      </a:pPr>
                      <a:r>
                        <a:rPr lang="es-PE" sz="900" b="0" i="0" u="none" strike="noStrike">
                          <a:solidFill>
                            <a:srgbClr val="000000"/>
                          </a:solidFill>
                          <a:effectLst/>
                          <a:latin typeface="Aptos Narrow" panose="020B0004020202020204" pitchFamily="34" charset="0"/>
                        </a:rPr>
                        <a:t>Transformación de Recursos</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Aptos Narrow" panose="020B0004020202020204" pitchFamily="34" charset="0"/>
                        </a:rPr>
                        <a:t>Maquinaria y Bienes Industriales (</a:t>
                      </a:r>
                      <a:r>
                        <a:rPr lang="es-PE" sz="900" b="0" i="0" u="none" strike="noStrike" dirty="0" err="1">
                          <a:solidFill>
                            <a:srgbClr val="000000"/>
                          </a:solidFill>
                          <a:effectLst/>
                          <a:latin typeface="Aptos Narrow" panose="020B0004020202020204" pitchFamily="34" charset="0"/>
                        </a:rPr>
                        <a:t>Ferreycorp</a:t>
                      </a:r>
                      <a:r>
                        <a:rPr lang="es-PE" sz="900" b="0" i="0" u="none" strike="noStrike" dirty="0">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s-PE"/>
                    </a:p>
                  </a:txBody>
                  <a:tcPr/>
                </a:tc>
                <a:tc>
                  <a:txBody>
                    <a:bodyPr/>
                    <a:lstStyle/>
                    <a:p>
                      <a:pPr algn="ctr" fontAlgn="ctr">
                        <a:buNone/>
                      </a:pPr>
                      <a:r>
                        <a:rPr lang="es-PE" sz="900" b="0" i="0" u="none" strike="noStrike" dirty="0">
                          <a:solidFill>
                            <a:srgbClr val="000000"/>
                          </a:solidFill>
                          <a:effectLst/>
                          <a:latin typeface="Aptos Narrow" panose="020B0004020202020204" pitchFamily="34" charset="0"/>
                        </a:rPr>
                        <a:t>Salud y Seguridad de los Trabajadores </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s-PE" sz="900" b="0" i="0" u="none" strike="noStrike">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Aptos Narrow" panose="020B0004020202020204" pitchFamily="34" charset="0"/>
                        </a:rPr>
                        <a:t>-</a:t>
                      </a:r>
                    </a:p>
                  </a:txBody>
                  <a:tcPr marL="7518" marR="7518" marT="7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7379248"/>
                  </a:ext>
                </a:extLst>
              </a:tr>
            </a:tbl>
          </a:graphicData>
        </a:graphic>
      </p:graphicFrame>
    </p:spTree>
    <p:extLst>
      <p:ext uri="{BB962C8B-B14F-4D97-AF65-F5344CB8AC3E}">
        <p14:creationId xmlns:p14="http://schemas.microsoft.com/office/powerpoint/2010/main" val="1429253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E0774-0B6C-1963-FB22-57B85B74F4D4}"/>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82260D10-B79C-9EF1-5854-06118F070897}"/>
              </a:ext>
            </a:extLst>
          </p:cNvPr>
          <p:cNvSpPr/>
          <p:nvPr/>
        </p:nvSpPr>
        <p:spPr>
          <a:xfrm>
            <a:off x="858742" y="1124744"/>
            <a:ext cx="11075350" cy="432048"/>
          </a:xfrm>
          <a:prstGeom prst="roundRect">
            <a:avLst>
              <a:gd name="adj" fmla="val 0"/>
            </a:avLst>
          </a:prstGeom>
          <a:no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just" defTabSz="457200">
              <a:defRPr/>
            </a:pPr>
            <a:r>
              <a:rPr lang="es-ES" sz="1000" dirty="0">
                <a:solidFill>
                  <a:srgbClr val="1F497D"/>
                </a:solidFill>
                <a:latin typeface="Trebuchet MS" panose="020B0603020202020204" pitchFamily="34" charset="0"/>
              </a:rPr>
              <a:t>Habiendo identificado las variables prioritarias por sector y siendo dichas variables consistentes con las prioridades institucionales (Política de Inversión Sostenible) y compromisos asumidos (</a:t>
            </a:r>
            <a:r>
              <a:rPr lang="es-ES" sz="1000" dirty="0" err="1">
                <a:solidFill>
                  <a:srgbClr val="1F497D"/>
                </a:solidFill>
                <a:latin typeface="Trebuchet MS" panose="020B0603020202020204" pitchFamily="34" charset="0"/>
              </a:rPr>
              <a:t>Reporting</a:t>
            </a:r>
            <a:r>
              <a:rPr lang="es-ES" sz="1000" dirty="0">
                <a:solidFill>
                  <a:srgbClr val="1F497D"/>
                </a:solidFill>
                <a:latin typeface="Trebuchet MS" panose="020B0603020202020204" pitchFamily="34" charset="0"/>
              </a:rPr>
              <a:t> TCFD), se viene desarrollando la Matriz de Priorización para definir qué empresas de RV Local (20 empresas) deberían ser prioritarias para </a:t>
            </a:r>
            <a:r>
              <a:rPr lang="es-ES" sz="1000" dirty="0" err="1">
                <a:solidFill>
                  <a:srgbClr val="1F497D"/>
                </a:solidFill>
                <a:latin typeface="Trebuchet MS" panose="020B0603020202020204" pitchFamily="34" charset="0"/>
              </a:rPr>
              <a:t>engagements</a:t>
            </a:r>
            <a:r>
              <a:rPr lang="es-ES" sz="1000" dirty="0">
                <a:solidFill>
                  <a:srgbClr val="1F497D"/>
                </a:solidFill>
                <a:latin typeface="Trebuchet MS" panose="020B0603020202020204" pitchFamily="34" charset="0"/>
              </a:rPr>
              <a:t>.  </a:t>
            </a:r>
            <a:endParaRPr lang="es-PE" sz="1000" dirty="0">
              <a:solidFill>
                <a:srgbClr val="1F497D"/>
              </a:solidFill>
              <a:latin typeface="Trebuchet MS" panose="020B0603020202020204" pitchFamily="34" charset="0"/>
            </a:endParaRPr>
          </a:p>
        </p:txBody>
      </p:sp>
      <p:sp>
        <p:nvSpPr>
          <p:cNvPr id="13" name="Rectangle: Rounded Corners 12">
            <a:extLst>
              <a:ext uri="{FF2B5EF4-FFF2-40B4-BE49-F238E27FC236}">
                <a16:creationId xmlns:a16="http://schemas.microsoft.com/office/drawing/2014/main" id="{3BC636ED-9147-B202-1F4F-EC0487581039}"/>
              </a:ext>
            </a:extLst>
          </p:cNvPr>
          <p:cNvSpPr/>
          <p:nvPr/>
        </p:nvSpPr>
        <p:spPr>
          <a:xfrm>
            <a:off x="767408" y="764704"/>
            <a:ext cx="4824536"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000" b="1" dirty="0">
                <a:solidFill>
                  <a:srgbClr val="1F497D"/>
                </a:solidFill>
                <a:latin typeface="Trebuchet MS" panose="020B0603020202020204" pitchFamily="34" charset="0"/>
              </a:rPr>
              <a:t>a.3) Matriz de Priorización – </a:t>
            </a:r>
            <a:r>
              <a:rPr lang="es-PE" sz="1000" b="1" dirty="0" err="1">
                <a:solidFill>
                  <a:srgbClr val="1F497D"/>
                </a:solidFill>
                <a:latin typeface="Trebuchet MS" panose="020B0603020202020204" pitchFamily="34" charset="0"/>
              </a:rPr>
              <a:t>Engagement</a:t>
            </a:r>
            <a:r>
              <a:rPr lang="es-PE" sz="1000" b="1" dirty="0">
                <a:solidFill>
                  <a:srgbClr val="1F497D"/>
                </a:solidFill>
                <a:latin typeface="Trebuchet MS" panose="020B0603020202020204" pitchFamily="34" charset="0"/>
              </a:rPr>
              <a:t> Proactivo  </a:t>
            </a:r>
            <a:endParaRPr kumimoji="0" lang="es-PE" sz="1000" b="1"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pic>
        <p:nvPicPr>
          <p:cNvPr id="4" name="Gráfico 3" descr="Martillo con relleno sólido">
            <a:extLst>
              <a:ext uri="{FF2B5EF4-FFF2-40B4-BE49-F238E27FC236}">
                <a16:creationId xmlns:a16="http://schemas.microsoft.com/office/drawing/2014/main" id="{46DCE83F-4BCC-EC90-1C6B-E60593C0EE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4592" y="1340768"/>
            <a:ext cx="216022" cy="144015"/>
          </a:xfrm>
          <a:prstGeom prst="rect">
            <a:avLst/>
          </a:prstGeom>
        </p:spPr>
      </p:pic>
      <p:sp>
        <p:nvSpPr>
          <p:cNvPr id="8" name="Title 2">
            <a:extLst>
              <a:ext uri="{FF2B5EF4-FFF2-40B4-BE49-F238E27FC236}">
                <a16:creationId xmlns:a16="http://schemas.microsoft.com/office/drawing/2014/main" id="{4674064F-9289-CCE4-8BDE-2E8B69DEF72A}"/>
              </a:ext>
            </a:extLst>
          </p:cNvPr>
          <p:cNvSpPr txBox="1">
            <a:spLocks/>
          </p:cNvSpPr>
          <p:nvPr/>
        </p:nvSpPr>
        <p:spPr>
          <a:xfrm>
            <a:off x="28829" y="88429"/>
            <a:ext cx="10819699" cy="676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kern="1200" spc="-50" baseline="0">
                <a:solidFill>
                  <a:schemeClr val="tx1">
                    <a:lumMod val="75000"/>
                  </a:schemeClr>
                </a:solidFill>
                <a:latin typeface="Trebuchet MS" panose="020B0603020202020204" pitchFamily="34" charset="0"/>
                <a:ea typeface="+mj-ea"/>
                <a:cs typeface="+mj-cs"/>
              </a:defRPr>
            </a:lvl1pPr>
          </a:lstStyle>
          <a:p>
            <a:r>
              <a:rPr lang="es-ES" sz="2000" dirty="0"/>
              <a:t>1.6 </a:t>
            </a:r>
            <a:r>
              <a:rPr lang="es-ES" sz="2000" i="1" dirty="0" err="1"/>
              <a:t>Engagement</a:t>
            </a:r>
            <a:r>
              <a:rPr lang="es-ES" sz="2000" dirty="0"/>
              <a:t> – Objetivo 2025-2027: Nueva Metodología de </a:t>
            </a:r>
            <a:r>
              <a:rPr lang="es-ES" sz="2000" i="1" dirty="0" err="1"/>
              <a:t>Engagement</a:t>
            </a:r>
            <a:r>
              <a:rPr lang="es-ES" sz="2000" dirty="0"/>
              <a:t> y Ejecución    </a:t>
            </a:r>
          </a:p>
        </p:txBody>
      </p:sp>
      <p:graphicFrame>
        <p:nvGraphicFramePr>
          <p:cNvPr id="15" name="Tabla 14">
            <a:extLst>
              <a:ext uri="{FF2B5EF4-FFF2-40B4-BE49-F238E27FC236}">
                <a16:creationId xmlns:a16="http://schemas.microsoft.com/office/drawing/2014/main" id="{3D842FBA-F5A9-E972-0115-4DF882F7CFF2}"/>
              </a:ext>
            </a:extLst>
          </p:cNvPr>
          <p:cNvGraphicFramePr>
            <a:graphicFrameLocks noGrp="1"/>
          </p:cNvGraphicFramePr>
          <p:nvPr>
            <p:extLst>
              <p:ext uri="{D42A27DB-BD31-4B8C-83A1-F6EECF244321}">
                <p14:modId xmlns:p14="http://schemas.microsoft.com/office/powerpoint/2010/main" val="2513142032"/>
              </p:ext>
            </p:extLst>
          </p:nvPr>
        </p:nvGraphicFramePr>
        <p:xfrm>
          <a:off x="1703512" y="1825625"/>
          <a:ext cx="6451582" cy="4351338"/>
        </p:xfrm>
        <a:graphic>
          <a:graphicData uri="http://schemas.openxmlformats.org/drawingml/2006/table">
            <a:tbl>
              <a:tblPr/>
              <a:tblGrid>
                <a:gridCol w="687820">
                  <a:extLst>
                    <a:ext uri="{9D8B030D-6E8A-4147-A177-3AD203B41FA5}">
                      <a16:colId xmlns:a16="http://schemas.microsoft.com/office/drawing/2014/main" val="2599165231"/>
                    </a:ext>
                  </a:extLst>
                </a:gridCol>
                <a:gridCol w="1593305">
                  <a:extLst>
                    <a:ext uri="{9D8B030D-6E8A-4147-A177-3AD203B41FA5}">
                      <a16:colId xmlns:a16="http://schemas.microsoft.com/office/drawing/2014/main" val="3544207653"/>
                    </a:ext>
                  </a:extLst>
                </a:gridCol>
                <a:gridCol w="3656768">
                  <a:extLst>
                    <a:ext uri="{9D8B030D-6E8A-4147-A177-3AD203B41FA5}">
                      <a16:colId xmlns:a16="http://schemas.microsoft.com/office/drawing/2014/main" val="922494133"/>
                    </a:ext>
                  </a:extLst>
                </a:gridCol>
                <a:gridCol w="513689">
                  <a:extLst>
                    <a:ext uri="{9D8B030D-6E8A-4147-A177-3AD203B41FA5}">
                      <a16:colId xmlns:a16="http://schemas.microsoft.com/office/drawing/2014/main" val="2902602948"/>
                    </a:ext>
                  </a:extLst>
                </a:gridCol>
              </a:tblGrid>
              <a:tr h="174054">
                <a:tc>
                  <a:txBody>
                    <a:bodyPr/>
                    <a:lstStyle/>
                    <a:p>
                      <a:pPr algn="ctr" fontAlgn="ctr">
                        <a:buNone/>
                      </a:pPr>
                      <a:r>
                        <a:rPr lang="es-PE" sz="900" b="1" i="0" u="none" strike="noStrike">
                          <a:solidFill>
                            <a:srgbClr val="FFFFFF"/>
                          </a:solidFill>
                          <a:effectLst/>
                          <a:latin typeface="Trebuchet MS" panose="020B0603020202020204" pitchFamily="34" charset="0"/>
                        </a:rPr>
                        <a:t>Criterio</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900" b="1" i="0" u="none" strike="noStrike">
                          <a:solidFill>
                            <a:srgbClr val="FFFFFF"/>
                          </a:solidFill>
                          <a:effectLst/>
                          <a:latin typeface="Trebuchet MS" panose="020B0603020202020204" pitchFamily="34" charset="0"/>
                        </a:rPr>
                        <a:t>Descripción</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900" b="1" i="0" u="none" strike="noStrike">
                          <a:solidFill>
                            <a:srgbClr val="FFFFFF"/>
                          </a:solidFill>
                          <a:effectLst/>
                          <a:latin typeface="Trebuchet MS" panose="020B0603020202020204" pitchFamily="34" charset="0"/>
                        </a:rPr>
                        <a:t>Métricas</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900" b="1" i="0" u="none" strike="noStrike">
                          <a:solidFill>
                            <a:srgbClr val="FFFFFF"/>
                          </a:solidFill>
                          <a:effectLst/>
                          <a:latin typeface="Trebuchet MS" panose="020B0603020202020204" pitchFamily="34" charset="0"/>
                        </a:rPr>
                        <a:t>Peso %</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extLst>
                  <a:ext uri="{0D108BD9-81ED-4DB2-BD59-A6C34878D82A}">
                    <a16:rowId xmlns:a16="http://schemas.microsoft.com/office/drawing/2014/main" val="2027410592"/>
                  </a:ext>
                </a:extLst>
              </a:tr>
              <a:tr h="1392428">
                <a:tc>
                  <a:txBody>
                    <a:bodyPr/>
                    <a:lstStyle/>
                    <a:p>
                      <a:pPr algn="ctr" fontAlgn="ctr">
                        <a:buNone/>
                      </a:pPr>
                      <a:r>
                        <a:rPr lang="es-PE" sz="900" b="1" i="0" u="none" strike="noStrike" dirty="0">
                          <a:solidFill>
                            <a:srgbClr val="000000"/>
                          </a:solidFill>
                          <a:effectLst/>
                          <a:latin typeface="Trebuchet MS" panose="020B0603020202020204" pitchFamily="34" charset="0"/>
                        </a:rPr>
                        <a:t>A) Calificación ASG</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Trebuchet MS" panose="020B0603020202020204" pitchFamily="34" charset="0"/>
                        </a:rPr>
                        <a:t>Calificación que MSCI asigna a la gestión de una variable determinada, medida a través del Management Score sin Controversias (MS). </a:t>
                      </a:r>
                      <a:endParaRPr lang="es-PE" sz="900" b="1" i="0" u="none" strike="noStrike" dirty="0">
                        <a:solidFill>
                          <a:srgbClr val="000000"/>
                        </a:solidFill>
                        <a:effectLst/>
                        <a:latin typeface="Trebuchet MS" panose="020B0603020202020204" pitchFamily="34" charset="0"/>
                      </a:endParaRP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a:solidFill>
                            <a:srgbClr val="000000"/>
                          </a:solidFill>
                          <a:effectLst/>
                          <a:latin typeface="Trebuchet MS" panose="020B0603020202020204" pitchFamily="34" charset="0"/>
                        </a:rPr>
                        <a:t>          Nivel 4, Brecha Alta (MS: 0 a menos de 2.9) — 100% del peso;      Nivel 3, Brecha Media Alta (MS 2.9 a menos de 4.3) — 75% del peso;   Nivel 2, Brecha Media Baja (MS 4.3 a menos de 5.7) — 50% del peso;              Nivel 1, Brecha Baja (MS 5.7 a 10.0) — 25% del peso.</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1" i="0" u="none" strike="noStrike">
                          <a:solidFill>
                            <a:srgbClr val="000000"/>
                          </a:solidFill>
                          <a:effectLst/>
                          <a:latin typeface="Trebuchet MS" panose="020B0603020202020204" pitchFamily="34" charset="0"/>
                        </a:rPr>
                        <a:t>50%</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3042228"/>
                  </a:ext>
                </a:extLst>
              </a:tr>
              <a:tr h="1392428">
                <a:tc>
                  <a:txBody>
                    <a:bodyPr/>
                    <a:lstStyle/>
                    <a:p>
                      <a:pPr algn="ctr" fontAlgn="ctr">
                        <a:buNone/>
                      </a:pPr>
                      <a:r>
                        <a:rPr lang="es-PE" sz="900" b="1" i="0" u="none" strike="noStrike" dirty="0">
                          <a:solidFill>
                            <a:srgbClr val="000000"/>
                          </a:solidFill>
                          <a:effectLst/>
                          <a:latin typeface="Trebuchet MS" panose="020B0603020202020204" pitchFamily="34" charset="0"/>
                        </a:rPr>
                        <a:t>B) Exposición de Empresa</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a:solidFill>
                            <a:srgbClr val="000000"/>
                          </a:solidFill>
                          <a:effectLst/>
                          <a:latin typeface="Trebuchet MS" panose="020B0603020202020204" pitchFamily="34" charset="0"/>
                        </a:rPr>
                        <a:t>Tamaño de la inversión en la empresa respecto al AUM del Multifondo</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Trebuchet MS" panose="020B0603020202020204" pitchFamily="34" charset="0"/>
                        </a:rPr>
                        <a:t>      Nivel 4, Exposición Alta (2% o más) — 100% del peso;              Nivel 3, Exposición Media Alta (1% a menos de 2%) — 75% del peso; Nivel 2, Exposición Media Baja (0.25% a menos de 1%) — 50% del P; Nivel 1, Exposición Baja (mayor a 0.10% y menor a 0.25%) — 25% del P.</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1" i="0" u="none" strike="noStrike">
                          <a:solidFill>
                            <a:srgbClr val="000000"/>
                          </a:solidFill>
                          <a:effectLst/>
                          <a:latin typeface="Trebuchet MS" panose="020B0603020202020204" pitchFamily="34" charset="0"/>
                        </a:rPr>
                        <a:t>30%</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9060142"/>
                  </a:ext>
                </a:extLst>
              </a:tr>
              <a:tr h="1392428">
                <a:tc>
                  <a:txBody>
                    <a:bodyPr/>
                    <a:lstStyle/>
                    <a:p>
                      <a:pPr algn="ctr" fontAlgn="ctr">
                        <a:buNone/>
                      </a:pPr>
                      <a:r>
                        <a:rPr lang="es-PE" sz="900" b="1" i="0" u="none" strike="noStrike" dirty="0">
                          <a:solidFill>
                            <a:srgbClr val="000000"/>
                          </a:solidFill>
                          <a:effectLst/>
                          <a:latin typeface="Trebuchet MS" panose="020B0603020202020204" pitchFamily="34" charset="0"/>
                        </a:rPr>
                        <a:t>C) Influencia-</a:t>
                      </a:r>
                    </a:p>
                    <a:p>
                      <a:pPr algn="ctr" fontAlgn="ctr">
                        <a:buNone/>
                      </a:pPr>
                      <a:r>
                        <a:rPr lang="es-PE" sz="900" b="1" i="0" u="none" strike="noStrike" dirty="0">
                          <a:solidFill>
                            <a:srgbClr val="000000"/>
                          </a:solidFill>
                          <a:effectLst/>
                          <a:latin typeface="Trebuchet MS" panose="020B0603020202020204" pitchFamily="34" charset="0"/>
                        </a:rPr>
                        <a:t>Patrimonio</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Trebuchet MS" panose="020B0603020202020204" pitchFamily="34" charset="0"/>
                        </a:rPr>
                        <a:t>La capacidad que tenemos de influir en la empresa para que mejore la gestión de la variable ASG observada, medida a través de la participación en accionariado de la empresa. Nota: Acciones sin voto.</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0" i="0" u="none" strike="noStrike" dirty="0">
                          <a:solidFill>
                            <a:srgbClr val="000000"/>
                          </a:solidFill>
                          <a:effectLst/>
                          <a:latin typeface="Trebuchet MS" panose="020B0603020202020204" pitchFamily="34" charset="0"/>
                        </a:rPr>
                        <a:t>           Nivel 4, Influencia Alta (10% o más) — 100% del peso;        Nivel 3, Influencia Media Alta (5% a menos de 10%) — 75% del peso;        Nivel 2, Influencia Media Baja (2.5% a menos de 5%) — 50% del peso;   Nivel 1, Influencia Baja (mayor a 0% y menor a 2.5%) — 25% del P.</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1" i="0" u="none" strike="noStrike" dirty="0">
                          <a:solidFill>
                            <a:srgbClr val="000000"/>
                          </a:solidFill>
                          <a:effectLst/>
                          <a:latin typeface="Trebuchet MS" panose="020B0603020202020204" pitchFamily="34" charset="0"/>
                        </a:rPr>
                        <a:t>20%</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498666"/>
                  </a:ext>
                </a:extLst>
              </a:tr>
            </a:tbl>
          </a:graphicData>
        </a:graphic>
      </p:graphicFrame>
      <p:sp>
        <p:nvSpPr>
          <p:cNvPr id="2" name="Right Brace 1">
            <a:extLst>
              <a:ext uri="{FF2B5EF4-FFF2-40B4-BE49-F238E27FC236}">
                <a16:creationId xmlns:a16="http://schemas.microsoft.com/office/drawing/2014/main" id="{CF3B08BE-C69B-BB2E-678D-30211A7C77BF}"/>
              </a:ext>
            </a:extLst>
          </p:cNvPr>
          <p:cNvSpPr/>
          <p:nvPr/>
        </p:nvSpPr>
        <p:spPr>
          <a:xfrm>
            <a:off x="8256240" y="1988840"/>
            <a:ext cx="792088" cy="418812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3" name="Rectangle 2">
            <a:extLst>
              <a:ext uri="{FF2B5EF4-FFF2-40B4-BE49-F238E27FC236}">
                <a16:creationId xmlns:a16="http://schemas.microsoft.com/office/drawing/2014/main" id="{B1A0C14B-A4FD-6230-CCE8-C488B5FA4614}"/>
              </a:ext>
            </a:extLst>
          </p:cNvPr>
          <p:cNvSpPr/>
          <p:nvPr/>
        </p:nvSpPr>
        <p:spPr>
          <a:xfrm>
            <a:off x="9120336" y="3212976"/>
            <a:ext cx="2520278" cy="1656184"/>
          </a:xfrm>
          <a:prstGeom prst="rect">
            <a:avLst/>
          </a:prstGeom>
          <a:solidFill>
            <a:srgbClr val="4D93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u="sng" dirty="0">
                <a:latin typeface="Trebuchet MS" panose="020B0603020202020204" pitchFamily="34" charset="0"/>
              </a:rPr>
              <a:t>Potenciales Umbrales para Priorización</a:t>
            </a:r>
            <a:r>
              <a:rPr lang="es-MX" sz="1200" dirty="0">
                <a:latin typeface="Trebuchet MS" panose="020B0603020202020204" pitchFamily="34" charset="0"/>
              </a:rPr>
              <a:t>:</a:t>
            </a:r>
          </a:p>
          <a:p>
            <a:pPr algn="ctr"/>
            <a:r>
              <a:rPr lang="es-MX" sz="1200" dirty="0" err="1">
                <a:latin typeface="Trebuchet MS" panose="020B0603020202020204" pitchFamily="34" charset="0"/>
              </a:rPr>
              <a:t>Engagement</a:t>
            </a:r>
            <a:r>
              <a:rPr lang="es-MX" sz="1200" dirty="0">
                <a:latin typeface="Trebuchet MS" panose="020B0603020202020204" pitchFamily="34" charset="0"/>
              </a:rPr>
              <a:t>: &gt;= 75%</a:t>
            </a:r>
          </a:p>
          <a:p>
            <a:pPr algn="ctr"/>
            <a:r>
              <a:rPr lang="es-MX" sz="1200" dirty="0">
                <a:latin typeface="Trebuchet MS" panose="020B0603020202020204" pitchFamily="34" charset="0"/>
              </a:rPr>
              <a:t>Seguimiento &gt;= 50% hasta &lt;75%  </a:t>
            </a:r>
            <a:endParaRPr lang="es-PE" sz="1200" dirty="0">
              <a:latin typeface="Trebuchet MS" panose="020B0603020202020204" pitchFamily="34" charset="0"/>
            </a:endParaRPr>
          </a:p>
        </p:txBody>
      </p:sp>
    </p:spTree>
    <p:extLst>
      <p:ext uri="{BB962C8B-B14F-4D97-AF65-F5344CB8AC3E}">
        <p14:creationId xmlns:p14="http://schemas.microsoft.com/office/powerpoint/2010/main" val="3655341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41778-3535-F017-F80E-56C8DECFC4BE}"/>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17D45EFE-6632-B5E2-5115-23204863DFED}"/>
              </a:ext>
            </a:extLst>
          </p:cNvPr>
          <p:cNvSpPr/>
          <p:nvPr/>
        </p:nvSpPr>
        <p:spPr>
          <a:xfrm>
            <a:off x="858742" y="1124744"/>
            <a:ext cx="11075350" cy="432048"/>
          </a:xfrm>
          <a:prstGeom prst="roundRect">
            <a:avLst>
              <a:gd name="adj" fmla="val 0"/>
            </a:avLst>
          </a:prstGeom>
          <a:no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just" defTabSz="457200">
              <a:defRPr/>
            </a:pPr>
            <a:r>
              <a:rPr lang="es-ES" sz="1000" dirty="0">
                <a:solidFill>
                  <a:srgbClr val="1F497D"/>
                </a:solidFill>
                <a:latin typeface="Trebuchet MS" panose="020B0603020202020204" pitchFamily="34" charset="0"/>
              </a:rPr>
              <a:t>Habiendo identificado las variables prioritarias por sector y siendo dichas variables consistentes con las prioridades institucionales (Política de Inversión Sostenible) y compromisos asumidos (</a:t>
            </a:r>
            <a:r>
              <a:rPr lang="es-ES" sz="1000" dirty="0" err="1">
                <a:solidFill>
                  <a:srgbClr val="1F497D"/>
                </a:solidFill>
                <a:latin typeface="Trebuchet MS" panose="020B0603020202020204" pitchFamily="34" charset="0"/>
              </a:rPr>
              <a:t>Reporting</a:t>
            </a:r>
            <a:r>
              <a:rPr lang="es-ES" sz="1000" dirty="0">
                <a:solidFill>
                  <a:srgbClr val="1F497D"/>
                </a:solidFill>
                <a:latin typeface="Trebuchet MS" panose="020B0603020202020204" pitchFamily="34" charset="0"/>
              </a:rPr>
              <a:t> TCFD), se viene desarrollando la Matriz de Priorización que utilizaremos para definir qué empresas de RV Local (20 empresas) deberían ser prioritarias para </a:t>
            </a:r>
            <a:r>
              <a:rPr lang="es-ES" sz="1000" dirty="0" err="1">
                <a:solidFill>
                  <a:srgbClr val="1F497D"/>
                </a:solidFill>
                <a:latin typeface="Trebuchet MS" panose="020B0603020202020204" pitchFamily="34" charset="0"/>
              </a:rPr>
              <a:t>engagements</a:t>
            </a:r>
            <a:r>
              <a:rPr lang="es-ES" sz="1000" dirty="0">
                <a:solidFill>
                  <a:srgbClr val="1F497D"/>
                </a:solidFill>
                <a:latin typeface="Trebuchet MS" panose="020B0603020202020204" pitchFamily="34" charset="0"/>
              </a:rPr>
              <a:t>.  </a:t>
            </a:r>
            <a:endParaRPr lang="es-PE" sz="1000" dirty="0">
              <a:solidFill>
                <a:srgbClr val="1F497D"/>
              </a:solidFill>
              <a:latin typeface="Trebuchet MS" panose="020B0603020202020204" pitchFamily="34" charset="0"/>
            </a:endParaRPr>
          </a:p>
        </p:txBody>
      </p:sp>
      <p:sp>
        <p:nvSpPr>
          <p:cNvPr id="13" name="Rectangle: Rounded Corners 12">
            <a:extLst>
              <a:ext uri="{FF2B5EF4-FFF2-40B4-BE49-F238E27FC236}">
                <a16:creationId xmlns:a16="http://schemas.microsoft.com/office/drawing/2014/main" id="{5B7A2CB0-5163-6889-4E62-3C345413B835}"/>
              </a:ext>
            </a:extLst>
          </p:cNvPr>
          <p:cNvSpPr/>
          <p:nvPr/>
        </p:nvSpPr>
        <p:spPr>
          <a:xfrm>
            <a:off x="767408" y="764704"/>
            <a:ext cx="4824536"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000" b="1" dirty="0">
                <a:solidFill>
                  <a:srgbClr val="1F497D"/>
                </a:solidFill>
                <a:latin typeface="Trebuchet MS" panose="020B0603020202020204" pitchFamily="34" charset="0"/>
              </a:rPr>
              <a:t>a.3) Matriz de Priorización – </a:t>
            </a:r>
            <a:r>
              <a:rPr lang="es-PE" sz="1000" b="1" dirty="0" err="1">
                <a:solidFill>
                  <a:srgbClr val="1F497D"/>
                </a:solidFill>
                <a:latin typeface="Trebuchet MS" panose="020B0603020202020204" pitchFamily="34" charset="0"/>
              </a:rPr>
              <a:t>Engagement</a:t>
            </a:r>
            <a:r>
              <a:rPr lang="es-PE" sz="1000" b="1" dirty="0">
                <a:solidFill>
                  <a:srgbClr val="1F497D"/>
                </a:solidFill>
                <a:latin typeface="Trebuchet MS" panose="020B0603020202020204" pitchFamily="34" charset="0"/>
              </a:rPr>
              <a:t> Proactivo  </a:t>
            </a:r>
            <a:endParaRPr kumimoji="0" lang="es-PE" sz="1000" b="1"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pic>
        <p:nvPicPr>
          <p:cNvPr id="4" name="Gráfico 3" descr="Martillo con relleno sólido">
            <a:extLst>
              <a:ext uri="{FF2B5EF4-FFF2-40B4-BE49-F238E27FC236}">
                <a16:creationId xmlns:a16="http://schemas.microsoft.com/office/drawing/2014/main" id="{97A0C568-94F1-F6B4-1F9A-272735F98C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4592" y="1340768"/>
            <a:ext cx="216022" cy="144015"/>
          </a:xfrm>
          <a:prstGeom prst="rect">
            <a:avLst/>
          </a:prstGeom>
        </p:spPr>
      </p:pic>
      <p:sp>
        <p:nvSpPr>
          <p:cNvPr id="8" name="Title 2">
            <a:extLst>
              <a:ext uri="{FF2B5EF4-FFF2-40B4-BE49-F238E27FC236}">
                <a16:creationId xmlns:a16="http://schemas.microsoft.com/office/drawing/2014/main" id="{8A2F4403-35BA-1140-2CD1-E058CA140677}"/>
              </a:ext>
            </a:extLst>
          </p:cNvPr>
          <p:cNvSpPr txBox="1">
            <a:spLocks/>
          </p:cNvSpPr>
          <p:nvPr/>
        </p:nvSpPr>
        <p:spPr>
          <a:xfrm>
            <a:off x="28829" y="88429"/>
            <a:ext cx="10819699" cy="676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kern="1200" spc="-50" baseline="0">
                <a:solidFill>
                  <a:schemeClr val="tx1">
                    <a:lumMod val="75000"/>
                  </a:schemeClr>
                </a:solidFill>
                <a:latin typeface="Trebuchet MS" panose="020B0603020202020204" pitchFamily="34" charset="0"/>
                <a:ea typeface="+mj-ea"/>
                <a:cs typeface="+mj-cs"/>
              </a:defRPr>
            </a:lvl1pPr>
          </a:lstStyle>
          <a:p>
            <a:r>
              <a:rPr lang="es-ES" sz="2000" dirty="0"/>
              <a:t>1.7 </a:t>
            </a:r>
            <a:r>
              <a:rPr lang="es-ES" sz="2000" i="1" dirty="0" err="1"/>
              <a:t>Engagement</a:t>
            </a:r>
            <a:r>
              <a:rPr lang="es-ES" sz="2000" dirty="0"/>
              <a:t> – Objetivo 2025-2027: Nueva Metodología de </a:t>
            </a:r>
            <a:r>
              <a:rPr lang="es-ES" sz="2000" i="1" dirty="0" err="1"/>
              <a:t>Engagement</a:t>
            </a:r>
            <a:r>
              <a:rPr lang="es-ES" sz="2000" dirty="0"/>
              <a:t> y Ejecución    </a:t>
            </a:r>
          </a:p>
        </p:txBody>
      </p:sp>
      <p:graphicFrame>
        <p:nvGraphicFramePr>
          <p:cNvPr id="15" name="Tabla 14">
            <a:extLst>
              <a:ext uri="{FF2B5EF4-FFF2-40B4-BE49-F238E27FC236}">
                <a16:creationId xmlns:a16="http://schemas.microsoft.com/office/drawing/2014/main" id="{E450EED0-BEBC-3E6B-36D3-A1A5F3C78B32}"/>
              </a:ext>
            </a:extLst>
          </p:cNvPr>
          <p:cNvGraphicFramePr>
            <a:graphicFrameLocks noGrp="1"/>
          </p:cNvGraphicFramePr>
          <p:nvPr/>
        </p:nvGraphicFramePr>
        <p:xfrm>
          <a:off x="911424" y="1700808"/>
          <a:ext cx="1201509" cy="4824535"/>
        </p:xfrm>
        <a:graphic>
          <a:graphicData uri="http://schemas.openxmlformats.org/drawingml/2006/table">
            <a:tbl>
              <a:tblPr/>
              <a:tblGrid>
                <a:gridCol w="792088">
                  <a:extLst>
                    <a:ext uri="{9D8B030D-6E8A-4147-A177-3AD203B41FA5}">
                      <a16:colId xmlns:a16="http://schemas.microsoft.com/office/drawing/2014/main" val="2599165231"/>
                    </a:ext>
                  </a:extLst>
                </a:gridCol>
                <a:gridCol w="409421">
                  <a:extLst>
                    <a:ext uri="{9D8B030D-6E8A-4147-A177-3AD203B41FA5}">
                      <a16:colId xmlns:a16="http://schemas.microsoft.com/office/drawing/2014/main" val="2902602948"/>
                    </a:ext>
                  </a:extLst>
                </a:gridCol>
              </a:tblGrid>
              <a:tr h="192982">
                <a:tc>
                  <a:txBody>
                    <a:bodyPr/>
                    <a:lstStyle/>
                    <a:p>
                      <a:pPr algn="ctr" fontAlgn="ctr">
                        <a:buNone/>
                      </a:pPr>
                      <a:r>
                        <a:rPr lang="es-PE" sz="900" b="1" i="0" u="none" strike="noStrike">
                          <a:solidFill>
                            <a:srgbClr val="FFFFFF"/>
                          </a:solidFill>
                          <a:effectLst/>
                          <a:latin typeface="Trebuchet MS" panose="020B0603020202020204" pitchFamily="34" charset="0"/>
                        </a:rPr>
                        <a:t>Criterio</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900" b="1" i="0" u="none" strike="noStrike" dirty="0">
                          <a:solidFill>
                            <a:srgbClr val="FFFFFF"/>
                          </a:solidFill>
                          <a:effectLst/>
                          <a:latin typeface="Trebuchet MS" panose="020B0603020202020204" pitchFamily="34" charset="0"/>
                        </a:rPr>
                        <a:t>Peso %</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extLst>
                  <a:ext uri="{0D108BD9-81ED-4DB2-BD59-A6C34878D82A}">
                    <a16:rowId xmlns:a16="http://schemas.microsoft.com/office/drawing/2014/main" val="2027410592"/>
                  </a:ext>
                </a:extLst>
              </a:tr>
              <a:tr h="1543851">
                <a:tc>
                  <a:txBody>
                    <a:bodyPr/>
                    <a:lstStyle/>
                    <a:p>
                      <a:pPr algn="ctr" fontAlgn="ctr">
                        <a:buNone/>
                      </a:pPr>
                      <a:r>
                        <a:rPr lang="es-PE" sz="900" b="1" i="0" u="none" strike="noStrike" dirty="0">
                          <a:solidFill>
                            <a:srgbClr val="000000"/>
                          </a:solidFill>
                          <a:effectLst/>
                          <a:latin typeface="Trebuchet MS" panose="020B0603020202020204" pitchFamily="34" charset="0"/>
                        </a:rPr>
                        <a:t>A) Calificación ASG       </a:t>
                      </a:r>
                      <a:r>
                        <a:rPr lang="es-PE" sz="900" b="0" i="0" u="none" strike="noStrike" dirty="0">
                          <a:solidFill>
                            <a:srgbClr val="000000"/>
                          </a:solidFill>
                          <a:effectLst/>
                          <a:latin typeface="Trebuchet MS" panose="020B0603020202020204" pitchFamily="34" charset="0"/>
                        </a:rPr>
                        <a:t>(</a:t>
                      </a:r>
                      <a:r>
                        <a:rPr lang="es-PE" sz="900" b="1" i="0" u="none" strike="noStrike" dirty="0">
                          <a:solidFill>
                            <a:srgbClr val="000000"/>
                          </a:solidFill>
                          <a:effectLst/>
                          <a:latin typeface="Trebuchet MS" panose="020B0603020202020204" pitchFamily="34" charset="0"/>
                        </a:rPr>
                        <a:t>Reto</a:t>
                      </a:r>
                      <a:r>
                        <a:rPr lang="es-PE" sz="900" b="0" i="0" u="none" strike="noStrike" dirty="0">
                          <a:solidFill>
                            <a:srgbClr val="000000"/>
                          </a:solidFill>
                          <a:effectLst/>
                          <a:latin typeface="Trebuchet MS" panose="020B0603020202020204" pitchFamily="34" charset="0"/>
                        </a:rPr>
                        <a:t>: Definir Métrica y Score No MSCI (9 de 20 empresas)</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1" i="0" u="none" strike="noStrike" dirty="0">
                          <a:solidFill>
                            <a:srgbClr val="000000"/>
                          </a:solidFill>
                          <a:effectLst/>
                          <a:latin typeface="Trebuchet MS" panose="020B0603020202020204" pitchFamily="34" charset="0"/>
                        </a:rPr>
                        <a:t>50%</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3042228"/>
                  </a:ext>
                </a:extLst>
              </a:tr>
              <a:tr h="1543851">
                <a:tc>
                  <a:txBody>
                    <a:bodyPr/>
                    <a:lstStyle/>
                    <a:p>
                      <a:pPr algn="ctr" fontAlgn="ctr">
                        <a:buNone/>
                      </a:pPr>
                      <a:r>
                        <a:rPr lang="es-PE" sz="900" b="1" i="0" u="none" strike="noStrike" dirty="0">
                          <a:solidFill>
                            <a:srgbClr val="000000"/>
                          </a:solidFill>
                          <a:effectLst/>
                          <a:latin typeface="Trebuchet MS" panose="020B0603020202020204" pitchFamily="34" charset="0"/>
                        </a:rPr>
                        <a:t>B) Exposición de Empresa</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1" i="0" u="none" strike="noStrike">
                          <a:solidFill>
                            <a:srgbClr val="000000"/>
                          </a:solidFill>
                          <a:effectLst/>
                          <a:latin typeface="Trebuchet MS" panose="020B0603020202020204" pitchFamily="34" charset="0"/>
                        </a:rPr>
                        <a:t>30%</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9060142"/>
                  </a:ext>
                </a:extLst>
              </a:tr>
              <a:tr h="1543851">
                <a:tc>
                  <a:txBody>
                    <a:bodyPr/>
                    <a:lstStyle/>
                    <a:p>
                      <a:pPr algn="ctr" fontAlgn="ctr">
                        <a:buNone/>
                      </a:pPr>
                      <a:r>
                        <a:rPr lang="es-PE" sz="900" b="1" i="0" u="none" strike="noStrike" dirty="0">
                          <a:solidFill>
                            <a:srgbClr val="000000"/>
                          </a:solidFill>
                          <a:effectLst/>
                          <a:latin typeface="Trebuchet MS" panose="020B0603020202020204" pitchFamily="34" charset="0"/>
                        </a:rPr>
                        <a:t>C) Influencia-</a:t>
                      </a:r>
                    </a:p>
                    <a:p>
                      <a:pPr algn="ctr" fontAlgn="ctr">
                        <a:buNone/>
                      </a:pPr>
                      <a:r>
                        <a:rPr lang="es-PE" sz="900" b="1" i="0" u="none" strike="noStrike" dirty="0">
                          <a:solidFill>
                            <a:srgbClr val="000000"/>
                          </a:solidFill>
                          <a:effectLst/>
                          <a:latin typeface="Trebuchet MS" panose="020B0603020202020204" pitchFamily="34" charset="0"/>
                        </a:rPr>
                        <a:t>Patrimonio. </a:t>
                      </a:r>
                      <a:r>
                        <a:rPr lang="es-PE" sz="900" b="0" i="0" u="none" strike="noStrike" dirty="0">
                          <a:solidFill>
                            <a:srgbClr val="000000"/>
                          </a:solidFill>
                          <a:effectLst/>
                          <a:latin typeface="Trebuchet MS" panose="020B0603020202020204" pitchFamily="34" charset="0"/>
                        </a:rPr>
                        <a:t>Nota: Casos de Acciones sin Derecho a Voto*</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900" b="1" i="0" u="none" strike="noStrike" dirty="0">
                          <a:solidFill>
                            <a:srgbClr val="000000"/>
                          </a:solidFill>
                          <a:effectLst/>
                          <a:latin typeface="Trebuchet MS" panose="020B0603020202020204" pitchFamily="34" charset="0"/>
                        </a:rPr>
                        <a:t>20%</a:t>
                      </a:r>
                    </a:p>
                  </a:txBody>
                  <a:tcPr marL="8703" marR="8703" marT="87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498666"/>
                  </a:ext>
                </a:extLst>
              </a:tr>
            </a:tbl>
          </a:graphicData>
        </a:graphic>
      </p:graphicFrame>
      <p:sp>
        <p:nvSpPr>
          <p:cNvPr id="3" name="Cerrar llave 2">
            <a:extLst>
              <a:ext uri="{FF2B5EF4-FFF2-40B4-BE49-F238E27FC236}">
                <a16:creationId xmlns:a16="http://schemas.microsoft.com/office/drawing/2014/main" id="{6CD134B7-ADE9-9883-F743-65C757122612}"/>
              </a:ext>
            </a:extLst>
          </p:cNvPr>
          <p:cNvSpPr/>
          <p:nvPr/>
        </p:nvSpPr>
        <p:spPr>
          <a:xfrm>
            <a:off x="2207568" y="3501008"/>
            <a:ext cx="432048" cy="302433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6" name="Cerrar llave 5">
            <a:extLst>
              <a:ext uri="{FF2B5EF4-FFF2-40B4-BE49-F238E27FC236}">
                <a16:creationId xmlns:a16="http://schemas.microsoft.com/office/drawing/2014/main" id="{C7E9C844-AB05-BCD5-5A8E-8541D17ADE8E}"/>
              </a:ext>
            </a:extLst>
          </p:cNvPr>
          <p:cNvSpPr/>
          <p:nvPr/>
        </p:nvSpPr>
        <p:spPr>
          <a:xfrm>
            <a:off x="2207568" y="1916832"/>
            <a:ext cx="432048" cy="151216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graphicFrame>
        <p:nvGraphicFramePr>
          <p:cNvPr id="18" name="Tabla 17">
            <a:extLst>
              <a:ext uri="{FF2B5EF4-FFF2-40B4-BE49-F238E27FC236}">
                <a16:creationId xmlns:a16="http://schemas.microsoft.com/office/drawing/2014/main" id="{132049EC-BF0B-F7A4-A77B-D6A589C8DF3B}"/>
              </a:ext>
            </a:extLst>
          </p:cNvPr>
          <p:cNvGraphicFramePr>
            <a:graphicFrameLocks noGrp="1"/>
          </p:cNvGraphicFramePr>
          <p:nvPr>
            <p:extLst>
              <p:ext uri="{D42A27DB-BD31-4B8C-83A1-F6EECF244321}">
                <p14:modId xmlns:p14="http://schemas.microsoft.com/office/powerpoint/2010/main" val="859025400"/>
              </p:ext>
            </p:extLst>
          </p:nvPr>
        </p:nvGraphicFramePr>
        <p:xfrm>
          <a:off x="2855640" y="1700808"/>
          <a:ext cx="9073006" cy="2562860"/>
        </p:xfrm>
        <a:graphic>
          <a:graphicData uri="http://schemas.openxmlformats.org/drawingml/2006/table">
            <a:tbl>
              <a:tblPr/>
              <a:tblGrid>
                <a:gridCol w="1004624">
                  <a:extLst>
                    <a:ext uri="{9D8B030D-6E8A-4147-A177-3AD203B41FA5}">
                      <a16:colId xmlns:a16="http://schemas.microsoft.com/office/drawing/2014/main" val="1328892554"/>
                    </a:ext>
                  </a:extLst>
                </a:gridCol>
                <a:gridCol w="952300">
                  <a:extLst>
                    <a:ext uri="{9D8B030D-6E8A-4147-A177-3AD203B41FA5}">
                      <a16:colId xmlns:a16="http://schemas.microsoft.com/office/drawing/2014/main" val="2858735441"/>
                    </a:ext>
                  </a:extLst>
                </a:gridCol>
                <a:gridCol w="837186">
                  <a:extLst>
                    <a:ext uri="{9D8B030D-6E8A-4147-A177-3AD203B41FA5}">
                      <a16:colId xmlns:a16="http://schemas.microsoft.com/office/drawing/2014/main" val="3251465570"/>
                    </a:ext>
                  </a:extLst>
                </a:gridCol>
                <a:gridCol w="784862">
                  <a:extLst>
                    <a:ext uri="{9D8B030D-6E8A-4147-A177-3AD203B41FA5}">
                      <a16:colId xmlns:a16="http://schemas.microsoft.com/office/drawing/2014/main" val="4290107021"/>
                    </a:ext>
                  </a:extLst>
                </a:gridCol>
                <a:gridCol w="784862">
                  <a:extLst>
                    <a:ext uri="{9D8B030D-6E8A-4147-A177-3AD203B41FA5}">
                      <a16:colId xmlns:a16="http://schemas.microsoft.com/office/drawing/2014/main" val="4284555554"/>
                    </a:ext>
                  </a:extLst>
                </a:gridCol>
                <a:gridCol w="784862">
                  <a:extLst>
                    <a:ext uri="{9D8B030D-6E8A-4147-A177-3AD203B41FA5}">
                      <a16:colId xmlns:a16="http://schemas.microsoft.com/office/drawing/2014/main" val="3271306665"/>
                    </a:ext>
                  </a:extLst>
                </a:gridCol>
                <a:gridCol w="784862">
                  <a:extLst>
                    <a:ext uri="{9D8B030D-6E8A-4147-A177-3AD203B41FA5}">
                      <a16:colId xmlns:a16="http://schemas.microsoft.com/office/drawing/2014/main" val="209043723"/>
                    </a:ext>
                  </a:extLst>
                </a:gridCol>
                <a:gridCol w="784862">
                  <a:extLst>
                    <a:ext uri="{9D8B030D-6E8A-4147-A177-3AD203B41FA5}">
                      <a16:colId xmlns:a16="http://schemas.microsoft.com/office/drawing/2014/main" val="3023225180"/>
                    </a:ext>
                  </a:extLst>
                </a:gridCol>
                <a:gridCol w="784862">
                  <a:extLst>
                    <a:ext uri="{9D8B030D-6E8A-4147-A177-3AD203B41FA5}">
                      <a16:colId xmlns:a16="http://schemas.microsoft.com/office/drawing/2014/main" val="461829829"/>
                    </a:ext>
                  </a:extLst>
                </a:gridCol>
                <a:gridCol w="784862">
                  <a:extLst>
                    <a:ext uri="{9D8B030D-6E8A-4147-A177-3AD203B41FA5}">
                      <a16:colId xmlns:a16="http://schemas.microsoft.com/office/drawing/2014/main" val="3714973817"/>
                    </a:ext>
                  </a:extLst>
                </a:gridCol>
                <a:gridCol w="784862">
                  <a:extLst>
                    <a:ext uri="{9D8B030D-6E8A-4147-A177-3AD203B41FA5}">
                      <a16:colId xmlns:a16="http://schemas.microsoft.com/office/drawing/2014/main" val="3069313000"/>
                    </a:ext>
                  </a:extLst>
                </a:gridCol>
              </a:tblGrid>
              <a:tr h="507365">
                <a:tc rowSpan="4">
                  <a:txBody>
                    <a:bodyPr/>
                    <a:lstStyle/>
                    <a:p>
                      <a:pPr algn="ctr" fontAlgn="ctr">
                        <a:buNone/>
                      </a:pPr>
                      <a:r>
                        <a:rPr lang="es-PE" sz="700" b="1" i="0" u="none" strike="noStrike" dirty="0">
                          <a:solidFill>
                            <a:srgbClr val="000000"/>
                          </a:solidFill>
                          <a:effectLst/>
                          <a:latin typeface="Trebuchet MS" panose="020B0603020202020204" pitchFamily="34" charset="0"/>
                        </a:rPr>
                        <a:t>Ejemplo – </a:t>
                      </a:r>
                    </a:p>
                    <a:p>
                      <a:pPr algn="ctr" fontAlgn="ctr">
                        <a:buNone/>
                      </a:pPr>
                      <a:r>
                        <a:rPr lang="es-PE" sz="700" b="1" i="0" u="none" strike="noStrike" dirty="0">
                          <a:solidFill>
                            <a:srgbClr val="000000"/>
                          </a:solidFill>
                          <a:effectLst/>
                          <a:latin typeface="Trebuchet MS" panose="020B0603020202020204" pitchFamily="34" charset="0"/>
                        </a:rPr>
                        <a:t>Subsector Minería: </a:t>
                      </a:r>
                      <a:r>
                        <a:rPr lang="es-PE" sz="700" b="0" i="0" u="none" strike="noStrike" dirty="0">
                          <a:solidFill>
                            <a:srgbClr val="000000"/>
                          </a:solidFill>
                          <a:effectLst/>
                          <a:latin typeface="Trebuchet MS" panose="020B0603020202020204" pitchFamily="34" charset="0"/>
                        </a:rPr>
                        <a:t>Buenaventura, Hochschild, </a:t>
                      </a:r>
                      <a:r>
                        <a:rPr lang="es-PE" sz="700" b="0" i="0" u="none" strike="noStrike" dirty="0" err="1">
                          <a:solidFill>
                            <a:srgbClr val="000000"/>
                          </a:solidFill>
                          <a:effectLst/>
                          <a:latin typeface="Trebuchet MS" panose="020B0603020202020204" pitchFamily="34" charset="0"/>
                        </a:rPr>
                        <a:t>Hudbay</a:t>
                      </a:r>
                      <a:r>
                        <a:rPr lang="es-PE" sz="700" b="0" i="0" u="none" strike="noStrike" dirty="0">
                          <a:solidFill>
                            <a:srgbClr val="000000"/>
                          </a:solidFill>
                          <a:effectLst/>
                          <a:latin typeface="Trebuchet MS" panose="020B0603020202020204" pitchFamily="34" charset="0"/>
                        </a:rPr>
                        <a:t>, </a:t>
                      </a:r>
                      <a:r>
                        <a:rPr lang="es-PE" sz="700" b="0" i="0" u="none" strike="noStrike" dirty="0" err="1">
                          <a:solidFill>
                            <a:srgbClr val="000000"/>
                          </a:solidFill>
                          <a:effectLst/>
                          <a:latin typeface="Trebuchet MS" panose="020B0603020202020204" pitchFamily="34" charset="0"/>
                        </a:rPr>
                        <a:t>Minsur</a:t>
                      </a:r>
                      <a:r>
                        <a:rPr lang="es-PE" sz="700" b="0" i="0" u="none" strike="noStrike" dirty="0">
                          <a:solidFill>
                            <a:srgbClr val="000000"/>
                          </a:solidFill>
                          <a:effectLst/>
                          <a:latin typeface="Trebuchet MS" panose="020B0603020202020204" pitchFamily="34" charset="0"/>
                        </a:rPr>
                        <a:t>, </a:t>
                      </a:r>
                      <a:r>
                        <a:rPr lang="es-PE" sz="700" b="0" i="0" u="none" strike="noStrike" dirty="0" err="1">
                          <a:solidFill>
                            <a:srgbClr val="000000"/>
                          </a:solidFill>
                          <a:effectLst/>
                          <a:latin typeface="Trebuchet MS" panose="020B0603020202020204" pitchFamily="34" charset="0"/>
                        </a:rPr>
                        <a:t>Nexa</a:t>
                      </a:r>
                      <a:r>
                        <a:rPr lang="es-PE" sz="700" b="0" i="0" u="none" strike="noStrike" dirty="0">
                          <a:solidFill>
                            <a:srgbClr val="000000"/>
                          </a:solidFill>
                          <a:effectLst/>
                          <a:latin typeface="Trebuchet MS" panose="020B0603020202020204" pitchFamily="34" charset="0"/>
                        </a:rPr>
                        <a:t> Perú, </a:t>
                      </a:r>
                      <a:r>
                        <a:rPr lang="es-PE" sz="700" b="0" i="0" u="none" strike="noStrike" dirty="0" err="1">
                          <a:solidFill>
                            <a:srgbClr val="000000"/>
                          </a:solidFill>
                          <a:effectLst/>
                          <a:latin typeface="Trebuchet MS" panose="020B0603020202020204" pitchFamily="34" charset="0"/>
                        </a:rPr>
                        <a:t>Volcan</a:t>
                      </a:r>
                      <a:endParaRPr lang="es-PE" sz="700" b="0" i="0" u="none" strike="noStrike" dirty="0">
                        <a:solidFill>
                          <a:srgbClr val="000000"/>
                        </a:solidFill>
                        <a:effectLst/>
                        <a:latin typeface="Trebuchet MS" panose="020B0603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1" i="0" u="none" strike="noStrike" dirty="0">
                          <a:solidFill>
                            <a:srgbClr val="FFFFFF"/>
                          </a:solidFill>
                          <a:effectLst/>
                          <a:latin typeface="Trebuchet MS" panose="020B0603020202020204" pitchFamily="34" charset="0"/>
                        </a:rPr>
                        <a:t>Variable Clave 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700" b="1" i="0" u="none" strike="noStrike">
                          <a:solidFill>
                            <a:srgbClr val="FFFFFF"/>
                          </a:solidFill>
                          <a:effectLst/>
                          <a:latin typeface="Trebuchet MS" panose="020B0603020202020204" pitchFamily="34" charset="0"/>
                        </a:rPr>
                        <a:t>Prácticas Laborales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a) Compensación por Performance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b)Beneficios no salariales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c)Soporte para Educación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d)Entrenamiento de Habilidades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e)Satisfacción de Empleados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f)Compensación con Acciones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g)Deducción por Controversias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Trebuchet MS" panose="020B0603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2633597"/>
                  </a:ext>
                </a:extLst>
              </a:tr>
              <a:tr h="507365">
                <a:tc vMerge="1">
                  <a:txBody>
                    <a:bodyPr/>
                    <a:lstStyle/>
                    <a:p>
                      <a:endParaRPr lang="es-PE"/>
                    </a:p>
                  </a:txBody>
                  <a:tcPr/>
                </a:tc>
                <a:tc>
                  <a:txBody>
                    <a:bodyPr/>
                    <a:lstStyle/>
                    <a:p>
                      <a:pPr algn="ctr" fontAlgn="ctr">
                        <a:buNone/>
                      </a:pPr>
                      <a:r>
                        <a:rPr lang="es-PE" sz="700" b="1" i="0" u="none" strike="noStrike">
                          <a:solidFill>
                            <a:srgbClr val="FFFFFF"/>
                          </a:solidFill>
                          <a:effectLst/>
                          <a:latin typeface="Trebuchet MS" panose="020B0603020202020204" pitchFamily="34" charset="0"/>
                        </a:rPr>
                        <a:t>Variable Clave 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700" b="1" i="0" u="none" strike="noStrike">
                          <a:solidFill>
                            <a:srgbClr val="FFFFFF"/>
                          </a:solidFill>
                          <a:effectLst/>
                          <a:latin typeface="Trebuchet MS" panose="020B0603020202020204" pitchFamily="34" charset="0"/>
                        </a:rPr>
                        <a:t>Salud y Seguridad de Trabajadores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a)Alcance de la política de seguridad y salud en el trabajo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b)Auditoría de la política y las prácticas de seguridad y salud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c)Aplicabilidad de la política de seguridad y salud a los contratistas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d)</a:t>
                      </a:r>
                      <a:r>
                        <a:rPr lang="es-PE" sz="700" b="0" i="0" u="none" strike="noStrike" dirty="0" err="1">
                          <a:solidFill>
                            <a:srgbClr val="000000"/>
                          </a:solidFill>
                          <a:effectLst/>
                          <a:latin typeface="Trebuchet MS" panose="020B0603020202020204" pitchFamily="34" charset="0"/>
                        </a:rPr>
                        <a:t>Idnclusión</a:t>
                      </a:r>
                      <a:r>
                        <a:rPr lang="es-PE" sz="700" b="0" i="0" u="none" strike="noStrike" dirty="0">
                          <a:solidFill>
                            <a:srgbClr val="000000"/>
                          </a:solidFill>
                          <a:effectLst/>
                          <a:latin typeface="Trebuchet MS" panose="020B0603020202020204" pitchFamily="34" charset="0"/>
                        </a:rPr>
                        <a:t> del desempeño en seguridad y salud en la remuneración del 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e)Órgano ejecutivo responsable de la estrategia y el desempeño en seguridad y salud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f)Evaluación de la certificación en seguridad y salud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g)Inclusión de contratistas en las métricas divulgadas de seguridad y salud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h)Meta de mejora del desempeño en seguridad y salud en el trabajo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9614525"/>
                  </a:ext>
                </a:extLst>
              </a:tr>
              <a:tr h="507365">
                <a:tc vMerge="1">
                  <a:txBody>
                    <a:bodyPr/>
                    <a:lstStyle/>
                    <a:p>
                      <a:endParaRPr lang="es-PE"/>
                    </a:p>
                  </a:txBody>
                  <a:tcPr/>
                </a:tc>
                <a:tc>
                  <a:txBody>
                    <a:bodyPr/>
                    <a:lstStyle/>
                    <a:p>
                      <a:pPr algn="ctr" fontAlgn="ctr">
                        <a:buNone/>
                      </a:pPr>
                      <a:r>
                        <a:rPr lang="es-PE" sz="700" b="1" i="0" u="none" strike="noStrike">
                          <a:solidFill>
                            <a:srgbClr val="FFFFFF"/>
                          </a:solidFill>
                          <a:effectLst/>
                          <a:latin typeface="Trebuchet MS" panose="020B0603020202020204" pitchFamily="34" charset="0"/>
                        </a:rPr>
                        <a:t>Variable Clave 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700" b="1" i="0" u="none" strike="noStrike">
                          <a:solidFill>
                            <a:srgbClr val="FFFFFF"/>
                          </a:solidFill>
                          <a:effectLst/>
                          <a:latin typeface="Trebuchet MS" panose="020B0603020202020204" pitchFamily="34" charset="0"/>
                        </a:rPr>
                        <a:t>Gestión de la Energía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a)Gestión del consumo energético y mejoras en la eficiencia operativa.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b)Uso de fuentes de energía más limpias.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c)Deducción por controversias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Trebuchet MS" panose="020B0603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Trebuchet MS" panose="020B0603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Trebuchet MS" panose="020B0603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Trebuchet MS" panose="020B0603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Trebuchet MS" panose="020B0603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0176614"/>
                  </a:ext>
                </a:extLst>
              </a:tr>
              <a:tr h="507365">
                <a:tc vMerge="1">
                  <a:txBody>
                    <a:bodyPr/>
                    <a:lstStyle/>
                    <a:p>
                      <a:endParaRPr lang="es-PE"/>
                    </a:p>
                  </a:txBody>
                  <a:tcPr/>
                </a:tc>
                <a:tc>
                  <a:txBody>
                    <a:bodyPr/>
                    <a:lstStyle/>
                    <a:p>
                      <a:pPr algn="ctr" fontAlgn="ctr">
                        <a:buNone/>
                      </a:pPr>
                      <a:r>
                        <a:rPr lang="es-PE" sz="700" b="1" i="0" u="none" strike="noStrike">
                          <a:solidFill>
                            <a:srgbClr val="FFFFFF"/>
                          </a:solidFill>
                          <a:effectLst/>
                          <a:latin typeface="Trebuchet MS" panose="020B0603020202020204" pitchFamily="34" charset="0"/>
                        </a:rPr>
                        <a:t>Variable Clave 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s-PE" sz="700" b="1" i="0" u="none" strike="noStrike">
                          <a:solidFill>
                            <a:srgbClr val="FFFFFF"/>
                          </a:solidFill>
                          <a:effectLst/>
                          <a:latin typeface="Trebuchet MS" panose="020B0603020202020204" pitchFamily="34" charset="0"/>
                        </a:rPr>
                        <a:t>Gestión de Residuos y Agua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a)Estado del objetivo de emisiones tóxicas y residuos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b)Grado de cobertura del objetivo de emisiones tóxicas y residuos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c)Alcance de las políticas para abordar los impactos ambientales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d)Porcentaje de centros operativos con un sistema de gestión ambiental certificado bajo ISO 14001 o equivalente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e)Existencia de un sistema de gestión ambiental (SGA)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f)Alcance y frecuencia de las auditorías de impacto ambiental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dirty="0">
                          <a:solidFill>
                            <a:srgbClr val="000000"/>
                          </a:solidFill>
                          <a:effectLst/>
                          <a:latin typeface="Trebuchet MS" panose="020B0603020202020204" pitchFamily="34" charset="0"/>
                        </a:rPr>
                        <a:t>g)Desempeño de emisiones atmosféricas de óxidos de azufre (SOx)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PE" sz="700" b="0" i="0" u="none" strike="noStrike">
                          <a:solidFill>
                            <a:srgbClr val="000000"/>
                          </a:solidFill>
                          <a:effectLst/>
                          <a:latin typeface="Trebuchet MS" panose="020B0603020202020204" pitchFamily="34" charset="0"/>
                        </a:rPr>
                        <a:t>h)Desempeño </a:t>
                      </a:r>
                      <a:r>
                        <a:rPr lang="es-PE" sz="700" b="0" i="0" u="none" strike="noStrike" dirty="0">
                          <a:solidFill>
                            <a:srgbClr val="000000"/>
                          </a:solidFill>
                          <a:effectLst/>
                          <a:latin typeface="Trebuchet MS" panose="020B0603020202020204" pitchFamily="34" charset="0"/>
                        </a:rPr>
                        <a:t>de emisiones atmosféricas de material particulado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1235905"/>
                  </a:ext>
                </a:extLst>
              </a:tr>
            </a:tbl>
          </a:graphicData>
        </a:graphic>
      </p:graphicFrame>
      <p:graphicFrame>
        <p:nvGraphicFramePr>
          <p:cNvPr id="19" name="Tabla 18">
            <a:extLst>
              <a:ext uri="{FF2B5EF4-FFF2-40B4-BE49-F238E27FC236}">
                <a16:creationId xmlns:a16="http://schemas.microsoft.com/office/drawing/2014/main" id="{66458F10-B6F2-1846-9C85-4E62851D27DF}"/>
              </a:ext>
            </a:extLst>
          </p:cNvPr>
          <p:cNvGraphicFramePr>
            <a:graphicFrameLocks noGrp="1"/>
          </p:cNvGraphicFramePr>
          <p:nvPr/>
        </p:nvGraphicFramePr>
        <p:xfrm>
          <a:off x="2855640" y="4365104"/>
          <a:ext cx="5040560" cy="2160241"/>
        </p:xfrm>
        <a:graphic>
          <a:graphicData uri="http://schemas.openxmlformats.org/drawingml/2006/table">
            <a:tbl>
              <a:tblPr/>
              <a:tblGrid>
                <a:gridCol w="720080">
                  <a:extLst>
                    <a:ext uri="{9D8B030D-6E8A-4147-A177-3AD203B41FA5}">
                      <a16:colId xmlns:a16="http://schemas.microsoft.com/office/drawing/2014/main" val="456626845"/>
                    </a:ext>
                  </a:extLst>
                </a:gridCol>
                <a:gridCol w="720080">
                  <a:extLst>
                    <a:ext uri="{9D8B030D-6E8A-4147-A177-3AD203B41FA5}">
                      <a16:colId xmlns:a16="http://schemas.microsoft.com/office/drawing/2014/main" val="3179395384"/>
                    </a:ext>
                  </a:extLst>
                </a:gridCol>
                <a:gridCol w="720080">
                  <a:extLst>
                    <a:ext uri="{9D8B030D-6E8A-4147-A177-3AD203B41FA5}">
                      <a16:colId xmlns:a16="http://schemas.microsoft.com/office/drawing/2014/main" val="866483956"/>
                    </a:ext>
                  </a:extLst>
                </a:gridCol>
                <a:gridCol w="720080">
                  <a:extLst>
                    <a:ext uri="{9D8B030D-6E8A-4147-A177-3AD203B41FA5}">
                      <a16:colId xmlns:a16="http://schemas.microsoft.com/office/drawing/2014/main" val="2981734346"/>
                    </a:ext>
                  </a:extLst>
                </a:gridCol>
                <a:gridCol w="720080">
                  <a:extLst>
                    <a:ext uri="{9D8B030D-6E8A-4147-A177-3AD203B41FA5}">
                      <a16:colId xmlns:a16="http://schemas.microsoft.com/office/drawing/2014/main" val="3192236904"/>
                    </a:ext>
                  </a:extLst>
                </a:gridCol>
                <a:gridCol w="720080">
                  <a:extLst>
                    <a:ext uri="{9D8B030D-6E8A-4147-A177-3AD203B41FA5}">
                      <a16:colId xmlns:a16="http://schemas.microsoft.com/office/drawing/2014/main" val="3522764698"/>
                    </a:ext>
                  </a:extLst>
                </a:gridCol>
                <a:gridCol w="720080">
                  <a:extLst>
                    <a:ext uri="{9D8B030D-6E8A-4147-A177-3AD203B41FA5}">
                      <a16:colId xmlns:a16="http://schemas.microsoft.com/office/drawing/2014/main" val="1528763112"/>
                    </a:ext>
                  </a:extLst>
                </a:gridCol>
              </a:tblGrid>
              <a:tr h="192131">
                <a:tc>
                  <a:txBody>
                    <a:bodyPr/>
                    <a:lstStyle/>
                    <a:p>
                      <a:pPr algn="l" fontAlgn="b">
                        <a:buNone/>
                      </a:pPr>
                      <a:endParaRPr lang="es-PE" sz="700" b="0" i="0" u="none" strike="noStrike">
                        <a:solidFill>
                          <a:srgbClr val="000000"/>
                        </a:solidFill>
                        <a:effectLst/>
                        <a:latin typeface="Trebuchet MS" panose="020B0603020202020204" pitchFamily="34" charset="0"/>
                      </a:endParaRPr>
                    </a:p>
                  </a:txBody>
                  <a:tcPr marL="9525" marR="9525" marT="9525" marB="0" anchor="b">
                    <a:lnL>
                      <a:noFill/>
                    </a:lnL>
                    <a:lnR>
                      <a:noFill/>
                    </a:lnR>
                    <a:lnT>
                      <a:noFill/>
                    </a:lnT>
                    <a:lnB>
                      <a:noFill/>
                    </a:lnB>
                    <a:noFill/>
                  </a:tcPr>
                </a:tc>
                <a:tc>
                  <a:txBody>
                    <a:bodyPr/>
                    <a:lstStyle/>
                    <a:p>
                      <a:pPr algn="l" fontAlgn="b">
                        <a:buNone/>
                      </a:pPr>
                      <a:endParaRPr lang="es-PE" sz="700" b="0" i="0" u="none" strike="noStrike">
                        <a:solidFill>
                          <a:srgbClr val="000000"/>
                        </a:solidFill>
                        <a:effectLst/>
                        <a:latin typeface="Trebuchet MS" panose="020B0603020202020204" pitchFamily="34" charset="0"/>
                      </a:endParaRPr>
                    </a:p>
                  </a:txBody>
                  <a:tcPr marL="9525" marR="9525" marT="9525" marB="0" anchor="b">
                    <a:lnL>
                      <a:noFill/>
                    </a:lnL>
                    <a:lnR>
                      <a:noFill/>
                    </a:lnR>
                    <a:lnT>
                      <a:noFill/>
                    </a:lnT>
                    <a:lnB>
                      <a:noFill/>
                    </a:lnB>
                    <a:noFill/>
                  </a:tcPr>
                </a:tc>
                <a:tc gridSpan="5">
                  <a:txBody>
                    <a:bodyPr/>
                    <a:lstStyle/>
                    <a:p>
                      <a:pPr algn="ctr" fontAlgn="ctr">
                        <a:buNone/>
                      </a:pPr>
                      <a:r>
                        <a:rPr lang="es-PE" sz="700" b="1" i="0" u="none" strike="noStrike" dirty="0">
                          <a:solidFill>
                            <a:srgbClr val="FFFFFF"/>
                          </a:solidFill>
                          <a:effectLst/>
                          <a:latin typeface="Trebuchet MS" panose="020B0603020202020204" pitchFamily="34" charset="0"/>
                        </a:rPr>
                        <a:t>EXPOSICIÓN  —  % del AUM </a:t>
                      </a:r>
                      <a:r>
                        <a:rPr lang="es-PE" sz="700" b="1" i="0" u="none" strike="noStrike" dirty="0" err="1">
                          <a:solidFill>
                            <a:srgbClr val="FFFFFF"/>
                          </a:solidFill>
                          <a:effectLst/>
                          <a:latin typeface="Trebuchet MS" panose="020B0603020202020204" pitchFamily="34" charset="0"/>
                        </a:rPr>
                        <a:t>Multifondos</a:t>
                      </a:r>
                      <a:endParaRPr lang="es-PE" sz="700" b="1" i="0" u="none" strike="noStrike" dirty="0">
                        <a:solidFill>
                          <a:srgbClr val="FFFFFF"/>
                        </a:solidFill>
                        <a:effectLst/>
                        <a:latin typeface="Trebuchet MS" panose="020B0603020202020204" pitchFamily="34" charset="0"/>
                      </a:endParaRPr>
                    </a:p>
                  </a:txBody>
                  <a:tcPr marL="9525" marR="9525" marT="9525" marB="0" anchor="ctr">
                    <a:lnL>
                      <a:noFill/>
                    </a:lnL>
                    <a:lnR>
                      <a:noFill/>
                    </a:lnR>
                    <a:lnT>
                      <a:noFill/>
                    </a:lnT>
                    <a:lnB w="6350" cap="flat" cmpd="sng" algn="ctr">
                      <a:solidFill>
                        <a:srgbClr val="BFBFBF"/>
                      </a:solidFill>
                      <a:prstDash val="solid"/>
                      <a:round/>
                      <a:headEnd type="none" w="med" len="med"/>
                      <a:tailEnd type="none" w="med" len="med"/>
                    </a:lnB>
                    <a:solidFill>
                      <a:srgbClr val="1F3864"/>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247252493"/>
                  </a:ext>
                </a:extLst>
              </a:tr>
              <a:tr h="393622">
                <a:tc>
                  <a:txBody>
                    <a:bodyPr/>
                    <a:lstStyle/>
                    <a:p>
                      <a:pPr algn="l" fontAlgn="b">
                        <a:buNone/>
                      </a:pPr>
                      <a:endParaRPr lang="es-PE" sz="700" b="0" i="0" u="none" strike="noStrike">
                        <a:solidFill>
                          <a:srgbClr val="000000"/>
                        </a:solidFill>
                        <a:effectLst/>
                        <a:latin typeface="Trebuchet MS" panose="020B0603020202020204" pitchFamily="34" charset="0"/>
                      </a:endParaRPr>
                    </a:p>
                  </a:txBody>
                  <a:tcPr marL="9525" marR="9525" marT="9525" marB="0" anchor="b">
                    <a:lnL>
                      <a:noFill/>
                    </a:lnL>
                    <a:lnR>
                      <a:noFill/>
                    </a:lnR>
                    <a:lnT>
                      <a:noFill/>
                    </a:lnT>
                    <a:lnB>
                      <a:noFill/>
                    </a:lnB>
                    <a:noFill/>
                  </a:tcPr>
                </a:tc>
                <a:tc>
                  <a:txBody>
                    <a:bodyPr/>
                    <a:lstStyle/>
                    <a:p>
                      <a:pPr algn="l" fontAlgn="b">
                        <a:buNone/>
                      </a:pPr>
                      <a:endParaRPr lang="es-PE" sz="700" b="0" i="0" u="none" strike="noStrike">
                        <a:solidFill>
                          <a:srgbClr val="000000"/>
                        </a:solidFill>
                        <a:effectLst/>
                        <a:latin typeface="Trebuchet MS" panose="020B0603020202020204" pitchFamily="34" charset="0"/>
                      </a:endParaRPr>
                    </a:p>
                  </a:txBody>
                  <a:tcPr marL="9525" marR="9525" marT="9525" marB="0" anchor="b">
                    <a:lnL>
                      <a:noFill/>
                    </a:lnL>
                    <a:lnR w="6350" cap="flat" cmpd="sng" algn="ctr">
                      <a:solidFill>
                        <a:srgbClr val="BFBFBF"/>
                      </a:solidFill>
                      <a:prstDash val="solid"/>
                      <a:round/>
                      <a:headEnd type="none" w="med" len="med"/>
                      <a:tailEnd type="none" w="med" len="med"/>
                    </a:lnR>
                    <a:lnT>
                      <a:noFill/>
                    </a:lnT>
                    <a:lnB w="6350" cap="flat" cmpd="sng" algn="ctr">
                      <a:solidFill>
                        <a:srgbClr val="BFBFBF"/>
                      </a:solidFill>
                      <a:prstDash val="solid"/>
                      <a:round/>
                      <a:headEnd type="none" w="med" len="med"/>
                      <a:tailEnd type="none" w="med" len="med"/>
                    </a:lnB>
                    <a:noFill/>
                  </a:tcPr>
                </a:tc>
                <a:tc>
                  <a:txBody>
                    <a:bodyPr/>
                    <a:lstStyle/>
                    <a:p>
                      <a:pPr algn="ctr" fontAlgn="ctr">
                        <a:buNone/>
                      </a:pPr>
                      <a:r>
                        <a:rPr lang="es-PE" sz="700" b="1" i="0" u="none" strike="noStrike">
                          <a:solidFill>
                            <a:srgbClr val="FFFFFF"/>
                          </a:solidFill>
                          <a:effectLst/>
                          <a:latin typeface="Trebuchet MS" panose="020B0603020202020204" pitchFamily="34" charset="0"/>
                        </a:rPr>
                        <a:t>Nivel 4</a:t>
                      </a:r>
                      <a:br>
                        <a:rPr lang="es-PE" sz="700" b="1" i="0" u="none" strike="noStrike">
                          <a:solidFill>
                            <a:srgbClr val="FFFFFF"/>
                          </a:solidFill>
                          <a:effectLst/>
                          <a:latin typeface="Trebuchet MS" panose="020B0603020202020204" pitchFamily="34" charset="0"/>
                        </a:rPr>
                      </a:br>
                      <a:r>
                        <a:rPr lang="es-PE" sz="700" b="1" i="0" u="none" strike="noStrike">
                          <a:solidFill>
                            <a:srgbClr val="FFFFFF"/>
                          </a:solidFill>
                          <a:effectLst/>
                          <a:latin typeface="Trebuchet MS" panose="020B0603020202020204" pitchFamily="34" charset="0"/>
                        </a:rPr>
                        <a:t>≥ 2.0%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38DD5"/>
                    </a:solidFill>
                  </a:tcPr>
                </a:tc>
                <a:tc>
                  <a:txBody>
                    <a:bodyPr/>
                    <a:lstStyle/>
                    <a:p>
                      <a:pPr algn="ctr" fontAlgn="ctr">
                        <a:buNone/>
                      </a:pPr>
                      <a:r>
                        <a:rPr lang="es-PE" sz="700" b="1" i="0" u="none" strike="noStrike" dirty="0">
                          <a:solidFill>
                            <a:srgbClr val="FFFFFF"/>
                          </a:solidFill>
                          <a:effectLst/>
                          <a:latin typeface="Trebuchet MS" panose="020B0603020202020204" pitchFamily="34" charset="0"/>
                        </a:rPr>
                        <a:t>Nivel 3</a:t>
                      </a:r>
                      <a:br>
                        <a:rPr lang="es-PE" sz="700" b="1" i="0" u="none" strike="noStrike" dirty="0">
                          <a:solidFill>
                            <a:srgbClr val="FFFFFF"/>
                          </a:solidFill>
                          <a:effectLst/>
                          <a:latin typeface="Trebuchet MS" panose="020B0603020202020204" pitchFamily="34" charset="0"/>
                        </a:rPr>
                      </a:br>
                      <a:r>
                        <a:rPr lang="es-PE" sz="700" b="1" i="0" u="none" strike="noStrike" dirty="0">
                          <a:solidFill>
                            <a:srgbClr val="FFFFFF"/>
                          </a:solidFill>
                          <a:effectLst/>
                          <a:latin typeface="Trebuchet MS" panose="020B0603020202020204" pitchFamily="34" charset="0"/>
                        </a:rPr>
                        <a:t>1.0 – 2.0%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38DD5"/>
                    </a:solidFill>
                  </a:tcPr>
                </a:tc>
                <a:tc>
                  <a:txBody>
                    <a:bodyPr/>
                    <a:lstStyle/>
                    <a:p>
                      <a:pPr algn="ctr" fontAlgn="ctr">
                        <a:buNone/>
                      </a:pPr>
                      <a:r>
                        <a:rPr lang="es-PE" sz="700" b="1" i="0" u="none" strike="noStrike" dirty="0">
                          <a:solidFill>
                            <a:srgbClr val="FFFFFF"/>
                          </a:solidFill>
                          <a:effectLst/>
                          <a:latin typeface="Trebuchet MS" panose="020B0603020202020204" pitchFamily="34" charset="0"/>
                        </a:rPr>
                        <a:t>Nivel 2</a:t>
                      </a:r>
                      <a:br>
                        <a:rPr lang="es-PE" sz="700" b="1" i="0" u="none" strike="noStrike" dirty="0">
                          <a:solidFill>
                            <a:srgbClr val="FFFFFF"/>
                          </a:solidFill>
                          <a:effectLst/>
                          <a:latin typeface="Trebuchet MS" panose="020B0603020202020204" pitchFamily="34" charset="0"/>
                        </a:rPr>
                      </a:br>
                      <a:r>
                        <a:rPr lang="es-PE" sz="700" b="1" i="0" u="none" strike="noStrike" dirty="0">
                          <a:solidFill>
                            <a:srgbClr val="FFFFFF"/>
                          </a:solidFill>
                          <a:effectLst/>
                          <a:latin typeface="Trebuchet MS" panose="020B0603020202020204" pitchFamily="34" charset="0"/>
                        </a:rPr>
                        <a:t>0.25 – 1.0%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38DD5"/>
                    </a:solidFill>
                  </a:tcPr>
                </a:tc>
                <a:tc>
                  <a:txBody>
                    <a:bodyPr/>
                    <a:lstStyle/>
                    <a:p>
                      <a:pPr algn="ctr" fontAlgn="ctr">
                        <a:buNone/>
                      </a:pPr>
                      <a:r>
                        <a:rPr lang="es-PE" sz="700" b="1" i="0" u="none" strike="noStrike">
                          <a:solidFill>
                            <a:srgbClr val="FFFFFF"/>
                          </a:solidFill>
                          <a:effectLst/>
                          <a:latin typeface="Trebuchet MS" panose="020B0603020202020204" pitchFamily="34" charset="0"/>
                        </a:rPr>
                        <a:t>Nivel 1</a:t>
                      </a:r>
                      <a:br>
                        <a:rPr lang="es-PE" sz="700" b="1" i="0" u="none" strike="noStrike">
                          <a:solidFill>
                            <a:srgbClr val="FFFFFF"/>
                          </a:solidFill>
                          <a:effectLst/>
                          <a:latin typeface="Trebuchet MS" panose="020B0603020202020204" pitchFamily="34" charset="0"/>
                        </a:rPr>
                      </a:br>
                      <a:r>
                        <a:rPr lang="es-PE" sz="700" b="1" i="0" u="none" strike="noStrike">
                          <a:solidFill>
                            <a:srgbClr val="FFFFFF"/>
                          </a:solidFill>
                          <a:effectLst/>
                          <a:latin typeface="Trebuchet MS" panose="020B0603020202020204" pitchFamily="34" charset="0"/>
                        </a:rPr>
                        <a:t>0.10 – 0.25%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38DD5"/>
                    </a:solidFill>
                  </a:tcPr>
                </a:tc>
                <a:tc>
                  <a:txBody>
                    <a:bodyPr/>
                    <a:lstStyle/>
                    <a:p>
                      <a:pPr algn="ctr" fontAlgn="ctr">
                        <a:buNone/>
                      </a:pPr>
                      <a:r>
                        <a:rPr lang="es-PE" sz="700" b="1" i="0" u="none" strike="noStrike">
                          <a:solidFill>
                            <a:srgbClr val="FFFFFF"/>
                          </a:solidFill>
                          <a:effectLst/>
                          <a:latin typeface="Trebuchet MS" panose="020B0603020202020204" pitchFamily="34" charset="0"/>
                        </a:rPr>
                        <a:t>Fuera</a:t>
                      </a:r>
                      <a:br>
                        <a:rPr lang="es-PE" sz="700" b="1" i="0" u="none" strike="noStrike">
                          <a:solidFill>
                            <a:srgbClr val="FFFFFF"/>
                          </a:solidFill>
                          <a:effectLst/>
                          <a:latin typeface="Trebuchet MS" panose="020B0603020202020204" pitchFamily="34" charset="0"/>
                        </a:rPr>
                      </a:br>
                      <a:r>
                        <a:rPr lang="es-PE" sz="700" b="1" i="0" u="none" strike="noStrike">
                          <a:solidFill>
                            <a:srgbClr val="FFFFFF"/>
                          </a:solidFill>
                          <a:effectLst/>
                          <a:latin typeface="Trebuchet MS" panose="020B0603020202020204" pitchFamily="34" charset="0"/>
                        </a:rPr>
                        <a:t>&lt; 0.10%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F7F7F"/>
                    </a:solidFill>
                  </a:tcPr>
                </a:tc>
                <a:extLst>
                  <a:ext uri="{0D108BD9-81ED-4DB2-BD59-A6C34878D82A}">
                    <a16:rowId xmlns:a16="http://schemas.microsoft.com/office/drawing/2014/main" val="3215779105"/>
                  </a:ext>
                </a:extLst>
              </a:tr>
              <a:tr h="393622">
                <a:tc rowSpan="4">
                  <a:txBody>
                    <a:bodyPr/>
                    <a:lstStyle/>
                    <a:p>
                      <a:pPr algn="ctr" fontAlgn="ctr">
                        <a:buNone/>
                      </a:pPr>
                      <a:r>
                        <a:rPr lang="es-PE" sz="700" b="1" i="0" u="none" strike="noStrike">
                          <a:solidFill>
                            <a:srgbClr val="FFFFFF"/>
                          </a:solidFill>
                          <a:effectLst/>
                          <a:latin typeface="Trebuchet MS" panose="020B0603020202020204" pitchFamily="34" charset="0"/>
                        </a:rPr>
                        <a:t>PATRIMONIO — % del accionariado</a:t>
                      </a:r>
                    </a:p>
                  </a:txBody>
                  <a:tcPr marL="9525" marR="9525" marT="9525" marB="0" vert="vert270" anchor="ctr">
                    <a:lnL>
                      <a:noFill/>
                    </a:lnL>
                    <a:lnR w="6350" cap="flat" cmpd="sng" algn="ctr">
                      <a:solidFill>
                        <a:srgbClr val="BFBFBF"/>
                      </a:solidFill>
                      <a:prstDash val="solid"/>
                      <a:round/>
                      <a:headEnd type="none" w="med" len="med"/>
                      <a:tailEnd type="none" w="med" len="med"/>
                    </a:lnR>
                    <a:lnT>
                      <a:noFill/>
                    </a:lnT>
                    <a:lnB>
                      <a:noFill/>
                    </a:lnB>
                    <a:solidFill>
                      <a:srgbClr val="1F3864"/>
                    </a:solidFill>
                  </a:tcPr>
                </a:tc>
                <a:tc>
                  <a:txBody>
                    <a:bodyPr/>
                    <a:lstStyle/>
                    <a:p>
                      <a:pPr algn="ctr" fontAlgn="ctr">
                        <a:buNone/>
                      </a:pPr>
                      <a:r>
                        <a:rPr lang="es-PE" sz="700" b="1" i="0" u="none" strike="noStrike">
                          <a:solidFill>
                            <a:srgbClr val="FFFFFF"/>
                          </a:solidFill>
                          <a:effectLst/>
                          <a:latin typeface="Trebuchet MS" panose="020B0603020202020204" pitchFamily="34" charset="0"/>
                        </a:rPr>
                        <a:t>Nivel 4</a:t>
                      </a:r>
                      <a:br>
                        <a:rPr lang="es-PE" sz="700" b="1" i="0" u="none" strike="noStrike">
                          <a:solidFill>
                            <a:srgbClr val="FFFFFF"/>
                          </a:solidFill>
                          <a:effectLst/>
                          <a:latin typeface="Trebuchet MS" panose="020B0603020202020204" pitchFamily="34" charset="0"/>
                        </a:rPr>
                      </a:br>
                      <a:r>
                        <a:rPr lang="es-PE" sz="700" b="1" i="0" u="none" strike="noStrike">
                          <a:solidFill>
                            <a:srgbClr val="FFFFFF"/>
                          </a:solidFill>
                          <a:effectLst/>
                          <a:latin typeface="Trebuchet MS" panose="020B0603020202020204" pitchFamily="34" charset="0"/>
                        </a:rPr>
                        <a:t>≥ 10%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38DD5"/>
                    </a:solidFill>
                  </a:tcPr>
                </a:tc>
                <a:tc>
                  <a:txBody>
                    <a:bodyPr/>
                    <a:lstStyle/>
                    <a:p>
                      <a:pPr algn="ctr" fontAlgn="ctr">
                        <a:buNone/>
                      </a:pPr>
                      <a:r>
                        <a:rPr lang="es-PE" sz="700" b="0" i="0" u="none" strike="noStrike">
                          <a:solidFill>
                            <a:srgbClr val="AAAAAA"/>
                          </a:solidFill>
                          <a:effectLst/>
                          <a:latin typeface="Trebuchet MS" panose="020B0603020202020204" pitchFamily="34" charset="0"/>
                        </a:rPr>
                        <a:t>—</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FAFA"/>
                    </a:solidFill>
                  </a:tcPr>
                </a:tc>
                <a:tc>
                  <a:txBody>
                    <a:bodyPr/>
                    <a:lstStyle/>
                    <a:p>
                      <a:pPr algn="ctr" fontAlgn="ctr">
                        <a:buNone/>
                      </a:pPr>
                      <a:r>
                        <a:rPr lang="es-PE" sz="700" b="1" i="0" u="none" strike="noStrike">
                          <a:solidFill>
                            <a:srgbClr val="000000"/>
                          </a:solidFill>
                          <a:effectLst/>
                          <a:latin typeface="Trebuchet MS" panose="020B0603020202020204" pitchFamily="34" charset="0"/>
                        </a:rPr>
                        <a:t>Ferreycorp</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CCCC"/>
                    </a:solidFill>
                  </a:tcPr>
                </a:tc>
                <a:tc>
                  <a:txBody>
                    <a:bodyPr/>
                    <a:lstStyle/>
                    <a:p>
                      <a:pPr algn="ctr" fontAlgn="ctr">
                        <a:buNone/>
                      </a:pPr>
                      <a:r>
                        <a:rPr lang="es-PE" sz="700" b="1" i="0" u="none" strike="noStrike">
                          <a:solidFill>
                            <a:srgbClr val="000000"/>
                          </a:solidFill>
                          <a:effectLst/>
                          <a:latin typeface="Trebuchet MS" panose="020B0603020202020204" pitchFamily="34" charset="0"/>
                        </a:rPr>
                        <a:t>Auna</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0E0E3"/>
                    </a:solidFill>
                  </a:tcPr>
                </a:tc>
                <a:tc>
                  <a:txBody>
                    <a:bodyPr/>
                    <a:lstStyle/>
                    <a:p>
                      <a:pPr algn="ctr" fontAlgn="ctr">
                        <a:buNone/>
                      </a:pPr>
                      <a:r>
                        <a:rPr lang="es-PE" sz="700" b="1" i="0" u="none" strike="noStrike" dirty="0" err="1">
                          <a:solidFill>
                            <a:srgbClr val="000000"/>
                          </a:solidFill>
                          <a:effectLst/>
                          <a:latin typeface="Trebuchet MS" panose="020B0603020202020204" pitchFamily="34" charset="0"/>
                        </a:rPr>
                        <a:t>Aenza</a:t>
                      </a:r>
                      <a:endParaRPr lang="es-PE" sz="700" b="1" i="0" u="none" strike="noStrike" dirty="0">
                        <a:solidFill>
                          <a:srgbClr val="000000"/>
                        </a:solidFill>
                        <a:effectLst/>
                        <a:latin typeface="Trebuchet MS" panose="020B0603020202020204" pitchFamily="34" charset="0"/>
                      </a:endParaRP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0E0E3"/>
                    </a:solidFill>
                  </a:tcPr>
                </a:tc>
                <a:tc>
                  <a:txBody>
                    <a:bodyPr/>
                    <a:lstStyle/>
                    <a:p>
                      <a:pPr algn="ctr" fontAlgn="ctr">
                        <a:buNone/>
                      </a:pPr>
                      <a:r>
                        <a:rPr lang="es-PE" sz="700" b="0" i="0" u="none" strike="noStrike">
                          <a:solidFill>
                            <a:srgbClr val="AAAAAA"/>
                          </a:solidFill>
                          <a:effectLst/>
                          <a:latin typeface="Trebuchet MS" panose="020B0603020202020204" pitchFamily="34" charset="0"/>
                        </a:rPr>
                        <a:t>—</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FAFA"/>
                    </a:solidFill>
                  </a:tcPr>
                </a:tc>
                <a:extLst>
                  <a:ext uri="{0D108BD9-81ED-4DB2-BD59-A6C34878D82A}">
                    <a16:rowId xmlns:a16="http://schemas.microsoft.com/office/drawing/2014/main" val="3640230939"/>
                  </a:ext>
                </a:extLst>
              </a:tr>
              <a:tr h="393622">
                <a:tc vMerge="1">
                  <a:txBody>
                    <a:bodyPr/>
                    <a:lstStyle/>
                    <a:p>
                      <a:endParaRPr lang="es-PE"/>
                    </a:p>
                  </a:txBody>
                  <a:tcPr/>
                </a:tc>
                <a:tc>
                  <a:txBody>
                    <a:bodyPr/>
                    <a:lstStyle/>
                    <a:p>
                      <a:pPr algn="ctr" fontAlgn="ctr">
                        <a:buNone/>
                      </a:pPr>
                      <a:r>
                        <a:rPr lang="es-PE" sz="700" b="1" i="0" u="none" strike="noStrike">
                          <a:solidFill>
                            <a:srgbClr val="FFFFFF"/>
                          </a:solidFill>
                          <a:effectLst/>
                          <a:latin typeface="Trebuchet MS" panose="020B0603020202020204" pitchFamily="34" charset="0"/>
                        </a:rPr>
                        <a:t>Nivel 3</a:t>
                      </a:r>
                      <a:br>
                        <a:rPr lang="es-PE" sz="700" b="1" i="0" u="none" strike="noStrike">
                          <a:solidFill>
                            <a:srgbClr val="FFFFFF"/>
                          </a:solidFill>
                          <a:effectLst/>
                          <a:latin typeface="Trebuchet MS" panose="020B0603020202020204" pitchFamily="34" charset="0"/>
                        </a:rPr>
                      </a:br>
                      <a:r>
                        <a:rPr lang="es-PE" sz="700" b="1" i="0" u="none" strike="noStrike">
                          <a:solidFill>
                            <a:srgbClr val="FFFFFF"/>
                          </a:solidFill>
                          <a:effectLst/>
                          <a:latin typeface="Trebuchet MS" panose="020B0603020202020204" pitchFamily="34" charset="0"/>
                        </a:rPr>
                        <a:t>5 – 10%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38DD5"/>
                    </a:solidFill>
                  </a:tcPr>
                </a:tc>
                <a:tc>
                  <a:txBody>
                    <a:bodyPr/>
                    <a:lstStyle/>
                    <a:p>
                      <a:pPr algn="ctr" fontAlgn="ctr">
                        <a:buNone/>
                      </a:pPr>
                      <a:r>
                        <a:rPr lang="es-PE" sz="700" b="1" i="0" u="none" strike="noStrike" dirty="0" err="1">
                          <a:solidFill>
                            <a:srgbClr val="000000"/>
                          </a:solidFill>
                          <a:effectLst/>
                          <a:latin typeface="Trebuchet MS" panose="020B0603020202020204" pitchFamily="34" charset="0"/>
                        </a:rPr>
                        <a:t>Minsur</a:t>
                      </a:r>
                      <a:r>
                        <a:rPr lang="es-PE" sz="700" b="1" i="0" u="none" strike="noStrike" dirty="0">
                          <a:solidFill>
                            <a:srgbClr val="000000"/>
                          </a:solidFill>
                          <a:effectLst/>
                          <a:latin typeface="Trebuchet MS" panose="020B0603020202020204" pitchFamily="34" charset="0"/>
                        </a:rPr>
                        <a:t>*</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CCCC"/>
                    </a:solidFill>
                  </a:tcPr>
                </a:tc>
                <a:tc>
                  <a:txBody>
                    <a:bodyPr/>
                    <a:lstStyle/>
                    <a:p>
                      <a:pPr algn="ctr" fontAlgn="ctr">
                        <a:buNone/>
                      </a:pPr>
                      <a:r>
                        <a:rPr lang="es-PE" sz="700" b="1" i="0" u="none" strike="noStrike">
                          <a:solidFill>
                            <a:srgbClr val="000000"/>
                          </a:solidFill>
                          <a:effectLst/>
                          <a:latin typeface="Trebuchet MS" panose="020B0603020202020204" pitchFamily="34" charset="0"/>
                        </a:rPr>
                        <a:t>Nexa Perú</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CCCC"/>
                    </a:solidFill>
                  </a:tcPr>
                </a:tc>
                <a:tc>
                  <a:txBody>
                    <a:bodyPr/>
                    <a:lstStyle/>
                    <a:p>
                      <a:pPr algn="ctr" fontAlgn="ctr">
                        <a:buNone/>
                      </a:pPr>
                      <a:r>
                        <a:rPr lang="es-PE" sz="700" b="1" i="0" u="none" strike="noStrike">
                          <a:solidFill>
                            <a:srgbClr val="000000"/>
                          </a:solidFill>
                          <a:effectLst/>
                          <a:latin typeface="Trebuchet MS" panose="020B0603020202020204" pitchFamily="34" charset="0"/>
                        </a:rPr>
                        <a:t>Pacasmayo</a:t>
                      </a:r>
                      <a:br>
                        <a:rPr lang="es-PE" sz="700" b="1" i="0" u="none" strike="noStrike">
                          <a:solidFill>
                            <a:srgbClr val="000000"/>
                          </a:solidFill>
                          <a:effectLst/>
                          <a:latin typeface="Trebuchet MS" panose="020B0603020202020204" pitchFamily="34" charset="0"/>
                        </a:rPr>
                      </a:br>
                      <a:r>
                        <a:rPr lang="es-PE" sz="700" b="1" i="0" u="none" strike="noStrike">
                          <a:solidFill>
                            <a:srgbClr val="000000"/>
                          </a:solidFill>
                          <a:effectLst/>
                          <a:latin typeface="Trebuchet MS" panose="020B0603020202020204" pitchFamily="34" charset="0"/>
                        </a:rPr>
                        <a:t>Engie</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0E0E3"/>
                    </a:solidFill>
                  </a:tcPr>
                </a:tc>
                <a:tc>
                  <a:txBody>
                    <a:bodyPr/>
                    <a:lstStyle/>
                    <a:p>
                      <a:pPr algn="ctr" fontAlgn="ctr">
                        <a:buNone/>
                      </a:pPr>
                      <a:r>
                        <a:rPr lang="es-PE" sz="700" b="1" i="0" u="none" strike="noStrike" dirty="0">
                          <a:solidFill>
                            <a:srgbClr val="000000"/>
                          </a:solidFill>
                          <a:effectLst/>
                          <a:latin typeface="Trebuchet MS" panose="020B0603020202020204" pitchFamily="34" charset="0"/>
                        </a:rPr>
                        <a:t>Puerto Chancay*</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0E0E3"/>
                    </a:solidFill>
                  </a:tcPr>
                </a:tc>
                <a:tc>
                  <a:txBody>
                    <a:bodyPr/>
                    <a:lstStyle/>
                    <a:p>
                      <a:pPr algn="ctr" fontAlgn="ctr">
                        <a:buNone/>
                      </a:pPr>
                      <a:r>
                        <a:rPr lang="es-PE" sz="700" b="0" i="0" u="none" strike="noStrike">
                          <a:solidFill>
                            <a:srgbClr val="AAAAAA"/>
                          </a:solidFill>
                          <a:effectLst/>
                          <a:latin typeface="Trebuchet MS" panose="020B0603020202020204" pitchFamily="34" charset="0"/>
                        </a:rPr>
                        <a:t>—</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FAFA"/>
                    </a:solidFill>
                  </a:tcPr>
                </a:tc>
                <a:extLst>
                  <a:ext uri="{0D108BD9-81ED-4DB2-BD59-A6C34878D82A}">
                    <a16:rowId xmlns:a16="http://schemas.microsoft.com/office/drawing/2014/main" val="909038865"/>
                  </a:ext>
                </a:extLst>
              </a:tr>
              <a:tr h="393622">
                <a:tc vMerge="1">
                  <a:txBody>
                    <a:bodyPr/>
                    <a:lstStyle/>
                    <a:p>
                      <a:endParaRPr lang="es-PE"/>
                    </a:p>
                  </a:txBody>
                  <a:tcPr/>
                </a:tc>
                <a:tc>
                  <a:txBody>
                    <a:bodyPr/>
                    <a:lstStyle/>
                    <a:p>
                      <a:pPr algn="ctr" fontAlgn="ctr">
                        <a:buNone/>
                      </a:pPr>
                      <a:r>
                        <a:rPr lang="es-PE" sz="700" b="1" i="0" u="none" strike="noStrike">
                          <a:solidFill>
                            <a:srgbClr val="FFFFFF"/>
                          </a:solidFill>
                          <a:effectLst/>
                          <a:latin typeface="Trebuchet MS" panose="020B0603020202020204" pitchFamily="34" charset="0"/>
                        </a:rPr>
                        <a:t>Nivel 2</a:t>
                      </a:r>
                      <a:br>
                        <a:rPr lang="es-PE" sz="700" b="1" i="0" u="none" strike="noStrike">
                          <a:solidFill>
                            <a:srgbClr val="FFFFFF"/>
                          </a:solidFill>
                          <a:effectLst/>
                          <a:latin typeface="Trebuchet MS" panose="020B0603020202020204" pitchFamily="34" charset="0"/>
                        </a:rPr>
                      </a:br>
                      <a:r>
                        <a:rPr lang="es-PE" sz="700" b="1" i="0" u="none" strike="noStrike">
                          <a:solidFill>
                            <a:srgbClr val="FFFFFF"/>
                          </a:solidFill>
                          <a:effectLst/>
                          <a:latin typeface="Trebuchet MS" panose="020B0603020202020204" pitchFamily="34" charset="0"/>
                        </a:rPr>
                        <a:t>2.5 – 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38DD5"/>
                    </a:solidFill>
                  </a:tcPr>
                </a:tc>
                <a:tc>
                  <a:txBody>
                    <a:bodyPr/>
                    <a:lstStyle/>
                    <a:p>
                      <a:pPr algn="ctr" fontAlgn="ctr">
                        <a:buNone/>
                      </a:pPr>
                      <a:r>
                        <a:rPr lang="es-PE" sz="700" b="1" i="0" u="none" strike="noStrike">
                          <a:solidFill>
                            <a:srgbClr val="000000"/>
                          </a:solidFill>
                          <a:effectLst/>
                          <a:latin typeface="Trebuchet MS" panose="020B0603020202020204" pitchFamily="34" charset="0"/>
                        </a:rPr>
                        <a:t>Buenaventura</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5CD"/>
                    </a:solidFill>
                  </a:tcPr>
                </a:tc>
                <a:tc>
                  <a:txBody>
                    <a:bodyPr/>
                    <a:lstStyle/>
                    <a:p>
                      <a:pPr algn="ctr" fontAlgn="ctr">
                        <a:buNone/>
                      </a:pPr>
                      <a:r>
                        <a:rPr lang="es-PE" sz="700" b="1" i="0" u="none" strike="noStrike">
                          <a:solidFill>
                            <a:srgbClr val="000000"/>
                          </a:solidFill>
                          <a:effectLst/>
                          <a:latin typeface="Trebuchet MS" panose="020B0603020202020204" pitchFamily="34" charset="0"/>
                        </a:rPr>
                        <a:t>InRetail</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5CD"/>
                    </a:solidFill>
                  </a:tcPr>
                </a:tc>
                <a:tc>
                  <a:txBody>
                    <a:bodyPr/>
                    <a:lstStyle/>
                    <a:p>
                      <a:pPr algn="ctr" fontAlgn="ctr">
                        <a:buNone/>
                      </a:pPr>
                      <a:r>
                        <a:rPr lang="es-PE" sz="700" b="1" i="0" u="none" strike="noStrike">
                          <a:solidFill>
                            <a:srgbClr val="000000"/>
                          </a:solidFill>
                          <a:effectLst/>
                          <a:latin typeface="Trebuchet MS" panose="020B0603020202020204" pitchFamily="34" charset="0"/>
                        </a:rPr>
                        <a:t>Unacem</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EFEF"/>
                    </a:solidFill>
                  </a:tcPr>
                </a:tc>
                <a:tc>
                  <a:txBody>
                    <a:bodyPr/>
                    <a:lstStyle/>
                    <a:p>
                      <a:pPr algn="ctr" fontAlgn="ctr">
                        <a:buNone/>
                      </a:pPr>
                      <a:r>
                        <a:rPr lang="es-PE" sz="700" b="1" i="0" u="none" strike="noStrike" dirty="0" err="1">
                          <a:solidFill>
                            <a:srgbClr val="000000"/>
                          </a:solidFill>
                          <a:effectLst/>
                          <a:latin typeface="Trebuchet MS" panose="020B0603020202020204" pitchFamily="34" charset="0"/>
                        </a:rPr>
                        <a:t>Volcan</a:t>
                      </a:r>
                      <a:r>
                        <a:rPr lang="es-PE" sz="700" b="1" i="0" u="none" strike="noStrike" dirty="0">
                          <a:solidFill>
                            <a:srgbClr val="000000"/>
                          </a:solidFill>
                          <a:effectLst/>
                          <a:latin typeface="Trebuchet MS" panose="020B0603020202020204" pitchFamily="34" charset="0"/>
                        </a:rPr>
                        <a:t>*</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EFEF"/>
                    </a:solidFill>
                  </a:tcPr>
                </a:tc>
                <a:tc>
                  <a:txBody>
                    <a:bodyPr/>
                    <a:lstStyle/>
                    <a:p>
                      <a:pPr algn="ctr" fontAlgn="ctr">
                        <a:buNone/>
                      </a:pPr>
                      <a:r>
                        <a:rPr lang="es-PE" sz="700" b="0" i="0" u="none" strike="noStrike">
                          <a:solidFill>
                            <a:srgbClr val="AAAAAA"/>
                          </a:solidFill>
                          <a:effectLst/>
                          <a:latin typeface="Trebuchet MS" panose="020B0603020202020204" pitchFamily="34" charset="0"/>
                        </a:rPr>
                        <a:t>—</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FAFA"/>
                    </a:solidFill>
                  </a:tcPr>
                </a:tc>
                <a:extLst>
                  <a:ext uri="{0D108BD9-81ED-4DB2-BD59-A6C34878D82A}">
                    <a16:rowId xmlns:a16="http://schemas.microsoft.com/office/drawing/2014/main" val="1393052363"/>
                  </a:ext>
                </a:extLst>
              </a:tr>
              <a:tr h="393622">
                <a:tc vMerge="1">
                  <a:txBody>
                    <a:bodyPr/>
                    <a:lstStyle/>
                    <a:p>
                      <a:endParaRPr lang="es-PE"/>
                    </a:p>
                  </a:txBody>
                  <a:tcPr/>
                </a:tc>
                <a:tc>
                  <a:txBody>
                    <a:bodyPr/>
                    <a:lstStyle/>
                    <a:p>
                      <a:pPr algn="ctr" fontAlgn="ctr">
                        <a:buNone/>
                      </a:pPr>
                      <a:r>
                        <a:rPr lang="es-PE" sz="700" b="1" i="0" u="none" strike="noStrike" dirty="0">
                          <a:solidFill>
                            <a:srgbClr val="FFFFFF"/>
                          </a:solidFill>
                          <a:effectLst/>
                          <a:latin typeface="Trebuchet MS" panose="020B0603020202020204" pitchFamily="34" charset="0"/>
                        </a:rPr>
                        <a:t>Nivel 1</a:t>
                      </a:r>
                      <a:br>
                        <a:rPr lang="es-PE" sz="700" b="1" i="0" u="none" strike="noStrike" dirty="0">
                          <a:solidFill>
                            <a:srgbClr val="FFFFFF"/>
                          </a:solidFill>
                          <a:effectLst/>
                          <a:latin typeface="Trebuchet MS" panose="020B0603020202020204" pitchFamily="34" charset="0"/>
                        </a:rPr>
                      </a:br>
                      <a:r>
                        <a:rPr lang="es-PE" sz="700" b="1" i="0" u="none" strike="noStrike" dirty="0">
                          <a:solidFill>
                            <a:srgbClr val="FFFFFF"/>
                          </a:solidFill>
                          <a:effectLst/>
                          <a:latin typeface="Trebuchet MS" panose="020B0603020202020204" pitchFamily="34" charset="0"/>
                        </a:rPr>
                        <a:t>&gt; 0 - &lt; 2.5%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38DD5"/>
                    </a:solidFill>
                  </a:tcPr>
                </a:tc>
                <a:tc>
                  <a:txBody>
                    <a:bodyPr/>
                    <a:lstStyle/>
                    <a:p>
                      <a:pPr algn="ctr" fontAlgn="ctr">
                        <a:buNone/>
                      </a:pPr>
                      <a:r>
                        <a:rPr lang="es-PE" sz="700" b="1" i="0" u="none" strike="noStrike">
                          <a:solidFill>
                            <a:srgbClr val="000000"/>
                          </a:solidFill>
                          <a:effectLst/>
                          <a:latin typeface="Trebuchet MS" panose="020B0603020202020204" pitchFamily="34" charset="0"/>
                        </a:rPr>
                        <a:t>Credicorp</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5CD"/>
                    </a:solidFill>
                  </a:tcPr>
                </a:tc>
                <a:tc>
                  <a:txBody>
                    <a:bodyPr/>
                    <a:lstStyle/>
                    <a:p>
                      <a:pPr algn="ctr" fontAlgn="ctr">
                        <a:buNone/>
                      </a:pPr>
                      <a:r>
                        <a:rPr lang="es-PE" sz="700" b="0" i="0" u="none" strike="noStrike">
                          <a:solidFill>
                            <a:srgbClr val="AAAAAA"/>
                          </a:solidFill>
                          <a:effectLst/>
                          <a:latin typeface="Trebuchet MS" panose="020B0603020202020204" pitchFamily="34" charset="0"/>
                        </a:rPr>
                        <a:t>—</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FAFA"/>
                    </a:solidFill>
                  </a:tcPr>
                </a:tc>
                <a:tc>
                  <a:txBody>
                    <a:bodyPr/>
                    <a:lstStyle/>
                    <a:p>
                      <a:pPr algn="ctr" fontAlgn="ctr">
                        <a:buNone/>
                      </a:pPr>
                      <a:r>
                        <a:rPr lang="es-PE" sz="700" b="1" i="0" u="none" strike="noStrike">
                          <a:solidFill>
                            <a:srgbClr val="000000"/>
                          </a:solidFill>
                          <a:effectLst/>
                          <a:latin typeface="Trebuchet MS" panose="020B0603020202020204" pitchFamily="34" charset="0"/>
                        </a:rPr>
                        <a:t>IFS</a:t>
                      </a:r>
                      <a:br>
                        <a:rPr lang="es-PE" sz="700" b="1" i="0" u="none" strike="noStrike">
                          <a:solidFill>
                            <a:srgbClr val="000000"/>
                          </a:solidFill>
                          <a:effectLst/>
                          <a:latin typeface="Trebuchet MS" panose="020B0603020202020204" pitchFamily="34" charset="0"/>
                        </a:rPr>
                      </a:br>
                      <a:r>
                        <a:rPr lang="es-PE" sz="700" b="1" i="0" u="none" strike="noStrike">
                          <a:solidFill>
                            <a:srgbClr val="000000"/>
                          </a:solidFill>
                          <a:effectLst/>
                          <a:latin typeface="Trebuchet MS" panose="020B0603020202020204" pitchFamily="34" charset="0"/>
                        </a:rPr>
                        <a:t>Hochschild</a:t>
                      </a:r>
                      <a:br>
                        <a:rPr lang="es-PE" sz="700" b="1" i="0" u="none" strike="noStrike">
                          <a:solidFill>
                            <a:srgbClr val="000000"/>
                          </a:solidFill>
                          <a:effectLst/>
                          <a:latin typeface="Trebuchet MS" panose="020B0603020202020204" pitchFamily="34" charset="0"/>
                        </a:rPr>
                      </a:br>
                      <a:r>
                        <a:rPr lang="es-PE" sz="700" b="1" i="0" u="none" strike="noStrike">
                          <a:solidFill>
                            <a:srgbClr val="000000"/>
                          </a:solidFill>
                          <a:effectLst/>
                          <a:latin typeface="Trebuchet MS" panose="020B0603020202020204" pitchFamily="34" charset="0"/>
                        </a:rPr>
                        <a:t>Orygen</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EFEF"/>
                    </a:solidFill>
                  </a:tcPr>
                </a:tc>
                <a:tc>
                  <a:txBody>
                    <a:bodyPr/>
                    <a:lstStyle/>
                    <a:p>
                      <a:pPr algn="ctr" fontAlgn="ctr">
                        <a:buNone/>
                      </a:pPr>
                      <a:r>
                        <a:rPr lang="es-PE" sz="700" b="1" i="0" u="none" strike="noStrike" dirty="0">
                          <a:solidFill>
                            <a:srgbClr val="000000"/>
                          </a:solidFill>
                          <a:effectLst/>
                          <a:latin typeface="Trebuchet MS" panose="020B0603020202020204" pitchFamily="34" charset="0"/>
                        </a:rPr>
                        <a:t>Alicorp</a:t>
                      </a:r>
                      <a:br>
                        <a:rPr lang="es-PE" sz="700" b="1" i="0" u="none" strike="noStrike" dirty="0">
                          <a:solidFill>
                            <a:srgbClr val="000000"/>
                          </a:solidFill>
                          <a:effectLst/>
                          <a:latin typeface="Trebuchet MS" panose="020B0603020202020204" pitchFamily="34" charset="0"/>
                        </a:rPr>
                      </a:br>
                      <a:r>
                        <a:rPr lang="es-PE" sz="700" b="1" i="0" u="none" strike="noStrike" dirty="0">
                          <a:solidFill>
                            <a:srgbClr val="000000"/>
                          </a:solidFill>
                          <a:effectLst/>
                          <a:latin typeface="Trebuchet MS" panose="020B0603020202020204" pitchFamily="34" charset="0"/>
                        </a:rPr>
                        <a:t>BBVA</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EFEF"/>
                    </a:solidFill>
                  </a:tcPr>
                </a:tc>
                <a:tc>
                  <a:txBody>
                    <a:bodyPr/>
                    <a:lstStyle/>
                    <a:p>
                      <a:pPr algn="ctr" fontAlgn="ctr">
                        <a:buNone/>
                      </a:pPr>
                      <a:r>
                        <a:rPr lang="es-PE" sz="700" b="1" i="0" u="none" strike="noStrike" dirty="0" err="1">
                          <a:solidFill>
                            <a:srgbClr val="000000"/>
                          </a:solidFill>
                          <a:effectLst/>
                          <a:latin typeface="Trebuchet MS" panose="020B0603020202020204" pitchFamily="34" charset="0"/>
                        </a:rPr>
                        <a:t>Pluz</a:t>
                      </a:r>
                      <a:r>
                        <a:rPr lang="es-PE" sz="700" b="1" i="0" u="none" strike="noStrike" dirty="0">
                          <a:solidFill>
                            <a:srgbClr val="000000"/>
                          </a:solidFill>
                          <a:effectLst/>
                          <a:latin typeface="Trebuchet MS" panose="020B0603020202020204" pitchFamily="34" charset="0"/>
                        </a:rPr>
                        <a:t> Energía</a:t>
                      </a:r>
                      <a:br>
                        <a:rPr lang="es-PE" sz="700" b="1" i="0" u="none" strike="noStrike" dirty="0">
                          <a:solidFill>
                            <a:srgbClr val="000000"/>
                          </a:solidFill>
                          <a:effectLst/>
                          <a:latin typeface="Trebuchet MS" panose="020B0603020202020204" pitchFamily="34" charset="0"/>
                        </a:rPr>
                      </a:br>
                      <a:r>
                        <a:rPr lang="es-PE" sz="700" b="1" i="0" u="none" strike="noStrike" dirty="0" err="1">
                          <a:solidFill>
                            <a:srgbClr val="000000"/>
                          </a:solidFill>
                          <a:effectLst/>
                          <a:latin typeface="Trebuchet MS" panose="020B0603020202020204" pitchFamily="34" charset="0"/>
                        </a:rPr>
                        <a:t>Hudbay</a:t>
                      </a:r>
                      <a:endParaRPr lang="es-PE" sz="700" b="1" i="0" u="none" strike="noStrike" dirty="0">
                        <a:solidFill>
                          <a:srgbClr val="000000"/>
                        </a:solidFill>
                        <a:effectLst/>
                        <a:latin typeface="Trebuchet MS" panose="020B0603020202020204" pitchFamily="34" charset="0"/>
                      </a:endParaRP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EFEF"/>
                    </a:solidFill>
                  </a:tcPr>
                </a:tc>
                <a:extLst>
                  <a:ext uri="{0D108BD9-81ED-4DB2-BD59-A6C34878D82A}">
                    <a16:rowId xmlns:a16="http://schemas.microsoft.com/office/drawing/2014/main" val="4234799901"/>
                  </a:ext>
                </a:extLst>
              </a:tr>
            </a:tbl>
          </a:graphicData>
        </a:graphic>
      </p:graphicFrame>
    </p:spTree>
    <p:extLst>
      <p:ext uri="{BB962C8B-B14F-4D97-AF65-F5344CB8AC3E}">
        <p14:creationId xmlns:p14="http://schemas.microsoft.com/office/powerpoint/2010/main" val="509420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30135-C281-4021-10C1-E1FF3996E578}"/>
            </a:ext>
          </a:extLst>
        </p:cNvPr>
        <p:cNvGrpSpPr/>
        <p:nvPr/>
      </p:nvGrpSpPr>
      <p:grpSpPr>
        <a:xfrm>
          <a:off x="0" y="0"/>
          <a:ext cx="0" cy="0"/>
          <a:chOff x="0" y="0"/>
          <a:chExt cx="0" cy="0"/>
        </a:xfrm>
      </p:grpSpPr>
      <p:sp>
        <p:nvSpPr>
          <p:cNvPr id="20" name="Title 2">
            <a:extLst>
              <a:ext uri="{FF2B5EF4-FFF2-40B4-BE49-F238E27FC236}">
                <a16:creationId xmlns:a16="http://schemas.microsoft.com/office/drawing/2014/main" id="{FCB0A5E5-9EE2-9B3A-2951-62CE520D6269}"/>
              </a:ext>
            </a:extLst>
          </p:cNvPr>
          <p:cNvSpPr txBox="1">
            <a:spLocks/>
          </p:cNvSpPr>
          <p:nvPr/>
        </p:nvSpPr>
        <p:spPr>
          <a:xfrm>
            <a:off x="-903" y="88429"/>
            <a:ext cx="10819699" cy="676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kern="1200" spc="-50" baseline="0">
                <a:solidFill>
                  <a:schemeClr val="tx1">
                    <a:lumMod val="75000"/>
                  </a:schemeClr>
                </a:solidFill>
                <a:latin typeface="Trebuchet MS" panose="020B0603020202020204" pitchFamily="34" charset="0"/>
                <a:ea typeface="+mj-ea"/>
                <a:cs typeface="+mj-cs"/>
              </a:defRPr>
            </a:lvl1pPr>
          </a:lstStyle>
          <a:p>
            <a:r>
              <a:rPr lang="es-ES" sz="2000" dirty="0"/>
              <a:t>1.8 </a:t>
            </a:r>
            <a:r>
              <a:rPr lang="es-ES" sz="2000" i="1" dirty="0" err="1"/>
              <a:t>Engagement</a:t>
            </a:r>
            <a:r>
              <a:rPr lang="es-ES" sz="2000" i="1" dirty="0"/>
              <a:t> </a:t>
            </a:r>
            <a:r>
              <a:rPr lang="es-ES" sz="2000" dirty="0"/>
              <a:t>– Siguientes Pasos</a:t>
            </a:r>
          </a:p>
        </p:txBody>
      </p:sp>
      <p:sp>
        <p:nvSpPr>
          <p:cNvPr id="6" name="Rectangle: Rounded Corners 5">
            <a:extLst>
              <a:ext uri="{FF2B5EF4-FFF2-40B4-BE49-F238E27FC236}">
                <a16:creationId xmlns:a16="http://schemas.microsoft.com/office/drawing/2014/main" id="{26C3DDD6-05B3-E031-1F37-E3B4C6D2D665}"/>
              </a:ext>
            </a:extLst>
          </p:cNvPr>
          <p:cNvSpPr/>
          <p:nvPr/>
        </p:nvSpPr>
        <p:spPr>
          <a:xfrm>
            <a:off x="1991544" y="1772816"/>
            <a:ext cx="8136904" cy="1584176"/>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PE" sz="12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R="0" lvl="0" algn="just" defTabSz="457200" rtl="0" eaLnBrk="1" fontAlgn="auto" latinLnBrk="0" hangingPunct="1">
              <a:lnSpc>
                <a:spcPct val="100000"/>
              </a:lnSpc>
              <a:spcBef>
                <a:spcPts val="0"/>
              </a:spcBef>
              <a:spcAft>
                <a:spcPts val="0"/>
              </a:spcAft>
              <a:buClrTx/>
              <a:buSzTx/>
              <a:tabLst/>
              <a:defRPr/>
            </a:pPr>
            <a:endPar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4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algn="just" defTabSz="457200">
              <a:defRPr/>
            </a:pPr>
            <a:r>
              <a:rPr lang="es-ES" sz="1200" b="1" dirty="0">
                <a:solidFill>
                  <a:schemeClr val="tx1"/>
                </a:solidFill>
                <a:latin typeface="Trebuchet MS" panose="020B0603020202020204" pitchFamily="34" charset="0"/>
              </a:rPr>
              <a:t>Objetivo SURA 2025-2027: </a:t>
            </a:r>
            <a:r>
              <a:rPr lang="es-ES" sz="1200" dirty="0">
                <a:solidFill>
                  <a:schemeClr val="tx1"/>
                </a:solidFill>
                <a:latin typeface="Trebuchet MS" panose="020B0603020202020204" pitchFamily="34" charset="0"/>
              </a:rPr>
              <a:t>La formalización de una metodología completa de </a:t>
            </a:r>
            <a:r>
              <a:rPr lang="es-ES" sz="1200" i="1" dirty="0" err="1">
                <a:solidFill>
                  <a:schemeClr val="tx1"/>
                </a:solidFill>
                <a:latin typeface="Trebuchet MS" panose="020B0603020202020204" pitchFamily="34" charset="0"/>
              </a:rPr>
              <a:t>engagement</a:t>
            </a:r>
            <a:r>
              <a:rPr lang="es-ES" sz="1200" dirty="0">
                <a:solidFill>
                  <a:schemeClr val="tx1"/>
                </a:solidFill>
                <a:latin typeface="Trebuchet MS" panose="020B0603020202020204" pitchFamily="34" charset="0"/>
              </a:rPr>
              <a:t> y su ejecución periódica con el logro de metas es un Objetivo de SURA AM. Estamos avanzando de la siguiente forma:</a:t>
            </a:r>
            <a:endParaRPr lang="es-PE" sz="1200" dirty="0">
              <a:solidFill>
                <a:schemeClr val="tx1"/>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9" name="Rectangle: Rounded Corners 8">
            <a:extLst>
              <a:ext uri="{FF2B5EF4-FFF2-40B4-BE49-F238E27FC236}">
                <a16:creationId xmlns:a16="http://schemas.microsoft.com/office/drawing/2014/main" id="{44ED4A9F-4B70-CE99-5C44-5AD29E8B184B}"/>
              </a:ext>
            </a:extLst>
          </p:cNvPr>
          <p:cNvSpPr/>
          <p:nvPr/>
        </p:nvSpPr>
        <p:spPr>
          <a:xfrm>
            <a:off x="1991544" y="3356992"/>
            <a:ext cx="3096344" cy="1728192"/>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endParaRPr lang="es-ES" sz="1200" dirty="0">
              <a:solidFill>
                <a:srgbClr val="002060"/>
              </a:solidFill>
              <a:latin typeface="Trebuchet MS" panose="020B0603020202020204" pitchFamily="34" charset="0"/>
            </a:endParaRPr>
          </a:p>
          <a:p>
            <a:pPr lvl="0" algn="ctr"/>
            <a:endParaRPr lang="es-ES" sz="1200" dirty="0">
              <a:solidFill>
                <a:srgbClr val="002060"/>
              </a:solidFill>
              <a:latin typeface="Trebuchet MS" panose="020B0603020202020204" pitchFamily="34" charset="0"/>
            </a:endParaRPr>
          </a:p>
          <a:p>
            <a:pPr marL="228600" lvl="0" indent="-228600" algn="ctr">
              <a:buAutoNum type="alphaLcParenR"/>
            </a:pPr>
            <a:r>
              <a:rPr lang="es-ES" sz="1200" b="1" dirty="0">
                <a:solidFill>
                  <a:srgbClr val="002060"/>
                </a:solidFill>
                <a:latin typeface="Trebuchet MS" panose="020B0603020202020204" pitchFamily="34" charset="0"/>
              </a:rPr>
              <a:t>Metodología: </a:t>
            </a:r>
            <a:r>
              <a:rPr lang="es-ES" sz="1200" dirty="0">
                <a:solidFill>
                  <a:srgbClr val="002060"/>
                </a:solidFill>
                <a:latin typeface="Trebuchet MS" panose="020B0603020202020204" pitchFamily="34" charset="0"/>
              </a:rPr>
              <a:t>Generar los lineamientos que guíen todos los detalles de los procesos de </a:t>
            </a:r>
            <a:r>
              <a:rPr lang="es-ES" sz="1200" i="1" dirty="0" err="1">
                <a:solidFill>
                  <a:srgbClr val="002060"/>
                </a:solidFill>
                <a:latin typeface="Trebuchet MS" panose="020B0603020202020204" pitchFamily="34" charset="0"/>
              </a:rPr>
              <a:t>engagement</a:t>
            </a:r>
            <a:r>
              <a:rPr lang="es-ES" sz="1200" i="1" dirty="0">
                <a:solidFill>
                  <a:srgbClr val="002060"/>
                </a:solidFill>
                <a:latin typeface="Trebuchet MS" panose="020B0603020202020204" pitchFamily="34" charset="0"/>
              </a:rPr>
              <a:t>:</a:t>
            </a:r>
          </a:p>
          <a:p>
            <a:pPr marL="171450" lvl="0" indent="-171450" algn="ctr">
              <a:buFontTx/>
              <a:buChar char="-"/>
            </a:pPr>
            <a:r>
              <a:rPr lang="es-ES" sz="1200" i="1" dirty="0">
                <a:solidFill>
                  <a:srgbClr val="002060"/>
                </a:solidFill>
                <a:latin typeface="Trebuchet MS" panose="020B0603020202020204" pitchFamily="34" charset="0"/>
              </a:rPr>
              <a:t>Lineamientos Base</a:t>
            </a:r>
          </a:p>
          <a:p>
            <a:pPr marL="171450" lvl="0" indent="-171450" algn="ctr">
              <a:buFontTx/>
              <a:buChar char="-"/>
            </a:pPr>
            <a:r>
              <a:rPr lang="es-ES" sz="1200" i="1" dirty="0">
                <a:solidFill>
                  <a:srgbClr val="002060"/>
                </a:solidFill>
                <a:latin typeface="Trebuchet MS" panose="020B0603020202020204" pitchFamily="34" charset="0"/>
              </a:rPr>
              <a:t>Materialidad por Sector </a:t>
            </a:r>
          </a:p>
          <a:p>
            <a:pPr marL="171450" lvl="0" indent="-171450" algn="ctr">
              <a:buFontTx/>
              <a:buChar char="-"/>
            </a:pPr>
            <a:r>
              <a:rPr lang="es-ES" sz="1200" i="1" dirty="0">
                <a:solidFill>
                  <a:srgbClr val="002060"/>
                </a:solidFill>
                <a:latin typeface="Trebuchet MS" panose="020B0603020202020204" pitchFamily="34" charset="0"/>
              </a:rPr>
              <a:t>Matriz de Priorización. </a:t>
            </a:r>
            <a:r>
              <a:rPr lang="es-ES" sz="1200" b="1" i="1" dirty="0">
                <a:solidFill>
                  <a:srgbClr val="002060"/>
                </a:solidFill>
                <a:latin typeface="Trebuchet MS" panose="020B0603020202020204" pitchFamily="34" charset="0"/>
              </a:rPr>
              <a:t>En Proceso</a:t>
            </a:r>
          </a:p>
          <a:p>
            <a:pPr marL="171450" lvl="0" indent="-171450" algn="ctr">
              <a:buFontTx/>
              <a:buChar char="-"/>
            </a:pPr>
            <a:r>
              <a:rPr lang="es-ES" sz="1200" i="1" dirty="0">
                <a:solidFill>
                  <a:srgbClr val="002060"/>
                </a:solidFill>
                <a:latin typeface="Trebuchet MS" panose="020B0603020202020204" pitchFamily="34" charset="0"/>
              </a:rPr>
              <a:t>Aprobación de Resultados. </a:t>
            </a:r>
            <a:r>
              <a:rPr lang="es-ES" sz="1200" b="1" i="1" dirty="0">
                <a:solidFill>
                  <a:srgbClr val="002060"/>
                </a:solidFill>
                <a:latin typeface="Trebuchet MS" panose="020B0603020202020204" pitchFamily="34" charset="0"/>
              </a:rPr>
              <a:t>Pendiente</a:t>
            </a:r>
            <a:endParaRPr lang="es-PE" sz="1200" b="1" i="1" dirty="0">
              <a:solidFill>
                <a:srgbClr val="002060"/>
              </a:solidFill>
              <a:latin typeface="Trebuchet MS" panose="020B0603020202020204" pitchFamily="34" charset="0"/>
            </a:endParaRPr>
          </a:p>
        </p:txBody>
      </p:sp>
      <p:sp>
        <p:nvSpPr>
          <p:cNvPr id="12" name="Rectangle: Rounded Corners 11">
            <a:extLst>
              <a:ext uri="{FF2B5EF4-FFF2-40B4-BE49-F238E27FC236}">
                <a16:creationId xmlns:a16="http://schemas.microsoft.com/office/drawing/2014/main" id="{513C0571-E772-4737-3A36-CC61BA67EF83}"/>
              </a:ext>
            </a:extLst>
          </p:cNvPr>
          <p:cNvSpPr/>
          <p:nvPr/>
        </p:nvSpPr>
        <p:spPr>
          <a:xfrm>
            <a:off x="7608168" y="3356992"/>
            <a:ext cx="2520280" cy="1728192"/>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just"/>
            <a:endParaRPr lang="es-ES" sz="1200" dirty="0">
              <a:solidFill>
                <a:srgbClr val="002060"/>
              </a:solidFill>
              <a:latin typeface="Trebuchet MS" panose="020B0603020202020204" pitchFamily="34" charset="0"/>
            </a:endParaRPr>
          </a:p>
          <a:p>
            <a:pPr lvl="0" algn="just"/>
            <a:endParaRPr lang="es-ES" sz="1200" dirty="0">
              <a:solidFill>
                <a:srgbClr val="002060"/>
              </a:solidFill>
              <a:latin typeface="Trebuchet MS" panose="020B0603020202020204" pitchFamily="34" charset="0"/>
            </a:endParaRPr>
          </a:p>
          <a:p>
            <a:pPr lvl="0" algn="just"/>
            <a:r>
              <a:rPr lang="es-ES" sz="1200" b="1" dirty="0">
                <a:solidFill>
                  <a:srgbClr val="002060"/>
                </a:solidFill>
                <a:latin typeface="Trebuchet MS" panose="020B0603020202020204" pitchFamily="34" charset="0"/>
              </a:rPr>
              <a:t>c) Publicación: </a:t>
            </a:r>
            <a:r>
              <a:rPr lang="es-ES" sz="1200" dirty="0">
                <a:solidFill>
                  <a:srgbClr val="002060"/>
                </a:solidFill>
                <a:latin typeface="Trebuchet MS" panose="020B0603020202020204" pitchFamily="34" charset="0"/>
              </a:rPr>
              <a:t>Continuar buscando alternativas para no depender de la metodología de </a:t>
            </a:r>
            <a:r>
              <a:rPr lang="es-ES" sz="1200" i="1" dirty="0" err="1">
                <a:solidFill>
                  <a:srgbClr val="002060"/>
                </a:solidFill>
                <a:latin typeface="Trebuchet MS" panose="020B0603020202020204" pitchFamily="34" charset="0"/>
              </a:rPr>
              <a:t>proxies</a:t>
            </a:r>
            <a:r>
              <a:rPr lang="es-ES" sz="1200" i="1" dirty="0">
                <a:solidFill>
                  <a:srgbClr val="002060"/>
                </a:solidFill>
                <a:latin typeface="Trebuchet MS" panose="020B0603020202020204" pitchFamily="34" charset="0"/>
              </a:rPr>
              <a:t> </a:t>
            </a:r>
            <a:r>
              <a:rPr lang="es-ES" sz="1200" dirty="0">
                <a:solidFill>
                  <a:srgbClr val="002060"/>
                </a:solidFill>
                <a:latin typeface="Trebuchet MS" panose="020B0603020202020204" pitchFamily="34" charset="0"/>
              </a:rPr>
              <a:t>para los casos sin huella en MSCI.</a:t>
            </a:r>
            <a:endParaRPr lang="es-PE" sz="1200" dirty="0">
              <a:solidFill>
                <a:srgbClr val="002060"/>
              </a:solidFill>
              <a:latin typeface="Trebuchet MS" panose="020B0603020202020204" pitchFamily="34" charset="0"/>
            </a:endParaRPr>
          </a:p>
        </p:txBody>
      </p:sp>
      <p:sp>
        <p:nvSpPr>
          <p:cNvPr id="3" name="Rectangle: Rounded Corners 2">
            <a:extLst>
              <a:ext uri="{FF2B5EF4-FFF2-40B4-BE49-F238E27FC236}">
                <a16:creationId xmlns:a16="http://schemas.microsoft.com/office/drawing/2014/main" id="{E235791C-6FD8-A0CC-28CC-FB0C14C9FF3E}"/>
              </a:ext>
            </a:extLst>
          </p:cNvPr>
          <p:cNvSpPr/>
          <p:nvPr/>
        </p:nvSpPr>
        <p:spPr>
          <a:xfrm>
            <a:off x="5087888" y="3356992"/>
            <a:ext cx="2376264" cy="1728192"/>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endParaRPr lang="es-ES" sz="1200" dirty="0">
              <a:solidFill>
                <a:srgbClr val="002060"/>
              </a:solidFill>
              <a:latin typeface="Trebuchet MS" panose="020B0603020202020204" pitchFamily="34" charset="0"/>
            </a:endParaRPr>
          </a:p>
          <a:p>
            <a:pPr lvl="0" algn="ctr"/>
            <a:endParaRPr lang="es-ES" sz="1200" dirty="0">
              <a:solidFill>
                <a:srgbClr val="002060"/>
              </a:solidFill>
              <a:latin typeface="Trebuchet MS" panose="020B0603020202020204" pitchFamily="34" charset="0"/>
            </a:endParaRPr>
          </a:p>
          <a:p>
            <a:pPr lvl="0" algn="ctr"/>
            <a:r>
              <a:rPr lang="es-ES" sz="1200" b="1" dirty="0">
                <a:solidFill>
                  <a:srgbClr val="002060"/>
                </a:solidFill>
                <a:latin typeface="Trebuchet MS" panose="020B0603020202020204" pitchFamily="34" charset="0"/>
              </a:rPr>
              <a:t>b) Ejecución: </a:t>
            </a:r>
            <a:r>
              <a:rPr lang="es-ES" sz="1200" dirty="0">
                <a:solidFill>
                  <a:srgbClr val="002060"/>
                </a:solidFill>
                <a:latin typeface="Trebuchet MS" panose="020B0603020202020204" pitchFamily="34" charset="0"/>
              </a:rPr>
              <a:t>Tomar las acciones detalladas en los Planes de </a:t>
            </a:r>
            <a:r>
              <a:rPr lang="es-ES" sz="1200" dirty="0" err="1">
                <a:solidFill>
                  <a:srgbClr val="002060"/>
                </a:solidFill>
                <a:latin typeface="Trebuchet MS" panose="020B0603020202020204" pitchFamily="34" charset="0"/>
              </a:rPr>
              <a:t>Engagement</a:t>
            </a:r>
            <a:r>
              <a:rPr lang="es-ES" sz="1200" dirty="0">
                <a:solidFill>
                  <a:srgbClr val="002060"/>
                </a:solidFill>
                <a:latin typeface="Trebuchet MS" panose="020B0603020202020204" pitchFamily="34" charset="0"/>
              </a:rPr>
              <a:t> aprobados</a:t>
            </a:r>
            <a:r>
              <a:rPr lang="es-ES" sz="1200" i="1" dirty="0">
                <a:solidFill>
                  <a:srgbClr val="002060"/>
                </a:solidFill>
                <a:latin typeface="Trebuchet MS" panose="020B0603020202020204" pitchFamily="34" charset="0"/>
              </a:rPr>
              <a:t>.</a:t>
            </a:r>
          </a:p>
          <a:p>
            <a:pPr lvl="0" algn="ctr"/>
            <a:r>
              <a:rPr lang="es-ES" sz="1200" b="1" dirty="0">
                <a:solidFill>
                  <a:srgbClr val="002060"/>
                </a:solidFill>
                <a:latin typeface="Trebuchet MS" panose="020B0603020202020204" pitchFamily="34" charset="0"/>
              </a:rPr>
              <a:t>Pendiente</a:t>
            </a:r>
            <a:endParaRPr lang="es-PE" sz="1200" b="1" dirty="0">
              <a:solidFill>
                <a:srgbClr val="002060"/>
              </a:solidFill>
              <a:latin typeface="Trebuchet MS" panose="020B0603020202020204" pitchFamily="34" charset="0"/>
            </a:endParaRPr>
          </a:p>
        </p:txBody>
      </p:sp>
      <p:sp>
        <p:nvSpPr>
          <p:cNvPr id="4" name="Rectangle: Rounded Corners 3">
            <a:extLst>
              <a:ext uri="{FF2B5EF4-FFF2-40B4-BE49-F238E27FC236}">
                <a16:creationId xmlns:a16="http://schemas.microsoft.com/office/drawing/2014/main" id="{060D7A8D-02CF-796D-D343-EE1AFE76960D}"/>
              </a:ext>
            </a:extLst>
          </p:cNvPr>
          <p:cNvSpPr/>
          <p:nvPr/>
        </p:nvSpPr>
        <p:spPr>
          <a:xfrm>
            <a:off x="7464152" y="3356992"/>
            <a:ext cx="2664296" cy="1728192"/>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endParaRPr lang="es-ES" sz="1200" dirty="0">
              <a:solidFill>
                <a:srgbClr val="002060"/>
              </a:solidFill>
              <a:latin typeface="Trebuchet MS" panose="020B0603020202020204" pitchFamily="34" charset="0"/>
            </a:endParaRPr>
          </a:p>
          <a:p>
            <a:pPr lvl="0" algn="ctr"/>
            <a:endParaRPr lang="es-ES" sz="1200" dirty="0">
              <a:solidFill>
                <a:srgbClr val="002060"/>
              </a:solidFill>
              <a:latin typeface="Trebuchet MS" panose="020B0603020202020204" pitchFamily="34" charset="0"/>
            </a:endParaRPr>
          </a:p>
          <a:p>
            <a:pPr lvl="0" algn="ctr"/>
            <a:r>
              <a:rPr lang="es-ES" sz="1200" b="1" dirty="0">
                <a:solidFill>
                  <a:srgbClr val="002060"/>
                </a:solidFill>
                <a:latin typeface="Trebuchet MS" panose="020B0603020202020204" pitchFamily="34" charset="0"/>
              </a:rPr>
              <a:t>c) Medir los Resultados: Evaluar los resultados obtenidos con el </a:t>
            </a:r>
            <a:r>
              <a:rPr lang="es-ES" sz="1200" b="1" dirty="0" err="1">
                <a:solidFill>
                  <a:srgbClr val="002060"/>
                </a:solidFill>
                <a:latin typeface="Trebuchet MS" panose="020B0603020202020204" pitchFamily="34" charset="0"/>
              </a:rPr>
              <a:t>engagement</a:t>
            </a:r>
            <a:r>
              <a:rPr lang="es-ES" sz="1200" b="1" dirty="0">
                <a:solidFill>
                  <a:srgbClr val="002060"/>
                </a:solidFill>
                <a:latin typeface="Trebuchet MS" panose="020B0603020202020204" pitchFamily="34" charset="0"/>
              </a:rPr>
              <a:t> (</a:t>
            </a:r>
            <a:r>
              <a:rPr lang="es-ES" sz="1200" b="1" dirty="0" err="1">
                <a:solidFill>
                  <a:srgbClr val="002060"/>
                </a:solidFill>
                <a:latin typeface="Trebuchet MS" panose="020B0603020202020204" pitchFamily="34" charset="0"/>
              </a:rPr>
              <a:t>KPIs</a:t>
            </a:r>
            <a:r>
              <a:rPr lang="es-ES" sz="1200" b="1" dirty="0">
                <a:solidFill>
                  <a:srgbClr val="002060"/>
                </a:solidFill>
                <a:latin typeface="Trebuchet MS" panose="020B0603020202020204" pitchFamily="34" charset="0"/>
              </a:rPr>
              <a:t> e impacto en retorno de inversión en LP)</a:t>
            </a:r>
            <a:r>
              <a:rPr lang="es-ES" sz="1200" i="1" dirty="0">
                <a:solidFill>
                  <a:srgbClr val="002060"/>
                </a:solidFill>
                <a:latin typeface="Trebuchet MS" panose="020B0603020202020204" pitchFamily="34" charset="0"/>
              </a:rPr>
              <a:t>.</a:t>
            </a:r>
          </a:p>
          <a:p>
            <a:pPr lvl="0" algn="ctr"/>
            <a:r>
              <a:rPr lang="es-ES" sz="1200" b="1" dirty="0">
                <a:solidFill>
                  <a:srgbClr val="002060"/>
                </a:solidFill>
                <a:latin typeface="Trebuchet MS" panose="020B0603020202020204" pitchFamily="34" charset="0"/>
              </a:rPr>
              <a:t>Pendiente</a:t>
            </a:r>
            <a:endParaRPr lang="es-PE" sz="1200" b="1" dirty="0">
              <a:solidFill>
                <a:srgbClr val="002060"/>
              </a:solidFill>
              <a:latin typeface="Trebuchet MS" panose="020B0603020202020204" pitchFamily="34" charset="0"/>
            </a:endParaRPr>
          </a:p>
        </p:txBody>
      </p:sp>
      <p:pic>
        <p:nvPicPr>
          <p:cNvPr id="2" name="Graphic 21" descr="Checkbox Checked with solid fill">
            <a:extLst>
              <a:ext uri="{FF2B5EF4-FFF2-40B4-BE49-F238E27FC236}">
                <a16:creationId xmlns:a16="http://schemas.microsoft.com/office/drawing/2014/main" id="{20DFD07A-B836-EC22-8CEF-C9699D938E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39816" y="4221088"/>
            <a:ext cx="288032" cy="288032"/>
          </a:xfrm>
          <a:prstGeom prst="rect">
            <a:avLst/>
          </a:prstGeom>
        </p:spPr>
      </p:pic>
      <p:pic>
        <p:nvPicPr>
          <p:cNvPr id="7" name="Graphic 21" descr="Checkbox Checked with solid fill">
            <a:extLst>
              <a:ext uri="{FF2B5EF4-FFF2-40B4-BE49-F238E27FC236}">
                <a16:creationId xmlns:a16="http://schemas.microsoft.com/office/drawing/2014/main" id="{2CCCF288-9BCB-FDB9-4332-10F54B4D344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92216" y="4437112"/>
            <a:ext cx="288032" cy="288032"/>
          </a:xfrm>
          <a:prstGeom prst="rect">
            <a:avLst/>
          </a:prstGeom>
        </p:spPr>
      </p:pic>
    </p:spTree>
    <p:extLst>
      <p:ext uri="{BB962C8B-B14F-4D97-AF65-F5344CB8AC3E}">
        <p14:creationId xmlns:p14="http://schemas.microsoft.com/office/powerpoint/2010/main" val="1635281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5382D7-FDE0-4A5D-89C2-E62E5D221C50}"/>
              </a:ext>
            </a:extLst>
          </p:cNvPr>
          <p:cNvSpPr>
            <a:spLocks noGrp="1"/>
          </p:cNvSpPr>
          <p:nvPr>
            <p:ph type="title"/>
          </p:nvPr>
        </p:nvSpPr>
        <p:spPr>
          <a:xfrm>
            <a:off x="-903" y="0"/>
            <a:ext cx="10819699" cy="676275"/>
          </a:xfrm>
        </p:spPr>
        <p:txBody>
          <a:bodyPr>
            <a:noAutofit/>
          </a:bodyPr>
          <a:lstStyle/>
          <a:p>
            <a:r>
              <a:rPr lang="es-PE" sz="2000" dirty="0"/>
              <a:t>2.1 Huella de Carbono – Cobertura (Jun2026)</a:t>
            </a:r>
            <a:endParaRPr lang="es-ES" sz="2000" dirty="0">
              <a:highlight>
                <a:srgbClr val="FFFF00"/>
              </a:highlight>
            </a:endParaRPr>
          </a:p>
        </p:txBody>
      </p:sp>
      <p:sp>
        <p:nvSpPr>
          <p:cNvPr id="40" name="CuadroTexto 60">
            <a:extLst>
              <a:ext uri="{FF2B5EF4-FFF2-40B4-BE49-F238E27FC236}">
                <a16:creationId xmlns:a16="http://schemas.microsoft.com/office/drawing/2014/main" id="{E5A20507-6A1F-4B05-8F09-91C3FAF55BE0}"/>
              </a:ext>
            </a:extLst>
          </p:cNvPr>
          <p:cNvSpPr txBox="1"/>
          <p:nvPr/>
        </p:nvSpPr>
        <p:spPr>
          <a:xfrm>
            <a:off x="842644" y="905727"/>
            <a:ext cx="6696833" cy="307777"/>
          </a:xfrm>
          <a:prstGeom prst="rect">
            <a:avLst/>
          </a:prstGeom>
          <a:noFill/>
        </p:spPr>
        <p:txBody>
          <a:bodyPr wrap="none" rtlCol="0">
            <a:spAutoFit/>
          </a:bodyPr>
          <a:lstStyle/>
          <a:p>
            <a:r>
              <a:rPr lang="es-ES" sz="1400" b="1" u="sng" dirty="0">
                <a:solidFill>
                  <a:srgbClr val="002060"/>
                </a:solidFill>
                <a:latin typeface="Trebuchet MS" panose="020B0603020202020204" pitchFamily="34" charset="0"/>
              </a:rPr>
              <a:t>Cobertura </a:t>
            </a:r>
            <a:r>
              <a:rPr lang="es-ES" sz="1400" b="1" u="sng" dirty="0" err="1">
                <a:solidFill>
                  <a:srgbClr val="002060"/>
                </a:solidFill>
                <a:latin typeface="Trebuchet MS" panose="020B0603020202020204" pitchFamily="34" charset="0"/>
              </a:rPr>
              <a:t>Multifondos</a:t>
            </a:r>
            <a:r>
              <a:rPr lang="es-ES" sz="1400" b="1" u="sng" dirty="0">
                <a:solidFill>
                  <a:srgbClr val="002060"/>
                </a:solidFill>
                <a:latin typeface="Trebuchet MS" panose="020B0603020202020204" pitchFamily="34" charset="0"/>
              </a:rPr>
              <a:t> (Junio 2026) – 100% (excluyendo cash) MSCI + </a:t>
            </a:r>
            <a:r>
              <a:rPr lang="es-ES" sz="1400" b="1" u="sng" dirty="0" err="1">
                <a:solidFill>
                  <a:srgbClr val="002060"/>
                </a:solidFill>
                <a:latin typeface="Trebuchet MS" panose="020B0603020202020204" pitchFamily="34" charset="0"/>
              </a:rPr>
              <a:t>Proxies</a:t>
            </a:r>
            <a:r>
              <a:rPr lang="es-ES" sz="1400" b="1" u="sng" dirty="0">
                <a:solidFill>
                  <a:srgbClr val="002060"/>
                </a:solidFill>
                <a:latin typeface="Trebuchet MS" panose="020B0603020202020204" pitchFamily="34" charset="0"/>
              </a:rPr>
              <a:t>:</a:t>
            </a:r>
            <a:endParaRPr lang="es-PE" sz="1400" b="1" u="sng" dirty="0">
              <a:solidFill>
                <a:srgbClr val="002060"/>
              </a:solidFill>
              <a:latin typeface="Trebuchet MS" panose="020B0603020202020204" pitchFamily="34" charset="0"/>
            </a:endParaRPr>
          </a:p>
        </p:txBody>
      </p:sp>
      <p:sp>
        <p:nvSpPr>
          <p:cNvPr id="22" name="Oval 21">
            <a:extLst>
              <a:ext uri="{FF2B5EF4-FFF2-40B4-BE49-F238E27FC236}">
                <a16:creationId xmlns:a16="http://schemas.microsoft.com/office/drawing/2014/main" id="{35D7FFA9-B4D1-C952-B4D3-536617E3FEAF}"/>
              </a:ext>
            </a:extLst>
          </p:cNvPr>
          <p:cNvSpPr/>
          <p:nvPr/>
        </p:nvSpPr>
        <p:spPr>
          <a:xfrm>
            <a:off x="1888017" y="2005270"/>
            <a:ext cx="3337084" cy="3385849"/>
          </a:xfrm>
          <a:prstGeom prst="ellipse">
            <a:avLst/>
          </a:prstGeom>
          <a:noFill/>
          <a:ln w="698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dirty="0"/>
          </a:p>
        </p:txBody>
      </p:sp>
      <p:sp>
        <p:nvSpPr>
          <p:cNvPr id="6" name="TextBox 5">
            <a:extLst>
              <a:ext uri="{FF2B5EF4-FFF2-40B4-BE49-F238E27FC236}">
                <a16:creationId xmlns:a16="http://schemas.microsoft.com/office/drawing/2014/main" id="{7289D61F-5CD3-D712-66E9-255EFE0C5868}"/>
              </a:ext>
            </a:extLst>
          </p:cNvPr>
          <p:cNvSpPr txBox="1"/>
          <p:nvPr/>
        </p:nvSpPr>
        <p:spPr>
          <a:xfrm>
            <a:off x="708660" y="6634093"/>
            <a:ext cx="6428232" cy="215444"/>
          </a:xfrm>
          <a:prstGeom prst="rect">
            <a:avLst/>
          </a:prstGeom>
          <a:noFill/>
        </p:spPr>
        <p:txBody>
          <a:bodyPr wrap="square">
            <a:spAutoFit/>
          </a:bodyPr>
          <a:lstStyle/>
          <a:p>
            <a:r>
              <a:rPr lang="es-PE" sz="800" dirty="0">
                <a:solidFill>
                  <a:schemeClr val="bg1">
                    <a:lumMod val="50000"/>
                  </a:schemeClr>
                </a:solidFill>
                <a:latin typeface="Trebuchet MS" panose="020B0603020202020204" pitchFamily="34" charset="0"/>
                <a:cs typeface="Arial" panose="020B0604020202020204" pitchFamily="34" charset="0"/>
              </a:rPr>
              <a:t>Posiciones al 31/12/2025</a:t>
            </a:r>
          </a:p>
        </p:txBody>
      </p:sp>
      <p:sp>
        <p:nvSpPr>
          <p:cNvPr id="2" name="Rectangle: Rounded Corners 1">
            <a:extLst>
              <a:ext uri="{FF2B5EF4-FFF2-40B4-BE49-F238E27FC236}">
                <a16:creationId xmlns:a16="http://schemas.microsoft.com/office/drawing/2014/main" id="{CC3C3836-E2FF-7E71-49EF-EF69DB861229}"/>
              </a:ext>
            </a:extLst>
          </p:cNvPr>
          <p:cNvSpPr/>
          <p:nvPr/>
        </p:nvSpPr>
        <p:spPr>
          <a:xfrm>
            <a:off x="3143672" y="1289553"/>
            <a:ext cx="6336704" cy="5344540"/>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s-PE" sz="1000" b="1" i="1" dirty="0" err="1">
                <a:solidFill>
                  <a:srgbClr val="1F497D"/>
                </a:solidFill>
                <a:latin typeface="Trebuchet MS" panose="020B0603020202020204" pitchFamily="34" charset="0"/>
              </a:rPr>
              <a:t>Proxies</a:t>
            </a:r>
            <a:r>
              <a:rPr lang="es-PE" sz="1000" b="1" dirty="0">
                <a:solidFill>
                  <a:srgbClr val="1F497D"/>
                </a:solidFill>
                <a:latin typeface="Trebuchet MS" panose="020B0603020202020204" pitchFamily="34" charset="0"/>
              </a:rPr>
              <a:t> ( 17%)</a:t>
            </a:r>
          </a:p>
          <a:p>
            <a:pPr marL="171450" indent="-171450">
              <a:buFont typeface="Arial" panose="020B0604020202020204" pitchFamily="34" charset="0"/>
              <a:buChar char="•"/>
            </a:pPr>
            <a:endParaRPr lang="es-PE" sz="1000" dirty="0">
              <a:solidFill>
                <a:srgbClr val="1F497D"/>
              </a:solidFill>
              <a:latin typeface="Trebuchet MS" panose="020B0603020202020204" pitchFamily="34" charset="0"/>
            </a:endParaRPr>
          </a:p>
          <a:p>
            <a:pPr algn="just"/>
            <a:r>
              <a:rPr lang="es-PE" sz="1000" dirty="0">
                <a:solidFill>
                  <a:srgbClr val="1F497D"/>
                </a:solidFill>
                <a:latin typeface="Trebuchet MS" panose="020B0603020202020204" pitchFamily="34" charset="0"/>
              </a:rPr>
              <a:t>Continuamos usando la metodología de </a:t>
            </a:r>
            <a:r>
              <a:rPr lang="es-PE" sz="1000" i="1" dirty="0" err="1">
                <a:solidFill>
                  <a:srgbClr val="1F497D"/>
                </a:solidFill>
                <a:latin typeface="Trebuchet MS" panose="020B0603020202020204" pitchFamily="34" charset="0"/>
              </a:rPr>
              <a:t>proxies</a:t>
            </a:r>
            <a:r>
              <a:rPr lang="es-PE" sz="1000" dirty="0">
                <a:solidFill>
                  <a:srgbClr val="1F497D"/>
                </a:solidFill>
                <a:latin typeface="Trebuchet MS" panose="020B0603020202020204" pitchFamily="34" charset="0"/>
              </a:rPr>
              <a:t> acordada con el Equipo Funcional ASG para asignar huellas de carbono a los emisores del portafolio sin huella de MSCI. Tomando en cuenta los </a:t>
            </a:r>
            <a:r>
              <a:rPr lang="es-PE" sz="1000" i="1" dirty="0" err="1">
                <a:solidFill>
                  <a:srgbClr val="1F497D"/>
                </a:solidFill>
                <a:latin typeface="Trebuchet MS" panose="020B0603020202020204" pitchFamily="34" charset="0"/>
              </a:rPr>
              <a:t>proxies</a:t>
            </a:r>
            <a:r>
              <a:rPr lang="es-PE" sz="1000" dirty="0">
                <a:solidFill>
                  <a:srgbClr val="1F497D"/>
                </a:solidFill>
                <a:latin typeface="Trebuchet MS" panose="020B0603020202020204" pitchFamily="34" charset="0"/>
              </a:rPr>
              <a:t>, llegamos a cubrir la Huella de Carbono del 100% del portafolio (no se cubre cash ni derivados).</a:t>
            </a:r>
            <a:endParaRPr lang="es-PE" sz="1000" b="1"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pPr algn="just"/>
            <a:endParaRPr lang="es-PE" sz="1000" dirty="0">
              <a:solidFill>
                <a:srgbClr val="1F497D"/>
              </a:solidFill>
              <a:latin typeface="Trebuchet MS" panose="020B0603020202020204" pitchFamily="34" charset="0"/>
            </a:endParaRPr>
          </a:p>
          <a:p>
            <a:endParaRPr lang="es-PE" sz="1000" dirty="0">
              <a:solidFill>
                <a:srgbClr val="1F497D"/>
              </a:solidFill>
              <a:latin typeface="Trebuchet MS" panose="020B0603020202020204" pitchFamily="34" charset="0"/>
            </a:endParaRPr>
          </a:p>
          <a:p>
            <a:endParaRPr lang="es-PE" sz="1000" dirty="0">
              <a:solidFill>
                <a:srgbClr val="1F497D"/>
              </a:solidFill>
              <a:latin typeface="Trebuchet MS" panose="020B0603020202020204" pitchFamily="34" charset="0"/>
            </a:endParaRPr>
          </a:p>
          <a:p>
            <a:endParaRPr lang="es-PE" sz="1000" dirty="0">
              <a:solidFill>
                <a:srgbClr val="1F497D"/>
              </a:solidFill>
              <a:latin typeface="Trebuchet MS" panose="020B0603020202020204" pitchFamily="34" charset="0"/>
            </a:endParaRPr>
          </a:p>
          <a:p>
            <a:r>
              <a:rPr lang="es-PE" sz="1000" dirty="0">
                <a:solidFill>
                  <a:srgbClr val="1F497D"/>
                </a:solidFill>
                <a:latin typeface="Trebuchet MS" panose="020B0603020202020204" pitchFamily="34" charset="0"/>
              </a:rPr>
              <a:t>Reglas: </a:t>
            </a:r>
          </a:p>
          <a:p>
            <a:endParaRPr lang="es-PE" sz="1000" dirty="0">
              <a:solidFill>
                <a:srgbClr val="1F497D"/>
              </a:solidFill>
              <a:latin typeface="Trebuchet MS" panose="020B0603020202020204" pitchFamily="34" charset="0"/>
            </a:endParaRPr>
          </a:p>
          <a:p>
            <a:pPr algn="just"/>
            <a:r>
              <a:rPr lang="es-PE" sz="1000" dirty="0">
                <a:solidFill>
                  <a:srgbClr val="1F497D"/>
                </a:solidFill>
                <a:latin typeface="Trebuchet MS" panose="020B0603020202020204" pitchFamily="34" charset="0"/>
              </a:rPr>
              <a:t>a) </a:t>
            </a:r>
            <a:r>
              <a:rPr lang="es-PE" sz="1000" dirty="0" err="1">
                <a:solidFill>
                  <a:srgbClr val="1F497D"/>
                </a:solidFill>
                <a:latin typeface="Trebuchet MS" panose="020B0603020202020204" pitchFamily="34" charset="0"/>
              </a:rPr>
              <a:t>ETFs</a:t>
            </a:r>
            <a:r>
              <a:rPr lang="es-PE" sz="1000" dirty="0">
                <a:solidFill>
                  <a:srgbClr val="1F497D"/>
                </a:solidFill>
                <a:latin typeface="Trebuchet MS" panose="020B0603020202020204" pitchFamily="34" charset="0"/>
              </a:rPr>
              <a:t> de </a:t>
            </a:r>
            <a:r>
              <a:rPr lang="es-PE" sz="1000" dirty="0" err="1">
                <a:solidFill>
                  <a:srgbClr val="1F497D"/>
                </a:solidFill>
                <a:latin typeface="Trebuchet MS" panose="020B0603020202020204" pitchFamily="34" charset="0"/>
              </a:rPr>
              <a:t>Ishares</a:t>
            </a:r>
            <a:r>
              <a:rPr lang="es-PE" sz="1000" dirty="0">
                <a:solidFill>
                  <a:srgbClr val="1F497D"/>
                </a:solidFill>
                <a:latin typeface="Trebuchet MS" panose="020B0603020202020204" pitchFamily="34" charset="0"/>
              </a:rPr>
              <a:t> para estandarizar las categorías (salvo casos puntuales).</a:t>
            </a:r>
          </a:p>
          <a:p>
            <a:pPr algn="just"/>
            <a:endParaRPr lang="es-PE" sz="1000" dirty="0">
              <a:solidFill>
                <a:srgbClr val="1F497D"/>
              </a:solidFill>
              <a:latin typeface="Trebuchet MS" panose="020B0603020202020204" pitchFamily="34" charset="0"/>
            </a:endParaRPr>
          </a:p>
          <a:p>
            <a:pPr algn="just"/>
            <a:r>
              <a:rPr lang="es-PE" sz="1000" dirty="0">
                <a:solidFill>
                  <a:srgbClr val="1F497D"/>
                </a:solidFill>
                <a:latin typeface="Trebuchet MS" panose="020B0603020202020204" pitchFamily="34" charset="0"/>
              </a:rPr>
              <a:t>b) Para Fondos Alternativos se dividen los </a:t>
            </a:r>
            <a:r>
              <a:rPr lang="es-PE" sz="1000" dirty="0" err="1">
                <a:solidFill>
                  <a:srgbClr val="1F497D"/>
                </a:solidFill>
                <a:latin typeface="Trebuchet MS" panose="020B0603020202020204" pitchFamily="34" charset="0"/>
              </a:rPr>
              <a:t>ETFs</a:t>
            </a:r>
            <a:r>
              <a:rPr lang="es-PE" sz="1000" dirty="0">
                <a:solidFill>
                  <a:srgbClr val="1F497D"/>
                </a:solidFill>
                <a:latin typeface="Trebuchet MS" panose="020B0603020202020204" pitchFamily="34" charset="0"/>
              </a:rPr>
              <a:t> en US y Globales; y </a:t>
            </a:r>
            <a:r>
              <a:rPr lang="es-PE" sz="1000" dirty="0" err="1">
                <a:solidFill>
                  <a:srgbClr val="1F497D"/>
                </a:solidFill>
                <a:latin typeface="Trebuchet MS" panose="020B0603020202020204" pitchFamily="34" charset="0"/>
              </a:rPr>
              <a:t>Buyouts</a:t>
            </a:r>
            <a:r>
              <a:rPr lang="es-PE" sz="1000" dirty="0">
                <a:solidFill>
                  <a:srgbClr val="1F497D"/>
                </a:solidFill>
                <a:latin typeface="Trebuchet MS" panose="020B0603020202020204" pitchFamily="34" charset="0"/>
              </a:rPr>
              <a:t> incluye </a:t>
            </a:r>
            <a:r>
              <a:rPr lang="es-PE" sz="1000" dirty="0" err="1">
                <a:solidFill>
                  <a:srgbClr val="1F497D"/>
                </a:solidFill>
                <a:latin typeface="Trebuchet MS" panose="020B0603020202020204" pitchFamily="34" charset="0"/>
              </a:rPr>
              <a:t>Secondaries</a:t>
            </a:r>
            <a:r>
              <a:rPr lang="es-PE" sz="1000" dirty="0">
                <a:solidFill>
                  <a:srgbClr val="1F497D"/>
                </a:solidFill>
                <a:latin typeface="Trebuchet MS" panose="020B0603020202020204" pitchFamily="34" charset="0"/>
              </a:rPr>
              <a:t>.</a:t>
            </a:r>
          </a:p>
          <a:p>
            <a:pPr algn="just"/>
            <a:endParaRPr lang="es-PE" sz="1000" dirty="0">
              <a:solidFill>
                <a:srgbClr val="1F497D"/>
              </a:solidFill>
              <a:latin typeface="Trebuchet MS" panose="020B0603020202020204" pitchFamily="34" charset="0"/>
            </a:endParaRPr>
          </a:p>
          <a:p>
            <a:pPr algn="just"/>
            <a:r>
              <a:rPr lang="es-PE" sz="1000" dirty="0">
                <a:solidFill>
                  <a:srgbClr val="1F497D"/>
                </a:solidFill>
                <a:latin typeface="Trebuchet MS" panose="020B0603020202020204" pitchFamily="34" charset="0"/>
              </a:rPr>
              <a:t>c) Para Emisores Individuales se utilizan </a:t>
            </a:r>
            <a:r>
              <a:rPr lang="es-PE" sz="1000" dirty="0" err="1">
                <a:solidFill>
                  <a:srgbClr val="1F497D"/>
                </a:solidFill>
                <a:latin typeface="Trebuchet MS" panose="020B0603020202020204" pitchFamily="34" charset="0"/>
              </a:rPr>
              <a:t>ETFs</a:t>
            </a:r>
            <a:r>
              <a:rPr lang="es-PE" sz="1000" dirty="0">
                <a:solidFill>
                  <a:srgbClr val="1F497D"/>
                </a:solidFill>
                <a:latin typeface="Trebuchet MS" panose="020B0603020202020204" pitchFamily="34" charset="0"/>
              </a:rPr>
              <a:t> sectoriales de preferencia y emisores comparables de forma subsidiaria.</a:t>
            </a:r>
          </a:p>
          <a:p>
            <a:pPr algn="just"/>
            <a:endParaRPr lang="es-PE" sz="1000" b="1" dirty="0">
              <a:solidFill>
                <a:srgbClr val="1F497D"/>
              </a:solidFill>
              <a:latin typeface="Trebuchet MS" panose="020B0603020202020204" pitchFamily="34" charset="0"/>
            </a:endParaRPr>
          </a:p>
        </p:txBody>
      </p:sp>
      <p:graphicFrame>
        <p:nvGraphicFramePr>
          <p:cNvPr id="12" name="Table 11">
            <a:extLst>
              <a:ext uri="{FF2B5EF4-FFF2-40B4-BE49-F238E27FC236}">
                <a16:creationId xmlns:a16="http://schemas.microsoft.com/office/drawing/2014/main" id="{103E07B5-3CCC-6F09-7E06-568FC31DBDE6}"/>
              </a:ext>
            </a:extLst>
          </p:cNvPr>
          <p:cNvGraphicFramePr>
            <a:graphicFrameLocks noGrp="1"/>
          </p:cNvGraphicFramePr>
          <p:nvPr>
            <p:extLst>
              <p:ext uri="{D42A27DB-BD31-4B8C-83A1-F6EECF244321}">
                <p14:modId xmlns:p14="http://schemas.microsoft.com/office/powerpoint/2010/main" val="1466627481"/>
              </p:ext>
            </p:extLst>
          </p:nvPr>
        </p:nvGraphicFramePr>
        <p:xfrm>
          <a:off x="3359696" y="2545976"/>
          <a:ext cx="5952763" cy="2571441"/>
        </p:xfrm>
        <a:graphic>
          <a:graphicData uri="http://schemas.openxmlformats.org/drawingml/2006/table">
            <a:tbl>
              <a:tblPr/>
              <a:tblGrid>
                <a:gridCol w="1021933">
                  <a:extLst>
                    <a:ext uri="{9D8B030D-6E8A-4147-A177-3AD203B41FA5}">
                      <a16:colId xmlns:a16="http://schemas.microsoft.com/office/drawing/2014/main" val="4021455913"/>
                    </a:ext>
                  </a:extLst>
                </a:gridCol>
                <a:gridCol w="1021933">
                  <a:extLst>
                    <a:ext uri="{9D8B030D-6E8A-4147-A177-3AD203B41FA5}">
                      <a16:colId xmlns:a16="http://schemas.microsoft.com/office/drawing/2014/main" val="1667359567"/>
                    </a:ext>
                  </a:extLst>
                </a:gridCol>
                <a:gridCol w="978137">
                  <a:extLst>
                    <a:ext uri="{9D8B030D-6E8A-4147-A177-3AD203B41FA5}">
                      <a16:colId xmlns:a16="http://schemas.microsoft.com/office/drawing/2014/main" val="3430915110"/>
                    </a:ext>
                  </a:extLst>
                </a:gridCol>
                <a:gridCol w="978137">
                  <a:extLst>
                    <a:ext uri="{9D8B030D-6E8A-4147-A177-3AD203B41FA5}">
                      <a16:colId xmlns:a16="http://schemas.microsoft.com/office/drawing/2014/main" val="3345320952"/>
                    </a:ext>
                  </a:extLst>
                </a:gridCol>
                <a:gridCol w="978137">
                  <a:extLst>
                    <a:ext uri="{9D8B030D-6E8A-4147-A177-3AD203B41FA5}">
                      <a16:colId xmlns:a16="http://schemas.microsoft.com/office/drawing/2014/main" val="2795133909"/>
                    </a:ext>
                  </a:extLst>
                </a:gridCol>
                <a:gridCol w="974486">
                  <a:extLst>
                    <a:ext uri="{9D8B030D-6E8A-4147-A177-3AD203B41FA5}">
                      <a16:colId xmlns:a16="http://schemas.microsoft.com/office/drawing/2014/main" val="4048533271"/>
                    </a:ext>
                  </a:extLst>
                </a:gridCol>
              </a:tblGrid>
              <a:tr h="253512">
                <a:tc rowSpan="2">
                  <a:txBody>
                    <a:bodyPr/>
                    <a:lstStyle/>
                    <a:p>
                      <a:pPr algn="ctr" fontAlgn="ctr">
                        <a:buNone/>
                      </a:pPr>
                      <a:r>
                        <a:rPr lang="es-PE" sz="700" b="1" i="0" u="none" strike="noStrike" dirty="0">
                          <a:solidFill>
                            <a:srgbClr val="000000"/>
                          </a:solidFill>
                          <a:effectLst/>
                          <a:latin typeface="Trebuchet MS" panose="020B0603020202020204" pitchFamily="34" charset="0"/>
                        </a:rPr>
                        <a:t>BU</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a:txBody>
                    <a:bodyPr/>
                    <a:lstStyle/>
                    <a:p>
                      <a:pPr algn="ctr" fontAlgn="ctr">
                        <a:buNone/>
                      </a:pPr>
                      <a:r>
                        <a:rPr lang="es-PE" sz="700" b="1" i="0" u="none" strike="noStrike">
                          <a:solidFill>
                            <a:srgbClr val="000000"/>
                          </a:solidFill>
                          <a:effectLst/>
                          <a:latin typeface="Trebuchet MS" panose="020B0603020202020204" pitchFamily="34" charset="0"/>
                        </a:rPr>
                        <a:t>Emisores Locales y Latam</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gridSpan="4">
                  <a:txBody>
                    <a:bodyPr/>
                    <a:lstStyle/>
                    <a:p>
                      <a:pPr algn="ctr" fontAlgn="ctr">
                        <a:buNone/>
                      </a:pPr>
                      <a:r>
                        <a:rPr lang="es-PE" sz="700" b="1" i="0" u="none" strike="noStrike" dirty="0">
                          <a:solidFill>
                            <a:srgbClr val="000000"/>
                          </a:solidFill>
                          <a:effectLst/>
                          <a:latin typeface="Trebuchet MS" panose="020B0603020202020204" pitchFamily="34" charset="0"/>
                        </a:rPr>
                        <a:t>Fondos Tradicionales Locales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71620561"/>
                  </a:ext>
                </a:extLst>
              </a:tr>
              <a:tr h="253512">
                <a:tc vMerge="1">
                  <a:txBody>
                    <a:bodyPr/>
                    <a:lstStyle/>
                    <a:p>
                      <a:endParaRPr lang="es-PE"/>
                    </a:p>
                  </a:txBody>
                  <a:tcPr/>
                </a:tc>
                <a:tc>
                  <a:txBody>
                    <a:bodyPr/>
                    <a:lstStyle/>
                    <a:p>
                      <a:pPr algn="ctr" fontAlgn="ctr">
                        <a:buNone/>
                      </a:pPr>
                      <a:r>
                        <a:rPr lang="es-PE" sz="700" b="0" i="0" u="none" strike="noStrike">
                          <a:solidFill>
                            <a:srgbClr val="000000"/>
                          </a:solidFill>
                          <a:effectLst/>
                          <a:latin typeface="Trebuchet MS" panose="020B0603020202020204" pitchFamily="34" charset="0"/>
                        </a:rPr>
                        <a:t>ETFs Sectoriales Ishares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4">
                  <a:txBody>
                    <a:bodyPr/>
                    <a:lstStyle/>
                    <a:p>
                      <a:pPr algn="ctr" fontAlgn="ctr">
                        <a:buNone/>
                      </a:pPr>
                      <a:r>
                        <a:rPr lang="en-US" sz="700" b="0" i="0" u="none" strike="noStrike" dirty="0">
                          <a:solidFill>
                            <a:srgbClr val="000000"/>
                          </a:solidFill>
                          <a:effectLst/>
                          <a:latin typeface="Trebuchet MS" panose="020B0603020202020204" pitchFamily="34" charset="0"/>
                        </a:rPr>
                        <a:t>iShares MSCI Peru and Global Exposure ETF (EPU)</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734992247"/>
                  </a:ext>
                </a:extLst>
              </a:tr>
              <a:tr h="253512">
                <a:tc rowSpan="2">
                  <a:txBody>
                    <a:bodyPr/>
                    <a:lstStyle/>
                    <a:p>
                      <a:pPr algn="ctr" fontAlgn="ctr">
                        <a:buNone/>
                      </a:pPr>
                      <a:r>
                        <a:rPr lang="es-PE" sz="700" b="1" i="0" u="none" strike="noStrike">
                          <a:solidFill>
                            <a:srgbClr val="000000"/>
                          </a:solidFill>
                          <a:effectLst/>
                          <a:latin typeface="Trebuchet MS" panose="020B0603020202020204" pitchFamily="34" charset="0"/>
                        </a:rPr>
                        <a:t>TD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gridSpan="5">
                  <a:txBody>
                    <a:bodyPr/>
                    <a:lstStyle/>
                    <a:p>
                      <a:pPr algn="ctr" fontAlgn="ctr">
                        <a:buNone/>
                      </a:pPr>
                      <a:r>
                        <a:rPr lang="es-PE" sz="700" b="1" i="0" u="none" strike="noStrike" dirty="0">
                          <a:solidFill>
                            <a:srgbClr val="000000"/>
                          </a:solidFill>
                          <a:effectLst/>
                          <a:latin typeface="Trebuchet MS" panose="020B0603020202020204" pitchFamily="34" charset="0"/>
                        </a:rPr>
                        <a:t>Fondos Mutuos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2816977529"/>
                  </a:ext>
                </a:extLst>
              </a:tr>
              <a:tr h="330551">
                <a:tc vMerge="1">
                  <a:txBody>
                    <a:bodyPr/>
                    <a:lstStyle/>
                    <a:p>
                      <a:endParaRPr lang="es-PE"/>
                    </a:p>
                  </a:txBody>
                  <a:tcPr/>
                </a:tc>
                <a:tc gridSpan="5">
                  <a:txBody>
                    <a:bodyPr/>
                    <a:lstStyle/>
                    <a:p>
                      <a:pPr algn="ctr" fontAlgn="ctr">
                        <a:buNone/>
                      </a:pPr>
                      <a:r>
                        <a:rPr lang="es-PE" sz="700" b="0" i="0" u="none" strike="noStrike" dirty="0" err="1">
                          <a:solidFill>
                            <a:srgbClr val="000000"/>
                          </a:solidFill>
                          <a:effectLst/>
                          <a:latin typeface="Trebuchet MS" panose="020B0603020202020204" pitchFamily="34" charset="0"/>
                        </a:rPr>
                        <a:t>iShares</a:t>
                      </a:r>
                      <a:r>
                        <a:rPr lang="es-PE" sz="700" b="0" i="0" u="none" strike="noStrike" dirty="0">
                          <a:solidFill>
                            <a:srgbClr val="000000"/>
                          </a:solidFill>
                          <a:effectLst/>
                          <a:latin typeface="Trebuchet MS" panose="020B0603020202020204" pitchFamily="34" charset="0"/>
                        </a:rPr>
                        <a:t> </a:t>
                      </a:r>
                      <a:r>
                        <a:rPr lang="es-PE" sz="700" b="0" i="0" u="none" strike="noStrike" dirty="0" err="1">
                          <a:solidFill>
                            <a:srgbClr val="000000"/>
                          </a:solidFill>
                          <a:effectLst/>
                          <a:latin typeface="Trebuchet MS" panose="020B0603020202020204" pitchFamily="34" charset="0"/>
                        </a:rPr>
                        <a:t>Latin</a:t>
                      </a:r>
                      <a:r>
                        <a:rPr lang="es-PE" sz="700" b="0" i="0" u="none" strike="noStrike" dirty="0">
                          <a:solidFill>
                            <a:srgbClr val="000000"/>
                          </a:solidFill>
                          <a:effectLst/>
                          <a:latin typeface="Trebuchet MS" panose="020B0603020202020204" pitchFamily="34" charset="0"/>
                        </a:rPr>
                        <a:t> </a:t>
                      </a:r>
                      <a:r>
                        <a:rPr lang="es-PE" sz="700" b="0" i="0" u="none" strike="noStrike" dirty="0" err="1">
                          <a:solidFill>
                            <a:srgbClr val="000000"/>
                          </a:solidFill>
                          <a:effectLst/>
                          <a:latin typeface="Trebuchet MS" panose="020B0603020202020204" pitchFamily="34" charset="0"/>
                        </a:rPr>
                        <a:t>America</a:t>
                      </a:r>
                      <a:r>
                        <a:rPr lang="es-PE" sz="700" b="0" i="0" u="none" strike="noStrike" dirty="0">
                          <a:solidFill>
                            <a:srgbClr val="000000"/>
                          </a:solidFill>
                          <a:effectLst/>
                          <a:latin typeface="Trebuchet MS" panose="020B0603020202020204" pitchFamily="34" charset="0"/>
                        </a:rPr>
                        <a:t> 40 ETF (ILF)/SPDR Blackstone Senior Loan ETF (SRLN)/</a:t>
                      </a:r>
                      <a:r>
                        <a:rPr lang="es-PE" sz="700" b="0" i="0" u="none" strike="noStrike" dirty="0" err="1">
                          <a:solidFill>
                            <a:srgbClr val="000000"/>
                          </a:solidFill>
                          <a:effectLst/>
                          <a:latin typeface="Trebuchet MS" panose="020B0603020202020204" pitchFamily="34" charset="0"/>
                        </a:rPr>
                        <a:t>iShares</a:t>
                      </a:r>
                      <a:r>
                        <a:rPr lang="es-PE" sz="700" b="0" i="0" u="none" strike="noStrike" dirty="0">
                          <a:solidFill>
                            <a:srgbClr val="000000"/>
                          </a:solidFill>
                          <a:effectLst/>
                          <a:latin typeface="Trebuchet MS" panose="020B0603020202020204" pitchFamily="34" charset="0"/>
                        </a:rPr>
                        <a:t>  High </a:t>
                      </a:r>
                      <a:r>
                        <a:rPr lang="es-PE" sz="700" b="0" i="0" u="none" strike="noStrike" dirty="0" err="1">
                          <a:solidFill>
                            <a:srgbClr val="000000"/>
                          </a:solidFill>
                          <a:effectLst/>
                          <a:latin typeface="Trebuchet MS" panose="020B0603020202020204" pitchFamily="34" charset="0"/>
                        </a:rPr>
                        <a:t>Yield</a:t>
                      </a:r>
                      <a:r>
                        <a:rPr lang="es-PE" sz="700" b="0" i="0" u="none" strike="noStrike" dirty="0">
                          <a:solidFill>
                            <a:srgbClr val="000000"/>
                          </a:solidFill>
                          <a:effectLst/>
                          <a:latin typeface="Trebuchet MS" panose="020B0603020202020204" pitchFamily="34" charset="0"/>
                        </a:rPr>
                        <a:t> Corp Bond UCITS ETF EUR D/VanEck JP Morgan EM Local </a:t>
                      </a:r>
                      <a:r>
                        <a:rPr lang="es-PE" sz="700" b="0" i="0" u="none" strike="noStrike" dirty="0" err="1">
                          <a:solidFill>
                            <a:srgbClr val="000000"/>
                          </a:solidFill>
                          <a:effectLst/>
                          <a:latin typeface="Trebuchet MS" panose="020B0603020202020204" pitchFamily="34" charset="0"/>
                        </a:rPr>
                        <a:t>Currency</a:t>
                      </a:r>
                      <a:r>
                        <a:rPr lang="es-PE" sz="700" b="0" i="0" u="none" strike="noStrike" dirty="0">
                          <a:solidFill>
                            <a:srgbClr val="000000"/>
                          </a:solidFill>
                          <a:effectLst/>
                          <a:latin typeface="Trebuchet MS" panose="020B0603020202020204" pitchFamily="34" charset="0"/>
                        </a:rPr>
                        <a:t> Bond ETF (EMLC)/</a:t>
                      </a:r>
                      <a:r>
                        <a:rPr lang="es-PE" sz="700" b="0" i="0" u="none" strike="noStrike" dirty="0" err="1">
                          <a:solidFill>
                            <a:srgbClr val="000000"/>
                          </a:solidFill>
                          <a:effectLst/>
                          <a:latin typeface="Trebuchet MS" panose="020B0603020202020204" pitchFamily="34" charset="0"/>
                        </a:rPr>
                        <a:t>iShares</a:t>
                      </a:r>
                      <a:r>
                        <a:rPr lang="es-PE" sz="700" b="0" i="0" u="none" strike="noStrike" dirty="0">
                          <a:solidFill>
                            <a:srgbClr val="000000"/>
                          </a:solidFill>
                          <a:effectLst/>
                          <a:latin typeface="Trebuchet MS" panose="020B0603020202020204" pitchFamily="34" charset="0"/>
                        </a:rPr>
                        <a:t> MSCI </a:t>
                      </a:r>
                      <a:r>
                        <a:rPr lang="es-PE" sz="700" b="0" i="0" u="none" strike="noStrike" dirty="0" err="1">
                          <a:solidFill>
                            <a:srgbClr val="000000"/>
                          </a:solidFill>
                          <a:effectLst/>
                          <a:latin typeface="Trebuchet MS" panose="020B0603020202020204" pitchFamily="34" charset="0"/>
                        </a:rPr>
                        <a:t>Eurozone</a:t>
                      </a:r>
                      <a:r>
                        <a:rPr lang="es-PE" sz="700" b="0" i="0" u="none" strike="noStrike" dirty="0">
                          <a:solidFill>
                            <a:srgbClr val="000000"/>
                          </a:solidFill>
                          <a:effectLst/>
                          <a:latin typeface="Trebuchet MS" panose="020B0603020202020204" pitchFamily="34" charset="0"/>
                        </a:rPr>
                        <a:t> ETF/</a:t>
                      </a:r>
                      <a:r>
                        <a:rPr lang="es-PE" sz="700" b="0" i="0" u="none" strike="noStrike" dirty="0" err="1">
                          <a:solidFill>
                            <a:srgbClr val="000000"/>
                          </a:solidFill>
                          <a:effectLst/>
                          <a:latin typeface="Trebuchet MS" panose="020B0603020202020204" pitchFamily="34" charset="0"/>
                        </a:rPr>
                        <a:t>iShares</a:t>
                      </a:r>
                      <a:r>
                        <a:rPr lang="es-PE" sz="700" b="0" i="0" u="none" strike="noStrike" dirty="0">
                          <a:solidFill>
                            <a:srgbClr val="000000"/>
                          </a:solidFill>
                          <a:effectLst/>
                          <a:latin typeface="Trebuchet MS" panose="020B0603020202020204" pitchFamily="34" charset="0"/>
                        </a:rPr>
                        <a:t> MSCI </a:t>
                      </a:r>
                      <a:r>
                        <a:rPr lang="es-PE" sz="700" b="0" i="0" u="none" strike="noStrike" dirty="0" err="1">
                          <a:solidFill>
                            <a:srgbClr val="000000"/>
                          </a:solidFill>
                          <a:effectLst/>
                          <a:latin typeface="Trebuchet MS" panose="020B0603020202020204" pitchFamily="34" charset="0"/>
                        </a:rPr>
                        <a:t>All</a:t>
                      </a:r>
                      <a:r>
                        <a:rPr lang="es-PE" sz="700" b="0" i="0" u="none" strike="noStrike" dirty="0">
                          <a:solidFill>
                            <a:srgbClr val="000000"/>
                          </a:solidFill>
                          <a:effectLst/>
                          <a:latin typeface="Trebuchet MS" panose="020B0603020202020204" pitchFamily="34" charset="0"/>
                        </a:rPr>
                        <a:t> Country Asia ex Japan ETF / </a:t>
                      </a:r>
                      <a:r>
                        <a:rPr lang="es-PE" sz="700" b="0" i="0" u="none" strike="noStrike" dirty="0" err="1">
                          <a:solidFill>
                            <a:srgbClr val="000000"/>
                          </a:solidFill>
                          <a:effectLst/>
                          <a:latin typeface="Trebuchet MS" panose="020B0603020202020204" pitchFamily="34" charset="0"/>
                        </a:rPr>
                        <a:t>iShares</a:t>
                      </a:r>
                      <a:r>
                        <a:rPr lang="es-PE" sz="700" b="0" i="0" u="none" strike="noStrike" dirty="0">
                          <a:solidFill>
                            <a:srgbClr val="000000"/>
                          </a:solidFill>
                          <a:effectLst/>
                          <a:latin typeface="Trebuchet MS" panose="020B0603020202020204" pitchFamily="34" charset="0"/>
                        </a:rPr>
                        <a:t> MSCI ACWI ETF (ACWI) / </a:t>
                      </a:r>
                      <a:r>
                        <a:rPr lang="es-PE" sz="700" b="0" i="0" u="none" strike="noStrike" dirty="0" err="1">
                          <a:solidFill>
                            <a:srgbClr val="000000"/>
                          </a:solidFill>
                          <a:effectLst/>
                          <a:latin typeface="Trebuchet MS" panose="020B0603020202020204" pitchFamily="34" charset="0"/>
                        </a:rPr>
                        <a:t>iShares</a:t>
                      </a:r>
                      <a:r>
                        <a:rPr lang="es-PE" sz="700" b="0" i="0" u="none" strike="noStrike" dirty="0">
                          <a:solidFill>
                            <a:srgbClr val="000000"/>
                          </a:solidFill>
                          <a:effectLst/>
                          <a:latin typeface="Trebuchet MS" panose="020B0603020202020204" pitchFamily="34" charset="0"/>
                        </a:rPr>
                        <a:t> MSCI </a:t>
                      </a:r>
                      <a:r>
                        <a:rPr lang="es-PE" sz="700" b="0" i="0" u="none" strike="noStrike" dirty="0" err="1">
                          <a:solidFill>
                            <a:srgbClr val="000000"/>
                          </a:solidFill>
                          <a:effectLst/>
                          <a:latin typeface="Trebuchet MS" panose="020B0603020202020204" pitchFamily="34" charset="0"/>
                        </a:rPr>
                        <a:t>Emerging</a:t>
                      </a:r>
                      <a:r>
                        <a:rPr lang="es-PE" sz="700" b="0" i="0" u="none" strike="noStrike" dirty="0">
                          <a:solidFill>
                            <a:srgbClr val="000000"/>
                          </a:solidFill>
                          <a:effectLst/>
                          <a:latin typeface="Trebuchet MS" panose="020B0603020202020204" pitchFamily="34" charset="0"/>
                        </a:rPr>
                        <a:t> </a:t>
                      </a:r>
                      <a:r>
                        <a:rPr lang="es-PE" sz="700" b="0" i="0" u="none" strike="noStrike" dirty="0" err="1">
                          <a:solidFill>
                            <a:srgbClr val="000000"/>
                          </a:solidFill>
                          <a:effectLst/>
                          <a:latin typeface="Trebuchet MS" panose="020B0603020202020204" pitchFamily="34" charset="0"/>
                        </a:rPr>
                        <a:t>Markets</a:t>
                      </a:r>
                      <a:r>
                        <a:rPr lang="es-PE" sz="700" b="0" i="0" u="none" strike="noStrike" dirty="0">
                          <a:solidFill>
                            <a:srgbClr val="000000"/>
                          </a:solidFill>
                          <a:effectLst/>
                          <a:latin typeface="Trebuchet MS" panose="020B0603020202020204" pitchFamily="34" charset="0"/>
                        </a:rPr>
                        <a:t> ETF (EEM) / </a:t>
                      </a:r>
                      <a:r>
                        <a:rPr lang="en-US" sz="700" b="0" i="0" u="none" strike="noStrike" dirty="0">
                          <a:solidFill>
                            <a:srgbClr val="000000"/>
                          </a:solidFill>
                          <a:effectLst/>
                          <a:latin typeface="Trebuchet MS" panose="020B0603020202020204" pitchFamily="34" charset="0"/>
                        </a:rPr>
                        <a:t>BlackRock Corporate High Yield Fund (HYT) / iShares JP Morgan EM Corporate Bond ETF (CEMB)</a:t>
                      </a:r>
                      <a:endParaRPr lang="es-PE" sz="7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dirty="0"/>
                    </a:p>
                  </a:txBody>
                  <a:tcPr/>
                </a:tc>
                <a:extLst>
                  <a:ext uri="{0D108BD9-81ED-4DB2-BD59-A6C34878D82A}">
                    <a16:rowId xmlns:a16="http://schemas.microsoft.com/office/drawing/2014/main" val="3273032474"/>
                  </a:ext>
                </a:extLst>
              </a:tr>
              <a:tr h="169007">
                <a:tc rowSpan="4">
                  <a:txBody>
                    <a:bodyPr/>
                    <a:lstStyle/>
                    <a:p>
                      <a:pPr algn="ctr" fontAlgn="ctr">
                        <a:buNone/>
                      </a:pPr>
                      <a:r>
                        <a:rPr lang="es-PE" sz="700" b="1" i="0" u="none" strike="noStrike">
                          <a:solidFill>
                            <a:srgbClr val="000000"/>
                          </a:solidFill>
                          <a:effectLst/>
                          <a:latin typeface="Trebuchet MS" panose="020B0603020202020204" pitchFamily="34" charset="0"/>
                        </a:rPr>
                        <a:t>Alts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rowSpan="2">
                  <a:txBody>
                    <a:bodyPr/>
                    <a:lstStyle/>
                    <a:p>
                      <a:pPr algn="ctr" fontAlgn="ctr">
                        <a:buNone/>
                      </a:pPr>
                      <a:r>
                        <a:rPr lang="es-PE" sz="700" b="1" i="0" u="none" strike="noStrike">
                          <a:solidFill>
                            <a:srgbClr val="000000"/>
                          </a:solidFill>
                          <a:effectLst/>
                          <a:latin typeface="Trebuchet MS" panose="020B0603020202020204" pitchFamily="34" charset="0"/>
                        </a:rPr>
                        <a:t>Fondos Locales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gridSpan="4">
                  <a:txBody>
                    <a:bodyPr/>
                    <a:lstStyle/>
                    <a:p>
                      <a:pPr algn="ctr" fontAlgn="ctr">
                        <a:buNone/>
                      </a:pPr>
                      <a:r>
                        <a:rPr lang="es-PE" sz="700" b="1" i="0" u="none" strike="noStrike">
                          <a:solidFill>
                            <a:srgbClr val="000000"/>
                          </a:solidFill>
                          <a:effectLst/>
                          <a:latin typeface="Trebuchet MS" panose="020B0603020202020204" pitchFamily="34" charset="0"/>
                        </a:rPr>
                        <a:t>Fondos Internacionales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279188279"/>
                  </a:ext>
                </a:extLst>
              </a:tr>
              <a:tr h="330551">
                <a:tc vMerge="1">
                  <a:txBody>
                    <a:bodyPr/>
                    <a:lstStyle/>
                    <a:p>
                      <a:endParaRPr lang="es-PE"/>
                    </a:p>
                  </a:txBody>
                  <a:tcPr/>
                </a:tc>
                <a:tc vMerge="1">
                  <a:txBody>
                    <a:bodyPr/>
                    <a:lstStyle/>
                    <a:p>
                      <a:endParaRPr lang="es-PE"/>
                    </a:p>
                  </a:txBody>
                  <a:tcPr/>
                </a:tc>
                <a:tc>
                  <a:txBody>
                    <a:bodyPr/>
                    <a:lstStyle/>
                    <a:p>
                      <a:pPr algn="ctr" fontAlgn="ctr">
                        <a:buNone/>
                      </a:pPr>
                      <a:r>
                        <a:rPr lang="es-PE" sz="700" b="1" i="0" u="none" strike="noStrike" dirty="0" err="1">
                          <a:solidFill>
                            <a:srgbClr val="000000"/>
                          </a:solidFill>
                          <a:effectLst/>
                          <a:latin typeface="Trebuchet MS" panose="020B0603020202020204" pitchFamily="34" charset="0"/>
                        </a:rPr>
                        <a:t>Buyouts</a:t>
                      </a:r>
                      <a:r>
                        <a:rPr lang="es-PE" sz="700" b="1" i="0" u="none" strike="noStrike" dirty="0">
                          <a:solidFill>
                            <a:srgbClr val="000000"/>
                          </a:solidFill>
                          <a:effectLst/>
                          <a:latin typeface="Trebuchet MS" panose="020B0603020202020204" pitchFamily="34" charset="0"/>
                        </a:rPr>
                        <a:t> (incluye </a:t>
                      </a:r>
                      <a:r>
                        <a:rPr lang="es-PE" sz="700" b="1" i="0" u="none" strike="noStrike" dirty="0" err="1">
                          <a:solidFill>
                            <a:srgbClr val="000000"/>
                          </a:solidFill>
                          <a:effectLst/>
                          <a:latin typeface="Trebuchet MS" panose="020B0603020202020204" pitchFamily="34" charset="0"/>
                        </a:rPr>
                        <a:t>Secondaries</a:t>
                      </a:r>
                      <a:r>
                        <a:rPr lang="es-PE" sz="700" b="1" i="0" u="none" strike="noStrike" dirty="0">
                          <a:solidFill>
                            <a:srgbClr val="000000"/>
                          </a:solidFill>
                          <a:effectLst/>
                          <a:latin typeface="Trebuchet MS" panose="020B0603020202020204" pitchFamily="34" charset="0"/>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a:txBody>
                    <a:bodyPr/>
                    <a:lstStyle/>
                    <a:p>
                      <a:pPr algn="ctr" fontAlgn="ctr">
                        <a:buNone/>
                      </a:pPr>
                      <a:r>
                        <a:rPr lang="es-PE" sz="700" b="1" i="0" u="none" strike="noStrike">
                          <a:solidFill>
                            <a:srgbClr val="000000"/>
                          </a:solidFill>
                          <a:effectLst/>
                          <a:latin typeface="Trebuchet MS" panose="020B0603020202020204" pitchFamily="34" charset="0"/>
                        </a:rPr>
                        <a:t>Private Debt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a:txBody>
                    <a:bodyPr/>
                    <a:lstStyle/>
                    <a:p>
                      <a:pPr algn="ctr" fontAlgn="ctr">
                        <a:buNone/>
                      </a:pPr>
                      <a:r>
                        <a:rPr lang="es-PE" sz="700" b="1" i="0" u="none" strike="noStrike">
                          <a:solidFill>
                            <a:srgbClr val="000000"/>
                          </a:solidFill>
                          <a:effectLst/>
                          <a:latin typeface="Trebuchet MS" panose="020B0603020202020204" pitchFamily="34" charset="0"/>
                        </a:rPr>
                        <a:t>Real Estate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a:txBody>
                    <a:bodyPr/>
                    <a:lstStyle/>
                    <a:p>
                      <a:pPr algn="ctr" fontAlgn="ctr">
                        <a:buNone/>
                      </a:pPr>
                      <a:r>
                        <a:rPr lang="es-PE" sz="700" b="1" i="0" u="none" strike="noStrike" dirty="0">
                          <a:solidFill>
                            <a:srgbClr val="000000"/>
                          </a:solidFill>
                          <a:effectLst/>
                          <a:latin typeface="Trebuchet MS" panose="020B0603020202020204" pitchFamily="34" charset="0"/>
                        </a:rPr>
                        <a:t>Infraestructura</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extLst>
                  <a:ext uri="{0D108BD9-81ED-4DB2-BD59-A6C34878D82A}">
                    <a16:rowId xmlns:a16="http://schemas.microsoft.com/office/drawing/2014/main" val="2860613032"/>
                  </a:ext>
                </a:extLst>
              </a:tr>
              <a:tr h="437551">
                <a:tc vMerge="1">
                  <a:txBody>
                    <a:bodyPr/>
                    <a:lstStyle/>
                    <a:p>
                      <a:endParaRPr lang="es-PE"/>
                    </a:p>
                  </a:txBody>
                  <a:tcPr/>
                </a:tc>
                <a:tc rowSpan="2">
                  <a:txBody>
                    <a:bodyPr/>
                    <a:lstStyle/>
                    <a:p>
                      <a:pPr algn="ctr" fontAlgn="ctr">
                        <a:buNone/>
                      </a:pPr>
                      <a:r>
                        <a:rPr lang="en-US" sz="700" b="0" i="0" u="none" strike="noStrike" dirty="0">
                          <a:solidFill>
                            <a:srgbClr val="000000"/>
                          </a:solidFill>
                          <a:effectLst/>
                          <a:latin typeface="Trebuchet MS" panose="020B0603020202020204" pitchFamily="34" charset="0"/>
                        </a:rPr>
                        <a:t>iShares MSCI Peru and Global Exposure ETF (EPU)</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Trebuchet MS" panose="020B0603020202020204" pitchFamily="34" charset="0"/>
                        </a:rPr>
                        <a:t>iShares Core S&amp;P 500 ETF (IVV)</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Trebuchet MS" panose="020B0603020202020204" pitchFamily="34" charset="0"/>
                        </a:rPr>
                        <a:t>iShares iBoxx $ High Yield Corporate Bond ETF (HYG)</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Trebuchet MS" panose="020B0603020202020204" pitchFamily="34" charset="0"/>
                        </a:rPr>
                        <a:t>iShares U.S. Real Estate ETF (IYR)</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Trebuchet MS" panose="020B0603020202020204" pitchFamily="34" charset="0"/>
                        </a:rPr>
                        <a:t>iShares Trust - iShares U.S. Infrastructure ETF (IFRA)</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3276495"/>
                  </a:ext>
                </a:extLst>
              </a:tr>
              <a:tr h="437551">
                <a:tc vMerge="1">
                  <a:txBody>
                    <a:bodyPr/>
                    <a:lstStyle/>
                    <a:p>
                      <a:endParaRPr lang="es-PE"/>
                    </a:p>
                  </a:txBody>
                  <a:tcPr/>
                </a:tc>
                <a:tc vMerge="1">
                  <a:txBody>
                    <a:bodyPr/>
                    <a:lstStyle/>
                    <a:p>
                      <a:endParaRPr lang="es-PE"/>
                    </a:p>
                  </a:txBody>
                  <a:tcPr/>
                </a:tc>
                <a:tc>
                  <a:txBody>
                    <a:bodyPr/>
                    <a:lstStyle/>
                    <a:p>
                      <a:pPr algn="ctr" fontAlgn="ctr">
                        <a:buNone/>
                      </a:pPr>
                      <a:r>
                        <a:rPr lang="en-US" sz="700" b="0" i="0" u="none" strike="noStrike">
                          <a:solidFill>
                            <a:srgbClr val="000000"/>
                          </a:solidFill>
                          <a:effectLst/>
                          <a:latin typeface="Trebuchet MS" panose="020B0603020202020204" pitchFamily="34" charset="0"/>
                        </a:rPr>
                        <a:t>iShares Trust - iShares MSCI ACWI ETF (ACWI)</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Trebuchet MS" panose="020B0603020202020204" pitchFamily="34" charset="0"/>
                        </a:rPr>
                        <a:t>iShares US &amp; Intl High Yield Corp Bond ETF (GHYG)</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Trebuchet MS" panose="020B0603020202020204" pitchFamily="34" charset="0"/>
                        </a:rPr>
                        <a:t>iShares Global REIT ETF (REET)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Trebuchet MS" panose="020B0603020202020204" pitchFamily="34" charset="0"/>
                        </a:rPr>
                        <a:t>iShares Trust - iShares Global Infrastructure ETF (IGF)</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0572229"/>
                  </a:ext>
                </a:extLst>
              </a:tr>
            </a:tbl>
          </a:graphicData>
        </a:graphic>
      </p:graphicFrame>
    </p:spTree>
    <p:extLst>
      <p:ext uri="{BB962C8B-B14F-4D97-AF65-F5344CB8AC3E}">
        <p14:creationId xmlns:p14="http://schemas.microsoft.com/office/powerpoint/2010/main" val="3655249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F2DF2-47E2-2642-0E68-F0F4937EFD9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57DBF8-DD58-3EA6-7BAC-4762725589A8}"/>
              </a:ext>
            </a:extLst>
          </p:cNvPr>
          <p:cNvSpPr>
            <a:spLocks noGrp="1"/>
          </p:cNvSpPr>
          <p:nvPr>
            <p:ph type="title"/>
          </p:nvPr>
        </p:nvSpPr>
        <p:spPr>
          <a:xfrm>
            <a:off x="15086" y="-6200"/>
            <a:ext cx="10512508" cy="676275"/>
          </a:xfrm>
        </p:spPr>
        <p:txBody>
          <a:bodyPr>
            <a:noAutofit/>
          </a:bodyPr>
          <a:lstStyle/>
          <a:p>
            <a:r>
              <a:rPr lang="es-ES" sz="2000" dirty="0"/>
              <a:t>2.2 Huella de Carbono – Medición de Huella e Intensidad del </a:t>
            </a:r>
            <a:r>
              <a:rPr lang="es-ES" sz="2000" u="sng" dirty="0"/>
              <a:t>Portafolio</a:t>
            </a:r>
            <a:r>
              <a:rPr lang="es-ES" sz="2000" dirty="0"/>
              <a:t>: Resultados Jun2026</a:t>
            </a:r>
          </a:p>
        </p:txBody>
      </p:sp>
      <p:sp>
        <p:nvSpPr>
          <p:cNvPr id="18" name="Rectangle 17">
            <a:extLst>
              <a:ext uri="{FF2B5EF4-FFF2-40B4-BE49-F238E27FC236}">
                <a16:creationId xmlns:a16="http://schemas.microsoft.com/office/drawing/2014/main" id="{A48B0BEF-0650-9F27-4F37-4D101B2820B5}"/>
              </a:ext>
            </a:extLst>
          </p:cNvPr>
          <p:cNvSpPr/>
          <p:nvPr/>
        </p:nvSpPr>
        <p:spPr>
          <a:xfrm>
            <a:off x="776542" y="3148396"/>
            <a:ext cx="643400" cy="149299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GOB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(GDP)</a:t>
            </a:r>
            <a:endParaRPr kumimoji="0" lang="es-PE" sz="1200" b="0" i="0" u="none" strike="noStrike" kern="1200" cap="none" spc="0" normalizeH="0" baseline="0" noProof="0" dirty="0">
              <a:ln>
                <a:noFill/>
              </a:ln>
              <a:solidFill>
                <a:srgbClr val="CEDBE6">
                  <a:lumMod val="10000"/>
                </a:srgbClr>
              </a:solidFill>
              <a:effectLst/>
              <a:uLnTx/>
              <a:uFillTx/>
              <a:latin typeface="Trebuchet MS" panose="020B0603020202020204" pitchFamily="34" charset="0"/>
              <a:ea typeface="+mn-ea"/>
              <a:cs typeface="+mn-cs"/>
            </a:endParaRPr>
          </a:p>
        </p:txBody>
      </p:sp>
      <p:sp>
        <p:nvSpPr>
          <p:cNvPr id="24" name="TextBox 23">
            <a:extLst>
              <a:ext uri="{FF2B5EF4-FFF2-40B4-BE49-F238E27FC236}">
                <a16:creationId xmlns:a16="http://schemas.microsoft.com/office/drawing/2014/main" id="{76B542F7-2D54-8D62-9627-8B2293E20DC1}"/>
              </a:ext>
            </a:extLst>
          </p:cNvPr>
          <p:cNvSpPr txBox="1"/>
          <p:nvPr/>
        </p:nvSpPr>
        <p:spPr>
          <a:xfrm>
            <a:off x="7917268" y="3089245"/>
            <a:ext cx="973818" cy="276999"/>
          </a:xfrm>
          <a:prstGeom prst="rect">
            <a:avLst/>
          </a:prstGeom>
          <a:solidFill>
            <a:schemeClr val="bg1">
              <a:lumMod val="9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2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Total: 124</a:t>
            </a:r>
            <a:endParaRPr kumimoji="0" lang="es-PE" sz="1200" b="0" i="0" u="none" strike="noStrike" kern="1200" cap="none" spc="0" normalizeH="0" baseline="0" noProof="0" dirty="0">
              <a:ln>
                <a:noFill/>
              </a:ln>
              <a:solidFill>
                <a:srgbClr val="1E2E6E"/>
              </a:solidFill>
              <a:effectLst/>
              <a:uLnTx/>
              <a:uFillTx/>
              <a:latin typeface="Century Schoolbook" panose="02040604050505020304"/>
              <a:ea typeface="+mn-ea"/>
              <a:cs typeface="+mn-cs"/>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7A57A78-FAB0-182B-5320-18018E88A061}"/>
                  </a:ext>
                </a:extLst>
              </p:cNvPr>
              <p:cNvSpPr txBox="1"/>
              <p:nvPr/>
            </p:nvSpPr>
            <p:spPr>
              <a:xfrm>
                <a:off x="6752616" y="3553139"/>
                <a:ext cx="1439739" cy="4336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9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Fórmula:</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m:t>
                    </m:r>
                    <m:f>
                      <m:fPr>
                        <m:ctrlPr>
                          <a:rPr kumimoji="0" lang="en-US"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ctrlPr>
                      </m:fPr>
                      <m:num>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𝑇𝑛</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 </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𝐶𝑂</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2</m:t>
                        </m:r>
                      </m:num>
                      <m:den>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𝑃𝑃𝑃</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 −</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𝐺𝐷𝑃</m:t>
                        </m:r>
                      </m:den>
                    </m:f>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m:t>
                    </m:r>
                  </m:oMath>
                </a14:m>
                <a:r>
                  <a:rPr kumimoji="0" lang="es-PE" sz="900" b="0" i="1"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a:t>
                </a:r>
                <a14:m>
                  <m:oMath xmlns:m="http://schemas.openxmlformats.org/officeDocument/2006/math">
                    <m:r>
                      <a:rPr kumimoji="0" lang="es-PE" sz="900" b="0" i="1" u="none" strike="noStrike" kern="1200" cap="none" spc="0" normalizeH="0" baseline="0" noProof="0">
                        <a:ln>
                          <a:noFill/>
                        </a:ln>
                        <a:solidFill>
                          <a:srgbClr val="1F497D"/>
                        </a:solidFill>
                        <a:effectLst/>
                        <a:uLnTx/>
                        <a:uFillTx/>
                        <a:latin typeface="Cambria Math" panose="02040503050406030204" pitchFamily="18" charset="0"/>
                        <a:ea typeface="+mn-ea"/>
                        <a:cs typeface="+mn-cs"/>
                      </a:rPr>
                      <m:t>(</m:t>
                    </m:r>
                    <m:f>
                      <m:fPr>
                        <m:ctrlPr>
                          <a:rPr kumimoji="0" lang="en-US" sz="900" b="0" i="1" u="none" strike="noStrike" kern="1200" cap="none" spc="0" normalizeH="0" baseline="0" noProof="0">
                            <a:ln>
                              <a:noFill/>
                            </a:ln>
                            <a:solidFill>
                              <a:srgbClr val="1F497D"/>
                            </a:solidFill>
                            <a:effectLst/>
                            <a:uLnTx/>
                            <a:uFillTx/>
                            <a:latin typeface="Cambria Math" panose="02040503050406030204" pitchFamily="18" charset="0"/>
                            <a:ea typeface="+mn-ea"/>
                            <a:cs typeface="+mn-cs"/>
                          </a:rPr>
                        </m:ctrlPr>
                      </m:fPr>
                      <m:num>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𝐼𝑛𝑣𝑒𝑟𝑠𝑖</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ó</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𝑛</m:t>
                        </m:r>
                      </m:num>
                      <m:den>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𝐴𝑈𝑀</m:t>
                        </m:r>
                        <m:r>
                          <a:rPr kumimoji="0" lang="es-ES"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 </m:t>
                        </m:r>
                        <m:r>
                          <a:rPr kumimoji="0" lang="es-ES"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𝐶𝑢𝑏𝑖𝑒𝑟𝑡𝑜</m:t>
                        </m:r>
                      </m:den>
                    </m:f>
                    <m:r>
                      <a:rPr kumimoji="0" lang="es-PE" sz="900" b="0" i="1" u="none" strike="noStrike" kern="1200" cap="none" spc="0" normalizeH="0" baseline="0" noProof="0">
                        <a:ln>
                          <a:noFill/>
                        </a:ln>
                        <a:solidFill>
                          <a:srgbClr val="1F497D"/>
                        </a:solidFill>
                        <a:effectLst/>
                        <a:uLnTx/>
                        <a:uFillTx/>
                        <a:latin typeface="Cambria Math" panose="02040503050406030204" pitchFamily="18" charset="0"/>
                        <a:ea typeface="+mn-ea"/>
                        <a:cs typeface="+mn-cs"/>
                      </a:rPr>
                      <m:t>)</m:t>
                    </m:r>
                  </m:oMath>
                </a14:m>
                <a:endParaRPr kumimoji="0" lang="es-PE" sz="900" b="0" i="1"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mc:Choice>
        <mc:Fallback xmlns="">
          <p:sp>
            <p:nvSpPr>
              <p:cNvPr id="26" name="TextBox 25">
                <a:extLst>
                  <a:ext uri="{FF2B5EF4-FFF2-40B4-BE49-F238E27FC236}">
                    <a16:creationId xmlns:a16="http://schemas.microsoft.com/office/drawing/2014/main" id="{97A57A78-FAB0-182B-5320-18018E88A061}"/>
                  </a:ext>
                </a:extLst>
              </p:cNvPr>
              <p:cNvSpPr txBox="1">
                <a:spLocks noRot="1" noChangeAspect="1" noMove="1" noResize="1" noEditPoints="1" noAdjustHandles="1" noChangeArrowheads="1" noChangeShapeType="1" noTextEdit="1"/>
              </p:cNvSpPr>
              <p:nvPr/>
            </p:nvSpPr>
            <p:spPr>
              <a:xfrm>
                <a:off x="6752616" y="3553139"/>
                <a:ext cx="1439739" cy="433645"/>
              </a:xfrm>
              <a:prstGeom prst="rect">
                <a:avLst/>
              </a:prstGeom>
              <a:blipFill>
                <a:blip r:embed="rId3"/>
                <a:stretch>
                  <a:fillRect/>
                </a:stretch>
              </a:blipFill>
            </p:spPr>
            <p:txBody>
              <a:bodyPr/>
              <a:lstStyle/>
              <a:p>
                <a:r>
                  <a:rPr lang="es-PE">
                    <a:noFill/>
                  </a:rPr>
                  <a:t> </a:t>
                </a:r>
              </a:p>
            </p:txBody>
          </p:sp>
        </mc:Fallback>
      </mc:AlternateContent>
      <p:sp>
        <p:nvSpPr>
          <p:cNvPr id="33" name="Rectangle: Rounded Corners 32">
            <a:extLst>
              <a:ext uri="{FF2B5EF4-FFF2-40B4-BE49-F238E27FC236}">
                <a16:creationId xmlns:a16="http://schemas.microsoft.com/office/drawing/2014/main" id="{D0E50B7E-28FE-389D-0D8F-76B4DE65C6E4}"/>
              </a:ext>
            </a:extLst>
          </p:cNvPr>
          <p:cNvSpPr/>
          <p:nvPr/>
        </p:nvSpPr>
        <p:spPr>
          <a:xfrm>
            <a:off x="734665" y="3017237"/>
            <a:ext cx="11265520" cy="1657673"/>
          </a:xfrm>
          <a:prstGeom prst="roundRect">
            <a:avLst>
              <a:gd name="adj" fmla="val 0"/>
            </a:avLst>
          </a:prstGeom>
          <a:noFill/>
          <a:ln w="12700">
            <a:solidFill>
              <a:schemeClr val="accent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35" name="Rectangle 34">
            <a:extLst>
              <a:ext uri="{FF2B5EF4-FFF2-40B4-BE49-F238E27FC236}">
                <a16:creationId xmlns:a16="http://schemas.microsoft.com/office/drawing/2014/main" id="{83A61797-5AA6-2ADA-9BA6-C47BD1A3FD5B}"/>
              </a:ext>
            </a:extLst>
          </p:cNvPr>
          <p:cNvSpPr/>
          <p:nvPr/>
        </p:nvSpPr>
        <p:spPr>
          <a:xfrm>
            <a:off x="6714498" y="989396"/>
            <a:ext cx="45719" cy="5742920"/>
          </a:xfrm>
          <a:prstGeom prst="rect">
            <a:avLst/>
          </a:prstGeom>
          <a:solidFill>
            <a:srgbClr val="D4EAF3">
              <a:alpha val="4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200" b="0" i="0" u="none" strike="noStrike" kern="1200" cap="none" spc="0" normalizeH="0" baseline="0" noProof="0" dirty="0">
              <a:ln>
                <a:noFill/>
              </a:ln>
              <a:solidFill>
                <a:srgbClr val="CEDBE6">
                  <a:lumMod val="10000"/>
                </a:srgbClr>
              </a:solidFill>
              <a:effectLst/>
              <a:uLnTx/>
              <a:uFillTx/>
              <a:latin typeface="Trebuchet MS" panose="020B0603020202020204" pitchFamily="34" charset="0"/>
              <a:ea typeface="+mn-ea"/>
              <a:cs typeface="+mn-cs"/>
            </a:endParaRPr>
          </a:p>
        </p:txBody>
      </p:sp>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0D73DA43-3F76-EBF7-44F5-EEC92CA0AADA}"/>
                  </a:ext>
                </a:extLst>
              </p:cNvPr>
              <p:cNvSpPr txBox="1"/>
              <p:nvPr/>
            </p:nvSpPr>
            <p:spPr>
              <a:xfrm>
                <a:off x="1430032" y="3582237"/>
                <a:ext cx="1344580" cy="4284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9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Fórmula:</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m:t>
                    </m:r>
                    <m:f>
                      <m:fPr>
                        <m:ctrlPr>
                          <a:rPr kumimoji="0" lang="en-US"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ctrlPr>
                      </m:fPr>
                      <m:num>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𝑇𝑛</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 </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𝐶𝑂</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2</m:t>
                        </m:r>
                      </m:num>
                      <m:den>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𝑃𝑃𝑃</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 −</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𝐺𝐷𝑃</m:t>
                        </m:r>
                      </m:den>
                    </m:f>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m:t>
                    </m:r>
                  </m:oMath>
                </a14:m>
                <a:r>
                  <a:rPr kumimoji="0" lang="es-PE" sz="900" b="0" i="1"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a:t>
                </a:r>
                <a14:m>
                  <m:oMath xmlns:m="http://schemas.openxmlformats.org/officeDocument/2006/math">
                    <m:r>
                      <a:rPr kumimoji="0" lang="es-PE" sz="900" b="0" i="1" u="none" strike="noStrike" kern="1200" cap="none" spc="0" normalizeH="0" baseline="0" noProof="0">
                        <a:ln>
                          <a:noFill/>
                        </a:ln>
                        <a:solidFill>
                          <a:srgbClr val="1F497D"/>
                        </a:solidFill>
                        <a:effectLst/>
                        <a:uLnTx/>
                        <a:uFillTx/>
                        <a:latin typeface="Cambria Math" panose="02040503050406030204" pitchFamily="18" charset="0"/>
                        <a:ea typeface="+mn-ea"/>
                        <a:cs typeface="+mn-cs"/>
                      </a:rPr>
                      <m:t>(</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𝐼𝑛𝑣𝑒𝑟𝑠𝑖</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ó</m:t>
                    </m:r>
                    <m:r>
                      <a:rPr kumimoji="0" lang="es-PE" sz="9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𝑛</m:t>
                    </m:r>
                    <m:r>
                      <a:rPr kumimoji="0" lang="es-PE" sz="900" b="0" i="1" u="none" strike="noStrike" kern="1200" cap="none" spc="0" normalizeH="0" baseline="0" noProof="0">
                        <a:ln>
                          <a:noFill/>
                        </a:ln>
                        <a:solidFill>
                          <a:srgbClr val="1F497D"/>
                        </a:solidFill>
                        <a:effectLst/>
                        <a:uLnTx/>
                        <a:uFillTx/>
                        <a:latin typeface="Cambria Math" panose="02040503050406030204" pitchFamily="18" charset="0"/>
                        <a:ea typeface="+mn-ea"/>
                        <a:cs typeface="+mn-cs"/>
                      </a:rPr>
                      <m:t>)</m:t>
                    </m:r>
                  </m:oMath>
                </a14:m>
                <a:endParaRPr kumimoji="0" lang="es-PE" sz="900" b="0" i="1"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mc:Choice>
        <mc:Fallback xmlns="">
          <p:sp>
            <p:nvSpPr>
              <p:cNvPr id="115" name="TextBox 114">
                <a:extLst>
                  <a:ext uri="{FF2B5EF4-FFF2-40B4-BE49-F238E27FC236}">
                    <a16:creationId xmlns:a16="http://schemas.microsoft.com/office/drawing/2014/main" id="{0D73DA43-3F76-EBF7-44F5-EEC92CA0AADA}"/>
                  </a:ext>
                </a:extLst>
              </p:cNvPr>
              <p:cNvSpPr txBox="1">
                <a:spLocks noRot="1" noChangeAspect="1" noMove="1" noResize="1" noEditPoints="1" noAdjustHandles="1" noChangeArrowheads="1" noChangeShapeType="1" noTextEdit="1"/>
              </p:cNvSpPr>
              <p:nvPr/>
            </p:nvSpPr>
            <p:spPr>
              <a:xfrm>
                <a:off x="1430032" y="3582237"/>
                <a:ext cx="1344580" cy="428451"/>
              </a:xfrm>
              <a:prstGeom prst="rect">
                <a:avLst/>
              </a:prstGeom>
              <a:blipFill>
                <a:blip r:embed="rId4"/>
                <a:stretch>
                  <a:fillRect/>
                </a:stretch>
              </a:blipFill>
            </p:spPr>
            <p:txBody>
              <a:bodyPr/>
              <a:lstStyle/>
              <a:p>
                <a:r>
                  <a:rPr lang="es-PE">
                    <a:noFill/>
                  </a:rPr>
                  <a:t> </a:t>
                </a:r>
              </a:p>
            </p:txBody>
          </p:sp>
        </mc:Fallback>
      </mc:AlternateContent>
      <p:sp>
        <p:nvSpPr>
          <p:cNvPr id="134" name="TextBox 133">
            <a:extLst>
              <a:ext uri="{FF2B5EF4-FFF2-40B4-BE49-F238E27FC236}">
                <a16:creationId xmlns:a16="http://schemas.microsoft.com/office/drawing/2014/main" id="{9B681504-06FE-4487-A104-F64E188D2518}"/>
              </a:ext>
            </a:extLst>
          </p:cNvPr>
          <p:cNvSpPr txBox="1"/>
          <p:nvPr/>
        </p:nvSpPr>
        <p:spPr>
          <a:xfrm>
            <a:off x="2579373" y="3089245"/>
            <a:ext cx="1034222" cy="276999"/>
          </a:xfrm>
          <a:prstGeom prst="rect">
            <a:avLst/>
          </a:prstGeom>
          <a:solidFill>
            <a:schemeClr val="bg1">
              <a:lumMod val="9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2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Total: 530</a:t>
            </a:r>
            <a:endParaRPr kumimoji="0" lang="es-PE" sz="1200" b="0" i="0" u="none" strike="noStrike" kern="1200" cap="none" spc="0" normalizeH="0" baseline="0" noProof="0" dirty="0">
              <a:ln>
                <a:noFill/>
              </a:ln>
              <a:solidFill>
                <a:srgbClr val="1E2E6E"/>
              </a:solidFill>
              <a:effectLst/>
              <a:uLnTx/>
              <a:uFillTx/>
              <a:latin typeface="Century Schoolbook" panose="02040604050505020304"/>
              <a:ea typeface="+mn-ea"/>
              <a:cs typeface="+mn-cs"/>
            </a:endParaRPr>
          </a:p>
        </p:txBody>
      </p:sp>
      <p:sp>
        <p:nvSpPr>
          <p:cNvPr id="135" name="TextBox 134">
            <a:extLst>
              <a:ext uri="{FF2B5EF4-FFF2-40B4-BE49-F238E27FC236}">
                <a16:creationId xmlns:a16="http://schemas.microsoft.com/office/drawing/2014/main" id="{42DEB6CE-EBC3-81D0-EF15-A41A5857F6D7}"/>
              </a:ext>
            </a:extLst>
          </p:cNvPr>
          <p:cNvSpPr txBox="1"/>
          <p:nvPr/>
        </p:nvSpPr>
        <p:spPr>
          <a:xfrm>
            <a:off x="4983377" y="3118300"/>
            <a:ext cx="973818" cy="276999"/>
          </a:xfrm>
          <a:prstGeom prst="rect">
            <a:avLst/>
          </a:prstGeom>
          <a:solidFill>
            <a:schemeClr val="bg1">
              <a:lumMod val="9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2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Total: 510</a:t>
            </a:r>
            <a:endParaRPr kumimoji="0" lang="es-PE" sz="1200" b="0" i="0" u="none" strike="noStrike" kern="1200" cap="none" spc="0" normalizeH="0" baseline="0" noProof="0" dirty="0">
              <a:ln>
                <a:noFill/>
              </a:ln>
              <a:solidFill>
                <a:srgbClr val="1E2E6E"/>
              </a:solidFill>
              <a:effectLst/>
              <a:uLnTx/>
              <a:uFillTx/>
              <a:latin typeface="Century Schoolbook" panose="02040604050505020304"/>
              <a:ea typeface="+mn-ea"/>
              <a:cs typeface="+mn-cs"/>
            </a:endParaRPr>
          </a:p>
        </p:txBody>
      </p:sp>
      <p:sp>
        <p:nvSpPr>
          <p:cNvPr id="137" name="TextBox 136">
            <a:extLst>
              <a:ext uri="{FF2B5EF4-FFF2-40B4-BE49-F238E27FC236}">
                <a16:creationId xmlns:a16="http://schemas.microsoft.com/office/drawing/2014/main" id="{1E35B482-2454-F6CB-208B-9622C1C23607}"/>
              </a:ext>
            </a:extLst>
          </p:cNvPr>
          <p:cNvSpPr txBox="1"/>
          <p:nvPr/>
        </p:nvSpPr>
        <p:spPr>
          <a:xfrm>
            <a:off x="10224696" y="3089245"/>
            <a:ext cx="1094277" cy="276999"/>
          </a:xfrm>
          <a:prstGeom prst="rect">
            <a:avLst/>
          </a:prstGeom>
          <a:solidFill>
            <a:schemeClr val="bg1">
              <a:lumMod val="9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2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Total: 136</a:t>
            </a:r>
            <a:endParaRPr kumimoji="0" lang="es-PE" sz="1200" b="0" i="0" u="none" strike="noStrike" kern="1200" cap="none" spc="0" normalizeH="0" baseline="0" noProof="0" dirty="0">
              <a:ln>
                <a:noFill/>
              </a:ln>
              <a:solidFill>
                <a:srgbClr val="1E2E6E"/>
              </a:solidFill>
              <a:effectLst/>
              <a:uLnTx/>
              <a:uFillTx/>
              <a:latin typeface="Century Schoolbook" panose="02040604050505020304"/>
              <a:ea typeface="+mn-ea"/>
              <a:cs typeface="+mn-cs"/>
            </a:endParaRPr>
          </a:p>
        </p:txBody>
      </p:sp>
      <p:sp>
        <p:nvSpPr>
          <p:cNvPr id="162" name="TextBox 161">
            <a:extLst>
              <a:ext uri="{FF2B5EF4-FFF2-40B4-BE49-F238E27FC236}">
                <a16:creationId xmlns:a16="http://schemas.microsoft.com/office/drawing/2014/main" id="{AC4DD7FB-0638-5223-5B18-723170714C35}"/>
              </a:ext>
            </a:extLst>
          </p:cNvPr>
          <p:cNvSpPr txBox="1"/>
          <p:nvPr/>
        </p:nvSpPr>
        <p:spPr>
          <a:xfrm>
            <a:off x="8193089" y="707418"/>
            <a:ext cx="2746414"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12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Intensidad (Tn. CO2 /USD MM AUM)</a:t>
            </a:r>
            <a:endParaRPr kumimoji="0" lang="es-PE" sz="1200" b="0" i="0" u="none" strike="noStrike" kern="1200" cap="none" spc="0" normalizeH="0" baseline="0" noProof="0" dirty="0">
              <a:ln>
                <a:noFill/>
              </a:ln>
              <a:solidFill>
                <a:srgbClr val="1E2E6E"/>
              </a:solidFill>
              <a:effectLst/>
              <a:highlight>
                <a:srgbClr val="FFFF00"/>
              </a:highlight>
              <a:uLnTx/>
              <a:uFillTx/>
              <a:latin typeface="Century Schoolbook" panose="02040604050505020304"/>
              <a:ea typeface="+mn-ea"/>
              <a:cs typeface="+mn-cs"/>
            </a:endParaRPr>
          </a:p>
        </p:txBody>
      </p:sp>
      <p:sp>
        <p:nvSpPr>
          <p:cNvPr id="163" name="TextBox 162">
            <a:extLst>
              <a:ext uri="{FF2B5EF4-FFF2-40B4-BE49-F238E27FC236}">
                <a16:creationId xmlns:a16="http://schemas.microsoft.com/office/drawing/2014/main" id="{432F1FED-C84A-2D0C-F4FE-0D1E99FBFD69}"/>
              </a:ext>
            </a:extLst>
          </p:cNvPr>
          <p:cNvSpPr txBox="1"/>
          <p:nvPr/>
        </p:nvSpPr>
        <p:spPr>
          <a:xfrm>
            <a:off x="2477246" y="707481"/>
            <a:ext cx="3618754"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PE" sz="12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Huella de Carbono (miles de Tn. CO2)</a:t>
            </a:r>
            <a:endParaRPr kumimoji="0" lang="es-PE" sz="1200" b="0" i="0" u="none" strike="noStrike" kern="1200" cap="none" spc="0" normalizeH="0" baseline="0" noProof="0" dirty="0">
              <a:ln>
                <a:noFill/>
              </a:ln>
              <a:solidFill>
                <a:srgbClr val="1F497D"/>
              </a:solidFill>
              <a:effectLst/>
              <a:uLnTx/>
              <a:uFillTx/>
              <a:latin typeface="Century Schoolbook" panose="02040604050505020304"/>
              <a:ea typeface="+mn-ea"/>
              <a:cs typeface="+mn-cs"/>
            </a:endParaRPr>
          </a:p>
        </p:txBody>
      </p:sp>
      <p:sp>
        <p:nvSpPr>
          <p:cNvPr id="168" name="Rectangle 167">
            <a:extLst>
              <a:ext uri="{FF2B5EF4-FFF2-40B4-BE49-F238E27FC236}">
                <a16:creationId xmlns:a16="http://schemas.microsoft.com/office/drawing/2014/main" id="{DFB51702-772F-A726-2522-A184F3F63EF0}"/>
              </a:ext>
            </a:extLst>
          </p:cNvPr>
          <p:cNvSpPr/>
          <p:nvPr/>
        </p:nvSpPr>
        <p:spPr>
          <a:xfrm>
            <a:off x="784552" y="1006873"/>
            <a:ext cx="637657" cy="1919969"/>
          </a:xfrm>
          <a:prstGeom prst="rect">
            <a:avLst/>
          </a:prstGeom>
          <a:solidFill>
            <a:srgbClr val="3494BA">
              <a:lumMod val="20000"/>
              <a:lumOff val="80000"/>
            </a:srgbClr>
          </a:solidFill>
          <a:ln w="13970" cap="flat" cmpd="sng" algn="ctr">
            <a:solidFill>
              <a:srgbClr val="3494BA">
                <a:shade val="15000"/>
              </a:srgbClr>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TD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 BU</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err="1">
                <a:ln>
                  <a:noFill/>
                </a:ln>
                <a:solidFill>
                  <a:srgbClr val="CEDBE6">
                    <a:lumMod val="10000"/>
                  </a:srgbClr>
                </a:solidFill>
                <a:effectLst/>
                <a:uLnTx/>
                <a:uFillTx/>
                <a:latin typeface="Trebuchet MS" panose="020B0603020202020204" pitchFamily="34" charset="0"/>
                <a:ea typeface="+mn-ea"/>
                <a:cs typeface="+mn-cs"/>
              </a:rPr>
              <a:t>Alts</a:t>
            </a:r>
            <a:r>
              <a:rPr kumimoji="0" lang="es-MX" sz="11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 </a:t>
            </a:r>
            <a:endParaRPr kumimoji="0" lang="es-PE" sz="11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endParaRPr>
          </a:p>
        </p:txBody>
      </p:sp>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D8BFDFE8-A761-3AC3-6A31-78CDB26D9C0B}"/>
                  </a:ext>
                </a:extLst>
              </p:cNvPr>
              <p:cNvSpPr txBox="1"/>
              <p:nvPr/>
            </p:nvSpPr>
            <p:spPr>
              <a:xfrm>
                <a:off x="1495821" y="1566897"/>
                <a:ext cx="1344580" cy="40652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Fórmula</a:t>
                </a:r>
                <a:r>
                  <a:rPr kumimoji="0" lang="es-PE" sz="8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m:t>
                    </m:r>
                    <m:f>
                      <m:fPr>
                        <m:ctrlPr>
                          <a:rPr kumimoji="0" lang="en-US"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ctrlPr>
                      </m:fPr>
                      <m:num>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𝑇𝑛</m:t>
                        </m:r>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 </m:t>
                        </m:r>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𝐶𝑂</m:t>
                        </m:r>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2</m:t>
                        </m:r>
                      </m:num>
                      <m:den>
                        <m:r>
                          <a:rPr kumimoji="0" lang="es-ES"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𝐸𝑉𝐼𝐶</m:t>
                        </m:r>
                      </m:den>
                    </m:f>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m:t>
                    </m:r>
                  </m:oMath>
                </a14:m>
                <a:r>
                  <a:rPr kumimoji="0" lang="es-PE" sz="800" b="0" i="1"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a:t>
                </a:r>
                <a14:m>
                  <m:oMath xmlns:m="http://schemas.openxmlformats.org/officeDocument/2006/math">
                    <m:r>
                      <a:rPr kumimoji="0" lang="es-PE" sz="800" b="0" i="1" u="none" strike="noStrike" kern="1200" cap="none" spc="0" normalizeH="0" baseline="0" noProof="0">
                        <a:ln>
                          <a:noFill/>
                        </a:ln>
                        <a:solidFill>
                          <a:srgbClr val="1F497D"/>
                        </a:solidFill>
                        <a:effectLst/>
                        <a:uLnTx/>
                        <a:uFillTx/>
                        <a:latin typeface="Cambria Math" panose="02040503050406030204" pitchFamily="18" charset="0"/>
                        <a:ea typeface="+mn-ea"/>
                        <a:cs typeface="+mn-cs"/>
                      </a:rPr>
                      <m:t>(</m:t>
                    </m:r>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𝐼𝑛𝑣𝑒𝑟𝑠𝑖</m:t>
                    </m:r>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ó</m:t>
                    </m:r>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𝑛</m:t>
                    </m:r>
                    <m:r>
                      <a:rPr kumimoji="0" lang="es-PE" sz="800" b="0" i="1" u="none" strike="noStrike" kern="1200" cap="none" spc="0" normalizeH="0" baseline="0" noProof="0">
                        <a:ln>
                          <a:noFill/>
                        </a:ln>
                        <a:solidFill>
                          <a:srgbClr val="1F497D"/>
                        </a:solidFill>
                        <a:effectLst/>
                        <a:uLnTx/>
                        <a:uFillTx/>
                        <a:latin typeface="Cambria Math" panose="02040503050406030204" pitchFamily="18" charset="0"/>
                        <a:ea typeface="+mn-ea"/>
                        <a:cs typeface="+mn-cs"/>
                      </a:rPr>
                      <m:t>)</m:t>
                    </m:r>
                  </m:oMath>
                </a14:m>
                <a:endParaRPr kumimoji="0" lang="es-PE" sz="800" b="0" i="1"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mc:Choice>
        <mc:Fallback xmlns="">
          <p:sp>
            <p:nvSpPr>
              <p:cNvPr id="178" name="TextBox 177">
                <a:extLst>
                  <a:ext uri="{FF2B5EF4-FFF2-40B4-BE49-F238E27FC236}">
                    <a16:creationId xmlns:a16="http://schemas.microsoft.com/office/drawing/2014/main" id="{D8BFDFE8-A761-3AC3-6A31-78CDB26D9C0B}"/>
                  </a:ext>
                </a:extLst>
              </p:cNvPr>
              <p:cNvSpPr txBox="1">
                <a:spLocks noRot="1" noChangeAspect="1" noMove="1" noResize="1" noEditPoints="1" noAdjustHandles="1" noChangeArrowheads="1" noChangeShapeType="1" noTextEdit="1"/>
              </p:cNvSpPr>
              <p:nvPr/>
            </p:nvSpPr>
            <p:spPr>
              <a:xfrm>
                <a:off x="1495821" y="1566897"/>
                <a:ext cx="1344580" cy="406522"/>
              </a:xfrm>
              <a:prstGeom prst="rect">
                <a:avLst/>
              </a:prstGeom>
              <a:blipFill>
                <a:blip r:embed="rId6"/>
                <a:stretch>
                  <a:fillRect/>
                </a:stretch>
              </a:blipFill>
            </p:spPr>
            <p:txBody>
              <a:bodyPr/>
              <a:lstStyle/>
              <a:p>
                <a:r>
                  <a:rPr lang="es-PE">
                    <a:noFill/>
                  </a:rPr>
                  <a:t> </a:t>
                </a:r>
              </a:p>
            </p:txBody>
          </p:sp>
        </mc:Fallback>
      </mc:AlternateContent>
      <p:sp>
        <p:nvSpPr>
          <p:cNvPr id="192" name="Rectangle: Rounded Corners 191">
            <a:extLst>
              <a:ext uri="{FF2B5EF4-FFF2-40B4-BE49-F238E27FC236}">
                <a16:creationId xmlns:a16="http://schemas.microsoft.com/office/drawing/2014/main" id="{7D42B7B3-4F33-35B4-9A05-3E150F98B685}"/>
              </a:ext>
            </a:extLst>
          </p:cNvPr>
          <p:cNvSpPr/>
          <p:nvPr/>
        </p:nvSpPr>
        <p:spPr>
          <a:xfrm>
            <a:off x="736932" y="971471"/>
            <a:ext cx="11263253" cy="1984997"/>
          </a:xfrm>
          <a:prstGeom prst="roundRect">
            <a:avLst>
              <a:gd name="adj" fmla="val 0"/>
            </a:avLst>
          </a:prstGeom>
          <a:noFill/>
          <a:ln w="12700" cap="flat" cmpd="sng" algn="ctr">
            <a:solidFill>
              <a:srgbClr val="3494BA">
                <a:lumMod val="75000"/>
              </a:srgbClr>
            </a:solidFill>
            <a:prstDash val="solid"/>
          </a:ln>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PE" sz="1000" b="0" i="0" u="none" strike="noStrike" kern="0" cap="none" spc="0" normalizeH="0" baseline="0" noProof="0" dirty="0">
              <a:ln>
                <a:noFill/>
              </a:ln>
              <a:solidFill>
                <a:srgbClr val="1F497D"/>
              </a:solidFill>
              <a:effectLst/>
              <a:uLnTx/>
              <a:uFillTx/>
              <a:latin typeface="Trebuchet MS" panose="020B0603020202020204" pitchFamily="34" charset="0"/>
              <a:ea typeface="+mn-ea"/>
              <a:cs typeface="+mn-cs"/>
            </a:endParaRPr>
          </a:p>
        </p:txBody>
      </p:sp>
      <p:grpSp>
        <p:nvGrpSpPr>
          <p:cNvPr id="216" name="Group 215">
            <a:extLst>
              <a:ext uri="{FF2B5EF4-FFF2-40B4-BE49-F238E27FC236}">
                <a16:creationId xmlns:a16="http://schemas.microsoft.com/office/drawing/2014/main" id="{AAE0F057-3630-DA7D-7E3E-5F36A427119A}"/>
              </a:ext>
            </a:extLst>
          </p:cNvPr>
          <p:cNvGrpSpPr/>
          <p:nvPr/>
        </p:nvGrpSpPr>
        <p:grpSpPr>
          <a:xfrm>
            <a:off x="2488486" y="989802"/>
            <a:ext cx="4600032" cy="1931392"/>
            <a:chOff x="2439885" y="1173064"/>
            <a:chExt cx="3636543" cy="1931392"/>
          </a:xfrm>
        </p:grpSpPr>
        <p:sp>
          <p:nvSpPr>
            <p:cNvPr id="164" name="TextBox 163">
              <a:extLst>
                <a:ext uri="{FF2B5EF4-FFF2-40B4-BE49-F238E27FC236}">
                  <a16:creationId xmlns:a16="http://schemas.microsoft.com/office/drawing/2014/main" id="{96FDB2FD-BFFC-D614-B707-4A26D84CAE85}"/>
                </a:ext>
              </a:extLst>
            </p:cNvPr>
            <p:cNvSpPr txBox="1"/>
            <p:nvPr/>
          </p:nvSpPr>
          <p:spPr>
            <a:xfrm>
              <a:off x="2439885" y="1254829"/>
              <a:ext cx="1034222" cy="261610"/>
            </a:xfrm>
            <a:prstGeom prst="rect">
              <a:avLst/>
            </a:prstGeom>
            <a:solidFill>
              <a:sysClr val="window" lastClr="FFFFFF">
                <a:lumMod val="95000"/>
              </a:sysClr>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PE" sz="1100" b="0" i="0" u="none" strike="noStrike" kern="0" cap="none" spc="0" normalizeH="0" baseline="0" noProof="0" dirty="0">
                  <a:ln>
                    <a:noFill/>
                  </a:ln>
                  <a:solidFill>
                    <a:srgbClr val="1F497D"/>
                  </a:solidFill>
                  <a:effectLst/>
                  <a:uLnTx/>
                  <a:uFillTx/>
                  <a:latin typeface="Trebuchet MS" panose="020B0603020202020204" pitchFamily="34" charset="0"/>
                  <a:ea typeface="+mn-ea"/>
                  <a:cs typeface="+mn-cs"/>
                </a:rPr>
                <a:t>Total: 502</a:t>
              </a:r>
              <a:endParaRPr kumimoji="0" lang="es-PE" sz="1100" b="0" i="0" u="none" strike="noStrike" kern="0" cap="none" spc="0" normalizeH="0" baseline="0" noProof="0" dirty="0">
                <a:ln>
                  <a:noFill/>
                </a:ln>
                <a:solidFill>
                  <a:srgbClr val="1E2E6E"/>
                </a:solidFill>
                <a:effectLst/>
                <a:uLnTx/>
                <a:uFillTx/>
                <a:latin typeface="Century Schoolbook" panose="02040604050505020304"/>
                <a:ea typeface="+mn-ea"/>
                <a:cs typeface="+mn-cs"/>
              </a:endParaRPr>
            </a:p>
          </p:txBody>
        </p:sp>
        <p:sp>
          <p:nvSpPr>
            <p:cNvPr id="165" name="TextBox 164">
              <a:extLst>
                <a:ext uri="{FF2B5EF4-FFF2-40B4-BE49-F238E27FC236}">
                  <a16:creationId xmlns:a16="http://schemas.microsoft.com/office/drawing/2014/main" id="{E5B4B8B4-87A9-4476-B7E6-208DE0122B99}"/>
                </a:ext>
              </a:extLst>
            </p:cNvPr>
            <p:cNvSpPr txBox="1"/>
            <p:nvPr/>
          </p:nvSpPr>
          <p:spPr>
            <a:xfrm>
              <a:off x="4102355" y="1254829"/>
              <a:ext cx="973818" cy="261610"/>
            </a:xfrm>
            <a:prstGeom prst="rect">
              <a:avLst/>
            </a:prstGeom>
            <a:solidFill>
              <a:sysClr val="window" lastClr="FFFFFF">
                <a:lumMod val="95000"/>
              </a:sysClr>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PE" sz="1100" b="0" i="0" u="none" strike="noStrike" kern="0" cap="none" spc="0" normalizeH="0" baseline="0" noProof="0" dirty="0">
                  <a:ln>
                    <a:noFill/>
                  </a:ln>
                  <a:solidFill>
                    <a:srgbClr val="1F497D"/>
                  </a:solidFill>
                  <a:effectLst/>
                  <a:uLnTx/>
                  <a:uFillTx/>
                  <a:latin typeface="Trebuchet MS" panose="020B0603020202020204" pitchFamily="34" charset="0"/>
                  <a:ea typeface="+mn-ea"/>
                  <a:cs typeface="+mn-cs"/>
                </a:rPr>
                <a:t>Total: 433 </a:t>
              </a:r>
              <a:endParaRPr kumimoji="0" lang="es-PE" sz="1100" b="0" i="0" u="none" strike="noStrike" kern="0" cap="none" spc="0" normalizeH="0" baseline="0" noProof="0" dirty="0">
                <a:ln>
                  <a:noFill/>
                </a:ln>
                <a:solidFill>
                  <a:srgbClr val="1E2E6E"/>
                </a:solidFill>
                <a:effectLst/>
                <a:uLnTx/>
                <a:uFillTx/>
                <a:latin typeface="Century Schoolbook" panose="02040604050505020304"/>
                <a:ea typeface="+mn-ea"/>
                <a:cs typeface="+mn-cs"/>
              </a:endParaRPr>
            </a:p>
          </p:txBody>
        </p:sp>
        <p:sp>
          <p:nvSpPr>
            <p:cNvPr id="169" name="TextBox 168">
              <a:extLst>
                <a:ext uri="{FF2B5EF4-FFF2-40B4-BE49-F238E27FC236}">
                  <a16:creationId xmlns:a16="http://schemas.microsoft.com/office/drawing/2014/main" id="{83B073AB-376F-BDB9-E4F9-C6F060DD21F6}"/>
                </a:ext>
              </a:extLst>
            </p:cNvPr>
            <p:cNvSpPr txBox="1"/>
            <p:nvPr/>
          </p:nvSpPr>
          <p:spPr>
            <a:xfrm>
              <a:off x="5032428" y="2521323"/>
              <a:ext cx="1044000" cy="353943"/>
            </a:xfrm>
            <a:prstGeom prst="rect">
              <a:avLst/>
            </a:prstGeom>
            <a:noFill/>
          </p:spPr>
          <p:txBody>
            <a:bodyPr wrap="square" rtlCol="0">
              <a:spAutoFit/>
            </a:bodyPr>
            <a:lstStyle>
              <a:defPPr>
                <a:defRPr lang="en-US"/>
              </a:defPPr>
              <a:lvl1pPr>
                <a:defRPr sz="1050">
                  <a:solidFill>
                    <a:srgbClr val="1F497D"/>
                  </a:solidFill>
                  <a:latin typeface="Trebuchet MS" panose="020B0603020202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0" cap="none" spc="0" normalizeH="0" baseline="0" noProof="0" dirty="0">
                  <a:ln>
                    <a:noFill/>
                  </a:ln>
                  <a:solidFill>
                    <a:srgbClr val="1F497D"/>
                  </a:solidFill>
                  <a:effectLst/>
                  <a:uLnTx/>
                  <a:uFillTx/>
                  <a:latin typeface="Trebuchet MS" panose="020B0603020202020204" pitchFamily="34" charset="0"/>
                  <a:ea typeface="+mn-ea"/>
                  <a:cs typeface="+mn-cs"/>
                </a:rPr>
                <a:t>BU: </a:t>
              </a:r>
              <a:r>
                <a:rPr lang="es-PE" sz="800" kern="0" dirty="0"/>
                <a:t>211</a:t>
              </a:r>
              <a:r>
                <a:rPr kumimoji="0" lang="es-PE" sz="800" b="0" i="0" u="none" strike="noStrike" kern="0" cap="none" spc="0" normalizeH="0" baseline="0" noProof="0" dirty="0">
                  <a:ln>
                    <a:noFill/>
                  </a:ln>
                  <a:solidFill>
                    <a:srgbClr val="1F497D"/>
                  </a:solidFill>
                  <a:effectLst/>
                  <a:uLnTx/>
                  <a:uFillTx/>
                  <a:latin typeface="Trebuchet MS" panose="020B0603020202020204" pitchFamily="34"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800" b="0" i="0" u="none" strike="noStrike" kern="0" cap="none" spc="0" normalizeH="0" baseline="0" noProof="0" dirty="0">
                  <a:ln>
                    <a:noFill/>
                  </a:ln>
                  <a:solidFill>
                    <a:srgbClr val="1F497D"/>
                  </a:solidFill>
                  <a:effectLst/>
                  <a:uLnTx/>
                  <a:uFillTx/>
                  <a:latin typeface="Trebuchet MS" panose="020B0603020202020204" pitchFamily="34" charset="0"/>
                  <a:ea typeface="+mn-ea"/>
                  <a:cs typeface="+mn-cs"/>
                </a:rPr>
                <a:t>(-11%)</a:t>
              </a:r>
            </a:p>
          </p:txBody>
        </p:sp>
        <p:sp>
          <p:nvSpPr>
            <p:cNvPr id="170" name="TextBox 169">
              <a:extLst>
                <a:ext uri="{FF2B5EF4-FFF2-40B4-BE49-F238E27FC236}">
                  <a16:creationId xmlns:a16="http://schemas.microsoft.com/office/drawing/2014/main" id="{580F46D3-0E14-2A45-1E46-B86464FC7832}"/>
                </a:ext>
              </a:extLst>
            </p:cNvPr>
            <p:cNvSpPr txBox="1"/>
            <p:nvPr/>
          </p:nvSpPr>
          <p:spPr>
            <a:xfrm>
              <a:off x="3334080" y="2424121"/>
              <a:ext cx="772718"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BU: </a:t>
              </a:r>
              <a:r>
                <a:rPr lang="es-PE" sz="800" dirty="0">
                  <a:solidFill>
                    <a:srgbClr val="1F497D"/>
                  </a:solidFill>
                  <a:latin typeface="Trebuchet MS" panose="020B0603020202020204" pitchFamily="34" charset="0"/>
                </a:rPr>
                <a:t>23</a:t>
              </a:r>
              <a:r>
                <a:rPr kumimoji="0" lang="es-PE" sz="8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8 </a:t>
              </a:r>
            </a:p>
          </p:txBody>
        </p:sp>
        <p:sp>
          <p:nvSpPr>
            <p:cNvPr id="171" name="TextBox 170">
              <a:extLst>
                <a:ext uri="{FF2B5EF4-FFF2-40B4-BE49-F238E27FC236}">
                  <a16:creationId xmlns:a16="http://schemas.microsoft.com/office/drawing/2014/main" id="{0885BAF0-E765-7B93-46C8-3A9F939364B5}"/>
                </a:ext>
              </a:extLst>
            </p:cNvPr>
            <p:cNvSpPr txBox="1"/>
            <p:nvPr/>
          </p:nvSpPr>
          <p:spPr>
            <a:xfrm>
              <a:off x="5011975" y="1947772"/>
              <a:ext cx="1044000" cy="35394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TD: </a:t>
              </a:r>
              <a:r>
                <a:rPr kumimoji="0" lang="es-PE" sz="8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155</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8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(-20%)</a:t>
              </a:r>
              <a:endParaRPr kumimoji="0" lang="es-PE" sz="1100" b="0" i="0" u="none" strike="noStrike" kern="1200" cap="none" spc="0" normalizeH="0" baseline="0" noProof="0" dirty="0">
                <a:ln>
                  <a:noFill/>
                </a:ln>
                <a:solidFill>
                  <a:srgbClr val="1E2E6E"/>
                </a:solidFill>
                <a:effectLst/>
                <a:uLnTx/>
                <a:uFillTx/>
                <a:latin typeface="Century Schoolbook" panose="02040604050505020304"/>
                <a:ea typeface="+mn-ea"/>
                <a:cs typeface="+mn-cs"/>
              </a:endParaRPr>
            </a:p>
          </p:txBody>
        </p:sp>
        <p:sp>
          <p:nvSpPr>
            <p:cNvPr id="172" name="TextBox 171">
              <a:extLst>
                <a:ext uri="{FF2B5EF4-FFF2-40B4-BE49-F238E27FC236}">
                  <a16:creationId xmlns:a16="http://schemas.microsoft.com/office/drawing/2014/main" id="{FC4C5AEF-D34F-885D-1F90-E722197FA685}"/>
                </a:ext>
              </a:extLst>
            </p:cNvPr>
            <p:cNvSpPr txBox="1"/>
            <p:nvPr/>
          </p:nvSpPr>
          <p:spPr>
            <a:xfrm>
              <a:off x="3334080" y="1840076"/>
              <a:ext cx="1044000"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TD:  </a:t>
              </a:r>
              <a:r>
                <a:rPr kumimoji="0" lang="es-PE" sz="8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194</a:t>
              </a:r>
            </a:p>
          </p:txBody>
        </p:sp>
        <p:sp>
          <p:nvSpPr>
            <p:cNvPr id="179" name="Rectangle 178">
              <a:extLst>
                <a:ext uri="{FF2B5EF4-FFF2-40B4-BE49-F238E27FC236}">
                  <a16:creationId xmlns:a16="http://schemas.microsoft.com/office/drawing/2014/main" id="{2180CE2D-AADA-8683-322C-6082E18A2EC5}"/>
                </a:ext>
              </a:extLst>
            </p:cNvPr>
            <p:cNvSpPr/>
            <p:nvPr/>
          </p:nvSpPr>
          <p:spPr>
            <a:xfrm>
              <a:off x="2548898" y="2980988"/>
              <a:ext cx="846349" cy="123468"/>
            </a:xfrm>
            <a:prstGeom prst="rect">
              <a:avLst/>
            </a:prstGeom>
            <a:solidFill>
              <a:sysClr val="window" lastClr="FFFFFF"/>
            </a:solidFill>
            <a:ln w="13970"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000" b="0" i="0" u="none" strike="noStrike" kern="0" cap="none" spc="0" normalizeH="0" baseline="0" noProof="0" dirty="0">
                  <a:ln>
                    <a:noFill/>
                  </a:ln>
                  <a:solidFill>
                    <a:srgbClr val="002060"/>
                  </a:solidFill>
                  <a:effectLst/>
                  <a:uLnTx/>
                  <a:uFillTx/>
                  <a:latin typeface="Trebuchet MS" panose="020B0603020202020204" pitchFamily="34" charset="0"/>
                  <a:ea typeface="+mn-ea"/>
                  <a:cs typeface="+mn-cs"/>
                </a:rPr>
                <a:t>Jun-25</a:t>
              </a:r>
              <a:endParaRPr kumimoji="0" lang="es-PE" sz="1000" b="0" i="0" u="none" strike="noStrike" kern="0" cap="none" spc="0" normalizeH="0" baseline="0" noProof="0" dirty="0">
                <a:ln>
                  <a:noFill/>
                </a:ln>
                <a:solidFill>
                  <a:srgbClr val="002060"/>
                </a:solidFill>
                <a:effectLst/>
                <a:uLnTx/>
                <a:uFillTx/>
                <a:latin typeface="Trebuchet MS" panose="020B0603020202020204" pitchFamily="34" charset="0"/>
                <a:ea typeface="+mn-ea"/>
                <a:cs typeface="+mn-cs"/>
              </a:endParaRPr>
            </a:p>
          </p:txBody>
        </p:sp>
        <p:sp>
          <p:nvSpPr>
            <p:cNvPr id="180" name="Rectangle 179">
              <a:extLst>
                <a:ext uri="{FF2B5EF4-FFF2-40B4-BE49-F238E27FC236}">
                  <a16:creationId xmlns:a16="http://schemas.microsoft.com/office/drawing/2014/main" id="{3AF6D8A5-EABC-8097-CE8C-E76998ED22D6}"/>
                </a:ext>
              </a:extLst>
            </p:cNvPr>
            <p:cNvSpPr/>
            <p:nvPr/>
          </p:nvSpPr>
          <p:spPr>
            <a:xfrm>
              <a:off x="4079662" y="2980988"/>
              <a:ext cx="846349" cy="123468"/>
            </a:xfrm>
            <a:prstGeom prst="rect">
              <a:avLst/>
            </a:prstGeom>
            <a:solidFill>
              <a:sysClr val="window" lastClr="FFFFFF"/>
            </a:solidFill>
            <a:ln w="13970"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000" b="0" i="0" u="none" strike="noStrike" kern="0" cap="none" spc="0" normalizeH="0" baseline="0" noProof="0" dirty="0">
                  <a:ln>
                    <a:noFill/>
                  </a:ln>
                  <a:solidFill>
                    <a:srgbClr val="002060"/>
                  </a:solidFill>
                  <a:effectLst/>
                  <a:uLnTx/>
                  <a:uFillTx/>
                  <a:latin typeface="Trebuchet MS" panose="020B0603020202020204" pitchFamily="34" charset="0"/>
                  <a:ea typeface="+mn-ea"/>
                  <a:cs typeface="+mn-cs"/>
                </a:rPr>
                <a:t>Dic-25</a:t>
              </a:r>
              <a:endParaRPr kumimoji="0" lang="es-PE" sz="1000" b="0" i="0" u="none" strike="noStrike" kern="0" cap="none" spc="0" normalizeH="0" baseline="0" noProof="0" dirty="0">
                <a:ln>
                  <a:noFill/>
                </a:ln>
                <a:solidFill>
                  <a:srgbClr val="002060"/>
                </a:solidFill>
                <a:effectLst/>
                <a:uLnTx/>
                <a:uFillTx/>
                <a:latin typeface="Trebuchet MS" panose="020B0603020202020204" pitchFamily="34" charset="0"/>
                <a:ea typeface="+mn-ea"/>
                <a:cs typeface="+mn-cs"/>
              </a:endParaRPr>
            </a:p>
          </p:txBody>
        </p:sp>
        <p:cxnSp>
          <p:nvCxnSpPr>
            <p:cNvPr id="183" name="Straight Connector 182">
              <a:extLst>
                <a:ext uri="{FF2B5EF4-FFF2-40B4-BE49-F238E27FC236}">
                  <a16:creationId xmlns:a16="http://schemas.microsoft.com/office/drawing/2014/main" id="{EEAA7B95-4C25-B449-318B-1ED2424A0A17}"/>
                </a:ext>
              </a:extLst>
            </p:cNvPr>
            <p:cNvCxnSpPr>
              <a:cxnSpLocks/>
            </p:cNvCxnSpPr>
            <p:nvPr/>
          </p:nvCxnSpPr>
          <p:spPr>
            <a:xfrm>
              <a:off x="3349375" y="1864527"/>
              <a:ext cx="0" cy="2489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E3101C21-5FD1-1C01-42A7-0984BD5E5F8A}"/>
                </a:ext>
              </a:extLst>
            </p:cNvPr>
            <p:cNvCxnSpPr>
              <a:cxnSpLocks/>
            </p:cNvCxnSpPr>
            <p:nvPr/>
          </p:nvCxnSpPr>
          <p:spPr>
            <a:xfrm>
              <a:off x="3349376" y="2122471"/>
              <a:ext cx="0" cy="8004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7D580C62-8E17-2E5A-9F88-A696BA39E4D9}"/>
                </a:ext>
              </a:extLst>
            </p:cNvPr>
            <p:cNvCxnSpPr>
              <a:cxnSpLocks/>
            </p:cNvCxnSpPr>
            <p:nvPr/>
          </p:nvCxnSpPr>
          <p:spPr>
            <a:xfrm>
              <a:off x="4836390" y="1739710"/>
              <a:ext cx="0" cy="3425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64067A32-89C6-B36F-23F1-BE2CE0766823}"/>
                </a:ext>
              </a:extLst>
            </p:cNvPr>
            <p:cNvCxnSpPr>
              <a:cxnSpLocks/>
            </p:cNvCxnSpPr>
            <p:nvPr/>
          </p:nvCxnSpPr>
          <p:spPr>
            <a:xfrm>
              <a:off x="4836390" y="2100132"/>
              <a:ext cx="0" cy="835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03506DA9-90AB-921A-E2D0-A6E539E04CC9}"/>
                </a:ext>
              </a:extLst>
            </p:cNvPr>
            <p:cNvCxnSpPr>
              <a:cxnSpLocks/>
            </p:cNvCxnSpPr>
            <p:nvPr/>
          </p:nvCxnSpPr>
          <p:spPr>
            <a:xfrm flipH="1">
              <a:off x="4413773" y="2066445"/>
              <a:ext cx="576064"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AB21237B-6E9B-4773-618E-E466479714AA}"/>
                </a:ext>
              </a:extLst>
            </p:cNvPr>
            <p:cNvCxnSpPr>
              <a:cxnSpLocks/>
            </p:cNvCxnSpPr>
            <p:nvPr/>
          </p:nvCxnSpPr>
          <p:spPr>
            <a:xfrm flipH="1">
              <a:off x="2757162" y="2117581"/>
              <a:ext cx="576064"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04159DDB-D200-BE18-B9F3-31D03C5EEC31}"/>
                </a:ext>
              </a:extLst>
            </p:cNvPr>
            <p:cNvSpPr txBox="1"/>
            <p:nvPr/>
          </p:nvSpPr>
          <p:spPr>
            <a:xfrm>
              <a:off x="4973610" y="1698137"/>
              <a:ext cx="104400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Alts:</a:t>
              </a: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r>
                <a:rPr lang="es-PE" sz="800" dirty="0">
                  <a:solidFill>
                    <a:srgbClr val="FFC000"/>
                  </a:solidFill>
                  <a:latin typeface="Trebuchet MS" panose="020B0603020202020204" pitchFamily="34" charset="0"/>
                </a:rPr>
                <a:t>67</a:t>
              </a:r>
              <a:endParaRPr kumimoji="0" lang="es-PE" sz="800" b="0" i="0" u="none" strike="noStrike" kern="1200" cap="none" spc="0" normalizeH="0" baseline="0" noProof="0" dirty="0">
                <a:ln>
                  <a:noFill/>
                </a:ln>
                <a:solidFill>
                  <a:srgbClr val="FFC000"/>
                </a:solidFill>
                <a:effectLst/>
                <a:uLnTx/>
                <a:uFillTx/>
                <a:latin typeface="Trebuchet MS" panose="020B0603020202020204" pitchFamily="34" charset="0"/>
                <a:ea typeface="+mn-ea"/>
                <a:cs typeface="+mn-cs"/>
              </a:endParaRPr>
            </a:p>
          </p:txBody>
        </p:sp>
        <p:sp>
          <p:nvSpPr>
            <p:cNvPr id="204" name="TextBox 203">
              <a:extLst>
                <a:ext uri="{FF2B5EF4-FFF2-40B4-BE49-F238E27FC236}">
                  <a16:creationId xmlns:a16="http://schemas.microsoft.com/office/drawing/2014/main" id="{2ED4F818-D403-0F84-FF20-B86F10834464}"/>
                </a:ext>
              </a:extLst>
            </p:cNvPr>
            <p:cNvSpPr txBox="1"/>
            <p:nvPr/>
          </p:nvSpPr>
          <p:spPr>
            <a:xfrm>
              <a:off x="3334080" y="1651099"/>
              <a:ext cx="1044000"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Alts: </a:t>
              </a:r>
              <a:r>
                <a:rPr kumimoji="0" lang="es-PE" sz="800" b="0" i="0" u="none" strike="noStrike" kern="1200" cap="none" spc="0" normalizeH="0" baseline="0" noProof="0" dirty="0">
                  <a:ln>
                    <a:noFill/>
                  </a:ln>
                  <a:solidFill>
                    <a:srgbClr val="FFC000"/>
                  </a:solidFill>
                  <a:effectLst/>
                  <a:uLnTx/>
                  <a:uFillTx/>
                  <a:latin typeface="Trebuchet MS" panose="020B0603020202020204" pitchFamily="34" charset="0"/>
                  <a:ea typeface="+mn-ea"/>
                  <a:cs typeface="+mn-cs"/>
                </a:rPr>
                <a:t>70</a:t>
              </a:r>
            </a:p>
          </p:txBody>
        </p:sp>
        <p:cxnSp>
          <p:nvCxnSpPr>
            <p:cNvPr id="210" name="Straight Arrow Connector 209">
              <a:extLst>
                <a:ext uri="{FF2B5EF4-FFF2-40B4-BE49-F238E27FC236}">
                  <a16:creationId xmlns:a16="http://schemas.microsoft.com/office/drawing/2014/main" id="{F4AAD036-BAAF-A894-201B-A774871BCF59}"/>
                </a:ext>
              </a:extLst>
            </p:cNvPr>
            <p:cNvCxnSpPr>
              <a:cxnSpLocks/>
              <a:stCxn id="164" idx="3"/>
              <a:endCxn id="165" idx="1"/>
            </p:cNvCxnSpPr>
            <p:nvPr/>
          </p:nvCxnSpPr>
          <p:spPr>
            <a:xfrm>
              <a:off x="3474107" y="1385634"/>
              <a:ext cx="6282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1" name="TextBox 210">
              <a:extLst>
                <a:ext uri="{FF2B5EF4-FFF2-40B4-BE49-F238E27FC236}">
                  <a16:creationId xmlns:a16="http://schemas.microsoft.com/office/drawing/2014/main" id="{145EB52B-2784-630E-DD90-350AA6878767}"/>
                </a:ext>
              </a:extLst>
            </p:cNvPr>
            <p:cNvSpPr txBox="1"/>
            <p:nvPr/>
          </p:nvSpPr>
          <p:spPr>
            <a:xfrm>
              <a:off x="3626733" y="1173064"/>
              <a:ext cx="432048"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-14%</a:t>
              </a:r>
              <a:endParaRPr kumimoji="0" lang="es-PE" sz="8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214" name="Isosceles Triangle 213">
              <a:extLst>
                <a:ext uri="{FF2B5EF4-FFF2-40B4-BE49-F238E27FC236}">
                  <a16:creationId xmlns:a16="http://schemas.microsoft.com/office/drawing/2014/main" id="{31C5BF01-1590-CC7A-C5FE-2D49786DCD12}"/>
                </a:ext>
              </a:extLst>
            </p:cNvPr>
            <p:cNvSpPr/>
            <p:nvPr/>
          </p:nvSpPr>
          <p:spPr>
            <a:xfrm>
              <a:off x="4939405" y="2670883"/>
              <a:ext cx="121226" cy="113097"/>
            </a:xfrm>
            <a:prstGeom prst="triangle">
              <a:avLst/>
            </a:prstGeom>
            <a:solidFill>
              <a:srgbClr val="3494BA"/>
            </a:solidFill>
            <a:ln w="13970" cap="flat" cmpd="sng" algn="ctr">
              <a:solidFill>
                <a:srgbClr val="3494BA">
                  <a:shade val="15000"/>
                </a:srgbClr>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PE" sz="1800" b="0" i="0" u="none" strike="noStrike" kern="0" cap="none" spc="0" normalizeH="0" baseline="0" noProof="0">
                <a:ln>
                  <a:noFill/>
                </a:ln>
                <a:solidFill>
                  <a:prstClr val="white"/>
                </a:solidFill>
                <a:effectLst/>
                <a:uLnTx/>
                <a:uFillTx/>
                <a:latin typeface="Century Schoolbook" panose="02040604050505020304"/>
                <a:ea typeface="+mn-ea"/>
                <a:cs typeface="+mn-cs"/>
              </a:endParaRPr>
            </a:p>
          </p:txBody>
        </p:sp>
      </p:grpSp>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2E52419D-D1E3-041D-6382-D363FAA522DB}"/>
                  </a:ext>
                </a:extLst>
              </p:cNvPr>
              <p:cNvSpPr txBox="1"/>
              <p:nvPr/>
            </p:nvSpPr>
            <p:spPr>
              <a:xfrm>
                <a:off x="6776522" y="1556448"/>
                <a:ext cx="1242205" cy="4110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Fórmula</a:t>
                </a:r>
                <a:r>
                  <a:rPr kumimoji="0" lang="es-PE" sz="8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m:t>
                    </m:r>
                    <m:f>
                      <m:fPr>
                        <m:ctrlPr>
                          <a:rPr kumimoji="0" lang="en-US"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ctrlPr>
                      </m:fPr>
                      <m:num>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𝑇𝑛</m:t>
                        </m:r>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 </m:t>
                        </m:r>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𝐶𝑂</m:t>
                        </m:r>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2</m:t>
                        </m:r>
                      </m:num>
                      <m:den>
                        <m:r>
                          <a:rPr kumimoji="0" lang="es-ES"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𝐸𝑉𝐼𝐶</m:t>
                        </m:r>
                      </m:den>
                    </m:f>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m:t>
                    </m:r>
                  </m:oMath>
                </a14:m>
                <a:r>
                  <a:rPr kumimoji="0" lang="es-PE" sz="800" b="0" i="1"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a:t>
                </a:r>
                <a14:m>
                  <m:oMath xmlns:m="http://schemas.openxmlformats.org/officeDocument/2006/math">
                    <m:r>
                      <a:rPr kumimoji="0" lang="es-PE" sz="800" b="0" i="1" u="none" strike="noStrike" kern="1200" cap="none" spc="0" normalizeH="0" baseline="0" noProof="0">
                        <a:ln>
                          <a:noFill/>
                        </a:ln>
                        <a:solidFill>
                          <a:srgbClr val="1F497D"/>
                        </a:solidFill>
                        <a:effectLst/>
                        <a:uLnTx/>
                        <a:uFillTx/>
                        <a:latin typeface="Cambria Math" panose="02040503050406030204" pitchFamily="18" charset="0"/>
                        <a:ea typeface="+mn-ea"/>
                        <a:cs typeface="+mn-cs"/>
                      </a:rPr>
                      <m:t>(</m:t>
                    </m:r>
                    <m:f>
                      <m:fPr>
                        <m:ctrlPr>
                          <a:rPr kumimoji="0" lang="en-US" sz="800" b="0" i="1" u="none" strike="noStrike" kern="1200" cap="none" spc="0" normalizeH="0" baseline="0" noProof="0">
                            <a:ln>
                              <a:noFill/>
                            </a:ln>
                            <a:solidFill>
                              <a:srgbClr val="1F497D"/>
                            </a:solidFill>
                            <a:effectLst/>
                            <a:uLnTx/>
                            <a:uFillTx/>
                            <a:latin typeface="Cambria Math" panose="02040503050406030204" pitchFamily="18" charset="0"/>
                            <a:ea typeface="+mn-ea"/>
                            <a:cs typeface="+mn-cs"/>
                          </a:rPr>
                        </m:ctrlPr>
                      </m:fPr>
                      <m:num>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𝐼𝑛𝑣𝑒𝑟𝑠𝑖</m:t>
                        </m:r>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ó</m:t>
                        </m:r>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𝑛</m:t>
                        </m:r>
                      </m:num>
                      <m:den>
                        <m:r>
                          <a:rPr kumimoji="0" lang="es-PE"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𝐴𝑈𝑀</m:t>
                        </m:r>
                        <m:r>
                          <a:rPr kumimoji="0" lang="es-ES"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 </m:t>
                        </m:r>
                        <m:r>
                          <a:rPr kumimoji="0" lang="es-ES" sz="800" b="0" i="1" u="none" strike="noStrike" kern="1200" cap="none" spc="0" normalizeH="0" baseline="0" noProof="0" smtClean="0">
                            <a:ln>
                              <a:noFill/>
                            </a:ln>
                            <a:solidFill>
                              <a:srgbClr val="1F497D"/>
                            </a:solidFill>
                            <a:effectLst/>
                            <a:uLnTx/>
                            <a:uFillTx/>
                            <a:latin typeface="Cambria Math" panose="02040503050406030204" pitchFamily="18" charset="0"/>
                            <a:ea typeface="+mn-ea"/>
                            <a:cs typeface="+mn-cs"/>
                          </a:rPr>
                          <m:t>𝐶𝑢𝑏𝑖𝑒𝑟𝑡𝑜</m:t>
                        </m:r>
                      </m:den>
                    </m:f>
                    <m:r>
                      <a:rPr kumimoji="0" lang="es-PE" sz="800" b="0" i="1" u="none" strike="noStrike" kern="1200" cap="none" spc="0" normalizeH="0" baseline="0" noProof="0">
                        <a:ln>
                          <a:noFill/>
                        </a:ln>
                        <a:solidFill>
                          <a:srgbClr val="1F497D"/>
                        </a:solidFill>
                        <a:effectLst/>
                        <a:uLnTx/>
                        <a:uFillTx/>
                        <a:latin typeface="Cambria Math" panose="02040503050406030204" pitchFamily="18" charset="0"/>
                        <a:ea typeface="+mn-ea"/>
                        <a:cs typeface="+mn-cs"/>
                      </a:rPr>
                      <m:t>)</m:t>
                    </m:r>
                  </m:oMath>
                </a14:m>
                <a:endParaRPr kumimoji="0" lang="es-PE" sz="800" b="0" i="1"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mc:Choice>
        <mc:Fallback xmlns="">
          <p:sp>
            <p:nvSpPr>
              <p:cNvPr id="177" name="TextBox 176">
                <a:extLst>
                  <a:ext uri="{FF2B5EF4-FFF2-40B4-BE49-F238E27FC236}">
                    <a16:creationId xmlns:a16="http://schemas.microsoft.com/office/drawing/2014/main" id="{2E52419D-D1E3-041D-6382-D363FAA522DB}"/>
                  </a:ext>
                </a:extLst>
              </p:cNvPr>
              <p:cNvSpPr txBox="1">
                <a:spLocks noRot="1" noChangeAspect="1" noMove="1" noResize="1" noEditPoints="1" noAdjustHandles="1" noChangeArrowheads="1" noChangeShapeType="1" noTextEdit="1"/>
              </p:cNvSpPr>
              <p:nvPr/>
            </p:nvSpPr>
            <p:spPr>
              <a:xfrm>
                <a:off x="6776522" y="1556448"/>
                <a:ext cx="1242205" cy="411075"/>
              </a:xfrm>
              <a:prstGeom prst="rect">
                <a:avLst/>
              </a:prstGeom>
              <a:blipFill>
                <a:blip r:embed="rId8"/>
                <a:stretch>
                  <a:fillRect/>
                </a:stretch>
              </a:blipFill>
            </p:spPr>
            <p:txBody>
              <a:bodyPr/>
              <a:lstStyle/>
              <a:p>
                <a:r>
                  <a:rPr lang="es-PE">
                    <a:noFill/>
                  </a:rPr>
                  <a:t> </a:t>
                </a:r>
              </a:p>
            </p:txBody>
          </p:sp>
        </mc:Fallback>
      </mc:AlternateContent>
      <p:grpSp>
        <p:nvGrpSpPr>
          <p:cNvPr id="219" name="Group 218">
            <a:extLst>
              <a:ext uri="{FF2B5EF4-FFF2-40B4-BE49-F238E27FC236}">
                <a16:creationId xmlns:a16="http://schemas.microsoft.com/office/drawing/2014/main" id="{072FDF2C-5D8A-2457-D980-86BE1C3C4B03}"/>
              </a:ext>
            </a:extLst>
          </p:cNvPr>
          <p:cNvGrpSpPr/>
          <p:nvPr/>
        </p:nvGrpSpPr>
        <p:grpSpPr>
          <a:xfrm>
            <a:off x="7846973" y="995450"/>
            <a:ext cx="4596771" cy="1907148"/>
            <a:chOff x="8173366" y="1173064"/>
            <a:chExt cx="3671275" cy="1907148"/>
          </a:xfrm>
        </p:grpSpPr>
        <p:sp>
          <p:nvSpPr>
            <p:cNvPr id="166" name="TextBox 165">
              <a:extLst>
                <a:ext uri="{FF2B5EF4-FFF2-40B4-BE49-F238E27FC236}">
                  <a16:creationId xmlns:a16="http://schemas.microsoft.com/office/drawing/2014/main" id="{89FCE9F4-C078-72C4-B14F-B2F2100419AE}"/>
                </a:ext>
              </a:extLst>
            </p:cNvPr>
            <p:cNvSpPr txBox="1"/>
            <p:nvPr/>
          </p:nvSpPr>
          <p:spPr>
            <a:xfrm>
              <a:off x="8173366" y="1254829"/>
              <a:ext cx="973818" cy="261610"/>
            </a:xfrm>
            <a:prstGeom prst="rect">
              <a:avLst/>
            </a:prstGeom>
            <a:solidFill>
              <a:sysClr val="window" lastClr="FFFFFF">
                <a:lumMod val="95000"/>
              </a:sysClr>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PE" sz="1100" b="0" i="0" u="none" strike="noStrike" kern="0" cap="none" spc="0" normalizeH="0" baseline="0" noProof="0" dirty="0">
                  <a:ln>
                    <a:noFill/>
                  </a:ln>
                  <a:solidFill>
                    <a:srgbClr val="1F497D"/>
                  </a:solidFill>
                  <a:effectLst/>
                  <a:uLnTx/>
                  <a:uFillTx/>
                  <a:latin typeface="Trebuchet MS" panose="020B0603020202020204" pitchFamily="34" charset="0"/>
                  <a:ea typeface="+mn-ea"/>
                  <a:cs typeface="+mn-cs"/>
                </a:rPr>
                <a:t>Total: 159</a:t>
              </a:r>
              <a:endParaRPr kumimoji="0" lang="es-PE" sz="1100" b="0" i="0" u="none" strike="noStrike" kern="0" cap="none" spc="0" normalizeH="0" baseline="0" noProof="0" dirty="0">
                <a:ln>
                  <a:noFill/>
                </a:ln>
                <a:solidFill>
                  <a:srgbClr val="1E2E6E"/>
                </a:solidFill>
                <a:effectLst/>
                <a:uLnTx/>
                <a:uFillTx/>
                <a:latin typeface="Century Schoolbook" panose="02040604050505020304"/>
                <a:ea typeface="+mn-ea"/>
                <a:cs typeface="+mn-cs"/>
              </a:endParaRPr>
            </a:p>
          </p:txBody>
        </p:sp>
        <p:sp>
          <p:nvSpPr>
            <p:cNvPr id="167" name="TextBox 166">
              <a:extLst>
                <a:ext uri="{FF2B5EF4-FFF2-40B4-BE49-F238E27FC236}">
                  <a16:creationId xmlns:a16="http://schemas.microsoft.com/office/drawing/2014/main" id="{10C841D0-7764-6513-E090-5A2F102AAC16}"/>
                </a:ext>
              </a:extLst>
            </p:cNvPr>
            <p:cNvSpPr txBox="1"/>
            <p:nvPr/>
          </p:nvSpPr>
          <p:spPr>
            <a:xfrm>
              <a:off x="9744149" y="1254829"/>
              <a:ext cx="1094277" cy="261610"/>
            </a:xfrm>
            <a:prstGeom prst="rect">
              <a:avLst/>
            </a:prstGeom>
            <a:solidFill>
              <a:sysClr val="window" lastClr="FFFFFF">
                <a:lumMod val="95000"/>
              </a:sysClr>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PE" sz="1100" b="0" i="0" u="none" strike="noStrike" kern="0" cap="none" spc="0" normalizeH="0" baseline="0" noProof="0" dirty="0">
                  <a:ln>
                    <a:noFill/>
                  </a:ln>
                  <a:solidFill>
                    <a:srgbClr val="1F497D"/>
                  </a:solidFill>
                  <a:effectLst/>
                  <a:uLnTx/>
                  <a:uFillTx/>
                  <a:latin typeface="Trebuchet MS" panose="020B0603020202020204" pitchFamily="34" charset="0"/>
                  <a:ea typeface="+mn-ea"/>
                  <a:cs typeface="+mn-cs"/>
                </a:rPr>
                <a:t>Total: 129</a:t>
              </a:r>
              <a:endParaRPr kumimoji="0" lang="es-PE" sz="1100" b="0" i="0" u="none" strike="noStrike" kern="0" cap="none" spc="0" normalizeH="0" baseline="0" noProof="0" dirty="0">
                <a:ln>
                  <a:noFill/>
                </a:ln>
                <a:solidFill>
                  <a:srgbClr val="1E2E6E"/>
                </a:solidFill>
                <a:effectLst/>
                <a:uLnTx/>
                <a:uFillTx/>
                <a:latin typeface="Century Schoolbook" panose="02040604050505020304"/>
                <a:ea typeface="+mn-ea"/>
                <a:cs typeface="+mn-cs"/>
              </a:endParaRPr>
            </a:p>
          </p:txBody>
        </p:sp>
        <p:sp>
          <p:nvSpPr>
            <p:cNvPr id="173" name="TextBox 172">
              <a:extLst>
                <a:ext uri="{FF2B5EF4-FFF2-40B4-BE49-F238E27FC236}">
                  <a16:creationId xmlns:a16="http://schemas.microsoft.com/office/drawing/2014/main" id="{D38C5C0D-DE81-1962-A0EC-DD774C783CEC}"/>
                </a:ext>
              </a:extLst>
            </p:cNvPr>
            <p:cNvSpPr txBox="1"/>
            <p:nvPr/>
          </p:nvSpPr>
          <p:spPr>
            <a:xfrm>
              <a:off x="9019062" y="2354574"/>
              <a:ext cx="680626"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BU: </a:t>
              </a:r>
              <a:r>
                <a:rPr lang="es-PE" sz="800" dirty="0">
                  <a:solidFill>
                    <a:srgbClr val="1F497D"/>
                  </a:solidFill>
                  <a:latin typeface="Trebuchet MS" panose="020B0603020202020204" pitchFamily="34" charset="0"/>
                </a:rPr>
                <a:t>75</a:t>
              </a:r>
              <a:endParaRPr kumimoji="0" lang="es-PE" sz="8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174" name="TextBox 173">
              <a:extLst>
                <a:ext uri="{FF2B5EF4-FFF2-40B4-BE49-F238E27FC236}">
                  <a16:creationId xmlns:a16="http://schemas.microsoft.com/office/drawing/2014/main" id="{ECD7352B-16D2-62D2-CB60-5CDF64307651}"/>
                </a:ext>
              </a:extLst>
            </p:cNvPr>
            <p:cNvSpPr txBox="1"/>
            <p:nvPr/>
          </p:nvSpPr>
          <p:spPr>
            <a:xfrm>
              <a:off x="8995988" y="1799135"/>
              <a:ext cx="1044000"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TD: </a:t>
              </a:r>
              <a:r>
                <a:rPr kumimoji="0" lang="es-PE" sz="8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67</a:t>
              </a:r>
            </a:p>
          </p:txBody>
        </p:sp>
        <p:sp>
          <p:nvSpPr>
            <p:cNvPr id="175" name="TextBox 174">
              <a:extLst>
                <a:ext uri="{FF2B5EF4-FFF2-40B4-BE49-F238E27FC236}">
                  <a16:creationId xmlns:a16="http://schemas.microsoft.com/office/drawing/2014/main" id="{CE99FEA7-2E73-ABF4-7001-6C30202AC1C0}"/>
                </a:ext>
              </a:extLst>
            </p:cNvPr>
            <p:cNvSpPr txBox="1"/>
            <p:nvPr/>
          </p:nvSpPr>
          <p:spPr>
            <a:xfrm>
              <a:off x="10851075" y="2382478"/>
              <a:ext cx="765015" cy="353943"/>
            </a:xfrm>
            <a:prstGeom prst="rect">
              <a:avLst/>
            </a:prstGeom>
            <a:noFill/>
          </p:spPr>
          <p:txBody>
            <a:bodyPr wrap="square" rtlCol="0">
              <a:spAutoFit/>
            </a:bodyPr>
            <a:lstStyle>
              <a:defPPr>
                <a:defRPr lang="en-US"/>
              </a:defPPr>
              <a:lvl1pPr>
                <a:defRPr sz="1050">
                  <a:solidFill>
                    <a:srgbClr val="1F497D"/>
                  </a:solidFill>
                  <a:latin typeface="Trebuchet MS" panose="020B0603020202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0" cap="none" spc="0" normalizeH="0" baseline="0" noProof="0" dirty="0">
                  <a:ln>
                    <a:noFill/>
                  </a:ln>
                  <a:solidFill>
                    <a:srgbClr val="1F497D"/>
                  </a:solidFill>
                  <a:effectLst/>
                  <a:uLnTx/>
                  <a:uFillTx/>
                  <a:latin typeface="Trebuchet MS" panose="020B0603020202020204" pitchFamily="34" charset="0"/>
                  <a:ea typeface="+mn-ea"/>
                  <a:cs typeface="+mn-cs"/>
                </a:rPr>
                <a:t>BU: </a:t>
              </a:r>
              <a:r>
                <a:rPr lang="es-PE" sz="800" kern="0" dirty="0"/>
                <a:t>62</a:t>
              </a:r>
              <a:endParaRPr kumimoji="0" lang="es-PE" sz="900" b="0" i="0" u="none" strike="noStrike" kern="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800" b="0" i="0" u="none" strike="noStrike" kern="0" cap="none" spc="0" normalizeH="0" baseline="0" noProof="0" dirty="0">
                  <a:ln>
                    <a:noFill/>
                  </a:ln>
                  <a:solidFill>
                    <a:srgbClr val="1F497D"/>
                  </a:solidFill>
                  <a:effectLst/>
                  <a:uLnTx/>
                  <a:uFillTx/>
                  <a:latin typeface="Trebuchet MS" panose="020B0603020202020204" pitchFamily="34" charset="0"/>
                  <a:ea typeface="+mn-ea"/>
                  <a:cs typeface="+mn-cs"/>
                </a:rPr>
                <a:t>(-18%)</a:t>
              </a:r>
            </a:p>
          </p:txBody>
        </p:sp>
        <p:sp>
          <p:nvSpPr>
            <p:cNvPr id="176" name="TextBox 175">
              <a:extLst>
                <a:ext uri="{FF2B5EF4-FFF2-40B4-BE49-F238E27FC236}">
                  <a16:creationId xmlns:a16="http://schemas.microsoft.com/office/drawing/2014/main" id="{5F2527DA-09A0-4859-101D-1E191C75462A}"/>
                </a:ext>
              </a:extLst>
            </p:cNvPr>
            <p:cNvSpPr txBox="1"/>
            <p:nvPr/>
          </p:nvSpPr>
          <p:spPr>
            <a:xfrm>
              <a:off x="10833105" y="2015488"/>
              <a:ext cx="756626" cy="35394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TD: </a:t>
              </a:r>
              <a:r>
                <a:rPr lang="es-PE" sz="800" dirty="0">
                  <a:solidFill>
                    <a:srgbClr val="1F497D"/>
                  </a:solidFill>
                  <a:latin typeface="Trebuchet MS" panose="020B0603020202020204" pitchFamily="34" charset="0"/>
                </a:rPr>
                <a:t>51</a:t>
              </a: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8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a:t>
              </a:r>
              <a:r>
                <a:rPr lang="es-PE" sz="800" dirty="0">
                  <a:solidFill>
                    <a:srgbClr val="1F497D"/>
                  </a:solidFill>
                  <a:latin typeface="Trebuchet MS" panose="020B0603020202020204" pitchFamily="34" charset="0"/>
                </a:rPr>
                <a:t>23</a:t>
              </a:r>
              <a:r>
                <a:rPr kumimoji="0" lang="es-PE" sz="8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a:t>
              </a:r>
              <a:endParaRPr kumimoji="0" lang="es-PE" sz="1100" b="0" i="0" u="none" strike="noStrike" kern="1200" cap="none" spc="0" normalizeH="0" baseline="0" noProof="0" dirty="0">
                <a:ln>
                  <a:noFill/>
                </a:ln>
                <a:solidFill>
                  <a:srgbClr val="1E2E6E"/>
                </a:solidFill>
                <a:effectLst/>
                <a:uLnTx/>
                <a:uFillTx/>
                <a:latin typeface="Century Schoolbook" panose="02040604050505020304"/>
                <a:ea typeface="+mn-ea"/>
                <a:cs typeface="+mn-cs"/>
              </a:endParaRPr>
            </a:p>
          </p:txBody>
        </p:sp>
        <p:sp>
          <p:nvSpPr>
            <p:cNvPr id="181" name="Rectangle 180">
              <a:extLst>
                <a:ext uri="{FF2B5EF4-FFF2-40B4-BE49-F238E27FC236}">
                  <a16:creationId xmlns:a16="http://schemas.microsoft.com/office/drawing/2014/main" id="{A0BFA48E-ED9E-3D41-1448-F7AB24668D48}"/>
                </a:ext>
              </a:extLst>
            </p:cNvPr>
            <p:cNvSpPr/>
            <p:nvPr/>
          </p:nvSpPr>
          <p:spPr>
            <a:xfrm>
              <a:off x="8352742" y="2956744"/>
              <a:ext cx="846349" cy="123468"/>
            </a:xfrm>
            <a:prstGeom prst="rect">
              <a:avLst/>
            </a:prstGeom>
            <a:solidFill>
              <a:sysClr val="window" lastClr="FFFFFF"/>
            </a:solidFill>
            <a:ln w="13970"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000" kern="0" dirty="0">
                  <a:solidFill>
                    <a:srgbClr val="002060"/>
                  </a:solidFill>
                  <a:latin typeface="Trebuchet MS" panose="020B0603020202020204" pitchFamily="34" charset="0"/>
                </a:rPr>
                <a:t>Dic</a:t>
              </a:r>
              <a:r>
                <a:rPr kumimoji="0" lang="es-ES" sz="1000" b="0" i="0" u="none" strike="noStrike" kern="0" cap="none" spc="0" normalizeH="0" baseline="0" noProof="0" dirty="0">
                  <a:ln>
                    <a:noFill/>
                  </a:ln>
                  <a:solidFill>
                    <a:srgbClr val="002060"/>
                  </a:solidFill>
                  <a:effectLst/>
                  <a:uLnTx/>
                  <a:uFillTx/>
                  <a:latin typeface="Trebuchet MS" panose="020B0603020202020204" pitchFamily="34" charset="0"/>
                  <a:ea typeface="+mn-ea"/>
                  <a:cs typeface="+mn-cs"/>
                </a:rPr>
                <a:t>-25</a:t>
              </a:r>
              <a:endParaRPr kumimoji="0" lang="es-PE" sz="1000" b="0" i="0" u="none" strike="noStrike" kern="0" cap="none" spc="0" normalizeH="0" baseline="0" noProof="0" dirty="0">
                <a:ln>
                  <a:noFill/>
                </a:ln>
                <a:solidFill>
                  <a:srgbClr val="002060"/>
                </a:solidFill>
                <a:effectLst/>
                <a:uLnTx/>
                <a:uFillTx/>
                <a:latin typeface="Trebuchet MS" panose="020B0603020202020204" pitchFamily="34" charset="0"/>
                <a:ea typeface="+mn-ea"/>
                <a:cs typeface="+mn-cs"/>
              </a:endParaRPr>
            </a:p>
          </p:txBody>
        </p:sp>
        <p:sp>
          <p:nvSpPr>
            <p:cNvPr id="182" name="Rectangle 181">
              <a:extLst>
                <a:ext uri="{FF2B5EF4-FFF2-40B4-BE49-F238E27FC236}">
                  <a16:creationId xmlns:a16="http://schemas.microsoft.com/office/drawing/2014/main" id="{EFD8FF80-B289-F7AD-0769-726DBCCFD920}"/>
                </a:ext>
              </a:extLst>
            </p:cNvPr>
            <p:cNvSpPr/>
            <p:nvPr/>
          </p:nvSpPr>
          <p:spPr>
            <a:xfrm>
              <a:off x="9891108" y="2945074"/>
              <a:ext cx="846349" cy="123468"/>
            </a:xfrm>
            <a:prstGeom prst="rect">
              <a:avLst/>
            </a:prstGeom>
            <a:solidFill>
              <a:sysClr val="window" lastClr="FFFFFF"/>
            </a:solidFill>
            <a:ln w="13970"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000" kern="0" dirty="0">
                  <a:solidFill>
                    <a:srgbClr val="002060"/>
                  </a:solidFill>
                  <a:latin typeface="Trebuchet MS" panose="020B0603020202020204" pitchFamily="34" charset="0"/>
                </a:rPr>
                <a:t>Jun</a:t>
              </a:r>
              <a:r>
                <a:rPr kumimoji="0" lang="es-ES" sz="1000" b="0" i="0" u="none" strike="noStrike" kern="0" cap="none" spc="0" normalizeH="0" baseline="0" noProof="0" dirty="0">
                  <a:ln>
                    <a:noFill/>
                  </a:ln>
                  <a:solidFill>
                    <a:srgbClr val="002060"/>
                  </a:solidFill>
                  <a:effectLst/>
                  <a:uLnTx/>
                  <a:uFillTx/>
                  <a:latin typeface="Trebuchet MS" panose="020B0603020202020204" pitchFamily="34" charset="0"/>
                  <a:ea typeface="+mn-ea"/>
                  <a:cs typeface="+mn-cs"/>
                </a:rPr>
                <a:t>-26</a:t>
              </a:r>
              <a:endParaRPr kumimoji="0" lang="es-PE" sz="1000" b="0" i="0" u="none" strike="noStrike" kern="0" cap="none" spc="0" normalizeH="0" baseline="0" noProof="0" dirty="0">
                <a:ln>
                  <a:noFill/>
                </a:ln>
                <a:solidFill>
                  <a:srgbClr val="002060"/>
                </a:solidFill>
                <a:effectLst/>
                <a:uLnTx/>
                <a:uFillTx/>
                <a:latin typeface="Trebuchet MS" panose="020B0603020202020204" pitchFamily="34" charset="0"/>
                <a:ea typeface="+mn-ea"/>
                <a:cs typeface="+mn-cs"/>
              </a:endParaRPr>
            </a:p>
          </p:txBody>
        </p:sp>
        <p:cxnSp>
          <p:nvCxnSpPr>
            <p:cNvPr id="187" name="Straight Connector 186">
              <a:extLst>
                <a:ext uri="{FF2B5EF4-FFF2-40B4-BE49-F238E27FC236}">
                  <a16:creationId xmlns:a16="http://schemas.microsoft.com/office/drawing/2014/main" id="{E7A1FB05-BDD6-D336-ED2C-832887C37614}"/>
                </a:ext>
              </a:extLst>
            </p:cNvPr>
            <p:cNvCxnSpPr>
              <a:cxnSpLocks/>
            </p:cNvCxnSpPr>
            <p:nvPr/>
          </p:nvCxnSpPr>
          <p:spPr>
            <a:xfrm>
              <a:off x="9008857" y="1745319"/>
              <a:ext cx="0" cy="2808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8E591B15-FE8E-8D24-0E2E-25E4D5BB861F}"/>
                </a:ext>
              </a:extLst>
            </p:cNvPr>
            <p:cNvCxnSpPr>
              <a:cxnSpLocks/>
            </p:cNvCxnSpPr>
            <p:nvPr/>
          </p:nvCxnSpPr>
          <p:spPr>
            <a:xfrm>
              <a:off x="9008857" y="2055358"/>
              <a:ext cx="0" cy="8676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9E4923CD-5059-EA64-08CD-92D40B039417}"/>
                </a:ext>
              </a:extLst>
            </p:cNvPr>
            <p:cNvCxnSpPr>
              <a:cxnSpLocks/>
            </p:cNvCxnSpPr>
            <p:nvPr/>
          </p:nvCxnSpPr>
          <p:spPr>
            <a:xfrm>
              <a:off x="10671855" y="1677581"/>
              <a:ext cx="0" cy="342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9B9301AD-1BC0-3F36-9129-D2D4DE1B09E5}"/>
                </a:ext>
              </a:extLst>
            </p:cNvPr>
            <p:cNvCxnSpPr>
              <a:cxnSpLocks/>
            </p:cNvCxnSpPr>
            <p:nvPr/>
          </p:nvCxnSpPr>
          <p:spPr>
            <a:xfrm>
              <a:off x="10671855" y="2030158"/>
              <a:ext cx="0" cy="8928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1" name="Isosceles Triangle 190">
              <a:extLst>
                <a:ext uri="{FF2B5EF4-FFF2-40B4-BE49-F238E27FC236}">
                  <a16:creationId xmlns:a16="http://schemas.microsoft.com/office/drawing/2014/main" id="{67D17734-C00B-9173-BA95-183F3D664912}"/>
                </a:ext>
              </a:extLst>
            </p:cNvPr>
            <p:cNvSpPr/>
            <p:nvPr/>
          </p:nvSpPr>
          <p:spPr>
            <a:xfrm>
              <a:off x="10750267" y="2174399"/>
              <a:ext cx="121226" cy="113097"/>
            </a:xfrm>
            <a:prstGeom prst="triangle">
              <a:avLst/>
            </a:prstGeom>
            <a:solidFill>
              <a:srgbClr val="3494BA"/>
            </a:solidFill>
            <a:ln w="13970" cap="flat" cmpd="sng" algn="ctr">
              <a:solidFill>
                <a:srgbClr val="3494BA">
                  <a:shade val="15000"/>
                </a:srgbClr>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PE" sz="1800" b="0" i="0" u="none" strike="noStrike" kern="0" cap="none" spc="0" normalizeH="0" baseline="0" noProof="0">
                <a:ln>
                  <a:noFill/>
                </a:ln>
                <a:solidFill>
                  <a:prstClr val="white"/>
                </a:solidFill>
                <a:effectLst/>
                <a:uLnTx/>
                <a:uFillTx/>
                <a:latin typeface="Century Schoolbook" panose="02040604050505020304"/>
                <a:ea typeface="+mn-ea"/>
                <a:cs typeface="+mn-cs"/>
              </a:endParaRPr>
            </a:p>
          </p:txBody>
        </p:sp>
        <p:sp>
          <p:nvSpPr>
            <p:cNvPr id="198" name="TextBox 197">
              <a:extLst>
                <a:ext uri="{FF2B5EF4-FFF2-40B4-BE49-F238E27FC236}">
                  <a16:creationId xmlns:a16="http://schemas.microsoft.com/office/drawing/2014/main" id="{BC712FF8-B723-AC1B-15BD-8D82F08199B7}"/>
                </a:ext>
              </a:extLst>
            </p:cNvPr>
            <p:cNvSpPr txBox="1"/>
            <p:nvPr/>
          </p:nvSpPr>
          <p:spPr>
            <a:xfrm>
              <a:off x="10800641" y="1727361"/>
              <a:ext cx="1044000"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Alts: </a:t>
              </a:r>
              <a:r>
                <a:rPr lang="es-PE" sz="800" dirty="0">
                  <a:solidFill>
                    <a:srgbClr val="FFC000"/>
                  </a:solidFill>
                  <a:latin typeface="Trebuchet MS" panose="020B0603020202020204" pitchFamily="34" charset="0"/>
                </a:rPr>
                <a:t>15</a:t>
              </a:r>
              <a:endParaRPr kumimoji="0" lang="es-PE" sz="900" b="0" i="0" u="none" strike="noStrike" kern="1200" cap="none" spc="0" normalizeH="0" baseline="0" noProof="0" dirty="0">
                <a:ln>
                  <a:noFill/>
                </a:ln>
                <a:solidFill>
                  <a:srgbClr val="FFC000"/>
                </a:solidFill>
                <a:effectLst/>
                <a:uLnTx/>
                <a:uFillTx/>
                <a:latin typeface="Trebuchet MS" panose="020B0603020202020204" pitchFamily="34" charset="0"/>
                <a:ea typeface="+mn-ea"/>
                <a:cs typeface="+mn-cs"/>
              </a:endParaRPr>
            </a:p>
          </p:txBody>
        </p:sp>
        <p:cxnSp>
          <p:nvCxnSpPr>
            <p:cNvPr id="199" name="Straight Connector 198">
              <a:extLst>
                <a:ext uri="{FF2B5EF4-FFF2-40B4-BE49-F238E27FC236}">
                  <a16:creationId xmlns:a16="http://schemas.microsoft.com/office/drawing/2014/main" id="{796E9DE9-FB00-0E0F-10F3-9FB60DBF6B5D}"/>
                </a:ext>
              </a:extLst>
            </p:cNvPr>
            <p:cNvCxnSpPr>
              <a:cxnSpLocks/>
            </p:cNvCxnSpPr>
            <p:nvPr/>
          </p:nvCxnSpPr>
          <p:spPr>
            <a:xfrm flipH="1">
              <a:off x="8419924" y="2041351"/>
              <a:ext cx="576064"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CB7778BF-3AFB-2173-B04A-23FBEF34FED7}"/>
                </a:ext>
              </a:extLst>
            </p:cNvPr>
            <p:cNvCxnSpPr>
              <a:cxnSpLocks/>
            </p:cNvCxnSpPr>
            <p:nvPr/>
          </p:nvCxnSpPr>
          <p:spPr>
            <a:xfrm flipH="1">
              <a:off x="10078727" y="2026367"/>
              <a:ext cx="576064"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206" name="TextBox 205">
              <a:extLst>
                <a:ext uri="{FF2B5EF4-FFF2-40B4-BE49-F238E27FC236}">
                  <a16:creationId xmlns:a16="http://schemas.microsoft.com/office/drawing/2014/main" id="{1DEC629A-4D78-E942-0B83-376338EFC310}"/>
                </a:ext>
              </a:extLst>
            </p:cNvPr>
            <p:cNvSpPr txBox="1"/>
            <p:nvPr/>
          </p:nvSpPr>
          <p:spPr>
            <a:xfrm>
              <a:off x="9002338" y="1559589"/>
              <a:ext cx="1044000"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Alts: </a:t>
              </a:r>
              <a:r>
                <a:rPr lang="es-PE" sz="800" dirty="0">
                  <a:solidFill>
                    <a:srgbClr val="FFC000"/>
                  </a:solidFill>
                  <a:latin typeface="Trebuchet MS" panose="020B0603020202020204" pitchFamily="34" charset="0"/>
                </a:rPr>
                <a:t>17</a:t>
              </a:r>
              <a:endParaRPr kumimoji="0" lang="es-PE" sz="800" b="0" i="0" u="none" strike="noStrike" kern="1200" cap="none" spc="0" normalizeH="0" baseline="0" noProof="0" dirty="0">
                <a:ln>
                  <a:noFill/>
                </a:ln>
                <a:solidFill>
                  <a:srgbClr val="FFC000"/>
                </a:solidFill>
                <a:effectLst/>
                <a:uLnTx/>
                <a:uFillTx/>
                <a:latin typeface="Trebuchet MS" panose="020B0603020202020204" pitchFamily="34" charset="0"/>
                <a:ea typeface="+mn-ea"/>
                <a:cs typeface="+mn-cs"/>
              </a:endParaRPr>
            </a:p>
          </p:txBody>
        </p:sp>
        <p:cxnSp>
          <p:nvCxnSpPr>
            <p:cNvPr id="212" name="Straight Arrow Connector 211">
              <a:extLst>
                <a:ext uri="{FF2B5EF4-FFF2-40B4-BE49-F238E27FC236}">
                  <a16:creationId xmlns:a16="http://schemas.microsoft.com/office/drawing/2014/main" id="{F85DAE4C-7430-D4CD-9732-2502108EBD94}"/>
                </a:ext>
              </a:extLst>
            </p:cNvPr>
            <p:cNvCxnSpPr/>
            <p:nvPr/>
          </p:nvCxnSpPr>
          <p:spPr>
            <a:xfrm>
              <a:off x="9130058" y="1385634"/>
              <a:ext cx="6282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3" name="TextBox 212">
              <a:extLst>
                <a:ext uri="{FF2B5EF4-FFF2-40B4-BE49-F238E27FC236}">
                  <a16:creationId xmlns:a16="http://schemas.microsoft.com/office/drawing/2014/main" id="{213F852D-02E1-2FB8-5B54-2A9C3B6A99DB}"/>
                </a:ext>
              </a:extLst>
            </p:cNvPr>
            <p:cNvSpPr txBox="1"/>
            <p:nvPr/>
          </p:nvSpPr>
          <p:spPr>
            <a:xfrm>
              <a:off x="9282684" y="1173064"/>
              <a:ext cx="432048"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-19%</a:t>
              </a:r>
              <a:endParaRPr kumimoji="0" lang="es-PE" sz="8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215" name="Isosceles Triangle 214">
              <a:extLst>
                <a:ext uri="{FF2B5EF4-FFF2-40B4-BE49-F238E27FC236}">
                  <a16:creationId xmlns:a16="http://schemas.microsoft.com/office/drawing/2014/main" id="{A6A68558-81BB-3BC7-F4BB-06B80158B8E7}"/>
                </a:ext>
              </a:extLst>
            </p:cNvPr>
            <p:cNvSpPr/>
            <p:nvPr/>
          </p:nvSpPr>
          <p:spPr>
            <a:xfrm>
              <a:off x="10770813" y="2526494"/>
              <a:ext cx="121226" cy="113097"/>
            </a:xfrm>
            <a:prstGeom prst="triangle">
              <a:avLst/>
            </a:prstGeom>
            <a:solidFill>
              <a:srgbClr val="3494BA"/>
            </a:solidFill>
            <a:ln w="13970" cap="flat" cmpd="sng" algn="ctr">
              <a:solidFill>
                <a:srgbClr val="3494BA">
                  <a:shade val="15000"/>
                </a:srgbClr>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PE" sz="1800" b="0" i="0" u="none" strike="noStrike" kern="0" cap="none" spc="0" normalizeH="0" baseline="0" noProof="0">
                <a:ln>
                  <a:noFill/>
                </a:ln>
                <a:solidFill>
                  <a:prstClr val="white"/>
                </a:solidFill>
                <a:effectLst/>
                <a:uLnTx/>
                <a:uFillTx/>
                <a:latin typeface="Century Schoolbook" panose="02040604050505020304"/>
                <a:ea typeface="+mn-ea"/>
                <a:cs typeface="+mn-cs"/>
              </a:endParaRPr>
            </a:p>
          </p:txBody>
        </p:sp>
      </p:grpSp>
      <p:graphicFrame>
        <p:nvGraphicFramePr>
          <p:cNvPr id="221" name="Chart 220">
            <a:extLst>
              <a:ext uri="{FF2B5EF4-FFF2-40B4-BE49-F238E27FC236}">
                <a16:creationId xmlns:a16="http://schemas.microsoft.com/office/drawing/2014/main" id="{593D01DF-2BDC-E5F4-8CE3-27FC40FFB06C}"/>
              </a:ext>
            </a:extLst>
          </p:cNvPr>
          <p:cNvGraphicFramePr>
            <a:graphicFrameLocks/>
          </p:cNvGraphicFramePr>
          <p:nvPr/>
        </p:nvGraphicFramePr>
        <p:xfrm>
          <a:off x="1984825" y="3298228"/>
          <a:ext cx="2358617" cy="1447201"/>
        </p:xfrm>
        <a:graphic>
          <a:graphicData uri="http://schemas.openxmlformats.org/drawingml/2006/chart">
            <c:chart xmlns:c="http://schemas.openxmlformats.org/drawingml/2006/chart" xmlns:r="http://schemas.openxmlformats.org/officeDocument/2006/relationships" r:id="rId9"/>
          </a:graphicData>
        </a:graphic>
      </p:graphicFrame>
      <p:cxnSp>
        <p:nvCxnSpPr>
          <p:cNvPr id="225" name="Straight Arrow Connector 224">
            <a:extLst>
              <a:ext uri="{FF2B5EF4-FFF2-40B4-BE49-F238E27FC236}">
                <a16:creationId xmlns:a16="http://schemas.microsoft.com/office/drawing/2014/main" id="{F3906425-33B7-4CF5-FEE8-128E6DEF95BD}"/>
              </a:ext>
            </a:extLst>
          </p:cNvPr>
          <p:cNvCxnSpPr/>
          <p:nvPr/>
        </p:nvCxnSpPr>
        <p:spPr>
          <a:xfrm>
            <a:off x="3837476" y="3255938"/>
            <a:ext cx="794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6" name="TextBox 225">
            <a:extLst>
              <a:ext uri="{FF2B5EF4-FFF2-40B4-BE49-F238E27FC236}">
                <a16:creationId xmlns:a16="http://schemas.microsoft.com/office/drawing/2014/main" id="{D4652B0A-5BCD-AF37-9237-78BB4FBF8C62}"/>
              </a:ext>
            </a:extLst>
          </p:cNvPr>
          <p:cNvSpPr txBox="1"/>
          <p:nvPr/>
        </p:nvSpPr>
        <p:spPr>
          <a:xfrm>
            <a:off x="4030542" y="3014853"/>
            <a:ext cx="546517"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-4%</a:t>
            </a:r>
            <a:endParaRPr kumimoji="0" lang="es-PE" sz="8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cxnSp>
        <p:nvCxnSpPr>
          <p:cNvPr id="227" name="Straight Arrow Connector 226">
            <a:extLst>
              <a:ext uri="{FF2B5EF4-FFF2-40B4-BE49-F238E27FC236}">
                <a16:creationId xmlns:a16="http://schemas.microsoft.com/office/drawing/2014/main" id="{315C5D2E-7B3D-3D82-550A-A810C25A95B6}"/>
              </a:ext>
            </a:extLst>
          </p:cNvPr>
          <p:cNvCxnSpPr/>
          <p:nvPr/>
        </p:nvCxnSpPr>
        <p:spPr>
          <a:xfrm>
            <a:off x="9124162" y="3255938"/>
            <a:ext cx="7866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8" name="TextBox 227">
            <a:extLst>
              <a:ext uri="{FF2B5EF4-FFF2-40B4-BE49-F238E27FC236}">
                <a16:creationId xmlns:a16="http://schemas.microsoft.com/office/drawing/2014/main" id="{FEDFA1D1-1E1E-17E2-D745-3F51FADD7C30}"/>
              </a:ext>
            </a:extLst>
          </p:cNvPr>
          <p:cNvSpPr txBox="1"/>
          <p:nvPr/>
        </p:nvSpPr>
        <p:spPr>
          <a:xfrm>
            <a:off x="9326880" y="3035362"/>
            <a:ext cx="540963"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9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+9%</a:t>
            </a:r>
            <a:endParaRPr kumimoji="0" lang="es-PE" sz="8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230" name="Isosceles Triangle 229">
            <a:extLst>
              <a:ext uri="{FF2B5EF4-FFF2-40B4-BE49-F238E27FC236}">
                <a16:creationId xmlns:a16="http://schemas.microsoft.com/office/drawing/2014/main" id="{2DADF3BA-5C9D-C62C-E051-CB35FCE5B101}"/>
              </a:ext>
            </a:extLst>
          </p:cNvPr>
          <p:cNvSpPr/>
          <p:nvPr/>
        </p:nvSpPr>
        <p:spPr>
          <a:xfrm>
            <a:off x="5656639" y="1916870"/>
            <a:ext cx="153344" cy="113097"/>
          </a:xfrm>
          <a:prstGeom prst="triangle">
            <a:avLst/>
          </a:prstGeom>
          <a:solidFill>
            <a:srgbClr val="3494BA"/>
          </a:solidFill>
          <a:ln w="13970" cap="flat" cmpd="sng" algn="ctr">
            <a:solidFill>
              <a:srgbClr val="3494BA">
                <a:shade val="15000"/>
              </a:srgbClr>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PE" sz="1800" b="0" i="0" u="none" strike="noStrike" kern="0" cap="none" spc="0" normalizeH="0" baseline="0" noProof="0">
              <a:ln>
                <a:noFill/>
              </a:ln>
              <a:solidFill>
                <a:prstClr val="white"/>
              </a:solidFill>
              <a:effectLst/>
              <a:uLnTx/>
              <a:uFillTx/>
              <a:latin typeface="Century Schoolbook" panose="02040604050505020304"/>
              <a:ea typeface="+mn-ea"/>
              <a:cs typeface="+mn-cs"/>
            </a:endParaRPr>
          </a:p>
        </p:txBody>
      </p:sp>
      <p:graphicFrame>
        <p:nvGraphicFramePr>
          <p:cNvPr id="5" name="Chart 4">
            <a:extLst>
              <a:ext uri="{FF2B5EF4-FFF2-40B4-BE49-F238E27FC236}">
                <a16:creationId xmlns:a16="http://schemas.microsoft.com/office/drawing/2014/main" id="{BC3E0CD0-9441-2C03-5AC1-4AD6CA8CEAC4}"/>
              </a:ext>
            </a:extLst>
          </p:cNvPr>
          <p:cNvGraphicFramePr>
            <a:graphicFrameLocks/>
          </p:cNvGraphicFramePr>
          <p:nvPr/>
        </p:nvGraphicFramePr>
        <p:xfrm>
          <a:off x="4321414" y="3111444"/>
          <a:ext cx="2176677" cy="1633985"/>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6" name="Chart 5">
            <a:extLst>
              <a:ext uri="{FF2B5EF4-FFF2-40B4-BE49-F238E27FC236}">
                <a16:creationId xmlns:a16="http://schemas.microsoft.com/office/drawing/2014/main" id="{DE4025CB-DABA-4E30-BD68-FFA91390BDD6}"/>
              </a:ext>
            </a:extLst>
          </p:cNvPr>
          <p:cNvGraphicFramePr>
            <a:graphicFrameLocks/>
          </p:cNvGraphicFramePr>
          <p:nvPr/>
        </p:nvGraphicFramePr>
        <p:xfrm>
          <a:off x="7365998" y="3256996"/>
          <a:ext cx="2198100" cy="1461918"/>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7" name="Chart 6">
            <a:extLst>
              <a:ext uri="{FF2B5EF4-FFF2-40B4-BE49-F238E27FC236}">
                <a16:creationId xmlns:a16="http://schemas.microsoft.com/office/drawing/2014/main" id="{DE4025CB-DABA-4E30-BD68-FFA91390BDD6}"/>
              </a:ext>
            </a:extLst>
          </p:cNvPr>
          <p:cNvGraphicFramePr>
            <a:graphicFrameLocks/>
          </p:cNvGraphicFramePr>
          <p:nvPr/>
        </p:nvGraphicFramePr>
        <p:xfrm>
          <a:off x="9623575" y="3242836"/>
          <a:ext cx="2198100" cy="1467334"/>
        </p:xfrm>
        <a:graphic>
          <a:graphicData uri="http://schemas.openxmlformats.org/drawingml/2006/chart">
            <c:chart xmlns:c="http://schemas.openxmlformats.org/drawingml/2006/chart" xmlns:r="http://schemas.openxmlformats.org/officeDocument/2006/relationships" r:id="rId12"/>
          </a:graphicData>
        </a:graphic>
      </p:graphicFrame>
      <p:sp>
        <p:nvSpPr>
          <p:cNvPr id="56" name="Rectangle 110">
            <a:extLst>
              <a:ext uri="{FF2B5EF4-FFF2-40B4-BE49-F238E27FC236}">
                <a16:creationId xmlns:a16="http://schemas.microsoft.com/office/drawing/2014/main" id="{3C93F328-B347-03B7-C45C-80A338DAF397}"/>
              </a:ext>
            </a:extLst>
          </p:cNvPr>
          <p:cNvSpPr/>
          <p:nvPr/>
        </p:nvSpPr>
        <p:spPr>
          <a:xfrm>
            <a:off x="734665" y="4899020"/>
            <a:ext cx="11263252" cy="18332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58" name="Rectangle 57">
            <a:extLst>
              <a:ext uri="{FF2B5EF4-FFF2-40B4-BE49-F238E27FC236}">
                <a16:creationId xmlns:a16="http://schemas.microsoft.com/office/drawing/2014/main" id="{EC23D572-F7AC-83C5-EA9C-14FC150638E6}"/>
              </a:ext>
            </a:extLst>
          </p:cNvPr>
          <p:cNvSpPr/>
          <p:nvPr/>
        </p:nvSpPr>
        <p:spPr>
          <a:xfrm>
            <a:off x="2941945" y="4945795"/>
            <a:ext cx="1802556" cy="178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Alts + TD + BU</a:t>
            </a:r>
          </a:p>
        </p:txBody>
      </p:sp>
      <p:sp>
        <p:nvSpPr>
          <p:cNvPr id="60" name="Rectangle 59">
            <a:extLst>
              <a:ext uri="{FF2B5EF4-FFF2-40B4-BE49-F238E27FC236}">
                <a16:creationId xmlns:a16="http://schemas.microsoft.com/office/drawing/2014/main" id="{4D5BFEAA-DAD4-7342-54F1-088BFB3B9368}"/>
              </a:ext>
            </a:extLst>
          </p:cNvPr>
          <p:cNvSpPr/>
          <p:nvPr/>
        </p:nvSpPr>
        <p:spPr>
          <a:xfrm>
            <a:off x="9335616" y="4958673"/>
            <a:ext cx="1008856" cy="178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GOB</a:t>
            </a:r>
          </a:p>
        </p:txBody>
      </p:sp>
      <p:graphicFrame>
        <p:nvGraphicFramePr>
          <p:cNvPr id="64" name="Chart 63">
            <a:extLst>
              <a:ext uri="{FF2B5EF4-FFF2-40B4-BE49-F238E27FC236}">
                <a16:creationId xmlns:a16="http://schemas.microsoft.com/office/drawing/2014/main" id="{5CBB77BF-4F0A-CAC7-3552-2268948FE858}"/>
              </a:ext>
            </a:extLst>
          </p:cNvPr>
          <p:cNvGraphicFramePr>
            <a:graphicFrameLocks/>
          </p:cNvGraphicFramePr>
          <p:nvPr>
            <p:extLst>
              <p:ext uri="{D42A27DB-BD31-4B8C-83A1-F6EECF244321}">
                <p14:modId xmlns:p14="http://schemas.microsoft.com/office/powerpoint/2010/main" val="1079523317"/>
              </p:ext>
            </p:extLst>
          </p:nvPr>
        </p:nvGraphicFramePr>
        <p:xfrm>
          <a:off x="1944556" y="5086888"/>
          <a:ext cx="4553536" cy="1655342"/>
        </p:xfrm>
        <a:graphic>
          <a:graphicData uri="http://schemas.openxmlformats.org/drawingml/2006/chart">
            <c:chart xmlns:c="http://schemas.openxmlformats.org/drawingml/2006/chart" xmlns:r="http://schemas.openxmlformats.org/officeDocument/2006/relationships" r:id="rId13"/>
          </a:graphicData>
        </a:graphic>
      </p:graphicFrame>
      <p:sp>
        <p:nvSpPr>
          <p:cNvPr id="68" name="TextBox 67">
            <a:extLst>
              <a:ext uri="{FF2B5EF4-FFF2-40B4-BE49-F238E27FC236}">
                <a16:creationId xmlns:a16="http://schemas.microsoft.com/office/drawing/2014/main" id="{FE16CCC9-8E3F-7A0B-2E3D-B902FC34BF28}"/>
              </a:ext>
            </a:extLst>
          </p:cNvPr>
          <p:cNvSpPr txBox="1"/>
          <p:nvPr/>
        </p:nvSpPr>
        <p:spPr>
          <a:xfrm>
            <a:off x="3973903" y="5293418"/>
            <a:ext cx="437463" cy="246221"/>
          </a:xfrm>
          <a:prstGeom prst="rect">
            <a:avLst/>
          </a:prstGeom>
          <a:solidFill>
            <a:schemeClr val="bg1">
              <a:lumMod val="9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rPr>
              <a:t>167</a:t>
            </a:r>
          </a:p>
        </p:txBody>
      </p:sp>
      <p:sp>
        <p:nvSpPr>
          <p:cNvPr id="70" name="TextBox 69">
            <a:extLst>
              <a:ext uri="{FF2B5EF4-FFF2-40B4-BE49-F238E27FC236}">
                <a16:creationId xmlns:a16="http://schemas.microsoft.com/office/drawing/2014/main" id="{EA951991-0679-2BFE-7AF2-925C0895AA62}"/>
              </a:ext>
            </a:extLst>
          </p:cNvPr>
          <p:cNvSpPr txBox="1"/>
          <p:nvPr/>
        </p:nvSpPr>
        <p:spPr>
          <a:xfrm>
            <a:off x="3426289" y="5371851"/>
            <a:ext cx="437463" cy="246221"/>
          </a:xfrm>
          <a:prstGeom prst="rect">
            <a:avLst/>
          </a:prstGeom>
          <a:solidFill>
            <a:schemeClr val="bg1">
              <a:lumMod val="9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rPr>
              <a:t>137</a:t>
            </a:r>
          </a:p>
        </p:txBody>
      </p:sp>
      <p:sp>
        <p:nvSpPr>
          <p:cNvPr id="72" name="TextBox 71">
            <a:extLst>
              <a:ext uri="{FF2B5EF4-FFF2-40B4-BE49-F238E27FC236}">
                <a16:creationId xmlns:a16="http://schemas.microsoft.com/office/drawing/2014/main" id="{BB71A537-7071-7C20-87EB-D4F41D1468CE}"/>
              </a:ext>
            </a:extLst>
          </p:cNvPr>
          <p:cNvSpPr txBox="1"/>
          <p:nvPr/>
        </p:nvSpPr>
        <p:spPr>
          <a:xfrm>
            <a:off x="2207568" y="5426740"/>
            <a:ext cx="437463" cy="246221"/>
          </a:xfrm>
          <a:prstGeom prst="rect">
            <a:avLst/>
          </a:prstGeom>
          <a:solidFill>
            <a:schemeClr val="bg1">
              <a:lumMod val="9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rPr>
              <a:t>129</a:t>
            </a:r>
          </a:p>
        </p:txBody>
      </p:sp>
      <p:sp>
        <p:nvSpPr>
          <p:cNvPr id="74" name="TextBox 73">
            <a:extLst>
              <a:ext uri="{FF2B5EF4-FFF2-40B4-BE49-F238E27FC236}">
                <a16:creationId xmlns:a16="http://schemas.microsoft.com/office/drawing/2014/main" id="{06840DD7-3684-A0A6-BCAB-8EC502E63240}"/>
              </a:ext>
            </a:extLst>
          </p:cNvPr>
          <p:cNvSpPr txBox="1"/>
          <p:nvPr/>
        </p:nvSpPr>
        <p:spPr>
          <a:xfrm>
            <a:off x="2783632" y="5303630"/>
            <a:ext cx="437463" cy="246221"/>
          </a:xfrm>
          <a:prstGeom prst="rect">
            <a:avLst/>
          </a:prstGeom>
          <a:solidFill>
            <a:schemeClr val="bg1">
              <a:lumMod val="9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rPr>
              <a:t>146</a:t>
            </a:r>
            <a:endParaRPr kumimoji="0" lang="es-PE" sz="10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endParaRPr>
          </a:p>
        </p:txBody>
      </p:sp>
      <p:graphicFrame>
        <p:nvGraphicFramePr>
          <p:cNvPr id="75" name="Chart 74">
            <a:extLst>
              <a:ext uri="{FF2B5EF4-FFF2-40B4-BE49-F238E27FC236}">
                <a16:creationId xmlns:a16="http://schemas.microsoft.com/office/drawing/2014/main" id="{BC73543B-D86C-4904-B460-9A56B889217C}"/>
              </a:ext>
            </a:extLst>
          </p:cNvPr>
          <p:cNvGraphicFramePr>
            <a:graphicFrameLocks/>
          </p:cNvGraphicFramePr>
          <p:nvPr>
            <p:extLst>
              <p:ext uri="{D42A27DB-BD31-4B8C-83A1-F6EECF244321}">
                <p14:modId xmlns:p14="http://schemas.microsoft.com/office/powerpoint/2010/main" val="2634317141"/>
              </p:ext>
            </p:extLst>
          </p:nvPr>
        </p:nvGraphicFramePr>
        <p:xfrm>
          <a:off x="8136332" y="4971053"/>
          <a:ext cx="3472068" cy="1766220"/>
        </p:xfrm>
        <a:graphic>
          <a:graphicData uri="http://schemas.openxmlformats.org/drawingml/2006/chart">
            <c:chart xmlns:c="http://schemas.openxmlformats.org/drawingml/2006/chart" xmlns:r="http://schemas.openxmlformats.org/officeDocument/2006/relationships" r:id="rId14"/>
          </a:graphicData>
        </a:graphic>
      </p:graphicFrame>
      <p:sp>
        <p:nvSpPr>
          <p:cNvPr id="76" name="TextBox 67">
            <a:extLst>
              <a:ext uri="{FF2B5EF4-FFF2-40B4-BE49-F238E27FC236}">
                <a16:creationId xmlns:a16="http://schemas.microsoft.com/office/drawing/2014/main" id="{AC38E4D9-6452-196B-C10C-8EA3BFBB6406}"/>
              </a:ext>
            </a:extLst>
          </p:cNvPr>
          <p:cNvSpPr txBox="1"/>
          <p:nvPr/>
        </p:nvSpPr>
        <p:spPr>
          <a:xfrm>
            <a:off x="8822811" y="5375631"/>
            <a:ext cx="437463" cy="246221"/>
          </a:xfrm>
          <a:prstGeom prst="rect">
            <a:avLst/>
          </a:prstGeom>
          <a:solidFill>
            <a:schemeClr val="bg1">
              <a:lumMod val="95000"/>
            </a:schemeClr>
          </a:solidFill>
        </p:spPr>
        <p:txBody>
          <a:bodyPr wrap="square" rtlCol="0">
            <a:spAutoFit/>
          </a:bodyPr>
          <a:lstStyle>
            <a:defPPr>
              <a:defRPr lang="es-P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rPr>
              <a:t>136</a:t>
            </a:r>
          </a:p>
        </p:txBody>
      </p:sp>
      <p:sp>
        <p:nvSpPr>
          <p:cNvPr id="78" name="TextBox 67">
            <a:extLst>
              <a:ext uri="{FF2B5EF4-FFF2-40B4-BE49-F238E27FC236}">
                <a16:creationId xmlns:a16="http://schemas.microsoft.com/office/drawing/2014/main" id="{29F75AD3-2E1F-3048-C4D0-B7900526CED8}"/>
              </a:ext>
            </a:extLst>
          </p:cNvPr>
          <p:cNvSpPr txBox="1"/>
          <p:nvPr/>
        </p:nvSpPr>
        <p:spPr>
          <a:xfrm>
            <a:off x="10460819" y="4935769"/>
            <a:ext cx="437463" cy="246221"/>
          </a:xfrm>
          <a:prstGeom prst="rect">
            <a:avLst/>
          </a:prstGeom>
          <a:solidFill>
            <a:schemeClr val="bg1">
              <a:lumMod val="95000"/>
            </a:schemeClr>
          </a:solidFill>
        </p:spPr>
        <p:txBody>
          <a:bodyPr wrap="square" rtlCol="0">
            <a:spAutoFit/>
          </a:bodyPr>
          <a:lstStyle>
            <a:defPPr>
              <a:defRPr lang="es-P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rPr>
              <a:t>388</a:t>
            </a:r>
          </a:p>
        </p:txBody>
      </p:sp>
      <p:graphicFrame>
        <p:nvGraphicFramePr>
          <p:cNvPr id="2" name="Chart 1">
            <a:extLst>
              <a:ext uri="{FF2B5EF4-FFF2-40B4-BE49-F238E27FC236}">
                <a16:creationId xmlns:a16="http://schemas.microsoft.com/office/drawing/2014/main" id="{00000000-0008-0000-0300-00003B000000}"/>
              </a:ext>
            </a:extLst>
          </p:cNvPr>
          <p:cNvGraphicFramePr>
            <a:graphicFrameLocks/>
          </p:cNvGraphicFramePr>
          <p:nvPr>
            <p:extLst>
              <p:ext uri="{D42A27DB-BD31-4B8C-83A1-F6EECF244321}">
                <p14:modId xmlns:p14="http://schemas.microsoft.com/office/powerpoint/2010/main" val="3724843495"/>
              </p:ext>
            </p:extLst>
          </p:nvPr>
        </p:nvGraphicFramePr>
        <p:xfrm>
          <a:off x="7543343" y="1026439"/>
          <a:ext cx="4160463" cy="1838492"/>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4" name="Chart 3">
            <a:extLst>
              <a:ext uri="{FF2B5EF4-FFF2-40B4-BE49-F238E27FC236}">
                <a16:creationId xmlns:a16="http://schemas.microsoft.com/office/drawing/2014/main" id="{00000000-0008-0000-0300-00003B000000}"/>
              </a:ext>
            </a:extLst>
          </p:cNvPr>
          <p:cNvGraphicFramePr>
            <a:graphicFrameLocks/>
          </p:cNvGraphicFramePr>
          <p:nvPr>
            <p:extLst>
              <p:ext uri="{D42A27DB-BD31-4B8C-83A1-F6EECF244321}">
                <p14:modId xmlns:p14="http://schemas.microsoft.com/office/powerpoint/2010/main" val="2761566742"/>
              </p:ext>
            </p:extLst>
          </p:nvPr>
        </p:nvGraphicFramePr>
        <p:xfrm>
          <a:off x="2057633" y="1126611"/>
          <a:ext cx="4124312" cy="1829150"/>
        </p:xfrm>
        <a:graphic>
          <a:graphicData uri="http://schemas.openxmlformats.org/drawingml/2006/chart">
            <c:chart xmlns:c="http://schemas.openxmlformats.org/drawingml/2006/chart" xmlns:r="http://schemas.openxmlformats.org/officeDocument/2006/relationships" r:id="rId16"/>
          </a:graphicData>
        </a:graphic>
      </p:graphicFrame>
      <p:sp>
        <p:nvSpPr>
          <p:cNvPr id="9" name="TextBox 8">
            <a:extLst>
              <a:ext uri="{FF2B5EF4-FFF2-40B4-BE49-F238E27FC236}">
                <a16:creationId xmlns:a16="http://schemas.microsoft.com/office/drawing/2014/main" id="{12F80C62-8890-5CA6-A780-51C90078B5C1}"/>
              </a:ext>
            </a:extLst>
          </p:cNvPr>
          <p:cNvSpPr txBox="1"/>
          <p:nvPr/>
        </p:nvSpPr>
        <p:spPr>
          <a:xfrm>
            <a:off x="5184203" y="4667759"/>
            <a:ext cx="3618754"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PE" sz="12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Intensidad de Comparables </a:t>
            </a:r>
            <a:endParaRPr kumimoji="0" lang="es-PE" sz="1200" b="0" i="0" u="none" strike="noStrike" kern="1200" cap="none" spc="0" normalizeH="0" baseline="0" noProof="0" dirty="0">
              <a:ln>
                <a:noFill/>
              </a:ln>
              <a:solidFill>
                <a:srgbClr val="1E2E6E"/>
              </a:solidFill>
              <a:effectLst/>
              <a:highlight>
                <a:srgbClr val="FFFF00"/>
              </a:highlight>
              <a:uLnTx/>
              <a:uFillTx/>
              <a:latin typeface="Century Schoolbook" panose="02040604050505020304"/>
              <a:ea typeface="+mn-ea"/>
              <a:cs typeface="+mn-cs"/>
            </a:endParaRPr>
          </a:p>
        </p:txBody>
      </p:sp>
      <p:sp>
        <p:nvSpPr>
          <p:cNvPr id="11" name="Rectangle 10">
            <a:extLst>
              <a:ext uri="{FF2B5EF4-FFF2-40B4-BE49-F238E27FC236}">
                <a16:creationId xmlns:a16="http://schemas.microsoft.com/office/drawing/2014/main" id="{2DA4A729-F372-2522-20E5-0A6E6681BE2A}"/>
              </a:ext>
            </a:extLst>
          </p:cNvPr>
          <p:cNvSpPr/>
          <p:nvPr/>
        </p:nvSpPr>
        <p:spPr>
          <a:xfrm>
            <a:off x="779413" y="4958673"/>
            <a:ext cx="637657" cy="1655343"/>
          </a:xfrm>
          <a:prstGeom prst="rect">
            <a:avLst/>
          </a:prstGeom>
          <a:solidFill>
            <a:srgbClr val="3494BA">
              <a:lumMod val="20000"/>
              <a:lumOff val="80000"/>
            </a:srgbClr>
          </a:solidFill>
          <a:ln w="13970" cap="flat" cmpd="sng" algn="ctr">
            <a:solidFill>
              <a:srgbClr val="3494BA">
                <a:shade val="15000"/>
              </a:srgbClr>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TD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 BU</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Alts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GOB </a:t>
            </a:r>
            <a:endParaRPr kumimoji="0" lang="es-PE" sz="14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3661584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43281-25F0-78FD-3FE0-65EE06E0B2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33AC3C3-7800-2A31-6343-DEFBFEC68DD3}"/>
              </a:ext>
            </a:extLst>
          </p:cNvPr>
          <p:cNvSpPr>
            <a:spLocks noGrp="1"/>
          </p:cNvSpPr>
          <p:nvPr>
            <p:ph type="title"/>
          </p:nvPr>
        </p:nvSpPr>
        <p:spPr>
          <a:xfrm>
            <a:off x="15086" y="-6200"/>
            <a:ext cx="10512508" cy="676275"/>
          </a:xfrm>
        </p:spPr>
        <p:txBody>
          <a:bodyPr>
            <a:noAutofit/>
          </a:bodyPr>
          <a:lstStyle/>
          <a:p>
            <a:r>
              <a:rPr lang="es-ES" sz="2000" dirty="0"/>
              <a:t>2.3 Intensidad de Carbono – Medición de Top </a:t>
            </a:r>
            <a:r>
              <a:rPr lang="es-ES" sz="2000" dirty="0" err="1"/>
              <a:t>Contributors</a:t>
            </a:r>
            <a:r>
              <a:rPr lang="es-ES" sz="2000" dirty="0"/>
              <a:t> por </a:t>
            </a:r>
            <a:r>
              <a:rPr lang="es-ES" sz="2000" u="sng" dirty="0"/>
              <a:t>Emisores</a:t>
            </a:r>
            <a:r>
              <a:rPr lang="es-ES" sz="2000" dirty="0"/>
              <a:t>: Resultados Jun2026</a:t>
            </a:r>
          </a:p>
        </p:txBody>
      </p:sp>
      <p:sp>
        <p:nvSpPr>
          <p:cNvPr id="12" name="TextBox 5">
            <a:extLst>
              <a:ext uri="{FF2B5EF4-FFF2-40B4-BE49-F238E27FC236}">
                <a16:creationId xmlns:a16="http://schemas.microsoft.com/office/drawing/2014/main" id="{F63125B0-55E1-55D0-CE31-D8C0C0623100}"/>
              </a:ext>
            </a:extLst>
          </p:cNvPr>
          <p:cNvSpPr txBox="1"/>
          <p:nvPr/>
        </p:nvSpPr>
        <p:spPr>
          <a:xfrm>
            <a:off x="4395986" y="867569"/>
            <a:ext cx="1123950" cy="257175"/>
          </a:xfrm>
          <a:prstGeom prst="rect">
            <a:avLst/>
          </a:prstGeom>
          <a:solidFill>
            <a:sysClr val="window" lastClr="FFFFFF"/>
          </a:solid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100" b="1" i="0" u="none" strike="noStrike" kern="0" cap="none" spc="0" normalizeH="0" baseline="0" noProof="0" dirty="0" err="1">
                <a:ln>
                  <a:noFill/>
                </a:ln>
                <a:solidFill>
                  <a:sysClr val="windowText" lastClr="000000"/>
                </a:solidFill>
                <a:effectLst/>
                <a:uLnTx/>
                <a:uFillTx/>
                <a:latin typeface="Calibri"/>
                <a:ea typeface="+mn-ea"/>
                <a:cs typeface="+mn-cs"/>
              </a:rPr>
              <a:t>Fixed</a:t>
            </a:r>
            <a:r>
              <a:rPr kumimoji="0" lang="es-PE" sz="1100" b="1" i="0" u="none" strike="noStrike" kern="0" cap="none" spc="0" normalizeH="0" baseline="0" noProof="0" dirty="0">
                <a:ln>
                  <a:noFill/>
                </a:ln>
                <a:solidFill>
                  <a:sysClr val="windowText" lastClr="000000"/>
                </a:solidFill>
                <a:effectLst/>
                <a:uLnTx/>
                <a:uFillTx/>
                <a:latin typeface="Calibri"/>
                <a:ea typeface="+mn-ea"/>
                <a:cs typeface="+mn-cs"/>
              </a:rPr>
              <a:t> </a:t>
            </a:r>
            <a:r>
              <a:rPr kumimoji="0" lang="es-PE" sz="1100" b="1" i="0" u="none" strike="noStrike" kern="0" cap="none" spc="0" normalizeH="0" baseline="0" noProof="0" dirty="0" err="1">
                <a:ln>
                  <a:noFill/>
                </a:ln>
                <a:solidFill>
                  <a:sysClr val="windowText" lastClr="000000"/>
                </a:solidFill>
                <a:effectLst/>
                <a:uLnTx/>
                <a:uFillTx/>
                <a:latin typeface="Calibri"/>
                <a:ea typeface="+mn-ea"/>
                <a:cs typeface="+mn-cs"/>
              </a:rPr>
              <a:t>Income</a:t>
            </a:r>
            <a:endParaRPr kumimoji="0" lang="es-PE" sz="11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TextBox 6">
            <a:extLst>
              <a:ext uri="{FF2B5EF4-FFF2-40B4-BE49-F238E27FC236}">
                <a16:creationId xmlns:a16="http://schemas.microsoft.com/office/drawing/2014/main" id="{2C07EC25-8972-4964-89B2-FE39E95D0039}"/>
              </a:ext>
            </a:extLst>
          </p:cNvPr>
          <p:cNvSpPr txBox="1"/>
          <p:nvPr/>
        </p:nvSpPr>
        <p:spPr>
          <a:xfrm>
            <a:off x="9048328" y="867569"/>
            <a:ext cx="1123950" cy="257175"/>
          </a:xfrm>
          <a:prstGeom prst="rect">
            <a:avLst/>
          </a:prstGeom>
          <a:no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100" b="1" i="0" u="none" strike="noStrike" kern="0" cap="none" spc="0" normalizeH="0" baseline="0" noProof="0" dirty="0" err="1">
                <a:ln>
                  <a:noFill/>
                </a:ln>
                <a:solidFill>
                  <a:sysClr val="windowText" lastClr="000000"/>
                </a:solidFill>
                <a:effectLst/>
                <a:uLnTx/>
                <a:uFillTx/>
                <a:latin typeface="Calibri"/>
                <a:ea typeface="+mn-ea"/>
                <a:cs typeface="+mn-cs"/>
              </a:rPr>
              <a:t>Equities</a:t>
            </a:r>
            <a:endParaRPr kumimoji="0" lang="es-PE" sz="11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TextBox 7">
            <a:extLst>
              <a:ext uri="{FF2B5EF4-FFF2-40B4-BE49-F238E27FC236}">
                <a16:creationId xmlns:a16="http://schemas.microsoft.com/office/drawing/2014/main" id="{02A002E5-CE14-4157-9E91-6E2C744AF32E}"/>
              </a:ext>
            </a:extLst>
          </p:cNvPr>
          <p:cNvSpPr txBox="1"/>
          <p:nvPr/>
        </p:nvSpPr>
        <p:spPr>
          <a:xfrm>
            <a:off x="2009825" y="1067594"/>
            <a:ext cx="485775" cy="257175"/>
          </a:xfrm>
          <a:prstGeom prst="rect">
            <a:avLst/>
          </a:prstGeom>
          <a:no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000" b="1" i="1" u="none" strike="noStrike" kern="0" cap="none" spc="0" normalizeH="0" baseline="0" noProof="0" dirty="0">
                <a:ln>
                  <a:noFill/>
                </a:ln>
                <a:solidFill>
                  <a:sysClr val="windowText" lastClr="000000">
                    <a:lumMod val="65000"/>
                    <a:lumOff val="35000"/>
                  </a:sysClr>
                </a:solidFill>
                <a:effectLst/>
                <a:uLnTx/>
                <a:uFillTx/>
                <a:latin typeface="Calibri"/>
                <a:ea typeface="+mn-ea"/>
                <a:cs typeface="+mn-cs"/>
              </a:rPr>
              <a:t>EM</a:t>
            </a:r>
          </a:p>
        </p:txBody>
      </p:sp>
      <p:sp>
        <p:nvSpPr>
          <p:cNvPr id="15" name="TextBox 8">
            <a:extLst>
              <a:ext uri="{FF2B5EF4-FFF2-40B4-BE49-F238E27FC236}">
                <a16:creationId xmlns:a16="http://schemas.microsoft.com/office/drawing/2014/main" id="{280BFF98-7161-4D4C-A813-7FBBBC938476}"/>
              </a:ext>
            </a:extLst>
          </p:cNvPr>
          <p:cNvSpPr txBox="1"/>
          <p:nvPr/>
        </p:nvSpPr>
        <p:spPr>
          <a:xfrm>
            <a:off x="3575720" y="1067594"/>
            <a:ext cx="485775" cy="257175"/>
          </a:xfrm>
          <a:prstGeom prst="rect">
            <a:avLst/>
          </a:prstGeom>
          <a:no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000" b="1" i="1" u="none" strike="noStrike" kern="0" cap="none" spc="0" normalizeH="0" baseline="0" noProof="0" dirty="0">
                <a:ln>
                  <a:noFill/>
                </a:ln>
                <a:solidFill>
                  <a:sysClr val="windowText" lastClr="000000">
                    <a:lumMod val="65000"/>
                    <a:lumOff val="35000"/>
                  </a:sysClr>
                </a:solidFill>
                <a:effectLst/>
                <a:uLnTx/>
                <a:uFillTx/>
                <a:latin typeface="Calibri"/>
                <a:ea typeface="+mn-ea"/>
                <a:cs typeface="+mn-cs"/>
              </a:rPr>
              <a:t>EM</a:t>
            </a:r>
          </a:p>
        </p:txBody>
      </p:sp>
      <p:sp>
        <p:nvSpPr>
          <p:cNvPr id="16" name="TextBox 9">
            <a:extLst>
              <a:ext uri="{FF2B5EF4-FFF2-40B4-BE49-F238E27FC236}">
                <a16:creationId xmlns:a16="http://schemas.microsoft.com/office/drawing/2014/main" id="{F48E54E8-5853-43C4-942B-D5C0C86B9486}"/>
              </a:ext>
            </a:extLst>
          </p:cNvPr>
          <p:cNvSpPr txBox="1"/>
          <p:nvPr/>
        </p:nvSpPr>
        <p:spPr>
          <a:xfrm>
            <a:off x="4367808" y="1058069"/>
            <a:ext cx="485775" cy="257175"/>
          </a:xfrm>
          <a:prstGeom prst="rect">
            <a:avLst/>
          </a:prstGeom>
          <a:no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000" b="1" i="1" u="none" strike="noStrike" kern="0" cap="none" spc="0" normalizeH="0" baseline="0" noProof="0" dirty="0">
                <a:ln>
                  <a:noFill/>
                </a:ln>
                <a:solidFill>
                  <a:sysClr val="windowText" lastClr="000000">
                    <a:lumMod val="65000"/>
                    <a:lumOff val="35000"/>
                  </a:sysClr>
                </a:solidFill>
                <a:effectLst/>
                <a:uLnTx/>
                <a:uFillTx/>
                <a:latin typeface="Calibri"/>
                <a:ea typeface="+mn-ea"/>
                <a:cs typeface="+mn-cs"/>
              </a:rPr>
              <a:t>EM</a:t>
            </a:r>
          </a:p>
        </p:txBody>
      </p:sp>
      <p:sp>
        <p:nvSpPr>
          <p:cNvPr id="17" name="TextBox 10">
            <a:extLst>
              <a:ext uri="{FF2B5EF4-FFF2-40B4-BE49-F238E27FC236}">
                <a16:creationId xmlns:a16="http://schemas.microsoft.com/office/drawing/2014/main" id="{18AE019B-DE56-4798-BFE9-9C7BD5890FD2}"/>
              </a:ext>
            </a:extLst>
          </p:cNvPr>
          <p:cNvSpPr txBox="1"/>
          <p:nvPr/>
        </p:nvSpPr>
        <p:spPr>
          <a:xfrm>
            <a:off x="5159896" y="1058069"/>
            <a:ext cx="485775" cy="257175"/>
          </a:xfrm>
          <a:prstGeom prst="rect">
            <a:avLst/>
          </a:prstGeom>
          <a:no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000" b="1" i="1" u="none" strike="noStrike" kern="0" cap="none" spc="0" normalizeH="0" baseline="0" noProof="0" dirty="0">
                <a:ln>
                  <a:noFill/>
                </a:ln>
                <a:solidFill>
                  <a:sysClr val="windowText" lastClr="000000">
                    <a:lumMod val="65000"/>
                    <a:lumOff val="35000"/>
                  </a:sysClr>
                </a:solidFill>
                <a:effectLst/>
                <a:uLnTx/>
                <a:uFillTx/>
                <a:latin typeface="Calibri"/>
                <a:ea typeface="+mn-ea"/>
                <a:cs typeface="+mn-cs"/>
              </a:rPr>
              <a:t>EM</a:t>
            </a:r>
          </a:p>
        </p:txBody>
      </p:sp>
      <p:sp>
        <p:nvSpPr>
          <p:cNvPr id="19" name="TextBox 12">
            <a:extLst>
              <a:ext uri="{FF2B5EF4-FFF2-40B4-BE49-F238E27FC236}">
                <a16:creationId xmlns:a16="http://schemas.microsoft.com/office/drawing/2014/main" id="{9604FDD9-E8F9-41BB-BBEC-F96AEB56EE5E}"/>
              </a:ext>
            </a:extLst>
          </p:cNvPr>
          <p:cNvSpPr txBox="1"/>
          <p:nvPr/>
        </p:nvSpPr>
        <p:spPr>
          <a:xfrm>
            <a:off x="2783632" y="1067594"/>
            <a:ext cx="485775" cy="257175"/>
          </a:xfrm>
          <a:prstGeom prst="rect">
            <a:avLst/>
          </a:prstGeom>
          <a:no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000" b="1" i="1" u="none" strike="noStrike" kern="0" cap="none" spc="0" normalizeH="0" baseline="0" noProof="0" dirty="0">
                <a:ln>
                  <a:noFill/>
                </a:ln>
                <a:solidFill>
                  <a:sysClr val="windowText" lastClr="000000">
                    <a:lumMod val="65000"/>
                    <a:lumOff val="35000"/>
                  </a:sysClr>
                </a:solidFill>
                <a:effectLst/>
                <a:uLnTx/>
                <a:uFillTx/>
                <a:latin typeface="Calibri"/>
                <a:ea typeface="+mn-ea"/>
                <a:cs typeface="+mn-cs"/>
              </a:rPr>
              <a:t>HY</a:t>
            </a:r>
          </a:p>
        </p:txBody>
      </p:sp>
      <p:sp>
        <p:nvSpPr>
          <p:cNvPr id="22" name="TextBox 15">
            <a:extLst>
              <a:ext uri="{FF2B5EF4-FFF2-40B4-BE49-F238E27FC236}">
                <a16:creationId xmlns:a16="http://schemas.microsoft.com/office/drawing/2014/main" id="{F87240A8-AF2F-4327-B25B-66F27729146C}"/>
              </a:ext>
            </a:extLst>
          </p:cNvPr>
          <p:cNvSpPr txBox="1"/>
          <p:nvPr/>
        </p:nvSpPr>
        <p:spPr>
          <a:xfrm>
            <a:off x="8256240" y="1039019"/>
            <a:ext cx="485775" cy="257175"/>
          </a:xfrm>
          <a:prstGeom prst="rect">
            <a:avLst/>
          </a:prstGeom>
          <a:no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000" b="1" i="1" u="none" strike="noStrike" kern="0" cap="none" spc="0" normalizeH="0" baseline="0" noProof="0">
                <a:ln>
                  <a:noFill/>
                </a:ln>
                <a:solidFill>
                  <a:sysClr val="windowText" lastClr="000000">
                    <a:lumMod val="65000"/>
                    <a:lumOff val="35000"/>
                  </a:sysClr>
                </a:solidFill>
                <a:effectLst/>
                <a:uLnTx/>
                <a:uFillTx/>
                <a:latin typeface="Calibri"/>
                <a:ea typeface="+mn-ea"/>
                <a:cs typeface="+mn-cs"/>
              </a:rPr>
              <a:t>DM</a:t>
            </a:r>
          </a:p>
        </p:txBody>
      </p:sp>
      <p:sp>
        <p:nvSpPr>
          <p:cNvPr id="23" name="TextBox 16">
            <a:extLst>
              <a:ext uri="{FF2B5EF4-FFF2-40B4-BE49-F238E27FC236}">
                <a16:creationId xmlns:a16="http://schemas.microsoft.com/office/drawing/2014/main" id="{9A3EFE01-A627-48A3-845D-ED50F72D73A3}"/>
              </a:ext>
            </a:extLst>
          </p:cNvPr>
          <p:cNvSpPr txBox="1"/>
          <p:nvPr/>
        </p:nvSpPr>
        <p:spPr>
          <a:xfrm>
            <a:off x="9066609" y="1048544"/>
            <a:ext cx="485775" cy="257175"/>
          </a:xfrm>
          <a:prstGeom prst="rect">
            <a:avLst/>
          </a:prstGeom>
          <a:no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000" b="1" i="1" u="none" strike="noStrike" kern="0" cap="none" spc="0" normalizeH="0" baseline="0" noProof="0" dirty="0">
                <a:ln>
                  <a:noFill/>
                </a:ln>
                <a:solidFill>
                  <a:sysClr val="windowText" lastClr="000000">
                    <a:lumMod val="65000"/>
                    <a:lumOff val="35000"/>
                  </a:sysClr>
                </a:solidFill>
                <a:effectLst/>
                <a:uLnTx/>
                <a:uFillTx/>
                <a:latin typeface="Calibri"/>
                <a:ea typeface="+mn-ea"/>
                <a:cs typeface="+mn-cs"/>
              </a:rPr>
              <a:t>EM</a:t>
            </a:r>
          </a:p>
        </p:txBody>
      </p:sp>
      <p:sp>
        <p:nvSpPr>
          <p:cNvPr id="24" name="TextBox 17">
            <a:extLst>
              <a:ext uri="{FF2B5EF4-FFF2-40B4-BE49-F238E27FC236}">
                <a16:creationId xmlns:a16="http://schemas.microsoft.com/office/drawing/2014/main" id="{D0A5CE80-9DE5-4D9E-A841-68459E3D8DBE}"/>
              </a:ext>
            </a:extLst>
          </p:cNvPr>
          <p:cNvSpPr txBox="1"/>
          <p:nvPr/>
        </p:nvSpPr>
        <p:spPr>
          <a:xfrm>
            <a:off x="9840416" y="1058069"/>
            <a:ext cx="485775" cy="257175"/>
          </a:xfrm>
          <a:prstGeom prst="rect">
            <a:avLst/>
          </a:prstGeom>
          <a:no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000" b="1" i="1" u="none" strike="noStrike" kern="0" cap="none" spc="0" normalizeH="0" baseline="0" noProof="0" dirty="0">
                <a:ln>
                  <a:noFill/>
                </a:ln>
                <a:solidFill>
                  <a:sysClr val="windowText" lastClr="000000">
                    <a:lumMod val="65000"/>
                    <a:lumOff val="35000"/>
                  </a:sysClr>
                </a:solidFill>
                <a:effectLst/>
                <a:uLnTx/>
                <a:uFillTx/>
                <a:latin typeface="Calibri"/>
                <a:ea typeface="+mn-ea"/>
                <a:cs typeface="+mn-cs"/>
              </a:rPr>
              <a:t>DM</a:t>
            </a:r>
          </a:p>
        </p:txBody>
      </p:sp>
      <p:sp>
        <p:nvSpPr>
          <p:cNvPr id="25" name="TextBox 21">
            <a:extLst>
              <a:ext uri="{FF2B5EF4-FFF2-40B4-BE49-F238E27FC236}">
                <a16:creationId xmlns:a16="http://schemas.microsoft.com/office/drawing/2014/main" id="{9F0E2CFE-3ED6-412C-8175-01D88FF4BE90}"/>
              </a:ext>
            </a:extLst>
          </p:cNvPr>
          <p:cNvSpPr txBox="1"/>
          <p:nvPr/>
        </p:nvSpPr>
        <p:spPr>
          <a:xfrm>
            <a:off x="10729615" y="1681564"/>
            <a:ext cx="910737" cy="510686"/>
          </a:xfrm>
          <a:prstGeom prst="rect">
            <a:avLst/>
          </a:prstGeom>
          <a:solidFill>
            <a:sysClr val="window" lastClr="FFFFFF"/>
          </a:solid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000" b="0" i="0" u="none" strike="noStrike" kern="0" cap="none" spc="0" normalizeH="0" baseline="0" noProof="0" dirty="0">
                <a:ln>
                  <a:noFill/>
                </a:ln>
                <a:solidFill>
                  <a:sysClr val="windowText" lastClr="000000"/>
                </a:solidFill>
                <a:effectLst/>
                <a:uLnTx/>
                <a:uFillTx/>
                <a:latin typeface="Calibri"/>
                <a:ea typeface="+mn-ea"/>
                <a:cs typeface="+mn-cs"/>
              </a:rPr>
              <a:t>Intensidad de Comparables (CEMB, HYT, ACWI,  EEM)</a:t>
            </a:r>
          </a:p>
        </p:txBody>
      </p:sp>
      <p:sp>
        <p:nvSpPr>
          <p:cNvPr id="26" name="Oval 25">
            <a:extLst>
              <a:ext uri="{FF2B5EF4-FFF2-40B4-BE49-F238E27FC236}">
                <a16:creationId xmlns:a16="http://schemas.microsoft.com/office/drawing/2014/main" id="{1CB680E4-B10A-4892-AB0D-31295A294A15}"/>
              </a:ext>
            </a:extLst>
          </p:cNvPr>
          <p:cNvSpPr/>
          <p:nvPr/>
        </p:nvSpPr>
        <p:spPr>
          <a:xfrm>
            <a:off x="10633633" y="1849351"/>
            <a:ext cx="114300" cy="114300"/>
          </a:xfrm>
          <a:prstGeom prst="ellipse">
            <a:avLst/>
          </a:prstGeom>
          <a:solidFill>
            <a:srgbClr val="F79646">
              <a:lumMod val="75000"/>
            </a:srgbClr>
          </a:solidFill>
          <a:ln w="25400" cap="flat" cmpd="sng" algn="ctr">
            <a:noFill/>
            <a:prstDash val="solid"/>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1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7" name="TextBox 23">
            <a:extLst>
              <a:ext uri="{FF2B5EF4-FFF2-40B4-BE49-F238E27FC236}">
                <a16:creationId xmlns:a16="http://schemas.microsoft.com/office/drawing/2014/main" id="{BE50598F-831C-40E1-90CA-9481909127BC}"/>
              </a:ext>
            </a:extLst>
          </p:cNvPr>
          <p:cNvSpPr txBox="1"/>
          <p:nvPr/>
        </p:nvSpPr>
        <p:spPr>
          <a:xfrm>
            <a:off x="10795506" y="2326672"/>
            <a:ext cx="910737" cy="222039"/>
          </a:xfrm>
          <a:prstGeom prst="rect">
            <a:avLst/>
          </a:prstGeom>
          <a:solidFill>
            <a:sysClr val="window" lastClr="FFFFFF"/>
          </a:solid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000" b="0" i="0" u="none" strike="noStrike" kern="0" cap="none" spc="0" normalizeH="0" baseline="0" noProof="0" dirty="0">
                <a:ln>
                  <a:noFill/>
                </a:ln>
                <a:solidFill>
                  <a:sysClr val="windowText" lastClr="000000"/>
                </a:solidFill>
                <a:effectLst/>
                <a:uLnTx/>
                <a:uFillTx/>
                <a:latin typeface="Calibri"/>
                <a:ea typeface="+mn-ea"/>
                <a:cs typeface="+mn-cs"/>
              </a:rPr>
              <a:t>Pasive</a:t>
            </a:r>
          </a:p>
        </p:txBody>
      </p:sp>
      <p:sp>
        <p:nvSpPr>
          <p:cNvPr id="28" name="TextBox 24">
            <a:extLst>
              <a:ext uri="{FF2B5EF4-FFF2-40B4-BE49-F238E27FC236}">
                <a16:creationId xmlns:a16="http://schemas.microsoft.com/office/drawing/2014/main" id="{D570FC1B-F9B7-4EC5-971F-C1A9812A22EE}"/>
              </a:ext>
            </a:extLst>
          </p:cNvPr>
          <p:cNvSpPr txBox="1"/>
          <p:nvPr/>
        </p:nvSpPr>
        <p:spPr>
          <a:xfrm>
            <a:off x="10801887" y="2665042"/>
            <a:ext cx="910737" cy="331910"/>
          </a:xfrm>
          <a:prstGeom prst="rect">
            <a:avLst/>
          </a:prstGeom>
          <a:solidFill>
            <a:sysClr val="window" lastClr="FFFFFF"/>
          </a:solid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000" b="0" i="0" u="none" strike="noStrike" kern="0" cap="none" spc="0" normalizeH="0" baseline="0" noProof="0">
                <a:ln>
                  <a:noFill/>
                </a:ln>
                <a:solidFill>
                  <a:sysClr val="windowText" lastClr="000000"/>
                </a:solidFill>
                <a:effectLst/>
                <a:uLnTx/>
                <a:uFillTx/>
                <a:latin typeface="Calibri"/>
                <a:ea typeface="+mn-ea"/>
                <a:cs typeface="+mn-cs"/>
              </a:rPr>
              <a:t>Active</a:t>
            </a:r>
          </a:p>
        </p:txBody>
      </p:sp>
      <p:sp>
        <p:nvSpPr>
          <p:cNvPr id="29" name="Oval 28">
            <a:extLst>
              <a:ext uri="{FF2B5EF4-FFF2-40B4-BE49-F238E27FC236}">
                <a16:creationId xmlns:a16="http://schemas.microsoft.com/office/drawing/2014/main" id="{21187F2B-AE8F-4089-854E-B7813E5C52C9}"/>
              </a:ext>
            </a:extLst>
          </p:cNvPr>
          <p:cNvSpPr/>
          <p:nvPr/>
        </p:nvSpPr>
        <p:spPr>
          <a:xfrm>
            <a:off x="10651320" y="2375063"/>
            <a:ext cx="114300" cy="114300"/>
          </a:xfrm>
          <a:prstGeom prst="ellipse">
            <a:avLst/>
          </a:prstGeom>
          <a:solidFill>
            <a:srgbClr val="00AECB"/>
          </a:solidFill>
          <a:ln w="25400" cap="flat" cmpd="sng" algn="ctr">
            <a:noFill/>
            <a:prstDash val="solid"/>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1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0" name="Oval 29">
            <a:extLst>
              <a:ext uri="{FF2B5EF4-FFF2-40B4-BE49-F238E27FC236}">
                <a16:creationId xmlns:a16="http://schemas.microsoft.com/office/drawing/2014/main" id="{FB4BE282-A675-455E-AFEE-280A2ABE0C0E}"/>
              </a:ext>
            </a:extLst>
          </p:cNvPr>
          <p:cNvSpPr/>
          <p:nvPr/>
        </p:nvSpPr>
        <p:spPr>
          <a:xfrm>
            <a:off x="10660041" y="2773847"/>
            <a:ext cx="114300" cy="114300"/>
          </a:xfrm>
          <a:prstGeom prst="ellipse">
            <a:avLst/>
          </a:prstGeom>
          <a:solidFill>
            <a:srgbClr val="002060"/>
          </a:solidFill>
          <a:ln w="25400" cap="flat" cmpd="sng" algn="ctr">
            <a:noFill/>
            <a:prstDash val="solid"/>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100" b="0" i="0" u="none" strike="noStrike" kern="0" cap="none" spc="0" normalizeH="0" baseline="0" noProof="0">
              <a:ln>
                <a:noFill/>
              </a:ln>
              <a:solidFill>
                <a:sysClr val="window" lastClr="FFFFFF"/>
              </a:solidFill>
              <a:effectLst/>
              <a:uLnTx/>
              <a:uFillTx/>
              <a:latin typeface="Calibri"/>
              <a:ea typeface="+mn-ea"/>
              <a:cs typeface="+mn-cs"/>
            </a:endParaRPr>
          </a:p>
        </p:txBody>
      </p:sp>
      <p:cxnSp>
        <p:nvCxnSpPr>
          <p:cNvPr id="32" name="Straight Connector 31">
            <a:extLst>
              <a:ext uri="{FF2B5EF4-FFF2-40B4-BE49-F238E27FC236}">
                <a16:creationId xmlns:a16="http://schemas.microsoft.com/office/drawing/2014/main" id="{A95B6E17-63A5-2CBC-AA20-DC3EEEC6C584}"/>
              </a:ext>
            </a:extLst>
          </p:cNvPr>
          <p:cNvCxnSpPr/>
          <p:nvPr/>
        </p:nvCxnSpPr>
        <p:spPr>
          <a:xfrm>
            <a:off x="8040216" y="1168524"/>
            <a:ext cx="0" cy="2476500"/>
          </a:xfrm>
          <a:prstGeom prst="line">
            <a:avLst/>
          </a:prstGeom>
          <a:ln w="222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42" name="Chart 1">
            <a:extLst>
              <a:ext uri="{FF2B5EF4-FFF2-40B4-BE49-F238E27FC236}">
                <a16:creationId xmlns:a16="http://schemas.microsoft.com/office/drawing/2014/main" id="{A993A48E-B757-4003-A521-784B282F01AF}"/>
              </a:ext>
            </a:extLst>
          </p:cNvPr>
          <p:cNvGraphicFramePr>
            <a:graphicFrameLocks/>
          </p:cNvGraphicFramePr>
          <p:nvPr>
            <p:extLst>
              <p:ext uri="{D42A27DB-BD31-4B8C-83A1-F6EECF244321}">
                <p14:modId xmlns:p14="http://schemas.microsoft.com/office/powerpoint/2010/main" val="702609303"/>
              </p:ext>
            </p:extLst>
          </p:nvPr>
        </p:nvGraphicFramePr>
        <p:xfrm>
          <a:off x="1639762" y="1075198"/>
          <a:ext cx="8848726" cy="3001874"/>
        </p:xfrm>
        <a:graphic>
          <a:graphicData uri="http://schemas.openxmlformats.org/drawingml/2006/chart">
            <c:chart xmlns:c="http://schemas.openxmlformats.org/drawingml/2006/chart" xmlns:r="http://schemas.openxmlformats.org/officeDocument/2006/relationships" r:id="rId3"/>
          </a:graphicData>
        </a:graphic>
      </p:graphicFrame>
      <p:sp>
        <p:nvSpPr>
          <p:cNvPr id="44" name="TextBox 10">
            <a:extLst>
              <a:ext uri="{FF2B5EF4-FFF2-40B4-BE49-F238E27FC236}">
                <a16:creationId xmlns:a16="http://schemas.microsoft.com/office/drawing/2014/main" id="{5B24C85E-D0F3-4EB8-5215-C47F9D7602A4}"/>
              </a:ext>
            </a:extLst>
          </p:cNvPr>
          <p:cNvSpPr txBox="1"/>
          <p:nvPr/>
        </p:nvSpPr>
        <p:spPr>
          <a:xfrm>
            <a:off x="5879976" y="1052736"/>
            <a:ext cx="485775" cy="257175"/>
          </a:xfrm>
          <a:prstGeom prst="rect">
            <a:avLst/>
          </a:prstGeom>
          <a:no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000" b="1" i="1" u="none" strike="noStrike" kern="0" cap="none" spc="0" normalizeH="0" baseline="0" noProof="0" dirty="0">
                <a:ln>
                  <a:noFill/>
                </a:ln>
                <a:solidFill>
                  <a:sysClr val="windowText" lastClr="000000">
                    <a:lumMod val="65000"/>
                    <a:lumOff val="35000"/>
                  </a:sysClr>
                </a:solidFill>
                <a:effectLst/>
                <a:uLnTx/>
                <a:uFillTx/>
                <a:latin typeface="Calibri"/>
                <a:ea typeface="+mn-ea"/>
                <a:cs typeface="+mn-cs"/>
              </a:rPr>
              <a:t>EM</a:t>
            </a:r>
          </a:p>
        </p:txBody>
      </p:sp>
      <p:sp>
        <p:nvSpPr>
          <p:cNvPr id="46" name="TextBox 10">
            <a:extLst>
              <a:ext uri="{FF2B5EF4-FFF2-40B4-BE49-F238E27FC236}">
                <a16:creationId xmlns:a16="http://schemas.microsoft.com/office/drawing/2014/main" id="{542773AC-DFD0-0D9B-83DE-6596D362B0AF}"/>
              </a:ext>
            </a:extLst>
          </p:cNvPr>
          <p:cNvSpPr txBox="1"/>
          <p:nvPr/>
        </p:nvSpPr>
        <p:spPr>
          <a:xfrm>
            <a:off x="6618337" y="1052736"/>
            <a:ext cx="485775" cy="257175"/>
          </a:xfrm>
          <a:prstGeom prst="rect">
            <a:avLst/>
          </a:prstGeom>
          <a:no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1" i="1" kern="0" dirty="0">
                <a:solidFill>
                  <a:sysClr val="windowText" lastClr="000000">
                    <a:lumMod val="65000"/>
                    <a:lumOff val="35000"/>
                  </a:sysClr>
                </a:solidFill>
                <a:latin typeface="Calibri"/>
              </a:rPr>
              <a:t>H</a:t>
            </a:r>
            <a:r>
              <a:rPr lang="es-PE" sz="1000" b="1" i="1" kern="0" dirty="0">
                <a:solidFill>
                  <a:sysClr val="windowText" lastClr="000000">
                    <a:lumMod val="65000"/>
                    <a:lumOff val="35000"/>
                  </a:sysClr>
                </a:solidFill>
                <a:latin typeface="Calibri"/>
              </a:rPr>
              <a:t>Y</a:t>
            </a:r>
            <a:endParaRPr kumimoji="0" lang="es-PE" sz="1000" b="1" i="1" u="none" strike="noStrike" kern="0" cap="none" spc="0" normalizeH="0" baseline="0" noProof="0" dirty="0">
              <a:ln>
                <a:noFill/>
              </a:ln>
              <a:solidFill>
                <a:sysClr val="windowText" lastClr="000000">
                  <a:lumMod val="65000"/>
                  <a:lumOff val="35000"/>
                </a:sysClr>
              </a:solidFill>
              <a:effectLst/>
              <a:uLnTx/>
              <a:uFillTx/>
              <a:latin typeface="Calibri"/>
              <a:ea typeface="+mn-ea"/>
              <a:cs typeface="+mn-cs"/>
            </a:endParaRPr>
          </a:p>
        </p:txBody>
      </p:sp>
      <p:sp>
        <p:nvSpPr>
          <p:cNvPr id="48" name="TextBox 10">
            <a:extLst>
              <a:ext uri="{FF2B5EF4-FFF2-40B4-BE49-F238E27FC236}">
                <a16:creationId xmlns:a16="http://schemas.microsoft.com/office/drawing/2014/main" id="{AA5868D8-DEB6-8203-6B0D-C879FA80E60A}"/>
              </a:ext>
            </a:extLst>
          </p:cNvPr>
          <p:cNvSpPr txBox="1"/>
          <p:nvPr/>
        </p:nvSpPr>
        <p:spPr>
          <a:xfrm>
            <a:off x="7464152" y="1052736"/>
            <a:ext cx="485775" cy="257175"/>
          </a:xfrm>
          <a:prstGeom prst="rect">
            <a:avLst/>
          </a:prstGeom>
          <a:no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000" b="1" i="1" u="none" strike="noStrike" kern="0" cap="none" spc="0" normalizeH="0" baseline="0" noProof="0" dirty="0">
                <a:ln>
                  <a:noFill/>
                </a:ln>
                <a:solidFill>
                  <a:sysClr val="windowText" lastClr="000000">
                    <a:lumMod val="65000"/>
                    <a:lumOff val="35000"/>
                  </a:sysClr>
                </a:solidFill>
                <a:effectLst/>
                <a:uLnTx/>
                <a:uFillTx/>
                <a:latin typeface="Calibri"/>
                <a:ea typeface="+mn-ea"/>
                <a:cs typeface="+mn-cs"/>
              </a:rPr>
              <a:t>EM</a:t>
            </a:r>
          </a:p>
        </p:txBody>
      </p:sp>
      <p:sp>
        <p:nvSpPr>
          <p:cNvPr id="50" name="Rectangle: Rounded Corners 191">
            <a:extLst>
              <a:ext uri="{FF2B5EF4-FFF2-40B4-BE49-F238E27FC236}">
                <a16:creationId xmlns:a16="http://schemas.microsoft.com/office/drawing/2014/main" id="{12379BEA-DB48-1FDB-EA9F-22944593F51B}"/>
              </a:ext>
            </a:extLst>
          </p:cNvPr>
          <p:cNvSpPr/>
          <p:nvPr/>
        </p:nvSpPr>
        <p:spPr>
          <a:xfrm>
            <a:off x="695400" y="908720"/>
            <a:ext cx="11233247" cy="3168352"/>
          </a:xfrm>
          <a:prstGeom prst="roundRect">
            <a:avLst>
              <a:gd name="adj" fmla="val 0"/>
            </a:avLst>
          </a:prstGeom>
          <a:noFill/>
          <a:ln w="12700" cap="flat" cmpd="sng" algn="ctr">
            <a:solidFill>
              <a:srgbClr val="3494BA">
                <a:lumMod val="75000"/>
              </a:srgbClr>
            </a:solidFill>
            <a:prstDash val="solid"/>
          </a:ln>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PE" sz="1000" b="0" i="0" u="none" strike="noStrike" kern="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52" name="Rectangle: Rounded Corners 191">
            <a:extLst>
              <a:ext uri="{FF2B5EF4-FFF2-40B4-BE49-F238E27FC236}">
                <a16:creationId xmlns:a16="http://schemas.microsoft.com/office/drawing/2014/main" id="{3761B7B0-6659-C5CE-E0EE-47D37687CD4F}"/>
              </a:ext>
            </a:extLst>
          </p:cNvPr>
          <p:cNvSpPr/>
          <p:nvPr/>
        </p:nvSpPr>
        <p:spPr>
          <a:xfrm>
            <a:off x="695400" y="4221088"/>
            <a:ext cx="11233247" cy="2520280"/>
          </a:xfrm>
          <a:prstGeom prst="roundRect">
            <a:avLst>
              <a:gd name="adj" fmla="val 0"/>
            </a:avLst>
          </a:prstGeom>
          <a:noFill/>
          <a:ln w="12700" cap="flat" cmpd="sng" algn="ctr">
            <a:solidFill>
              <a:srgbClr val="3494BA">
                <a:lumMod val="75000"/>
              </a:srgbClr>
            </a:solidFill>
            <a:prstDash val="solid"/>
          </a:ln>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PE" sz="1000" b="0" i="0" u="none" strike="noStrike" kern="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54" name="Rectangle 167">
            <a:extLst>
              <a:ext uri="{FF2B5EF4-FFF2-40B4-BE49-F238E27FC236}">
                <a16:creationId xmlns:a16="http://schemas.microsoft.com/office/drawing/2014/main" id="{C9162FD5-1FC1-490E-8928-AE043FACCFD3}"/>
              </a:ext>
            </a:extLst>
          </p:cNvPr>
          <p:cNvSpPr/>
          <p:nvPr/>
        </p:nvSpPr>
        <p:spPr>
          <a:xfrm rot="5400000">
            <a:off x="587386" y="4971965"/>
            <a:ext cx="1362945" cy="1013320"/>
          </a:xfrm>
          <a:prstGeom prst="rect">
            <a:avLst/>
          </a:prstGeom>
          <a:solidFill>
            <a:srgbClr val="3494BA">
              <a:lumMod val="20000"/>
              <a:lumOff val="80000"/>
            </a:srgbClr>
          </a:solidFill>
          <a:ln w="13970" cap="flat" cmpd="sng" algn="ctr">
            <a:solidFill>
              <a:srgbClr val="3494BA">
                <a:shade val="15000"/>
              </a:srgbClr>
            </a:solidFill>
            <a:prstDash val="solid"/>
          </a:ln>
          <a:effectLst/>
        </p:spPr>
        <p:txBody>
          <a:bodyPr vert="vert27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MX" sz="1400" kern="0" dirty="0">
                <a:solidFill>
                  <a:srgbClr val="CEDBE6">
                    <a:lumMod val="10000"/>
                  </a:srgbClr>
                </a:solidFill>
                <a:latin typeface="Trebuchet MS" panose="020B0603020202020204" pitchFamily="34" charset="0"/>
              </a:rPr>
              <a:t>Empresas Intensidad Tradicional                (</a:t>
            </a:r>
            <a:r>
              <a:rPr lang="es-MX" sz="1400" kern="0" dirty="0" err="1">
                <a:solidFill>
                  <a:srgbClr val="CEDBE6">
                    <a:lumMod val="10000"/>
                  </a:srgbClr>
                </a:solidFill>
                <a:latin typeface="Trebuchet MS" panose="020B0603020202020204" pitchFamily="34" charset="0"/>
              </a:rPr>
              <a:t>Tn</a:t>
            </a:r>
            <a:r>
              <a:rPr lang="es-MX" sz="1400" kern="0" dirty="0">
                <a:solidFill>
                  <a:srgbClr val="CEDBE6">
                    <a:lumMod val="10000"/>
                  </a:srgbClr>
                </a:solidFill>
                <a:latin typeface="Trebuchet MS" panose="020B0603020202020204" pitchFamily="34" charset="0"/>
              </a:rPr>
              <a:t>. C02/USD AUM)  </a:t>
            </a:r>
            <a:r>
              <a:rPr kumimoji="0" lang="es-MX" sz="11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 </a:t>
            </a:r>
            <a:endParaRPr kumimoji="0" lang="es-PE" sz="11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endParaRPr>
          </a:p>
        </p:txBody>
      </p:sp>
      <p:sp>
        <p:nvSpPr>
          <p:cNvPr id="62" name="TextBox 21">
            <a:extLst>
              <a:ext uri="{FF2B5EF4-FFF2-40B4-BE49-F238E27FC236}">
                <a16:creationId xmlns:a16="http://schemas.microsoft.com/office/drawing/2014/main" id="{B0307CD4-7EB3-109D-EDE4-D689227BA46D}"/>
              </a:ext>
            </a:extLst>
          </p:cNvPr>
          <p:cNvSpPr txBox="1"/>
          <p:nvPr/>
        </p:nvSpPr>
        <p:spPr>
          <a:xfrm>
            <a:off x="10729615" y="4430482"/>
            <a:ext cx="1055017" cy="510686"/>
          </a:xfrm>
          <a:prstGeom prst="rect">
            <a:avLst/>
          </a:prstGeom>
          <a:solidFill>
            <a:sysClr val="window" lastClr="FFFFFF"/>
          </a:solid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0" cap="none" spc="0" normalizeH="0" baseline="0" noProof="0" dirty="0">
                <a:ln>
                  <a:noFill/>
                </a:ln>
                <a:solidFill>
                  <a:sysClr val="windowText" lastClr="000000"/>
                </a:solidFill>
                <a:effectLst/>
                <a:uLnTx/>
                <a:uFillTx/>
                <a:latin typeface="Calibri"/>
                <a:ea typeface="+mn-ea"/>
                <a:cs typeface="+mn-cs"/>
              </a:rPr>
              <a:t>Peso M</a:t>
            </a:r>
            <a:r>
              <a:rPr lang="es-ES" sz="1000" kern="0" dirty="0" err="1">
                <a:solidFill>
                  <a:sysClr val="windowText" lastClr="000000"/>
                </a:solidFill>
                <a:latin typeface="Calibri"/>
              </a:rPr>
              <a:t>ultifondo</a:t>
            </a:r>
            <a:endParaRPr kumimoji="0" lang="es-PE" sz="10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4" name="Oval 25">
            <a:extLst>
              <a:ext uri="{FF2B5EF4-FFF2-40B4-BE49-F238E27FC236}">
                <a16:creationId xmlns:a16="http://schemas.microsoft.com/office/drawing/2014/main" id="{A9BFC57E-DD61-E0E4-C1F0-69708F6F7FC7}"/>
              </a:ext>
            </a:extLst>
          </p:cNvPr>
          <p:cNvSpPr/>
          <p:nvPr/>
        </p:nvSpPr>
        <p:spPr>
          <a:xfrm>
            <a:off x="10662220" y="4646506"/>
            <a:ext cx="114300" cy="114300"/>
          </a:xfrm>
          <a:prstGeom prst="ellipse">
            <a:avLst/>
          </a:prstGeom>
          <a:solidFill>
            <a:srgbClr val="F79646">
              <a:lumMod val="75000"/>
            </a:srgbClr>
          </a:solidFill>
          <a:ln w="25400" cap="flat" cmpd="sng" algn="ctr">
            <a:noFill/>
            <a:prstDash val="solid"/>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1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66" name="TextBox 23">
            <a:extLst>
              <a:ext uri="{FF2B5EF4-FFF2-40B4-BE49-F238E27FC236}">
                <a16:creationId xmlns:a16="http://schemas.microsoft.com/office/drawing/2014/main" id="{735464F9-9FCF-5845-37C7-EE67FD7EB794}"/>
              </a:ext>
            </a:extLst>
          </p:cNvPr>
          <p:cNvSpPr txBox="1"/>
          <p:nvPr/>
        </p:nvSpPr>
        <p:spPr>
          <a:xfrm>
            <a:off x="10795506" y="4866196"/>
            <a:ext cx="910737" cy="222039"/>
          </a:xfrm>
          <a:prstGeom prst="rect">
            <a:avLst/>
          </a:prstGeom>
          <a:solidFill>
            <a:sysClr val="window" lastClr="FFFFFF"/>
          </a:solid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0" cap="none" spc="0" normalizeH="0" baseline="0" noProof="0" dirty="0">
                <a:ln>
                  <a:noFill/>
                </a:ln>
                <a:solidFill>
                  <a:sysClr val="windowText" lastClr="000000"/>
                </a:solidFill>
                <a:effectLst/>
                <a:uLnTx/>
                <a:uFillTx/>
                <a:latin typeface="Calibri"/>
                <a:ea typeface="+mn-ea"/>
                <a:cs typeface="+mn-cs"/>
              </a:rPr>
              <a:t>Minería</a:t>
            </a:r>
            <a:endParaRPr kumimoji="0" lang="es-PE" sz="10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8" name="TextBox 24">
            <a:extLst>
              <a:ext uri="{FF2B5EF4-FFF2-40B4-BE49-F238E27FC236}">
                <a16:creationId xmlns:a16="http://schemas.microsoft.com/office/drawing/2014/main" id="{43D40574-35B0-685A-B2C7-B9F0D9658B8F}"/>
              </a:ext>
            </a:extLst>
          </p:cNvPr>
          <p:cNvSpPr txBox="1"/>
          <p:nvPr/>
        </p:nvSpPr>
        <p:spPr>
          <a:xfrm>
            <a:off x="10801887" y="5157192"/>
            <a:ext cx="910737" cy="331910"/>
          </a:xfrm>
          <a:prstGeom prst="rect">
            <a:avLst/>
          </a:prstGeom>
          <a:solidFill>
            <a:sysClr val="window" lastClr="FFFFFF"/>
          </a:solid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0" cap="none" spc="0" normalizeH="0" baseline="0" noProof="0" dirty="0">
                <a:ln>
                  <a:noFill/>
                </a:ln>
                <a:solidFill>
                  <a:sysClr val="windowText" lastClr="000000"/>
                </a:solidFill>
                <a:effectLst/>
                <a:uLnTx/>
                <a:uFillTx/>
                <a:latin typeface="Calibri"/>
                <a:ea typeface="+mn-ea"/>
                <a:cs typeface="+mn-cs"/>
              </a:rPr>
              <a:t>Cementeras</a:t>
            </a:r>
            <a:endParaRPr kumimoji="0" lang="es-PE" sz="10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70" name="Oval 28">
            <a:extLst>
              <a:ext uri="{FF2B5EF4-FFF2-40B4-BE49-F238E27FC236}">
                <a16:creationId xmlns:a16="http://schemas.microsoft.com/office/drawing/2014/main" id="{CC37EDFA-6BB4-3212-DE98-F0DB1148AC0A}"/>
              </a:ext>
            </a:extLst>
          </p:cNvPr>
          <p:cNvSpPr/>
          <p:nvPr/>
        </p:nvSpPr>
        <p:spPr>
          <a:xfrm>
            <a:off x="10651320" y="4941168"/>
            <a:ext cx="114300" cy="114300"/>
          </a:xfrm>
          <a:prstGeom prst="ellipse">
            <a:avLst/>
          </a:prstGeom>
          <a:solidFill>
            <a:srgbClr val="00AECB"/>
          </a:solidFill>
          <a:ln w="25400" cap="flat" cmpd="sng" algn="ctr">
            <a:noFill/>
            <a:prstDash val="solid"/>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1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72" name="Oval 29">
            <a:extLst>
              <a:ext uri="{FF2B5EF4-FFF2-40B4-BE49-F238E27FC236}">
                <a16:creationId xmlns:a16="http://schemas.microsoft.com/office/drawing/2014/main" id="{82035661-8D53-F086-7D9F-F79472F7B6D4}"/>
              </a:ext>
            </a:extLst>
          </p:cNvPr>
          <p:cNvSpPr/>
          <p:nvPr/>
        </p:nvSpPr>
        <p:spPr>
          <a:xfrm>
            <a:off x="10660041" y="5258916"/>
            <a:ext cx="114300" cy="114300"/>
          </a:xfrm>
          <a:prstGeom prst="ellipse">
            <a:avLst/>
          </a:prstGeom>
          <a:solidFill>
            <a:srgbClr val="002060"/>
          </a:solidFill>
          <a:ln w="25400" cap="flat" cmpd="sng" algn="ctr">
            <a:noFill/>
            <a:prstDash val="solid"/>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1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80" name="TextBox 23">
            <a:extLst>
              <a:ext uri="{FF2B5EF4-FFF2-40B4-BE49-F238E27FC236}">
                <a16:creationId xmlns:a16="http://schemas.microsoft.com/office/drawing/2014/main" id="{E203D770-F1F4-CBDC-CAF0-443E666B6A27}"/>
              </a:ext>
            </a:extLst>
          </p:cNvPr>
          <p:cNvSpPr txBox="1"/>
          <p:nvPr/>
        </p:nvSpPr>
        <p:spPr>
          <a:xfrm>
            <a:off x="10795506" y="5517232"/>
            <a:ext cx="910737" cy="222039"/>
          </a:xfrm>
          <a:prstGeom prst="rect">
            <a:avLst/>
          </a:prstGeom>
          <a:solidFill>
            <a:sysClr val="window" lastClr="FFFFFF"/>
          </a:solid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kern="0" dirty="0">
                <a:solidFill>
                  <a:sysClr val="windowText" lastClr="000000"/>
                </a:solidFill>
                <a:latin typeface="Calibri"/>
              </a:rPr>
              <a:t>Industriales</a:t>
            </a:r>
            <a:endParaRPr kumimoji="0" lang="es-PE" sz="10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82" name="TextBox 24">
            <a:extLst>
              <a:ext uri="{FF2B5EF4-FFF2-40B4-BE49-F238E27FC236}">
                <a16:creationId xmlns:a16="http://schemas.microsoft.com/office/drawing/2014/main" id="{4B8C9211-C206-4BE1-2F6E-F22F69289890}"/>
              </a:ext>
            </a:extLst>
          </p:cNvPr>
          <p:cNvSpPr txBox="1"/>
          <p:nvPr/>
        </p:nvSpPr>
        <p:spPr>
          <a:xfrm>
            <a:off x="10801887" y="5761386"/>
            <a:ext cx="910737" cy="331910"/>
          </a:xfrm>
          <a:prstGeom prst="rect">
            <a:avLst/>
          </a:prstGeom>
          <a:solidFill>
            <a:sysClr val="window" lastClr="FFFFFF"/>
          </a:solid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kern="0" dirty="0" err="1">
                <a:solidFill>
                  <a:sysClr val="windowText" lastClr="000000"/>
                </a:solidFill>
                <a:latin typeface="Calibri"/>
              </a:rPr>
              <a:t>Utilities</a:t>
            </a:r>
            <a:endParaRPr kumimoji="0" lang="es-PE" sz="10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84" name="Oval 28">
            <a:extLst>
              <a:ext uri="{FF2B5EF4-FFF2-40B4-BE49-F238E27FC236}">
                <a16:creationId xmlns:a16="http://schemas.microsoft.com/office/drawing/2014/main" id="{AD7122E4-D7C4-DA78-3E17-C57C4BA2AB1B}"/>
              </a:ext>
            </a:extLst>
          </p:cNvPr>
          <p:cNvSpPr/>
          <p:nvPr/>
        </p:nvSpPr>
        <p:spPr>
          <a:xfrm>
            <a:off x="10651320" y="5589240"/>
            <a:ext cx="114300" cy="114300"/>
          </a:xfrm>
          <a:prstGeom prst="ellipse">
            <a:avLst/>
          </a:prstGeom>
          <a:solidFill>
            <a:srgbClr val="D4EAF3"/>
          </a:solidFill>
          <a:ln w="25400" cap="flat" cmpd="sng" algn="ctr">
            <a:noFill/>
            <a:prstDash val="solid"/>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1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86" name="Oval 29">
            <a:extLst>
              <a:ext uri="{FF2B5EF4-FFF2-40B4-BE49-F238E27FC236}">
                <a16:creationId xmlns:a16="http://schemas.microsoft.com/office/drawing/2014/main" id="{38763049-05D8-46D5-1FE2-E50947A83748}"/>
              </a:ext>
            </a:extLst>
          </p:cNvPr>
          <p:cNvSpPr/>
          <p:nvPr/>
        </p:nvSpPr>
        <p:spPr>
          <a:xfrm>
            <a:off x="10660041" y="5870191"/>
            <a:ext cx="114300" cy="114300"/>
          </a:xfrm>
          <a:prstGeom prst="ellipse">
            <a:avLst/>
          </a:prstGeom>
          <a:solidFill>
            <a:srgbClr val="ACD7CA"/>
          </a:solidFill>
          <a:ln w="25400" cap="flat" cmpd="sng" algn="ctr">
            <a:noFill/>
            <a:prstDash val="solid"/>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1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89" name="TextBox 24">
            <a:extLst>
              <a:ext uri="{FF2B5EF4-FFF2-40B4-BE49-F238E27FC236}">
                <a16:creationId xmlns:a16="http://schemas.microsoft.com/office/drawing/2014/main" id="{4864FFCE-2E6B-31C5-CAF1-12C5FADF616A}"/>
              </a:ext>
            </a:extLst>
          </p:cNvPr>
          <p:cNvSpPr txBox="1"/>
          <p:nvPr/>
        </p:nvSpPr>
        <p:spPr>
          <a:xfrm>
            <a:off x="10801887" y="6049418"/>
            <a:ext cx="910737" cy="331910"/>
          </a:xfrm>
          <a:prstGeom prst="rect">
            <a:avLst/>
          </a:prstGeom>
          <a:solidFill>
            <a:sysClr val="window" lastClr="FFFFFF"/>
          </a:solidFill>
          <a:ln w="9525" cmpd="sng">
            <a:noFill/>
          </a:ln>
          <a:effectLst/>
        </p:spPr>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0" cap="none" spc="0" normalizeH="0" baseline="0" noProof="0" dirty="0">
                <a:ln>
                  <a:noFill/>
                </a:ln>
                <a:solidFill>
                  <a:sysClr val="windowText" lastClr="000000"/>
                </a:solidFill>
                <a:effectLst/>
                <a:uLnTx/>
                <a:uFillTx/>
                <a:latin typeface="Calibri"/>
                <a:ea typeface="+mn-ea"/>
                <a:cs typeface="+mn-cs"/>
              </a:rPr>
              <a:t>Consumo</a:t>
            </a:r>
            <a:endParaRPr kumimoji="0" lang="es-PE" sz="10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91" name="Oval 29">
            <a:extLst>
              <a:ext uri="{FF2B5EF4-FFF2-40B4-BE49-F238E27FC236}">
                <a16:creationId xmlns:a16="http://schemas.microsoft.com/office/drawing/2014/main" id="{2189C412-506B-8896-AC47-800AECA9DE58}"/>
              </a:ext>
            </a:extLst>
          </p:cNvPr>
          <p:cNvSpPr/>
          <p:nvPr/>
        </p:nvSpPr>
        <p:spPr>
          <a:xfrm>
            <a:off x="10660041" y="6158223"/>
            <a:ext cx="114300" cy="114300"/>
          </a:xfrm>
          <a:prstGeom prst="ellipse">
            <a:avLst/>
          </a:prstGeom>
          <a:solidFill>
            <a:srgbClr val="0070C0"/>
          </a:solidFill>
          <a:ln w="25400" cap="flat" cmpd="sng" algn="ctr">
            <a:noFill/>
            <a:prstDash val="solid"/>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1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95" name="Rectangle 167">
            <a:extLst>
              <a:ext uri="{FF2B5EF4-FFF2-40B4-BE49-F238E27FC236}">
                <a16:creationId xmlns:a16="http://schemas.microsoft.com/office/drawing/2014/main" id="{E5798A6B-CCB4-03CB-FEF1-5811ABCFA2D1}"/>
              </a:ext>
            </a:extLst>
          </p:cNvPr>
          <p:cNvSpPr/>
          <p:nvPr/>
        </p:nvSpPr>
        <p:spPr>
          <a:xfrm rot="5400000">
            <a:off x="592596" y="1875621"/>
            <a:ext cx="1362945" cy="1013320"/>
          </a:xfrm>
          <a:prstGeom prst="rect">
            <a:avLst/>
          </a:prstGeom>
          <a:solidFill>
            <a:srgbClr val="3494BA">
              <a:lumMod val="20000"/>
              <a:lumOff val="80000"/>
            </a:srgbClr>
          </a:solidFill>
          <a:ln w="13970" cap="flat" cmpd="sng" algn="ctr">
            <a:solidFill>
              <a:srgbClr val="3494BA">
                <a:shade val="15000"/>
              </a:srgbClr>
            </a:solidFill>
            <a:prstDash val="solid"/>
          </a:ln>
          <a:effectLst/>
        </p:spPr>
        <p:txBody>
          <a:bodyPr vert="vert27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MX" sz="1400" kern="0" dirty="0">
                <a:solidFill>
                  <a:srgbClr val="CEDBE6">
                    <a:lumMod val="10000"/>
                  </a:srgbClr>
                </a:solidFill>
                <a:latin typeface="Trebuchet MS" panose="020B0603020202020204" pitchFamily="34" charset="0"/>
              </a:rPr>
              <a:t>FFMM/ETF </a:t>
            </a:r>
            <a:r>
              <a:rPr lang="es-MX" sz="1400" kern="0" dirty="0" err="1">
                <a:solidFill>
                  <a:srgbClr val="CEDBE6">
                    <a:lumMod val="10000"/>
                  </a:srgbClr>
                </a:solidFill>
                <a:latin typeface="Trebuchet MS" panose="020B0603020202020204" pitchFamily="34" charset="0"/>
              </a:rPr>
              <a:t>IntensidadWACI</a:t>
            </a:r>
            <a:r>
              <a:rPr lang="es-MX" sz="1400" kern="0" dirty="0">
                <a:solidFill>
                  <a:srgbClr val="CEDBE6">
                    <a:lumMod val="10000"/>
                  </a:srgbClr>
                </a:solidFill>
                <a:latin typeface="Trebuchet MS" panose="020B0603020202020204" pitchFamily="34" charset="0"/>
              </a:rPr>
              <a:t>                (</a:t>
            </a:r>
            <a:r>
              <a:rPr lang="es-MX" sz="1400" kern="0" dirty="0" err="1">
                <a:solidFill>
                  <a:srgbClr val="CEDBE6">
                    <a:lumMod val="10000"/>
                  </a:srgbClr>
                </a:solidFill>
                <a:latin typeface="Trebuchet MS" panose="020B0603020202020204" pitchFamily="34" charset="0"/>
              </a:rPr>
              <a:t>Tn</a:t>
            </a:r>
            <a:r>
              <a:rPr lang="es-MX" sz="1400" kern="0" dirty="0">
                <a:solidFill>
                  <a:srgbClr val="CEDBE6">
                    <a:lumMod val="10000"/>
                  </a:srgbClr>
                </a:solidFill>
                <a:latin typeface="Trebuchet MS" panose="020B0603020202020204" pitchFamily="34" charset="0"/>
              </a:rPr>
              <a:t>. C02/USD M Ingresos)  </a:t>
            </a:r>
            <a:r>
              <a:rPr kumimoji="0" lang="es-MX" sz="11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rPr>
              <a:t> </a:t>
            </a:r>
            <a:endParaRPr kumimoji="0" lang="es-PE" sz="1100" b="0" i="0" u="none" strike="noStrike" kern="0" cap="none" spc="0" normalizeH="0" baseline="0" noProof="0" dirty="0">
              <a:ln>
                <a:noFill/>
              </a:ln>
              <a:solidFill>
                <a:srgbClr val="CEDBE6">
                  <a:lumMod val="10000"/>
                </a:srgbClr>
              </a:solidFill>
              <a:effectLst/>
              <a:uLnTx/>
              <a:uFillTx/>
              <a:latin typeface="Trebuchet MS" panose="020B0603020202020204" pitchFamily="34" charset="0"/>
              <a:ea typeface="+mn-ea"/>
              <a:cs typeface="+mn-cs"/>
            </a:endParaRPr>
          </a:p>
        </p:txBody>
      </p:sp>
      <p:graphicFrame>
        <p:nvGraphicFramePr>
          <p:cNvPr id="2" name="Chart 1">
            <a:extLst>
              <a:ext uri="{FF2B5EF4-FFF2-40B4-BE49-F238E27FC236}">
                <a16:creationId xmlns:a16="http://schemas.microsoft.com/office/drawing/2014/main" id="{D0C79FD3-A4F1-4D8A-AD22-E15150D546CE}"/>
              </a:ext>
            </a:extLst>
          </p:cNvPr>
          <p:cNvGraphicFramePr>
            <a:graphicFrameLocks/>
          </p:cNvGraphicFramePr>
          <p:nvPr>
            <p:extLst>
              <p:ext uri="{D42A27DB-BD31-4B8C-83A1-F6EECF244321}">
                <p14:modId xmlns:p14="http://schemas.microsoft.com/office/powerpoint/2010/main" val="3356742999"/>
              </p:ext>
            </p:extLst>
          </p:nvPr>
        </p:nvGraphicFramePr>
        <p:xfrm>
          <a:off x="1778792" y="4216896"/>
          <a:ext cx="8632437" cy="2577341"/>
        </p:xfrm>
        <a:graphic>
          <a:graphicData uri="http://schemas.openxmlformats.org/drawingml/2006/chart">
            <c:chart xmlns:c="http://schemas.openxmlformats.org/drawingml/2006/chart" xmlns:r="http://schemas.openxmlformats.org/officeDocument/2006/relationships" r:id="rId4"/>
          </a:graphicData>
        </a:graphic>
      </p:graphicFrame>
      <p:sp>
        <p:nvSpPr>
          <p:cNvPr id="4" name="Rectangle 3">
            <a:extLst>
              <a:ext uri="{FF2B5EF4-FFF2-40B4-BE49-F238E27FC236}">
                <a16:creationId xmlns:a16="http://schemas.microsoft.com/office/drawing/2014/main" id="{B5DD1EB0-1CC6-FE5F-DFA5-DD00177A9E7E}"/>
              </a:ext>
            </a:extLst>
          </p:cNvPr>
          <p:cNvSpPr/>
          <p:nvPr/>
        </p:nvSpPr>
        <p:spPr>
          <a:xfrm>
            <a:off x="1796479" y="4293096"/>
            <a:ext cx="279739" cy="2376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176031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ACE28-ACA4-D8BE-6B01-D9EA99DCB6BA}"/>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7342FF4C-CD5E-EB31-8EC8-49F81B91BF07}"/>
              </a:ext>
            </a:extLst>
          </p:cNvPr>
          <p:cNvSpPr/>
          <p:nvPr/>
        </p:nvSpPr>
        <p:spPr>
          <a:xfrm>
            <a:off x="1991544" y="1772816"/>
            <a:ext cx="8064896" cy="1584176"/>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PE" sz="12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R="0" lvl="0" algn="just" defTabSz="457200" rtl="0" eaLnBrk="1" fontAlgn="auto" latinLnBrk="0" hangingPunct="1">
              <a:lnSpc>
                <a:spcPct val="100000"/>
              </a:lnSpc>
              <a:spcBef>
                <a:spcPts val="0"/>
              </a:spcBef>
              <a:spcAft>
                <a:spcPts val="0"/>
              </a:spcAft>
              <a:buClrTx/>
              <a:buSzTx/>
              <a:tabLst/>
              <a:defRPr/>
            </a:pPr>
            <a:endParaRPr kumimoji="0" lang="es-PE" sz="12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2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algn="just" defTabSz="457200">
              <a:defRPr/>
            </a:pPr>
            <a:r>
              <a:rPr kumimoji="0" lang="es-PE" sz="12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r>
              <a:rPr lang="es-ES" sz="1200" b="1" dirty="0">
                <a:solidFill>
                  <a:schemeClr val="tx1"/>
                </a:solidFill>
                <a:latin typeface="Trebuchet MS" panose="020B0603020202020204" pitchFamily="34" charset="0"/>
              </a:rPr>
              <a:t>Objetivo SURA 2025-2027: </a:t>
            </a:r>
            <a:r>
              <a:rPr lang="es-ES" sz="1200" dirty="0">
                <a:solidFill>
                  <a:schemeClr val="tx1"/>
                </a:solidFill>
                <a:latin typeface="Trebuchet MS" panose="020B0603020202020204" pitchFamily="34" charset="0"/>
              </a:rPr>
              <a:t>La cobertura </a:t>
            </a:r>
            <a:r>
              <a:rPr lang="es-ES" sz="1200" b="1" u="sng" dirty="0">
                <a:solidFill>
                  <a:schemeClr val="tx1"/>
                </a:solidFill>
                <a:latin typeface="Trebuchet MS" panose="020B0603020202020204" pitchFamily="34" charset="0"/>
              </a:rPr>
              <a:t>dejó</a:t>
            </a:r>
            <a:r>
              <a:rPr lang="es-ES" sz="1200" dirty="0">
                <a:solidFill>
                  <a:schemeClr val="tx1"/>
                </a:solidFill>
                <a:latin typeface="Trebuchet MS" panose="020B0603020202020204" pitchFamily="34" charset="0"/>
              </a:rPr>
              <a:t> de ser un Objetivo de SURA explícitamente, dado que logramos la cobertura total (excluyendo cash/derivados), sin embargo, </a:t>
            </a:r>
            <a:r>
              <a:rPr lang="es-ES" sz="1200" dirty="0">
                <a:solidFill>
                  <a:srgbClr val="1E2E6E"/>
                </a:solidFill>
                <a:latin typeface="Trebuchet MS" panose="020B0603020202020204" pitchFamily="34" charset="0"/>
              </a:rPr>
              <a:t>mantenemos </a:t>
            </a:r>
            <a:r>
              <a:rPr lang="es-ES" sz="1200" dirty="0">
                <a:solidFill>
                  <a:schemeClr val="tx1"/>
                </a:solidFill>
                <a:latin typeface="Trebuchet MS" panose="020B0603020202020204" pitchFamily="34" charset="0"/>
              </a:rPr>
              <a:t>los siguientes objetivos internos:</a:t>
            </a:r>
            <a:endParaRPr lang="es-PE" sz="1200" dirty="0">
              <a:solidFill>
                <a:schemeClr val="tx1"/>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2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9" name="Rectangle: Rounded Corners 8">
            <a:extLst>
              <a:ext uri="{FF2B5EF4-FFF2-40B4-BE49-F238E27FC236}">
                <a16:creationId xmlns:a16="http://schemas.microsoft.com/office/drawing/2014/main" id="{1E55308F-3CFD-3DEA-4A0C-E8E54FAD3E68}"/>
              </a:ext>
            </a:extLst>
          </p:cNvPr>
          <p:cNvSpPr/>
          <p:nvPr/>
        </p:nvSpPr>
        <p:spPr>
          <a:xfrm>
            <a:off x="1991544" y="3356992"/>
            <a:ext cx="2520280" cy="2736304"/>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endParaRPr lang="es-ES" sz="1200" dirty="0">
              <a:solidFill>
                <a:srgbClr val="002060"/>
              </a:solidFill>
              <a:latin typeface="Trebuchet MS" panose="020B0603020202020204" pitchFamily="34" charset="0"/>
            </a:endParaRPr>
          </a:p>
          <a:p>
            <a:pPr lvl="0" algn="ctr"/>
            <a:endParaRPr lang="es-ES" sz="1200" dirty="0">
              <a:solidFill>
                <a:srgbClr val="002060"/>
              </a:solidFill>
              <a:latin typeface="Trebuchet MS" panose="020B0603020202020204" pitchFamily="34" charset="0"/>
            </a:endParaRPr>
          </a:p>
          <a:p>
            <a:pPr lvl="0" algn="ctr"/>
            <a:r>
              <a:rPr lang="es-ES" sz="1200" b="1" dirty="0">
                <a:solidFill>
                  <a:srgbClr val="002060"/>
                </a:solidFill>
                <a:latin typeface="Trebuchet MS" panose="020B0603020202020204" pitchFamily="34" charset="0"/>
              </a:rPr>
              <a:t>a) Cobertura: </a:t>
            </a:r>
            <a:r>
              <a:rPr lang="es-ES" sz="1200" dirty="0">
                <a:solidFill>
                  <a:srgbClr val="002060"/>
                </a:solidFill>
                <a:latin typeface="Trebuchet MS" panose="020B0603020202020204" pitchFamily="34" charset="0"/>
              </a:rPr>
              <a:t>Mantener el porcentaje de Cobertura total del portafolio (excluyendo cash y derivados). </a:t>
            </a:r>
            <a:endParaRPr lang="es-PE" sz="1200" dirty="0">
              <a:solidFill>
                <a:srgbClr val="002060"/>
              </a:solidFill>
              <a:latin typeface="Trebuchet MS" panose="020B0603020202020204" pitchFamily="34" charset="0"/>
            </a:endParaRPr>
          </a:p>
        </p:txBody>
      </p:sp>
      <p:sp>
        <p:nvSpPr>
          <p:cNvPr id="11" name="Rectangle: Rounded Corners 10">
            <a:extLst>
              <a:ext uri="{FF2B5EF4-FFF2-40B4-BE49-F238E27FC236}">
                <a16:creationId xmlns:a16="http://schemas.microsoft.com/office/drawing/2014/main" id="{8CE22A6F-E916-1282-FE88-1A23D4969BD9}"/>
              </a:ext>
            </a:extLst>
          </p:cNvPr>
          <p:cNvSpPr/>
          <p:nvPr/>
        </p:nvSpPr>
        <p:spPr>
          <a:xfrm>
            <a:off x="4511824" y="3356992"/>
            <a:ext cx="2736304" cy="2736304"/>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endParaRPr lang="es-ES" sz="1200" dirty="0">
              <a:solidFill>
                <a:srgbClr val="002060"/>
              </a:solidFill>
              <a:latin typeface="Trebuchet MS" panose="020B0603020202020204" pitchFamily="34" charset="0"/>
            </a:endParaRPr>
          </a:p>
          <a:p>
            <a:pPr lvl="0" algn="ctr"/>
            <a:endParaRPr lang="es-ES" sz="1200" dirty="0">
              <a:solidFill>
                <a:srgbClr val="002060"/>
              </a:solidFill>
              <a:latin typeface="Trebuchet MS" panose="020B0603020202020204" pitchFamily="34" charset="0"/>
            </a:endParaRPr>
          </a:p>
          <a:p>
            <a:pPr lvl="0" algn="ctr"/>
            <a:r>
              <a:rPr lang="es-ES" sz="1200" b="1" dirty="0">
                <a:solidFill>
                  <a:srgbClr val="002060"/>
                </a:solidFill>
                <a:latin typeface="Trebuchet MS" panose="020B0603020202020204" pitchFamily="34" charset="0"/>
              </a:rPr>
              <a:t>b) Medición: </a:t>
            </a:r>
            <a:r>
              <a:rPr lang="es-ES" sz="1200" dirty="0">
                <a:solidFill>
                  <a:srgbClr val="002060"/>
                </a:solidFill>
                <a:latin typeface="Trebuchet MS" panose="020B0603020202020204" pitchFamily="34" charset="0"/>
              </a:rPr>
              <a:t>Continuar midiendo y presentando en Comités la huella del portafolio y de </a:t>
            </a:r>
            <a:r>
              <a:rPr lang="es-ES" sz="1200" i="1" dirty="0" err="1">
                <a:solidFill>
                  <a:srgbClr val="002060"/>
                </a:solidFill>
                <a:latin typeface="Trebuchet MS" panose="020B0603020202020204" pitchFamily="34" charset="0"/>
              </a:rPr>
              <a:t>benchmarks</a:t>
            </a:r>
            <a:r>
              <a:rPr lang="es-ES" sz="1200" dirty="0">
                <a:solidFill>
                  <a:srgbClr val="002060"/>
                </a:solidFill>
                <a:latin typeface="Trebuchet MS" panose="020B0603020202020204" pitchFamily="34" charset="0"/>
              </a:rPr>
              <a:t> (SPP/Índices).</a:t>
            </a:r>
            <a:endParaRPr lang="es-PE" sz="1200" dirty="0">
              <a:solidFill>
                <a:srgbClr val="002060"/>
              </a:solidFill>
              <a:latin typeface="Trebuchet MS" panose="020B0603020202020204" pitchFamily="34" charset="0"/>
            </a:endParaRPr>
          </a:p>
        </p:txBody>
      </p:sp>
      <p:sp>
        <p:nvSpPr>
          <p:cNvPr id="12" name="Rectangle: Rounded Corners 11">
            <a:extLst>
              <a:ext uri="{FF2B5EF4-FFF2-40B4-BE49-F238E27FC236}">
                <a16:creationId xmlns:a16="http://schemas.microsoft.com/office/drawing/2014/main" id="{014078CA-3B99-B073-9AFE-BAA17F5B6E40}"/>
              </a:ext>
            </a:extLst>
          </p:cNvPr>
          <p:cNvSpPr/>
          <p:nvPr/>
        </p:nvSpPr>
        <p:spPr>
          <a:xfrm>
            <a:off x="7248128" y="3356992"/>
            <a:ext cx="2808312" cy="2736304"/>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endParaRPr lang="es-ES" sz="1200" dirty="0">
              <a:solidFill>
                <a:srgbClr val="002060"/>
              </a:solidFill>
              <a:latin typeface="Trebuchet MS" panose="020B0603020202020204" pitchFamily="34" charset="0"/>
            </a:endParaRPr>
          </a:p>
          <a:p>
            <a:pPr lvl="0" algn="ctr"/>
            <a:endParaRPr lang="es-ES" sz="1200" dirty="0">
              <a:solidFill>
                <a:srgbClr val="002060"/>
              </a:solidFill>
              <a:latin typeface="Trebuchet MS" panose="020B0603020202020204" pitchFamily="34" charset="0"/>
            </a:endParaRPr>
          </a:p>
          <a:p>
            <a:pPr lvl="0" algn="ctr"/>
            <a:r>
              <a:rPr lang="es-ES" sz="1200" b="1" dirty="0">
                <a:solidFill>
                  <a:srgbClr val="002060"/>
                </a:solidFill>
                <a:latin typeface="Trebuchet MS" panose="020B0603020202020204" pitchFamily="34" charset="0"/>
              </a:rPr>
              <a:t>c) Metodologías Alternativas: </a:t>
            </a:r>
            <a:r>
              <a:rPr lang="es-ES" sz="1200" dirty="0">
                <a:solidFill>
                  <a:srgbClr val="002060"/>
                </a:solidFill>
                <a:latin typeface="Trebuchet MS" panose="020B0603020202020204" pitchFamily="34" charset="0"/>
              </a:rPr>
              <a:t>Continuar utilizando huella de MSCI, pero evaluando metodologías que puedan reemplazar el uso de </a:t>
            </a:r>
            <a:r>
              <a:rPr lang="es-ES" sz="1200" dirty="0" err="1">
                <a:solidFill>
                  <a:srgbClr val="002060"/>
                </a:solidFill>
                <a:latin typeface="Trebuchet MS" panose="020B0603020202020204" pitchFamily="34" charset="0"/>
              </a:rPr>
              <a:t>proxies</a:t>
            </a:r>
            <a:r>
              <a:rPr lang="es-ES" sz="1200" dirty="0">
                <a:solidFill>
                  <a:srgbClr val="002060"/>
                </a:solidFill>
                <a:latin typeface="Trebuchet MS" panose="020B0603020202020204" pitchFamily="34" charset="0"/>
              </a:rPr>
              <a:t> (ejemplo: PCAF).</a:t>
            </a:r>
          </a:p>
          <a:p>
            <a:pPr lvl="0" algn="ctr"/>
            <a:r>
              <a:rPr lang="es-ES" sz="1200" b="1" dirty="0">
                <a:solidFill>
                  <a:srgbClr val="002060"/>
                </a:solidFill>
                <a:latin typeface="Trebuchet MS" panose="020B0603020202020204" pitchFamily="34" charset="0"/>
              </a:rPr>
              <a:t>En Proceso.</a:t>
            </a:r>
            <a:r>
              <a:rPr lang="es-ES" sz="1200" dirty="0">
                <a:solidFill>
                  <a:srgbClr val="002060"/>
                </a:solidFill>
                <a:latin typeface="Trebuchet MS" panose="020B0603020202020204" pitchFamily="34" charset="0"/>
              </a:rPr>
              <a:t> </a:t>
            </a:r>
            <a:endParaRPr lang="es-PE" sz="1200" dirty="0">
              <a:solidFill>
                <a:srgbClr val="002060"/>
              </a:solidFill>
              <a:latin typeface="Trebuchet MS" panose="020B0603020202020204" pitchFamily="34" charset="0"/>
            </a:endParaRPr>
          </a:p>
        </p:txBody>
      </p:sp>
      <p:pic>
        <p:nvPicPr>
          <p:cNvPr id="3" name="Graphic 21" descr="Checkbox Checked with solid fill">
            <a:extLst>
              <a:ext uri="{FF2B5EF4-FFF2-40B4-BE49-F238E27FC236}">
                <a16:creationId xmlns:a16="http://schemas.microsoft.com/office/drawing/2014/main" id="{12D1EA31-74D5-AC93-FB7C-919F85F3ADA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79776" y="4293096"/>
            <a:ext cx="288032" cy="288032"/>
          </a:xfrm>
          <a:prstGeom prst="rect">
            <a:avLst/>
          </a:prstGeom>
        </p:spPr>
      </p:pic>
      <p:pic>
        <p:nvPicPr>
          <p:cNvPr id="4" name="Graphic 21" descr="Checkbox Checked with solid fill">
            <a:extLst>
              <a:ext uri="{FF2B5EF4-FFF2-40B4-BE49-F238E27FC236}">
                <a16:creationId xmlns:a16="http://schemas.microsoft.com/office/drawing/2014/main" id="{F65DD40C-51C7-6CC6-5FF1-183CB7DBEB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16080" y="4293096"/>
            <a:ext cx="288032" cy="288032"/>
          </a:xfrm>
          <a:prstGeom prst="rect">
            <a:avLst/>
          </a:prstGeom>
        </p:spPr>
      </p:pic>
      <p:sp>
        <p:nvSpPr>
          <p:cNvPr id="2" name="Title 2">
            <a:extLst>
              <a:ext uri="{FF2B5EF4-FFF2-40B4-BE49-F238E27FC236}">
                <a16:creationId xmlns:a16="http://schemas.microsoft.com/office/drawing/2014/main" id="{588FB484-36EC-8463-63E5-3CF3C84CB99C}"/>
              </a:ext>
            </a:extLst>
          </p:cNvPr>
          <p:cNvSpPr>
            <a:spLocks noGrp="1"/>
          </p:cNvSpPr>
          <p:nvPr>
            <p:ph type="title"/>
          </p:nvPr>
        </p:nvSpPr>
        <p:spPr>
          <a:xfrm>
            <a:off x="15086" y="-6200"/>
            <a:ext cx="10512508" cy="676275"/>
          </a:xfrm>
        </p:spPr>
        <p:txBody>
          <a:bodyPr>
            <a:noAutofit/>
          </a:bodyPr>
          <a:lstStyle/>
          <a:p>
            <a:r>
              <a:rPr lang="es-ES" sz="2000" dirty="0"/>
              <a:t>2.4 Cobertura y Medición de Huella – Siguientes Pasos</a:t>
            </a:r>
          </a:p>
        </p:txBody>
      </p:sp>
    </p:spTree>
    <p:extLst>
      <p:ext uri="{BB962C8B-B14F-4D97-AF65-F5344CB8AC3E}">
        <p14:creationId xmlns:p14="http://schemas.microsoft.com/office/powerpoint/2010/main" val="1210096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A89A57-1D38-DDDF-10C3-4C0E9F6B5856}"/>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1E2E6E"/>
                </a:solidFill>
                <a:effectLst/>
                <a:uLnTx/>
                <a:uFillTx/>
                <a:latin typeface="Trebuchet MS" panose="020B0603020202020204" pitchFamily="34" charset="0"/>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15</a:t>
            </a:fld>
            <a:endParaRPr kumimoji="0" lang="es-PE" sz="14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endParaRPr>
          </a:p>
        </p:txBody>
      </p:sp>
      <p:sp>
        <p:nvSpPr>
          <p:cNvPr id="7" name="Title 2">
            <a:extLst>
              <a:ext uri="{FF2B5EF4-FFF2-40B4-BE49-F238E27FC236}">
                <a16:creationId xmlns:a16="http://schemas.microsoft.com/office/drawing/2014/main" id="{33B28F6A-A457-2888-24CA-9DA266C3CAFF}"/>
              </a:ext>
            </a:extLst>
          </p:cNvPr>
          <p:cNvSpPr txBox="1">
            <a:spLocks/>
          </p:cNvSpPr>
          <p:nvPr/>
        </p:nvSpPr>
        <p:spPr>
          <a:xfrm>
            <a:off x="-903" y="88429"/>
            <a:ext cx="10819699" cy="676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kern="1200" spc="-50" baseline="0">
                <a:solidFill>
                  <a:schemeClr val="tx1">
                    <a:lumMod val="75000"/>
                  </a:schemeClr>
                </a:solidFill>
                <a:latin typeface="Trebuchet MS" panose="020B0603020202020204" pitchFamily="34" charset="0"/>
                <a:ea typeface="+mj-ea"/>
                <a:cs typeface="+mj-cs"/>
              </a:defRPr>
            </a:lvl1pPr>
          </a:lstStyle>
          <a:p>
            <a:endParaRPr lang="es-ES" sz="2000" dirty="0"/>
          </a:p>
        </p:txBody>
      </p:sp>
      <p:sp>
        <p:nvSpPr>
          <p:cNvPr id="8" name="Title 2">
            <a:extLst>
              <a:ext uri="{FF2B5EF4-FFF2-40B4-BE49-F238E27FC236}">
                <a16:creationId xmlns:a16="http://schemas.microsoft.com/office/drawing/2014/main" id="{9F5D8C63-AF33-D26D-668E-30FB0E2CF71A}"/>
              </a:ext>
            </a:extLst>
          </p:cNvPr>
          <p:cNvSpPr>
            <a:spLocks noGrp="1"/>
          </p:cNvSpPr>
          <p:nvPr>
            <p:ph type="title"/>
          </p:nvPr>
        </p:nvSpPr>
        <p:spPr>
          <a:xfrm>
            <a:off x="0" y="88429"/>
            <a:ext cx="10819699" cy="676275"/>
          </a:xfrm>
        </p:spPr>
        <p:txBody>
          <a:bodyPr>
            <a:noAutofit/>
          </a:bodyPr>
          <a:lstStyle/>
          <a:p>
            <a:r>
              <a:rPr lang="es-ES" sz="2000" dirty="0"/>
              <a:t>3.1 Gestión Climática</a:t>
            </a:r>
            <a:r>
              <a:rPr lang="es-PE" sz="2000" dirty="0"/>
              <a:t> – General: Estado 1S2026 </a:t>
            </a:r>
            <a:endParaRPr lang="es-ES" sz="2000" dirty="0"/>
          </a:p>
        </p:txBody>
      </p:sp>
      <p:sp>
        <p:nvSpPr>
          <p:cNvPr id="3" name="Rectangle: Rounded Corners 2">
            <a:extLst>
              <a:ext uri="{FF2B5EF4-FFF2-40B4-BE49-F238E27FC236}">
                <a16:creationId xmlns:a16="http://schemas.microsoft.com/office/drawing/2014/main" id="{C776D44C-BE9E-3935-B7F8-3809AAD4A10D}"/>
              </a:ext>
            </a:extLst>
          </p:cNvPr>
          <p:cNvSpPr/>
          <p:nvPr/>
        </p:nvSpPr>
        <p:spPr>
          <a:xfrm>
            <a:off x="4007768" y="1613751"/>
            <a:ext cx="7908848" cy="1584176"/>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PE" sz="12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s-PE" sz="1200" b="1"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s-PE" sz="1200" b="1" dirty="0">
                <a:solidFill>
                  <a:srgbClr val="1F497D"/>
                </a:solidFill>
                <a:latin typeface="Trebuchet MS" panose="020B0603020202020204" pitchFamily="34" charset="0"/>
              </a:rPr>
              <a:t>Riesgos Físicos: </a:t>
            </a:r>
            <a:r>
              <a:rPr lang="es-PE" sz="1200" dirty="0">
                <a:solidFill>
                  <a:srgbClr val="1F497D"/>
                </a:solidFill>
                <a:latin typeface="Trebuchet MS" panose="020B0603020202020204" pitchFamily="34" charset="0"/>
              </a:rPr>
              <a:t>Generados por los fenómenos climáticos extremos y las alteraciones del clima tienen sobre el medio ambiente, la infraestructura, la salud humana, etc. </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20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s-PE" sz="1200" dirty="0">
                <a:solidFill>
                  <a:srgbClr val="1F497D"/>
                </a:solidFill>
                <a:latin typeface="Trebuchet MS" panose="020B0603020202020204" pitchFamily="34" charset="0"/>
              </a:rPr>
              <a:t>Ejemplo: Inundación bloquea las vías usadas por una minera para el envío del mineral producido.</a:t>
            </a:r>
            <a:endParaRPr kumimoji="0" lang="es-PE" sz="120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s-PE" sz="1000" b="1" dirty="0">
              <a:solidFill>
                <a:srgbClr val="1F497D"/>
              </a:solidFill>
              <a:latin typeface="Trebuchet MS" panose="020B0603020202020204" pitchFamily="34" charset="0"/>
            </a:endParaRPr>
          </a:p>
          <a:p>
            <a:pPr algn="just" defTabSz="457200">
              <a:defRPr/>
            </a:pP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pic>
        <p:nvPicPr>
          <p:cNvPr id="16" name="Picture 15">
            <a:extLst>
              <a:ext uri="{FF2B5EF4-FFF2-40B4-BE49-F238E27FC236}">
                <a16:creationId xmlns:a16="http://schemas.microsoft.com/office/drawing/2014/main" id="{A89164DE-22A7-22BB-B0F3-B8BA41044ACD}"/>
              </a:ext>
            </a:extLst>
          </p:cNvPr>
          <p:cNvPicPr>
            <a:picLocks noChangeAspect="1"/>
          </p:cNvPicPr>
          <p:nvPr/>
        </p:nvPicPr>
        <p:blipFill>
          <a:blip r:embed="rId2"/>
          <a:stretch>
            <a:fillRect/>
          </a:stretch>
        </p:blipFill>
        <p:spPr>
          <a:xfrm>
            <a:off x="1343472" y="1613752"/>
            <a:ext cx="2304257" cy="1599224"/>
          </a:xfrm>
          <a:prstGeom prst="rect">
            <a:avLst/>
          </a:prstGeom>
        </p:spPr>
      </p:pic>
      <p:pic>
        <p:nvPicPr>
          <p:cNvPr id="23" name="Picture 22">
            <a:extLst>
              <a:ext uri="{FF2B5EF4-FFF2-40B4-BE49-F238E27FC236}">
                <a16:creationId xmlns:a16="http://schemas.microsoft.com/office/drawing/2014/main" id="{31F169F9-135E-EDA3-4E6F-9AF4E199E579}"/>
              </a:ext>
            </a:extLst>
          </p:cNvPr>
          <p:cNvPicPr>
            <a:picLocks noChangeAspect="1"/>
          </p:cNvPicPr>
          <p:nvPr/>
        </p:nvPicPr>
        <p:blipFill>
          <a:blip r:embed="rId3"/>
          <a:stretch>
            <a:fillRect/>
          </a:stretch>
        </p:blipFill>
        <p:spPr>
          <a:xfrm>
            <a:off x="1343473" y="3356992"/>
            <a:ext cx="2304256" cy="1584176"/>
          </a:xfrm>
          <a:prstGeom prst="rect">
            <a:avLst/>
          </a:prstGeom>
        </p:spPr>
      </p:pic>
      <p:pic>
        <p:nvPicPr>
          <p:cNvPr id="25" name="Picture 24">
            <a:extLst>
              <a:ext uri="{FF2B5EF4-FFF2-40B4-BE49-F238E27FC236}">
                <a16:creationId xmlns:a16="http://schemas.microsoft.com/office/drawing/2014/main" id="{CC8483E4-5A57-7A81-2C76-309B5F776B13}"/>
              </a:ext>
            </a:extLst>
          </p:cNvPr>
          <p:cNvPicPr>
            <a:picLocks noChangeAspect="1"/>
          </p:cNvPicPr>
          <p:nvPr/>
        </p:nvPicPr>
        <p:blipFill>
          <a:blip r:embed="rId4"/>
          <a:stretch>
            <a:fillRect/>
          </a:stretch>
        </p:blipFill>
        <p:spPr>
          <a:xfrm>
            <a:off x="1343472" y="5013176"/>
            <a:ext cx="2316026" cy="1584176"/>
          </a:xfrm>
          <a:prstGeom prst="rect">
            <a:avLst/>
          </a:prstGeom>
        </p:spPr>
      </p:pic>
      <p:sp>
        <p:nvSpPr>
          <p:cNvPr id="26" name="Rectangle: Rounded Corners 25">
            <a:extLst>
              <a:ext uri="{FF2B5EF4-FFF2-40B4-BE49-F238E27FC236}">
                <a16:creationId xmlns:a16="http://schemas.microsoft.com/office/drawing/2014/main" id="{236402FF-9AE8-FEC8-E8D9-1FE5A648486C}"/>
              </a:ext>
            </a:extLst>
          </p:cNvPr>
          <p:cNvSpPr/>
          <p:nvPr/>
        </p:nvSpPr>
        <p:spPr>
          <a:xfrm>
            <a:off x="4007768" y="3356992"/>
            <a:ext cx="7908848" cy="1584176"/>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PE" sz="12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lvl="0" algn="just" defTabSz="457200">
              <a:defRPr/>
            </a:pPr>
            <a:endParaRPr lang="es-PE" sz="1200" b="1" dirty="0">
              <a:solidFill>
                <a:srgbClr val="1F497D"/>
              </a:solidFill>
              <a:latin typeface="Trebuchet MS" panose="020B0603020202020204" pitchFamily="34" charset="0"/>
            </a:endParaRPr>
          </a:p>
          <a:p>
            <a:pPr lvl="0" algn="just" defTabSz="457200">
              <a:defRPr/>
            </a:pPr>
            <a:r>
              <a:rPr lang="es-PE" sz="1200" b="1" dirty="0">
                <a:solidFill>
                  <a:srgbClr val="1F497D"/>
                </a:solidFill>
                <a:latin typeface="Trebuchet MS" panose="020B0603020202020204" pitchFamily="34" charset="0"/>
              </a:rPr>
              <a:t>Riesgos de Transición: </a:t>
            </a:r>
            <a:r>
              <a:rPr lang="es-PE" sz="1200" dirty="0">
                <a:solidFill>
                  <a:srgbClr val="1F497D"/>
                </a:solidFill>
                <a:latin typeface="Trebuchet MS" panose="020B0603020202020204" pitchFamily="34" charset="0"/>
              </a:rPr>
              <a:t>Generados por los cambios en políticas, tecnologías, mercados, y comportamientos sociales que se producen durante la transición hacia una economía más resiliente al clima.</a:t>
            </a:r>
          </a:p>
          <a:p>
            <a:pPr lvl="0" algn="just" defTabSz="457200">
              <a:defRPr/>
            </a:pPr>
            <a:endParaRPr lang="es-PE" sz="1200" dirty="0">
              <a:solidFill>
                <a:srgbClr val="1F497D"/>
              </a:solidFill>
              <a:latin typeface="Trebuchet MS" panose="020B0603020202020204" pitchFamily="34" charset="0"/>
            </a:endParaRPr>
          </a:p>
          <a:p>
            <a:pPr lvl="0" algn="just" defTabSz="457200">
              <a:defRPr/>
            </a:pPr>
            <a:r>
              <a:rPr lang="es-PE" sz="1200" dirty="0">
                <a:solidFill>
                  <a:srgbClr val="1F497D"/>
                </a:solidFill>
                <a:latin typeface="Trebuchet MS" panose="020B0603020202020204" pitchFamily="34" charset="0"/>
              </a:rPr>
              <a:t>Ejemplo: Implementación de un impuesto al carbono a las cementeras para alinear el sector con los </a:t>
            </a:r>
            <a:r>
              <a:rPr lang="es-PE" sz="1200" dirty="0" err="1">
                <a:solidFill>
                  <a:srgbClr val="1F497D"/>
                </a:solidFill>
                <a:latin typeface="Trebuchet MS" panose="020B0603020202020204" pitchFamily="34" charset="0"/>
              </a:rPr>
              <a:t>NDCs</a:t>
            </a:r>
            <a:r>
              <a:rPr lang="es-PE" sz="1200" dirty="0">
                <a:solidFill>
                  <a:srgbClr val="1F497D"/>
                </a:solidFill>
                <a:latin typeface="Trebuchet MS" panose="020B0603020202020204" pitchFamily="34" charset="0"/>
              </a:rPr>
              <a:t> de Perú.</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27" name="Rectangle: Rounded Corners 26">
            <a:extLst>
              <a:ext uri="{FF2B5EF4-FFF2-40B4-BE49-F238E27FC236}">
                <a16:creationId xmlns:a16="http://schemas.microsoft.com/office/drawing/2014/main" id="{DA6DA53B-A73E-70B1-03EC-52544F2FA605}"/>
              </a:ext>
            </a:extLst>
          </p:cNvPr>
          <p:cNvSpPr/>
          <p:nvPr/>
        </p:nvSpPr>
        <p:spPr>
          <a:xfrm>
            <a:off x="4007768" y="5013176"/>
            <a:ext cx="7908848" cy="1584176"/>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PE" sz="12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lvl="0" algn="just" defTabSz="457200">
              <a:defRPr/>
            </a:pPr>
            <a:endParaRPr lang="es-PE" sz="1200" b="1" dirty="0">
              <a:solidFill>
                <a:srgbClr val="1F497D"/>
              </a:solidFill>
              <a:latin typeface="Trebuchet MS" panose="020B0603020202020204" pitchFamily="34" charset="0"/>
            </a:endParaRPr>
          </a:p>
          <a:p>
            <a:pPr lvl="0" algn="just" defTabSz="457200">
              <a:defRPr/>
            </a:pPr>
            <a:r>
              <a:rPr lang="es-PE" sz="1200" b="1" dirty="0">
                <a:solidFill>
                  <a:srgbClr val="1F497D"/>
                </a:solidFill>
                <a:latin typeface="Trebuchet MS" panose="020B0603020202020204" pitchFamily="34" charset="0"/>
              </a:rPr>
              <a:t>Oportunidades: </a:t>
            </a:r>
            <a:r>
              <a:rPr lang="es-PE" sz="1200" dirty="0">
                <a:solidFill>
                  <a:srgbClr val="1F497D"/>
                </a:solidFill>
                <a:latin typeface="Trebuchet MS" panose="020B0603020202020204" pitchFamily="34" charset="0"/>
              </a:rPr>
              <a:t>Beneficios potenciales que pueden surgir como resultado de la transición hacia una economía más resiliente al clima.</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2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Ejemplo: Desarrollo de cemento con menor proporción de Clinker, en la mayoría de casos, reduce el costo de producción.</a:t>
            </a:r>
          </a:p>
        </p:txBody>
      </p:sp>
      <p:sp>
        <p:nvSpPr>
          <p:cNvPr id="5" name="Rectangle: Rounded Corners 4">
            <a:extLst>
              <a:ext uri="{FF2B5EF4-FFF2-40B4-BE49-F238E27FC236}">
                <a16:creationId xmlns:a16="http://schemas.microsoft.com/office/drawing/2014/main" id="{068A71B7-45E8-5755-36C7-09EC009436CA}"/>
              </a:ext>
            </a:extLst>
          </p:cNvPr>
          <p:cNvSpPr/>
          <p:nvPr/>
        </p:nvSpPr>
        <p:spPr>
          <a:xfrm>
            <a:off x="839416" y="1124744"/>
            <a:ext cx="11077200" cy="288032"/>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000" dirty="0">
                <a:solidFill>
                  <a:srgbClr val="1F497D"/>
                </a:solidFill>
                <a:latin typeface="Trebuchet MS" panose="020B0603020202020204" pitchFamily="34" charset="0"/>
              </a:rPr>
              <a:t>Desarrollamos la segunda versión de las metodologías internas para analizar los Riesgos y Oportunidades del cambio climático para el portafolio. </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4" name="Rectangle: Rounded Corners 3">
            <a:extLst>
              <a:ext uri="{FF2B5EF4-FFF2-40B4-BE49-F238E27FC236}">
                <a16:creationId xmlns:a16="http://schemas.microsoft.com/office/drawing/2014/main" id="{FA5BA644-404D-6948-C094-D217D9D02D9E}"/>
              </a:ext>
            </a:extLst>
          </p:cNvPr>
          <p:cNvSpPr/>
          <p:nvPr/>
        </p:nvSpPr>
        <p:spPr>
          <a:xfrm>
            <a:off x="767408" y="764704"/>
            <a:ext cx="3384376"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Metodologías Internas Base</a:t>
            </a:r>
            <a:r>
              <a:rPr lang="es-PE" sz="1000" b="1" dirty="0">
                <a:solidFill>
                  <a:srgbClr val="1F497D"/>
                </a:solidFill>
                <a:latin typeface="Trebuchet MS" panose="020B0603020202020204" pitchFamily="34" charset="0"/>
              </a:rPr>
              <a:t>:</a:t>
            </a: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Tree>
    <p:extLst>
      <p:ext uri="{BB962C8B-B14F-4D97-AF65-F5344CB8AC3E}">
        <p14:creationId xmlns:p14="http://schemas.microsoft.com/office/powerpoint/2010/main" val="2238696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DEAD3-EDDB-4E18-A4FC-2A05532F3050}"/>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3B3EA0CB-B1E9-B36E-A513-E53B77701E7E}"/>
              </a:ext>
            </a:extLst>
          </p:cNvPr>
          <p:cNvPicPr preferRelativeResize="0">
            <a:picLocks/>
          </p:cNvPicPr>
          <p:nvPr/>
        </p:nvPicPr>
        <p:blipFill>
          <a:blip r:embed="rId3"/>
          <a:stretch>
            <a:fillRect/>
          </a:stretch>
        </p:blipFill>
        <p:spPr>
          <a:xfrm>
            <a:off x="9136800" y="4559710"/>
            <a:ext cx="2268000" cy="1800000"/>
          </a:xfrm>
          <a:prstGeom prst="rect">
            <a:avLst/>
          </a:prstGeom>
        </p:spPr>
      </p:pic>
      <p:pic>
        <p:nvPicPr>
          <p:cNvPr id="15" name="Picture 14">
            <a:extLst>
              <a:ext uri="{FF2B5EF4-FFF2-40B4-BE49-F238E27FC236}">
                <a16:creationId xmlns:a16="http://schemas.microsoft.com/office/drawing/2014/main" id="{E61B5621-CFE9-0B7D-289E-BCE0727FD9D9}"/>
              </a:ext>
            </a:extLst>
          </p:cNvPr>
          <p:cNvPicPr preferRelativeResize="0">
            <a:picLocks/>
          </p:cNvPicPr>
          <p:nvPr/>
        </p:nvPicPr>
        <p:blipFill>
          <a:blip r:embed="rId4"/>
          <a:stretch>
            <a:fillRect/>
          </a:stretch>
        </p:blipFill>
        <p:spPr>
          <a:xfrm>
            <a:off x="4831200" y="4556110"/>
            <a:ext cx="3646800" cy="1800000"/>
          </a:xfrm>
          <a:prstGeom prst="rect">
            <a:avLst/>
          </a:prstGeom>
        </p:spPr>
      </p:pic>
      <p:pic>
        <p:nvPicPr>
          <p:cNvPr id="14" name="Picture 13">
            <a:extLst>
              <a:ext uri="{FF2B5EF4-FFF2-40B4-BE49-F238E27FC236}">
                <a16:creationId xmlns:a16="http://schemas.microsoft.com/office/drawing/2014/main" id="{28B252B5-DCDD-6205-802D-3D65CFD5A93D}"/>
              </a:ext>
            </a:extLst>
          </p:cNvPr>
          <p:cNvPicPr>
            <a:picLocks/>
          </p:cNvPicPr>
          <p:nvPr/>
        </p:nvPicPr>
        <p:blipFill>
          <a:blip r:embed="rId5"/>
          <a:stretch>
            <a:fillRect/>
          </a:stretch>
        </p:blipFill>
        <p:spPr>
          <a:xfrm>
            <a:off x="802800" y="4566910"/>
            <a:ext cx="3646800" cy="1800000"/>
          </a:xfrm>
          <a:prstGeom prst="rect">
            <a:avLst/>
          </a:prstGeom>
        </p:spPr>
      </p:pic>
      <mc:AlternateContent xmlns:mc="http://schemas.openxmlformats.org/markup-compatibility/2006" xmlns:cx4="http://schemas.microsoft.com/office/drawing/2016/5/10/chartex">
        <mc:Choice Requires="cx4">
          <p:graphicFrame>
            <p:nvGraphicFramePr>
              <p:cNvPr id="2" name="Chart 1">
                <a:extLst>
                  <a:ext uri="{FF2B5EF4-FFF2-40B4-BE49-F238E27FC236}">
                    <a16:creationId xmlns:a16="http://schemas.microsoft.com/office/drawing/2014/main" id="{1FC0540D-BCAC-28CA-42A3-9A9D19153DE5}"/>
                  </a:ext>
                </a:extLst>
              </p:cNvPr>
              <p:cNvGraphicFramePr/>
              <p:nvPr/>
            </p:nvGraphicFramePr>
            <p:xfrm>
              <a:off x="3938815" y="2080043"/>
              <a:ext cx="4572000" cy="2278655"/>
            </p:xfrm>
            <a:graphic>
              <a:graphicData uri="http://schemas.microsoft.com/office/drawing/2014/chartex">
                <cx:chart xmlns:cx="http://schemas.microsoft.com/office/drawing/2014/chartex" xmlns:r="http://schemas.openxmlformats.org/officeDocument/2006/relationships" r:id="rId6"/>
              </a:graphicData>
            </a:graphic>
          </p:graphicFrame>
        </mc:Choice>
        <mc:Fallback xmlns="">
          <p:pic>
            <p:nvPicPr>
              <p:cNvPr id="2" name="Chart 1">
                <a:extLst>
                  <a:ext uri="{FF2B5EF4-FFF2-40B4-BE49-F238E27FC236}">
                    <a16:creationId xmlns:a16="http://schemas.microsoft.com/office/drawing/2014/main" id="{1FC0540D-BCAC-28CA-42A3-9A9D19153DE5}"/>
                  </a:ext>
                </a:extLst>
              </p:cNvPr>
              <p:cNvPicPr>
                <a:picLocks noGrp="1" noRot="1" noChangeAspect="1" noMove="1" noResize="1" noEditPoints="1" noAdjustHandles="1" noChangeArrowheads="1" noChangeShapeType="1"/>
              </p:cNvPicPr>
              <p:nvPr/>
            </p:nvPicPr>
            <p:blipFill>
              <a:blip r:embed="rId7"/>
              <a:stretch>
                <a:fillRect/>
              </a:stretch>
            </p:blipFill>
            <p:spPr>
              <a:xfrm>
                <a:off x="3938815" y="2080043"/>
                <a:ext cx="4572000" cy="2278655"/>
              </a:xfrm>
              <a:prstGeom prst="rect">
                <a:avLst/>
              </a:prstGeom>
            </p:spPr>
          </p:pic>
        </mc:Fallback>
      </mc:AlternateContent>
      <p:sp>
        <p:nvSpPr>
          <p:cNvPr id="8" name="TextBox 7">
            <a:extLst>
              <a:ext uri="{FF2B5EF4-FFF2-40B4-BE49-F238E27FC236}">
                <a16:creationId xmlns:a16="http://schemas.microsoft.com/office/drawing/2014/main" id="{C55494E5-294E-A829-5A5E-CCD7DE96CB58}"/>
              </a:ext>
            </a:extLst>
          </p:cNvPr>
          <p:cNvSpPr txBox="1"/>
          <p:nvPr/>
        </p:nvSpPr>
        <p:spPr>
          <a:xfrm>
            <a:off x="1138161" y="1909953"/>
            <a:ext cx="2823754" cy="246221"/>
          </a:xfrm>
          <a:prstGeom prst="rect">
            <a:avLst/>
          </a:prstGeom>
          <a:noFill/>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ES" sz="1000" b="1" i="0" u="sng" strike="noStrike" kern="1200" cap="none" spc="0" normalizeH="0" baseline="0" noProof="0" dirty="0">
                <a:ln>
                  <a:noFill/>
                </a:ln>
                <a:solidFill>
                  <a:srgbClr val="1E2E6E"/>
                </a:solidFill>
                <a:effectLst/>
                <a:uLnTx/>
                <a:uFillTx/>
                <a:latin typeface="Trebuchet MS" panose="020B0603020202020204" pitchFamily="34" charset="0"/>
                <a:ea typeface="+mn-ea"/>
                <a:cs typeface="Arial" panose="020B0604020202020204" pitchFamily="34" charset="0"/>
              </a:rPr>
              <a:t>Lluvias Intensas (Huaycos e Inundaciones)</a:t>
            </a:r>
            <a:endParaRPr kumimoji="0" lang="es-ES" sz="1000" b="1" i="0" u="sng" strike="noStrike" kern="1200" cap="none" spc="0" normalizeH="0" baseline="0" noProof="0" dirty="0">
              <a:ln>
                <a:noFill/>
              </a:ln>
              <a:solidFill>
                <a:srgbClr val="1E2E6E"/>
              </a:solidFill>
              <a:effectLst/>
              <a:highlight>
                <a:srgbClr val="FFFF00"/>
              </a:highlight>
              <a:uLnTx/>
              <a:uFillTx/>
              <a:latin typeface="Trebuchet MS" panose="020B0603020202020204"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A6A3F472-8F65-9494-A0BD-2406088C066F}"/>
              </a:ext>
            </a:extLst>
          </p:cNvPr>
          <p:cNvSpPr txBox="1"/>
          <p:nvPr/>
        </p:nvSpPr>
        <p:spPr>
          <a:xfrm>
            <a:off x="5820437" y="1915816"/>
            <a:ext cx="673605" cy="246221"/>
          </a:xfrm>
          <a:prstGeom prst="rect">
            <a:avLst/>
          </a:prstGeom>
          <a:noFill/>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ES" sz="1000" b="1" i="0" u="sng" strike="noStrike" kern="1200" cap="none" spc="0" normalizeH="0" baseline="0" noProof="0" dirty="0">
                <a:ln>
                  <a:noFill/>
                </a:ln>
                <a:solidFill>
                  <a:srgbClr val="1E2E6E"/>
                </a:solidFill>
                <a:effectLst/>
                <a:uLnTx/>
                <a:uFillTx/>
                <a:latin typeface="Trebuchet MS" panose="020B0603020202020204" pitchFamily="34" charset="0"/>
                <a:ea typeface="+mn-ea"/>
                <a:cs typeface="Arial" panose="020B0604020202020204" pitchFamily="34" charset="0"/>
              </a:rPr>
              <a:t>Sequías</a:t>
            </a:r>
            <a:r>
              <a:rPr kumimoji="0" lang="es-ES" sz="1000" b="1" i="0" u="none" strike="noStrike" kern="1200" cap="none" spc="0" normalizeH="0" baseline="0" noProof="0" dirty="0">
                <a:ln>
                  <a:noFill/>
                </a:ln>
                <a:solidFill>
                  <a:srgbClr val="1E2E6E"/>
                </a:solidFill>
                <a:effectLst/>
                <a:uLnTx/>
                <a:uFillTx/>
                <a:latin typeface="Trebuchet MS" panose="020B0603020202020204" pitchFamily="34" charset="0"/>
                <a:ea typeface="+mn-ea"/>
                <a:cs typeface="Arial" panose="020B0604020202020204" pitchFamily="34" charset="0"/>
              </a:rPr>
              <a:t> </a:t>
            </a:r>
            <a:endParaRPr kumimoji="0" lang="es-ES" sz="1000" b="1" i="0" u="none" strike="noStrike" kern="1200" cap="none" spc="0" normalizeH="0" baseline="0" noProof="0" dirty="0">
              <a:ln>
                <a:noFill/>
              </a:ln>
              <a:solidFill>
                <a:srgbClr val="1E2E6E"/>
              </a:solidFill>
              <a:effectLst/>
              <a:highlight>
                <a:srgbClr val="FFFF00"/>
              </a:highlight>
              <a:uLnTx/>
              <a:uFillTx/>
              <a:latin typeface="Trebuchet MS" panose="020B0603020202020204" pitchFamily="34" charset="0"/>
              <a:ea typeface="+mn-ea"/>
              <a:cs typeface="Arial" panose="020B0604020202020204" pitchFamily="34" charset="0"/>
            </a:endParaRPr>
          </a:p>
        </p:txBody>
      </p:sp>
      <p:sp>
        <p:nvSpPr>
          <p:cNvPr id="10" name="TextBox 9">
            <a:extLst>
              <a:ext uri="{FF2B5EF4-FFF2-40B4-BE49-F238E27FC236}">
                <a16:creationId xmlns:a16="http://schemas.microsoft.com/office/drawing/2014/main" id="{3DF52037-C123-7682-FE62-764EB146F1A2}"/>
              </a:ext>
            </a:extLst>
          </p:cNvPr>
          <p:cNvSpPr txBox="1"/>
          <p:nvPr/>
        </p:nvSpPr>
        <p:spPr>
          <a:xfrm>
            <a:off x="8986300" y="1893553"/>
            <a:ext cx="1850258" cy="246221"/>
          </a:xfrm>
          <a:prstGeom prst="rect">
            <a:avLst/>
          </a:prstGeom>
          <a:noFill/>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ES" sz="1000" b="1" i="0" u="sng" strike="noStrike" kern="1200" cap="none" spc="0" normalizeH="0" baseline="0" noProof="0" dirty="0">
                <a:ln>
                  <a:noFill/>
                </a:ln>
                <a:solidFill>
                  <a:srgbClr val="1E2E6E"/>
                </a:solidFill>
                <a:effectLst/>
                <a:uLnTx/>
                <a:uFillTx/>
                <a:latin typeface="Trebuchet MS" panose="020B0603020202020204" pitchFamily="34" charset="0"/>
                <a:ea typeface="+mn-ea"/>
                <a:cs typeface="Arial" panose="020B0604020202020204" pitchFamily="34" charset="0"/>
              </a:rPr>
              <a:t>Aumento del Nivel del Mar </a:t>
            </a:r>
            <a:endParaRPr kumimoji="0" lang="es-ES" sz="1000" b="1" i="0" u="sng" strike="noStrike" kern="1200" cap="none" spc="0" normalizeH="0" baseline="0" noProof="0" dirty="0">
              <a:ln>
                <a:noFill/>
              </a:ln>
              <a:solidFill>
                <a:srgbClr val="1E2E6E"/>
              </a:solidFill>
              <a:effectLst/>
              <a:highlight>
                <a:srgbClr val="FFFF00"/>
              </a:highlight>
              <a:uLnTx/>
              <a:uFillTx/>
              <a:latin typeface="Trebuchet MS" panose="020B0603020202020204" pitchFamily="34" charset="0"/>
              <a:ea typeface="+mn-ea"/>
              <a:cs typeface="Arial" panose="020B0604020202020204" pitchFamily="34" charset="0"/>
            </a:endParaRPr>
          </a:p>
        </p:txBody>
      </p:sp>
      <mc:AlternateContent xmlns:mc="http://schemas.openxmlformats.org/markup-compatibility/2006" xmlns:cx4="http://schemas.microsoft.com/office/drawing/2016/5/10/chartex">
        <mc:Choice Requires="cx4">
          <p:graphicFrame>
            <p:nvGraphicFramePr>
              <p:cNvPr id="17" name="Chart 16">
                <a:extLst>
                  <a:ext uri="{FF2B5EF4-FFF2-40B4-BE49-F238E27FC236}">
                    <a16:creationId xmlns:a16="http://schemas.microsoft.com/office/drawing/2014/main" id="{E986D8BC-7B9C-4F26-AC8A-D02B10B52FC0}"/>
                  </a:ext>
                </a:extLst>
              </p:cNvPr>
              <p:cNvGraphicFramePr/>
              <p:nvPr/>
            </p:nvGraphicFramePr>
            <p:xfrm>
              <a:off x="-21788" y="2082670"/>
              <a:ext cx="4572000" cy="2278655"/>
            </p:xfrm>
            <a:graphic>
              <a:graphicData uri="http://schemas.microsoft.com/office/drawing/2014/chartex">
                <cx:chart xmlns:cx="http://schemas.microsoft.com/office/drawing/2014/chartex" xmlns:r="http://schemas.openxmlformats.org/officeDocument/2006/relationships" r:id="rId8"/>
              </a:graphicData>
            </a:graphic>
          </p:graphicFrame>
        </mc:Choice>
        <mc:Fallback xmlns="">
          <p:pic>
            <p:nvPicPr>
              <p:cNvPr id="17" name="Chart 16">
                <a:extLst>
                  <a:ext uri="{FF2B5EF4-FFF2-40B4-BE49-F238E27FC236}">
                    <a16:creationId xmlns:a16="http://schemas.microsoft.com/office/drawing/2014/main" id="{E986D8BC-7B9C-4F26-AC8A-D02B10B52FC0}"/>
                  </a:ext>
                </a:extLst>
              </p:cNvPr>
              <p:cNvPicPr>
                <a:picLocks noGrp="1" noRot="1" noChangeAspect="1" noMove="1" noResize="1" noEditPoints="1" noAdjustHandles="1" noChangeArrowheads="1" noChangeShapeType="1"/>
              </p:cNvPicPr>
              <p:nvPr/>
            </p:nvPicPr>
            <p:blipFill>
              <a:blip r:embed="rId9"/>
              <a:stretch>
                <a:fillRect/>
              </a:stretch>
            </p:blipFill>
            <p:spPr>
              <a:xfrm>
                <a:off x="-21788" y="2082670"/>
                <a:ext cx="4572000" cy="2278655"/>
              </a:xfrm>
              <a:prstGeom prst="rect">
                <a:avLst/>
              </a:prstGeom>
            </p:spPr>
          </p:pic>
        </mc:Fallback>
      </mc:AlternateContent>
      <p:sp>
        <p:nvSpPr>
          <p:cNvPr id="18" name="Rectangle 17">
            <a:extLst>
              <a:ext uri="{FF2B5EF4-FFF2-40B4-BE49-F238E27FC236}">
                <a16:creationId xmlns:a16="http://schemas.microsoft.com/office/drawing/2014/main" id="{DCF308D9-6E48-4EE6-3785-E0824BD0AF79}"/>
              </a:ext>
            </a:extLst>
          </p:cNvPr>
          <p:cNvSpPr/>
          <p:nvPr/>
        </p:nvSpPr>
        <p:spPr>
          <a:xfrm>
            <a:off x="3090582" y="3984901"/>
            <a:ext cx="1438839" cy="4315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mc:AlternateContent xmlns:mc="http://schemas.openxmlformats.org/markup-compatibility/2006" xmlns:cx4="http://schemas.microsoft.com/office/drawing/2016/5/10/chartex">
        <mc:Choice Requires="cx4">
          <p:graphicFrame>
            <p:nvGraphicFramePr>
              <p:cNvPr id="11" name="Chart 10">
                <a:extLst>
                  <a:ext uri="{FF2B5EF4-FFF2-40B4-BE49-F238E27FC236}">
                    <a16:creationId xmlns:a16="http://schemas.microsoft.com/office/drawing/2014/main" id="{58CEA012-B575-1901-521A-0AEA8ED1825E}"/>
                  </a:ext>
                </a:extLst>
              </p:cNvPr>
              <p:cNvGraphicFramePr/>
              <p:nvPr/>
            </p:nvGraphicFramePr>
            <p:xfrm>
              <a:off x="7620000" y="2041618"/>
              <a:ext cx="4572000" cy="2278655"/>
            </p:xfrm>
            <a:graphic>
              <a:graphicData uri="http://schemas.microsoft.com/office/drawing/2014/chartex">
                <cx:chart xmlns:cx="http://schemas.microsoft.com/office/drawing/2014/chartex" xmlns:r="http://schemas.openxmlformats.org/officeDocument/2006/relationships" r:id="rId10"/>
              </a:graphicData>
            </a:graphic>
          </p:graphicFrame>
        </mc:Choice>
        <mc:Fallback xmlns="">
          <p:pic>
            <p:nvPicPr>
              <p:cNvPr id="11" name="Chart 10">
                <a:extLst>
                  <a:ext uri="{FF2B5EF4-FFF2-40B4-BE49-F238E27FC236}">
                    <a16:creationId xmlns:a16="http://schemas.microsoft.com/office/drawing/2014/main" id="{58CEA012-B575-1901-521A-0AEA8ED1825E}"/>
                  </a:ext>
                </a:extLst>
              </p:cNvPr>
              <p:cNvPicPr>
                <a:picLocks noGrp="1" noRot="1" noChangeAspect="1" noMove="1" noResize="1" noEditPoints="1" noAdjustHandles="1" noChangeArrowheads="1" noChangeShapeType="1"/>
              </p:cNvPicPr>
              <p:nvPr/>
            </p:nvPicPr>
            <p:blipFill>
              <a:blip r:embed="rId11"/>
              <a:stretch>
                <a:fillRect/>
              </a:stretch>
            </p:blipFill>
            <p:spPr>
              <a:xfrm>
                <a:off x="7620000" y="2041618"/>
                <a:ext cx="4572000" cy="2278655"/>
              </a:xfrm>
              <a:prstGeom prst="rect">
                <a:avLst/>
              </a:prstGeom>
            </p:spPr>
          </p:pic>
        </mc:Fallback>
      </mc:AlternateContent>
      <p:sp>
        <p:nvSpPr>
          <p:cNvPr id="4" name="Rectangle 3">
            <a:extLst>
              <a:ext uri="{FF2B5EF4-FFF2-40B4-BE49-F238E27FC236}">
                <a16:creationId xmlns:a16="http://schemas.microsoft.com/office/drawing/2014/main" id="{C33F6166-494E-B8B6-D46C-6279594B46C2}"/>
              </a:ext>
            </a:extLst>
          </p:cNvPr>
          <p:cNvSpPr/>
          <p:nvPr/>
        </p:nvSpPr>
        <p:spPr>
          <a:xfrm>
            <a:off x="7013243" y="4069444"/>
            <a:ext cx="1438839" cy="4315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12" name="Rectangle 11">
            <a:extLst>
              <a:ext uri="{FF2B5EF4-FFF2-40B4-BE49-F238E27FC236}">
                <a16:creationId xmlns:a16="http://schemas.microsoft.com/office/drawing/2014/main" id="{32C06BBC-664F-231D-6F15-753676D46BB8}"/>
              </a:ext>
            </a:extLst>
          </p:cNvPr>
          <p:cNvSpPr/>
          <p:nvPr/>
        </p:nvSpPr>
        <p:spPr>
          <a:xfrm>
            <a:off x="10743736" y="3972553"/>
            <a:ext cx="1438839" cy="4315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47" name="Rectangle 46">
            <a:extLst>
              <a:ext uri="{FF2B5EF4-FFF2-40B4-BE49-F238E27FC236}">
                <a16:creationId xmlns:a16="http://schemas.microsoft.com/office/drawing/2014/main" id="{2CD48BB8-262B-28C2-FC1F-B9105CC0A7A0}"/>
              </a:ext>
            </a:extLst>
          </p:cNvPr>
          <p:cNvSpPr/>
          <p:nvPr/>
        </p:nvSpPr>
        <p:spPr>
          <a:xfrm>
            <a:off x="3726907" y="4537619"/>
            <a:ext cx="733252" cy="1843709"/>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48" name="Rectangle 47">
            <a:extLst>
              <a:ext uri="{FF2B5EF4-FFF2-40B4-BE49-F238E27FC236}">
                <a16:creationId xmlns:a16="http://schemas.microsoft.com/office/drawing/2014/main" id="{262070DC-31C1-A8A4-F0B5-7F741F58EF1D}"/>
              </a:ext>
            </a:extLst>
          </p:cNvPr>
          <p:cNvSpPr/>
          <p:nvPr/>
        </p:nvSpPr>
        <p:spPr>
          <a:xfrm>
            <a:off x="7062671" y="4531015"/>
            <a:ext cx="733252" cy="1843200"/>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49" name="Rectangle 48">
            <a:extLst>
              <a:ext uri="{FF2B5EF4-FFF2-40B4-BE49-F238E27FC236}">
                <a16:creationId xmlns:a16="http://schemas.microsoft.com/office/drawing/2014/main" id="{5CEBB14B-96C3-FFCD-5DF4-4DD182CF2DB4}"/>
              </a:ext>
            </a:extLst>
          </p:cNvPr>
          <p:cNvSpPr/>
          <p:nvPr/>
        </p:nvSpPr>
        <p:spPr>
          <a:xfrm>
            <a:off x="10727049" y="4518594"/>
            <a:ext cx="675822" cy="1843200"/>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50" name="TextBox 49">
            <a:extLst>
              <a:ext uri="{FF2B5EF4-FFF2-40B4-BE49-F238E27FC236}">
                <a16:creationId xmlns:a16="http://schemas.microsoft.com/office/drawing/2014/main" id="{BDF1A4EB-F592-BBE4-D875-A7E2BF457529}"/>
              </a:ext>
            </a:extLst>
          </p:cNvPr>
          <p:cNvSpPr txBox="1"/>
          <p:nvPr/>
        </p:nvSpPr>
        <p:spPr>
          <a:xfrm>
            <a:off x="857433" y="4282633"/>
            <a:ext cx="2823754" cy="246221"/>
          </a:xfrm>
          <a:prstGeom prst="rect">
            <a:avLst/>
          </a:prstGeom>
          <a:noFill/>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ES" sz="1000" b="1" i="0" u="sng" strike="noStrike" kern="1200" cap="none" spc="0" normalizeH="0" baseline="0" noProof="0" dirty="0">
                <a:ln>
                  <a:noFill/>
                </a:ln>
                <a:solidFill>
                  <a:srgbClr val="1E2E6E"/>
                </a:solidFill>
                <a:effectLst/>
                <a:uLnTx/>
                <a:uFillTx/>
                <a:latin typeface="Trebuchet MS" panose="020B0603020202020204" pitchFamily="34" charset="0"/>
                <a:ea typeface="+mn-ea"/>
                <a:cs typeface="Arial" panose="020B0604020202020204" pitchFamily="34" charset="0"/>
              </a:rPr>
              <a:t>Top 5 Emisores en zonas más afectadas:</a:t>
            </a:r>
          </a:p>
        </p:txBody>
      </p:sp>
      <p:sp>
        <p:nvSpPr>
          <p:cNvPr id="5" name="TextBox 4">
            <a:extLst>
              <a:ext uri="{FF2B5EF4-FFF2-40B4-BE49-F238E27FC236}">
                <a16:creationId xmlns:a16="http://schemas.microsoft.com/office/drawing/2014/main" id="{D9BD83C3-CBBE-06F7-348A-B9E1595CDD2F}"/>
              </a:ext>
            </a:extLst>
          </p:cNvPr>
          <p:cNvSpPr txBox="1"/>
          <p:nvPr/>
        </p:nvSpPr>
        <p:spPr>
          <a:xfrm>
            <a:off x="10952299" y="2468695"/>
            <a:ext cx="1230276" cy="861774"/>
          </a:xfrm>
          <a:prstGeom prst="rect">
            <a:avLst/>
          </a:prstGeom>
          <a:noFill/>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ES" sz="1000" b="1" i="0" u="sng" strike="noStrike" kern="1200" cap="none" spc="0" normalizeH="0" baseline="0" noProof="0" dirty="0">
                <a:ln>
                  <a:noFill/>
                </a:ln>
                <a:solidFill>
                  <a:srgbClr val="1E2E6E"/>
                </a:solidFill>
                <a:effectLst/>
                <a:uLnTx/>
                <a:uFillTx/>
                <a:latin typeface="Trebuchet MS" panose="020B0603020202020204" pitchFamily="34" charset="0"/>
                <a:ea typeface="+mn-ea"/>
                <a:cs typeface="Arial" panose="020B0604020202020204" pitchFamily="34" charset="0"/>
              </a:rPr>
              <a:t>Riesgo:</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Arial" panose="020B0604020202020204" pitchFamily="34" charset="0"/>
              </a:rPr>
              <a:t>Nivel 1: Bajo</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Arial" panose="020B0604020202020204" pitchFamily="34" charset="0"/>
              </a:rPr>
              <a:t>Nivel 2: Medio</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Arial" panose="020B0604020202020204" pitchFamily="34" charset="0"/>
              </a:rPr>
              <a:t>Nivel 3: Alto</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Arial" panose="020B0604020202020204" pitchFamily="34" charset="0"/>
              </a:rPr>
              <a:t>Nivel 4: Muy Alto</a:t>
            </a:r>
          </a:p>
        </p:txBody>
      </p:sp>
      <p:sp>
        <p:nvSpPr>
          <p:cNvPr id="6" name="Rectangle 5">
            <a:extLst>
              <a:ext uri="{FF2B5EF4-FFF2-40B4-BE49-F238E27FC236}">
                <a16:creationId xmlns:a16="http://schemas.microsoft.com/office/drawing/2014/main" id="{2EF13123-071B-9F06-670F-5BDB61CE7821}"/>
              </a:ext>
            </a:extLst>
          </p:cNvPr>
          <p:cNvSpPr/>
          <p:nvPr/>
        </p:nvSpPr>
        <p:spPr>
          <a:xfrm>
            <a:off x="10964985" y="2463648"/>
            <a:ext cx="1117600" cy="890954"/>
          </a:xfrm>
          <a:prstGeom prst="rect">
            <a:avLst/>
          </a:prstGeom>
          <a:no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20" name="Title 2">
            <a:extLst>
              <a:ext uri="{FF2B5EF4-FFF2-40B4-BE49-F238E27FC236}">
                <a16:creationId xmlns:a16="http://schemas.microsoft.com/office/drawing/2014/main" id="{E450CC55-CDF0-91C1-0CBD-0EC2033806C2}"/>
              </a:ext>
            </a:extLst>
          </p:cNvPr>
          <p:cNvSpPr>
            <a:spLocks noGrp="1"/>
          </p:cNvSpPr>
          <p:nvPr>
            <p:ph type="title"/>
          </p:nvPr>
        </p:nvSpPr>
        <p:spPr>
          <a:xfrm>
            <a:off x="0" y="88429"/>
            <a:ext cx="10819699" cy="676275"/>
          </a:xfrm>
        </p:spPr>
        <p:txBody>
          <a:bodyPr>
            <a:noAutofit/>
          </a:bodyPr>
          <a:lstStyle/>
          <a:p>
            <a:r>
              <a:rPr lang="es-ES" sz="2000" dirty="0"/>
              <a:t>3.2 Gestión Climática</a:t>
            </a:r>
            <a:r>
              <a:rPr lang="es-PE" sz="2000" dirty="0"/>
              <a:t> – Riesgos Físicos: Estado al 1S2025 </a:t>
            </a:r>
            <a:endParaRPr lang="es-ES" sz="2000" dirty="0"/>
          </a:p>
        </p:txBody>
      </p:sp>
      <p:sp>
        <p:nvSpPr>
          <p:cNvPr id="13" name="Rectangle: Rounded Corners 12">
            <a:extLst>
              <a:ext uri="{FF2B5EF4-FFF2-40B4-BE49-F238E27FC236}">
                <a16:creationId xmlns:a16="http://schemas.microsoft.com/office/drawing/2014/main" id="{75ED2A19-3361-4B94-97C5-1B4C21AFCD1A}"/>
              </a:ext>
            </a:extLst>
          </p:cNvPr>
          <p:cNvSpPr/>
          <p:nvPr/>
        </p:nvSpPr>
        <p:spPr>
          <a:xfrm>
            <a:off x="767408" y="764704"/>
            <a:ext cx="7848872"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Metodología Interna (Nivel Departamental - Histórico) - Riesgos por Emisor Local</a:t>
            </a:r>
            <a:r>
              <a:rPr lang="es-PE" sz="1000" b="1" dirty="0">
                <a:solidFill>
                  <a:srgbClr val="1F497D"/>
                </a:solidFill>
                <a:latin typeface="Trebuchet MS" panose="020B0603020202020204" pitchFamily="34" charset="0"/>
              </a:rPr>
              <a:t>:</a:t>
            </a: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7" name="Rectangle 6">
            <a:extLst>
              <a:ext uri="{FF2B5EF4-FFF2-40B4-BE49-F238E27FC236}">
                <a16:creationId xmlns:a16="http://schemas.microsoft.com/office/drawing/2014/main" id="{A0712B46-AFD7-4485-12E0-0861E7013806}"/>
              </a:ext>
            </a:extLst>
          </p:cNvPr>
          <p:cNvSpPr/>
          <p:nvPr/>
        </p:nvSpPr>
        <p:spPr>
          <a:xfrm>
            <a:off x="2855640" y="4201646"/>
            <a:ext cx="288032" cy="72008"/>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Rectangle 15">
            <a:extLst>
              <a:ext uri="{FF2B5EF4-FFF2-40B4-BE49-F238E27FC236}">
                <a16:creationId xmlns:a16="http://schemas.microsoft.com/office/drawing/2014/main" id="{9DFF2315-0721-1F2A-8CC1-4109CCC31E54}"/>
              </a:ext>
            </a:extLst>
          </p:cNvPr>
          <p:cNvSpPr/>
          <p:nvPr/>
        </p:nvSpPr>
        <p:spPr>
          <a:xfrm>
            <a:off x="6816080" y="4201646"/>
            <a:ext cx="288032" cy="72008"/>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Rectangle 18">
            <a:extLst>
              <a:ext uri="{FF2B5EF4-FFF2-40B4-BE49-F238E27FC236}">
                <a16:creationId xmlns:a16="http://schemas.microsoft.com/office/drawing/2014/main" id="{FAD948F9-EEFB-FAE6-3317-4AA730D7AB39}"/>
              </a:ext>
            </a:extLst>
          </p:cNvPr>
          <p:cNvSpPr/>
          <p:nvPr/>
        </p:nvSpPr>
        <p:spPr>
          <a:xfrm>
            <a:off x="10560496" y="4201646"/>
            <a:ext cx="288032" cy="72008"/>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3" name="Rectangle: Rounded Corners 2">
            <a:extLst>
              <a:ext uri="{FF2B5EF4-FFF2-40B4-BE49-F238E27FC236}">
                <a16:creationId xmlns:a16="http://schemas.microsoft.com/office/drawing/2014/main" id="{54AE1555-7D67-E375-2FC2-4F6A39A6569A}"/>
              </a:ext>
            </a:extLst>
          </p:cNvPr>
          <p:cNvSpPr/>
          <p:nvPr/>
        </p:nvSpPr>
        <p:spPr>
          <a:xfrm>
            <a:off x="839416" y="1196752"/>
            <a:ext cx="11089232" cy="432048"/>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lvl="0" indent="-171450" algn="just" defTabSz="457200">
              <a:buFontTx/>
              <a:buChar char="-"/>
              <a:defRPr/>
            </a:pPr>
            <a:r>
              <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Resultado:</a:t>
            </a: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Estimación del porcentaje del AUM de los instrumentos de los emisores distribuido por nivel de riesgo, pero con poco precisión porque asignaba el mismo nivel de riesgo por departamento.</a:t>
            </a:r>
            <a:r>
              <a:rPr lang="es-PE" sz="1000" dirty="0">
                <a:solidFill>
                  <a:srgbClr val="1F497D"/>
                </a:solidFill>
                <a:latin typeface="Trebuchet MS" panose="020B0603020202020204" pitchFamily="34" charset="0"/>
              </a:rPr>
              <a:t> </a:t>
            </a:r>
            <a:endPar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1908861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00DCB-792D-4062-2BDF-D321539039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305203-94C3-2729-22AE-1417FD74B6ED}"/>
              </a:ext>
            </a:extLst>
          </p:cNvPr>
          <p:cNvSpPr>
            <a:spLocks noGrp="1"/>
          </p:cNvSpPr>
          <p:nvPr>
            <p:ph type="sldNum" sz="quarter" idx="12"/>
          </p:nvPr>
        </p:nvSpPr>
        <p:spPr>
          <a:xfrm>
            <a:off x="11280576" y="6261231"/>
            <a:ext cx="914400" cy="5937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1E2E6E"/>
                </a:solidFill>
                <a:effectLst/>
                <a:uLnTx/>
                <a:uFillTx/>
                <a:latin typeface="Trebuchet MS" panose="020B0603020202020204" pitchFamily="34" charset="0"/>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17</a:t>
            </a:fld>
            <a:endParaRPr kumimoji="0" lang="es-PE" sz="14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endParaRPr>
          </a:p>
        </p:txBody>
      </p:sp>
      <p:sp>
        <p:nvSpPr>
          <p:cNvPr id="7" name="Title 2">
            <a:extLst>
              <a:ext uri="{FF2B5EF4-FFF2-40B4-BE49-F238E27FC236}">
                <a16:creationId xmlns:a16="http://schemas.microsoft.com/office/drawing/2014/main" id="{DC91190F-FF58-DA1F-4377-F56778E0C260}"/>
              </a:ext>
            </a:extLst>
          </p:cNvPr>
          <p:cNvSpPr>
            <a:spLocks noGrp="1"/>
          </p:cNvSpPr>
          <p:nvPr>
            <p:ph type="title"/>
          </p:nvPr>
        </p:nvSpPr>
        <p:spPr>
          <a:xfrm>
            <a:off x="0" y="88429"/>
            <a:ext cx="10819699" cy="676275"/>
          </a:xfrm>
        </p:spPr>
        <p:txBody>
          <a:bodyPr>
            <a:noAutofit/>
          </a:bodyPr>
          <a:lstStyle/>
          <a:p>
            <a:r>
              <a:rPr lang="es-ES" sz="2000" dirty="0"/>
              <a:t>3.3 Gestión Climática</a:t>
            </a:r>
            <a:r>
              <a:rPr lang="es-PE" sz="2000" dirty="0"/>
              <a:t> – Riesgos Físicos: Objetivo 2025-2027: Robustecer el Análisis </a:t>
            </a:r>
            <a:endParaRPr lang="es-ES" sz="2000" dirty="0"/>
          </a:p>
        </p:txBody>
      </p:sp>
      <p:sp>
        <p:nvSpPr>
          <p:cNvPr id="5" name="Rectangle: Rounded Corners 4">
            <a:extLst>
              <a:ext uri="{FF2B5EF4-FFF2-40B4-BE49-F238E27FC236}">
                <a16:creationId xmlns:a16="http://schemas.microsoft.com/office/drawing/2014/main" id="{17396DB2-BF43-6212-AF52-72822328FC22}"/>
              </a:ext>
            </a:extLst>
          </p:cNvPr>
          <p:cNvSpPr/>
          <p:nvPr/>
        </p:nvSpPr>
        <p:spPr>
          <a:xfrm>
            <a:off x="839416" y="1196752"/>
            <a:ext cx="11077200" cy="432048"/>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just" defTabSz="457200">
              <a:defRPr/>
            </a:pPr>
            <a:r>
              <a:rPr lang="es-PE" sz="1000" dirty="0">
                <a:solidFill>
                  <a:srgbClr val="1F497D"/>
                </a:solidFill>
                <a:latin typeface="Trebuchet MS" panose="020B0603020202020204" pitchFamily="34" charset="0"/>
              </a:rPr>
              <a:t>Buscamos referencias con managers globales y solo AFORE SURA nos compartió el detalle de su metodología para referencia. En México la </a:t>
            </a:r>
            <a:r>
              <a:rPr lang="es-PE" sz="1000" u="sng" dirty="0">
                <a:solidFill>
                  <a:srgbClr val="1F497D"/>
                </a:solidFill>
                <a:latin typeface="Trebuchet MS" panose="020B0603020202020204" pitchFamily="34" charset="0"/>
              </a:rPr>
              <a:t>entidad estatal</a:t>
            </a:r>
            <a:r>
              <a:rPr lang="es-PE" sz="1000" dirty="0">
                <a:solidFill>
                  <a:srgbClr val="1F497D"/>
                </a:solidFill>
                <a:latin typeface="Trebuchet MS" panose="020B0603020202020204" pitchFamily="34" charset="0"/>
              </a:rPr>
              <a:t> encargada sí publica información granular (nivel distrital) sobre fenómenos climáticos. Ellos procesan esa información y estiman una pérdida esperada por industria y emisor. </a:t>
            </a:r>
          </a:p>
          <a:p>
            <a:pPr marL="0" marR="0" lvl="0" indent="0" algn="just" defTabSz="457200" rtl="0" eaLnBrk="1" fontAlgn="auto" latinLnBrk="0" hangingPunct="1">
              <a:lnSpc>
                <a:spcPct val="100000"/>
              </a:lnSpc>
              <a:spcBef>
                <a:spcPts val="0"/>
              </a:spcBef>
              <a:spcAft>
                <a:spcPts val="0"/>
              </a:spcAft>
              <a:buClrTx/>
              <a:buSzTx/>
              <a:buFontTx/>
              <a:buNone/>
              <a:tabLst/>
              <a:defRPr/>
            </a:pPr>
            <a:endParaRPr lang="es-PE" sz="1000" b="1" dirty="0">
              <a:solidFill>
                <a:srgbClr val="1F497D"/>
              </a:solidFill>
              <a:latin typeface="Trebuchet MS" panose="020B0603020202020204" pitchFamily="34" charset="0"/>
            </a:endParaRPr>
          </a:p>
          <a:p>
            <a:pPr algn="just" defTabSz="457200">
              <a:defRPr/>
            </a:pPr>
            <a:endParaRPr lang="es-PE" sz="1000" b="1"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3" name="Rectangle: Rounded Corners 2">
            <a:extLst>
              <a:ext uri="{FF2B5EF4-FFF2-40B4-BE49-F238E27FC236}">
                <a16:creationId xmlns:a16="http://schemas.microsoft.com/office/drawing/2014/main" id="{C9ADFCDA-8E1C-BB9F-0403-397044ADB83B}"/>
              </a:ext>
            </a:extLst>
          </p:cNvPr>
          <p:cNvSpPr/>
          <p:nvPr/>
        </p:nvSpPr>
        <p:spPr>
          <a:xfrm>
            <a:off x="2553364" y="1844824"/>
            <a:ext cx="3312368" cy="1080120"/>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endParaRPr lang="es-PE" sz="1200" b="1"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s-PE" sz="1200" b="1" dirty="0">
                <a:solidFill>
                  <a:srgbClr val="1F497D"/>
                </a:solidFill>
                <a:latin typeface="Trebuchet MS" panose="020B0603020202020204" pitchFamily="34" charset="0"/>
              </a:rPr>
              <a:t>Paso 1: </a:t>
            </a:r>
            <a:r>
              <a:rPr lang="es-PE" sz="1200" dirty="0">
                <a:solidFill>
                  <a:srgbClr val="1F497D"/>
                </a:solidFill>
                <a:latin typeface="Trebuchet MS" panose="020B0603020202020204" pitchFamily="34" charset="0"/>
              </a:rPr>
              <a:t>Recopilación de Data de Fenómenos Climáticos de todos los distritos de cada departamento de México.</a:t>
            </a:r>
          </a:p>
          <a:p>
            <a:pPr algn="just" defTabSz="457200">
              <a:defRPr/>
            </a:pPr>
            <a:endParaRPr lang="es-PE" sz="1000" b="1"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11" name="Rectangle: Rounded Corners 10">
            <a:extLst>
              <a:ext uri="{FF2B5EF4-FFF2-40B4-BE49-F238E27FC236}">
                <a16:creationId xmlns:a16="http://schemas.microsoft.com/office/drawing/2014/main" id="{D913236F-3DCD-BF94-69EC-EB957D00343D}"/>
              </a:ext>
            </a:extLst>
          </p:cNvPr>
          <p:cNvSpPr/>
          <p:nvPr/>
        </p:nvSpPr>
        <p:spPr>
          <a:xfrm>
            <a:off x="2913404" y="3068960"/>
            <a:ext cx="3312368" cy="1080120"/>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endParaRPr lang="es-PE" sz="1200" b="1"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s-PE" sz="1200" b="1" dirty="0">
                <a:solidFill>
                  <a:srgbClr val="1F497D"/>
                </a:solidFill>
                <a:latin typeface="Trebuchet MS" panose="020B0603020202020204" pitchFamily="34" charset="0"/>
              </a:rPr>
              <a:t>Paso 2: </a:t>
            </a:r>
            <a:r>
              <a:rPr lang="es-PE" sz="1200" dirty="0">
                <a:solidFill>
                  <a:srgbClr val="1F497D"/>
                </a:solidFill>
                <a:latin typeface="Trebuchet MS" panose="020B0603020202020204" pitchFamily="34" charset="0"/>
              </a:rPr>
              <a:t>Creación de índices dado que cada fenómeno tiene más de 1 variable y tienen que trabajar solo con 1 variable de </a:t>
            </a:r>
            <a:r>
              <a:rPr lang="es-PE" sz="1200" b="1" u="sng" dirty="0">
                <a:solidFill>
                  <a:srgbClr val="1F497D"/>
                </a:solidFill>
                <a:latin typeface="Trebuchet MS" panose="020B0603020202020204" pitchFamily="34" charset="0"/>
              </a:rPr>
              <a:t>Severidad</a:t>
            </a:r>
            <a:r>
              <a:rPr lang="es-PE" sz="1200" dirty="0">
                <a:solidFill>
                  <a:srgbClr val="1F497D"/>
                </a:solidFill>
                <a:latin typeface="Trebuchet MS" panose="020B0603020202020204" pitchFamily="34" charset="0"/>
              </a:rPr>
              <a:t>. </a:t>
            </a: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13" name="Rectangle: Rounded Corners 12">
            <a:extLst>
              <a:ext uri="{FF2B5EF4-FFF2-40B4-BE49-F238E27FC236}">
                <a16:creationId xmlns:a16="http://schemas.microsoft.com/office/drawing/2014/main" id="{2EFE6DA9-4398-8031-4F67-2DE9E7E7ECAC}"/>
              </a:ext>
            </a:extLst>
          </p:cNvPr>
          <p:cNvSpPr/>
          <p:nvPr/>
        </p:nvSpPr>
        <p:spPr>
          <a:xfrm>
            <a:off x="3489468" y="4293096"/>
            <a:ext cx="3312368" cy="1080120"/>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endParaRPr lang="es-PE" sz="1200" b="1"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s-PE" sz="1200" b="1" dirty="0">
                <a:solidFill>
                  <a:srgbClr val="1F497D"/>
                </a:solidFill>
                <a:latin typeface="Trebuchet MS" panose="020B0603020202020204" pitchFamily="34" charset="0"/>
              </a:rPr>
              <a:t>Paso 3: </a:t>
            </a:r>
            <a:r>
              <a:rPr lang="es-PE" sz="1200" dirty="0">
                <a:solidFill>
                  <a:srgbClr val="1F497D"/>
                </a:solidFill>
                <a:latin typeface="Trebuchet MS" panose="020B0603020202020204" pitchFamily="34" charset="0"/>
              </a:rPr>
              <a:t>Estimación de la </a:t>
            </a:r>
            <a:r>
              <a:rPr lang="es-PE" sz="1200" b="1" u="sng" dirty="0">
                <a:solidFill>
                  <a:srgbClr val="1F497D"/>
                </a:solidFill>
                <a:latin typeface="Trebuchet MS" panose="020B0603020202020204" pitchFamily="34" charset="0"/>
              </a:rPr>
              <a:t>Probabilidad</a:t>
            </a:r>
            <a:r>
              <a:rPr lang="es-PE" sz="1200" dirty="0">
                <a:solidFill>
                  <a:srgbClr val="1F497D"/>
                </a:solidFill>
                <a:latin typeface="Trebuchet MS" panose="020B0603020202020204" pitchFamily="34" charset="0"/>
              </a:rPr>
              <a:t> de ocurrencia futura de fenómenos se obtiene de Data de Variables con proyecciones internas.  </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4" name="Rectangle: Rounded Corners 3">
            <a:extLst>
              <a:ext uri="{FF2B5EF4-FFF2-40B4-BE49-F238E27FC236}">
                <a16:creationId xmlns:a16="http://schemas.microsoft.com/office/drawing/2014/main" id="{6E3B13E4-B285-7B54-0C8D-4AEF882BF2A3}"/>
              </a:ext>
            </a:extLst>
          </p:cNvPr>
          <p:cNvSpPr/>
          <p:nvPr/>
        </p:nvSpPr>
        <p:spPr>
          <a:xfrm>
            <a:off x="4209548" y="5517232"/>
            <a:ext cx="3312368" cy="1080120"/>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endParaRPr lang="es-PE" sz="1200" b="1"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s-PE" sz="1200" b="1" dirty="0">
                <a:solidFill>
                  <a:srgbClr val="1F497D"/>
                </a:solidFill>
                <a:latin typeface="Trebuchet MS" panose="020B0603020202020204" pitchFamily="34" charset="0"/>
              </a:rPr>
              <a:t>Paso 4: </a:t>
            </a:r>
            <a:r>
              <a:rPr lang="es-PE" sz="1200" dirty="0">
                <a:solidFill>
                  <a:srgbClr val="1F497D"/>
                </a:solidFill>
                <a:latin typeface="Trebuchet MS" panose="020B0603020202020204" pitchFamily="34" charset="0"/>
              </a:rPr>
              <a:t>Continúan evaluando cómo estimar exactamente la </a:t>
            </a:r>
            <a:r>
              <a:rPr lang="es-PE" sz="1200" b="1" u="sng" dirty="0">
                <a:solidFill>
                  <a:srgbClr val="1F497D"/>
                </a:solidFill>
                <a:latin typeface="Trebuchet MS" panose="020B0603020202020204" pitchFamily="34" charset="0"/>
              </a:rPr>
              <a:t>Pérdida Esperada</a:t>
            </a:r>
            <a:r>
              <a:rPr lang="es-PE" sz="1200" dirty="0">
                <a:solidFill>
                  <a:srgbClr val="1F497D"/>
                </a:solidFill>
                <a:latin typeface="Trebuchet MS" panose="020B0603020202020204" pitchFamily="34" charset="0"/>
              </a:rPr>
              <a:t>, pero cuentan con las variables clave.</a:t>
            </a:r>
          </a:p>
          <a:p>
            <a:pPr marL="0" marR="0" lvl="0" indent="0" algn="just" defTabSz="457200" rtl="0" eaLnBrk="1" fontAlgn="auto" latinLnBrk="0" hangingPunct="1">
              <a:lnSpc>
                <a:spcPct val="100000"/>
              </a:lnSpc>
              <a:spcBef>
                <a:spcPts val="0"/>
              </a:spcBef>
              <a:spcAft>
                <a:spcPts val="0"/>
              </a:spcAft>
              <a:buClrTx/>
              <a:buSzTx/>
              <a:buFontTx/>
              <a:buNone/>
              <a:tabLst/>
              <a:defRPr/>
            </a:pPr>
            <a:endParaRPr lang="es-PE" sz="1200" b="1"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s-PE" sz="1200" dirty="0">
                <a:solidFill>
                  <a:srgbClr val="1F497D"/>
                </a:solidFill>
                <a:latin typeface="Trebuchet MS" panose="020B0603020202020204" pitchFamily="34" charset="0"/>
              </a:rPr>
              <a:t> </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pic>
        <p:nvPicPr>
          <p:cNvPr id="23" name="Picture 22">
            <a:extLst>
              <a:ext uri="{FF2B5EF4-FFF2-40B4-BE49-F238E27FC236}">
                <a16:creationId xmlns:a16="http://schemas.microsoft.com/office/drawing/2014/main" id="{B9C99E90-9D7E-735F-A05B-D8EE0416A9ED}"/>
              </a:ext>
            </a:extLst>
          </p:cNvPr>
          <p:cNvPicPr>
            <a:picLocks noChangeAspect="1"/>
          </p:cNvPicPr>
          <p:nvPr/>
        </p:nvPicPr>
        <p:blipFill>
          <a:blip r:embed="rId2"/>
          <a:stretch>
            <a:fillRect/>
          </a:stretch>
        </p:blipFill>
        <p:spPr>
          <a:xfrm>
            <a:off x="8109762" y="1844824"/>
            <a:ext cx="1716410" cy="1110155"/>
          </a:xfrm>
          <a:prstGeom prst="rect">
            <a:avLst/>
          </a:prstGeom>
        </p:spPr>
      </p:pic>
      <p:graphicFrame>
        <p:nvGraphicFramePr>
          <p:cNvPr id="25" name="Diagram 24">
            <a:extLst>
              <a:ext uri="{FF2B5EF4-FFF2-40B4-BE49-F238E27FC236}">
                <a16:creationId xmlns:a16="http://schemas.microsoft.com/office/drawing/2014/main" id="{EF324CED-41AE-836F-FE2D-8C8FBC8A9878}"/>
              </a:ext>
            </a:extLst>
          </p:cNvPr>
          <p:cNvGraphicFramePr/>
          <p:nvPr/>
        </p:nvGraphicFramePr>
        <p:xfrm>
          <a:off x="6585812" y="3068960"/>
          <a:ext cx="2448272" cy="1080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6" name="Diagram 25">
            <a:extLst>
              <a:ext uri="{FF2B5EF4-FFF2-40B4-BE49-F238E27FC236}">
                <a16:creationId xmlns:a16="http://schemas.microsoft.com/office/drawing/2014/main" id="{24528D0E-312F-7A83-824B-8C8416325384}"/>
              </a:ext>
            </a:extLst>
          </p:cNvPr>
          <p:cNvGraphicFramePr/>
          <p:nvPr/>
        </p:nvGraphicFramePr>
        <p:xfrm>
          <a:off x="9034084" y="3068960"/>
          <a:ext cx="2520280" cy="108012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33" name="Picture 32">
            <a:extLst>
              <a:ext uri="{FF2B5EF4-FFF2-40B4-BE49-F238E27FC236}">
                <a16:creationId xmlns:a16="http://schemas.microsoft.com/office/drawing/2014/main" id="{43204E42-9043-6499-746F-7C2B2C2678D0}"/>
              </a:ext>
            </a:extLst>
          </p:cNvPr>
          <p:cNvPicPr>
            <a:picLocks noChangeAspect="1"/>
          </p:cNvPicPr>
          <p:nvPr/>
        </p:nvPicPr>
        <p:blipFill>
          <a:blip r:embed="rId13"/>
          <a:stretch>
            <a:fillRect/>
          </a:stretch>
        </p:blipFill>
        <p:spPr>
          <a:xfrm>
            <a:off x="6369788" y="1844824"/>
            <a:ext cx="1656184" cy="1080120"/>
          </a:xfrm>
          <a:prstGeom prst="rect">
            <a:avLst/>
          </a:prstGeom>
        </p:spPr>
      </p:pic>
      <p:pic>
        <p:nvPicPr>
          <p:cNvPr id="35" name="Picture 34">
            <a:extLst>
              <a:ext uri="{FF2B5EF4-FFF2-40B4-BE49-F238E27FC236}">
                <a16:creationId xmlns:a16="http://schemas.microsoft.com/office/drawing/2014/main" id="{88B032E1-8218-933F-1CD5-B6D1552D7B84}"/>
              </a:ext>
            </a:extLst>
          </p:cNvPr>
          <p:cNvPicPr>
            <a:picLocks noChangeAspect="1"/>
          </p:cNvPicPr>
          <p:nvPr/>
        </p:nvPicPr>
        <p:blipFill>
          <a:blip r:embed="rId14"/>
          <a:stretch>
            <a:fillRect/>
          </a:stretch>
        </p:blipFill>
        <p:spPr>
          <a:xfrm>
            <a:off x="9898181" y="1844824"/>
            <a:ext cx="1656183" cy="1080120"/>
          </a:xfrm>
          <a:prstGeom prst="rect">
            <a:avLst/>
          </a:prstGeom>
        </p:spPr>
      </p:pic>
      <p:graphicFrame>
        <p:nvGraphicFramePr>
          <p:cNvPr id="40" name="Diagram 39">
            <a:extLst>
              <a:ext uri="{FF2B5EF4-FFF2-40B4-BE49-F238E27FC236}">
                <a16:creationId xmlns:a16="http://schemas.microsoft.com/office/drawing/2014/main" id="{B9280CF2-C57A-9708-E18F-8481650FF0C0}"/>
              </a:ext>
            </a:extLst>
          </p:cNvPr>
          <p:cNvGraphicFramePr/>
          <p:nvPr/>
        </p:nvGraphicFramePr>
        <p:xfrm>
          <a:off x="8616280" y="5040147"/>
          <a:ext cx="2263800" cy="2061261"/>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sp>
        <p:nvSpPr>
          <p:cNvPr id="6" name="Rectangle 5">
            <a:extLst>
              <a:ext uri="{FF2B5EF4-FFF2-40B4-BE49-F238E27FC236}">
                <a16:creationId xmlns:a16="http://schemas.microsoft.com/office/drawing/2014/main" id="{C14DC044-A3D7-DCA6-C6EC-01F56926FF7E}"/>
              </a:ext>
            </a:extLst>
          </p:cNvPr>
          <p:cNvSpPr/>
          <p:nvPr/>
        </p:nvSpPr>
        <p:spPr>
          <a:xfrm>
            <a:off x="1055440" y="1844824"/>
            <a:ext cx="1152128" cy="4752528"/>
          </a:xfrm>
          <a:prstGeom prst="rect">
            <a:avLst/>
          </a:prstGeom>
          <a:solidFill>
            <a:srgbClr val="2683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latin typeface="Trebuchet MS" panose="020B0603020202020204" pitchFamily="34" charset="0"/>
              </a:rPr>
              <a:t>AFORE SURA</a:t>
            </a:r>
            <a:endParaRPr lang="es-PE" sz="2000" dirty="0">
              <a:latin typeface="Trebuchet MS" panose="020B0603020202020204" pitchFamily="34" charset="0"/>
            </a:endParaRPr>
          </a:p>
        </p:txBody>
      </p:sp>
      <p:sp>
        <p:nvSpPr>
          <p:cNvPr id="8" name="Rectangle: Rounded Corners 7">
            <a:extLst>
              <a:ext uri="{FF2B5EF4-FFF2-40B4-BE49-F238E27FC236}">
                <a16:creationId xmlns:a16="http://schemas.microsoft.com/office/drawing/2014/main" id="{E6F9580D-1738-7811-BB50-362ADF59826B}"/>
              </a:ext>
            </a:extLst>
          </p:cNvPr>
          <p:cNvSpPr/>
          <p:nvPr/>
        </p:nvSpPr>
        <p:spPr>
          <a:xfrm>
            <a:off x="767408" y="764704"/>
            <a:ext cx="5832648"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Metodologías de Referencia (</a:t>
            </a:r>
            <a:r>
              <a:rPr lang="es-PE" sz="1400" b="1" u="sng" dirty="0" err="1">
                <a:solidFill>
                  <a:srgbClr val="1F497D"/>
                </a:solidFill>
                <a:latin typeface="Trebuchet MS" panose="020B0603020202020204" pitchFamily="34" charset="0"/>
              </a:rPr>
              <a:t>Asset</a:t>
            </a:r>
            <a:r>
              <a:rPr lang="es-PE" sz="1400" b="1" u="sng" dirty="0">
                <a:solidFill>
                  <a:srgbClr val="1F497D"/>
                </a:solidFill>
                <a:latin typeface="Trebuchet MS" panose="020B0603020202020204" pitchFamily="34" charset="0"/>
              </a:rPr>
              <a:t> Managers/</a:t>
            </a:r>
            <a:r>
              <a:rPr lang="es-PE" sz="1400" b="1" u="sng" dirty="0" err="1">
                <a:solidFill>
                  <a:srgbClr val="1F497D"/>
                </a:solidFill>
                <a:latin typeface="Trebuchet MS" panose="020B0603020202020204" pitchFamily="34" charset="0"/>
              </a:rPr>
              <a:t>Asset</a:t>
            </a:r>
            <a:r>
              <a:rPr lang="es-PE" sz="1400" b="1" u="sng" dirty="0">
                <a:solidFill>
                  <a:srgbClr val="1F497D"/>
                </a:solidFill>
                <a:latin typeface="Trebuchet MS" panose="020B0603020202020204" pitchFamily="34" charset="0"/>
              </a:rPr>
              <a:t> </a:t>
            </a:r>
            <a:r>
              <a:rPr lang="es-PE" sz="1400" b="1" u="sng" dirty="0" err="1">
                <a:solidFill>
                  <a:srgbClr val="1F497D"/>
                </a:solidFill>
                <a:latin typeface="Trebuchet MS" panose="020B0603020202020204" pitchFamily="34" charset="0"/>
              </a:rPr>
              <a:t>Owners</a:t>
            </a:r>
            <a:r>
              <a:rPr lang="es-PE" sz="1400" b="1" u="sng" dirty="0">
                <a:solidFill>
                  <a:srgbClr val="1F497D"/>
                </a:solidFill>
                <a:latin typeface="Trebuchet MS" panose="020B0603020202020204" pitchFamily="34" charset="0"/>
              </a:rPr>
              <a:t>):</a:t>
            </a:r>
          </a:p>
          <a:p>
            <a:pPr algn="just" defTabSz="457200">
              <a:defRPr/>
            </a:pPr>
            <a:endParaRPr lang="es-PE" sz="1400" b="1" u="sng"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9" name="Oval 8">
            <a:extLst>
              <a:ext uri="{FF2B5EF4-FFF2-40B4-BE49-F238E27FC236}">
                <a16:creationId xmlns:a16="http://schemas.microsoft.com/office/drawing/2014/main" id="{4B680F11-36CC-6D61-CF21-650FF7E9CE01}"/>
              </a:ext>
            </a:extLst>
          </p:cNvPr>
          <p:cNvSpPr/>
          <p:nvPr/>
        </p:nvSpPr>
        <p:spPr>
          <a:xfrm>
            <a:off x="8544272" y="4293096"/>
            <a:ext cx="1080120" cy="10081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900" b="1" dirty="0">
                <a:latin typeface="Trebuchet MS" panose="020B0603020202020204" pitchFamily="34" charset="0"/>
              </a:rPr>
              <a:t>Pendiente AFORE</a:t>
            </a:r>
            <a:endParaRPr lang="es-PE" sz="900" b="1" dirty="0">
              <a:latin typeface="Trebuchet MS" panose="020B0603020202020204" pitchFamily="34" charset="0"/>
            </a:endParaRPr>
          </a:p>
        </p:txBody>
      </p:sp>
    </p:spTree>
    <p:extLst>
      <p:ext uri="{BB962C8B-B14F-4D97-AF65-F5344CB8AC3E}">
        <p14:creationId xmlns:p14="http://schemas.microsoft.com/office/powerpoint/2010/main" val="3408959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D5B7D-2E6D-036B-9309-878108C547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E6DD86-2E7A-9D43-FC06-E15EBB8EB579}"/>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1E2E6E"/>
                </a:solidFill>
                <a:effectLst/>
                <a:uLnTx/>
                <a:uFillTx/>
                <a:latin typeface="Trebuchet MS" panose="020B0603020202020204" pitchFamily="34" charset="0"/>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18</a:t>
            </a:fld>
            <a:endParaRPr kumimoji="0" lang="es-PE" sz="14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endParaRPr>
          </a:p>
        </p:txBody>
      </p:sp>
      <p:sp>
        <p:nvSpPr>
          <p:cNvPr id="7" name="Title 2">
            <a:extLst>
              <a:ext uri="{FF2B5EF4-FFF2-40B4-BE49-F238E27FC236}">
                <a16:creationId xmlns:a16="http://schemas.microsoft.com/office/drawing/2014/main" id="{5BAB0606-B376-2346-F40A-702A899627F8}"/>
              </a:ext>
            </a:extLst>
          </p:cNvPr>
          <p:cNvSpPr>
            <a:spLocks noGrp="1"/>
          </p:cNvSpPr>
          <p:nvPr>
            <p:ph type="title"/>
          </p:nvPr>
        </p:nvSpPr>
        <p:spPr>
          <a:xfrm>
            <a:off x="0" y="88429"/>
            <a:ext cx="10819699" cy="676275"/>
          </a:xfrm>
        </p:spPr>
        <p:txBody>
          <a:bodyPr>
            <a:noAutofit/>
          </a:bodyPr>
          <a:lstStyle/>
          <a:p>
            <a:r>
              <a:rPr lang="es-ES" sz="2000" dirty="0"/>
              <a:t>3.4 Gestión Climática</a:t>
            </a:r>
            <a:r>
              <a:rPr lang="es-PE" sz="2000" dirty="0"/>
              <a:t> – Riesgos Físicos: Objetivo 2025-2027: Robustecer el Análisis </a:t>
            </a:r>
            <a:endParaRPr lang="es-ES" sz="2000" dirty="0"/>
          </a:p>
        </p:txBody>
      </p:sp>
      <p:sp>
        <p:nvSpPr>
          <p:cNvPr id="5" name="Rectangle: Rounded Corners 4">
            <a:extLst>
              <a:ext uri="{FF2B5EF4-FFF2-40B4-BE49-F238E27FC236}">
                <a16:creationId xmlns:a16="http://schemas.microsoft.com/office/drawing/2014/main" id="{DED097D4-DE01-A8CB-0C3C-01408CDADE8A}"/>
              </a:ext>
            </a:extLst>
          </p:cNvPr>
          <p:cNvSpPr/>
          <p:nvPr/>
        </p:nvSpPr>
        <p:spPr>
          <a:xfrm>
            <a:off x="779440" y="1124744"/>
            <a:ext cx="11077200" cy="288032"/>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s-PE" sz="1000" dirty="0">
                <a:solidFill>
                  <a:srgbClr val="1F497D"/>
                </a:solidFill>
                <a:latin typeface="Trebuchet MS" panose="020B0603020202020204" pitchFamily="34" charset="0"/>
              </a:rPr>
              <a:t>También buscamos referencias de consultores especializados en gestión climática y </a:t>
            </a:r>
            <a:r>
              <a:rPr lang="es-PE" sz="1000" u="sng" dirty="0">
                <a:solidFill>
                  <a:srgbClr val="1F497D"/>
                </a:solidFill>
                <a:latin typeface="Trebuchet MS" panose="020B0603020202020204" pitchFamily="34" charset="0"/>
              </a:rPr>
              <a:t>nos describieron la forma en que realizan el análisis</a:t>
            </a:r>
            <a:r>
              <a:rPr lang="es-PE" sz="1000" dirty="0">
                <a:solidFill>
                  <a:srgbClr val="1F497D"/>
                </a:solidFill>
                <a:latin typeface="Trebuchet MS" panose="020B0603020202020204" pitchFamily="34" charset="0"/>
              </a:rPr>
              <a:t> y la cotización por este tipo de servicio. </a:t>
            </a:r>
          </a:p>
          <a:p>
            <a:pPr marL="0" marR="0" lvl="0" indent="0" algn="just" defTabSz="457200" rtl="0" eaLnBrk="1" fontAlgn="auto" latinLnBrk="0" hangingPunct="1">
              <a:lnSpc>
                <a:spcPct val="100000"/>
              </a:lnSpc>
              <a:spcBef>
                <a:spcPts val="0"/>
              </a:spcBef>
              <a:spcAft>
                <a:spcPts val="0"/>
              </a:spcAft>
              <a:buClrTx/>
              <a:buSzTx/>
              <a:buFontTx/>
              <a:buNone/>
              <a:tabLst/>
              <a:defRPr/>
            </a:pPr>
            <a:endParaRPr lang="es-PE" sz="1000"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s-PE" sz="1000"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s-PE" sz="1000" dirty="0">
              <a:solidFill>
                <a:srgbClr val="1F497D"/>
              </a:solidFill>
              <a:latin typeface="Trebuchet MS" panose="020B0603020202020204" pitchFamily="34" charset="0"/>
            </a:endParaRPr>
          </a:p>
          <a:p>
            <a:pPr algn="just" defTabSz="457200">
              <a:defRPr/>
            </a:pPr>
            <a:endParaRPr lang="es-PE" sz="1000"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graphicFrame>
        <p:nvGraphicFramePr>
          <p:cNvPr id="17" name="Diagram 16">
            <a:extLst>
              <a:ext uri="{FF2B5EF4-FFF2-40B4-BE49-F238E27FC236}">
                <a16:creationId xmlns:a16="http://schemas.microsoft.com/office/drawing/2014/main" id="{9C8C84BA-4F76-2B84-9750-C0105FD64F32}"/>
              </a:ext>
            </a:extLst>
          </p:cNvPr>
          <p:cNvGraphicFramePr/>
          <p:nvPr/>
        </p:nvGraphicFramePr>
        <p:xfrm>
          <a:off x="839416" y="2184823"/>
          <a:ext cx="2664296" cy="40774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ectangle: Rounded Corners 10">
            <a:extLst>
              <a:ext uri="{FF2B5EF4-FFF2-40B4-BE49-F238E27FC236}">
                <a16:creationId xmlns:a16="http://schemas.microsoft.com/office/drawing/2014/main" id="{122B3D5D-A9A2-99EF-18B7-C213A777CFD2}"/>
              </a:ext>
            </a:extLst>
          </p:cNvPr>
          <p:cNvSpPr/>
          <p:nvPr/>
        </p:nvSpPr>
        <p:spPr>
          <a:xfrm>
            <a:off x="1055440" y="1653796"/>
            <a:ext cx="1935832" cy="432048"/>
          </a:xfrm>
          <a:prstGeom prst="roundRect">
            <a:avLst>
              <a:gd name="adj" fmla="val 0"/>
            </a:avLst>
          </a:prstGeom>
          <a:solidFill>
            <a:schemeClr val="accent6"/>
          </a:solidFill>
          <a:ln w="12700">
            <a:solidFill>
              <a:schemeClr val="accent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PE" sz="1000" b="1" dirty="0">
                <a:solidFill>
                  <a:schemeClr val="bg1"/>
                </a:solidFill>
                <a:latin typeface="Trebuchet MS" panose="020B0603020202020204" pitchFamily="34" charset="0"/>
              </a:rPr>
              <a:t>Emisores Seleccionados (37% del AUM de RV/RF Local)</a:t>
            </a:r>
          </a:p>
          <a:p>
            <a:pPr marL="0" marR="0" lvl="0" indent="0" algn="just" defTabSz="457200" rtl="0" eaLnBrk="1" fontAlgn="auto" latinLnBrk="0" hangingPunct="1">
              <a:lnSpc>
                <a:spcPct val="100000"/>
              </a:lnSpc>
              <a:spcBef>
                <a:spcPts val="0"/>
              </a:spcBef>
              <a:spcAft>
                <a:spcPts val="0"/>
              </a:spcAft>
              <a:buClrTx/>
              <a:buSzTx/>
              <a:buFontTx/>
              <a:buNone/>
              <a:tabLst/>
              <a:defRPr/>
            </a:pPr>
            <a:endParaRPr lang="es-PE" sz="1000"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s-PE" sz="1000" dirty="0">
              <a:solidFill>
                <a:srgbClr val="1F497D"/>
              </a:solidFill>
              <a:latin typeface="Trebuchet MS" panose="020B0603020202020204" pitchFamily="34" charset="0"/>
            </a:endParaRPr>
          </a:p>
          <a:p>
            <a:pPr algn="just" defTabSz="457200">
              <a:defRPr/>
            </a:pPr>
            <a:endParaRPr lang="es-PE" sz="1000"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3" name="Rectangle: Rounded Corners 2">
            <a:extLst>
              <a:ext uri="{FF2B5EF4-FFF2-40B4-BE49-F238E27FC236}">
                <a16:creationId xmlns:a16="http://schemas.microsoft.com/office/drawing/2014/main" id="{7F12B52C-D744-B24B-B8A8-4EB9F8AC0C48}"/>
              </a:ext>
            </a:extLst>
          </p:cNvPr>
          <p:cNvSpPr/>
          <p:nvPr/>
        </p:nvSpPr>
        <p:spPr>
          <a:xfrm>
            <a:off x="767408" y="764704"/>
            <a:ext cx="4176464"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Metodologías de referencia (Consultores):</a:t>
            </a:r>
          </a:p>
          <a:p>
            <a:pPr algn="just" defTabSz="457200">
              <a:defRPr/>
            </a:pPr>
            <a:endParaRPr lang="es-PE" sz="1400" b="1" u="sng" dirty="0">
              <a:solidFill>
                <a:srgbClr val="1F497D"/>
              </a:solidFill>
              <a:latin typeface="Trebuchet MS" panose="020B0603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pic>
        <p:nvPicPr>
          <p:cNvPr id="12" name="Imagen 11" descr="Tabla&#10;&#10;El contenido generado por IA puede ser incorrecto.">
            <a:extLst>
              <a:ext uri="{FF2B5EF4-FFF2-40B4-BE49-F238E27FC236}">
                <a16:creationId xmlns:a16="http://schemas.microsoft.com/office/drawing/2014/main" id="{094EB6FE-105E-EA6B-9CA3-86577E146B8F}"/>
              </a:ext>
            </a:extLst>
          </p:cNvPr>
          <p:cNvPicPr>
            <a:picLocks noChangeAspect="1"/>
          </p:cNvPicPr>
          <p:nvPr/>
        </p:nvPicPr>
        <p:blipFill>
          <a:blip r:embed="rId8"/>
          <a:stretch>
            <a:fillRect/>
          </a:stretch>
        </p:blipFill>
        <p:spPr>
          <a:xfrm>
            <a:off x="3791744" y="1743564"/>
            <a:ext cx="7776864" cy="4637764"/>
          </a:xfrm>
          <a:prstGeom prst="rect">
            <a:avLst/>
          </a:prstGeom>
        </p:spPr>
      </p:pic>
    </p:spTree>
    <p:extLst>
      <p:ext uri="{BB962C8B-B14F-4D97-AF65-F5344CB8AC3E}">
        <p14:creationId xmlns:p14="http://schemas.microsoft.com/office/powerpoint/2010/main" val="3108186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C34DD-0DB4-20A2-F0D6-0F9975C7694B}"/>
            </a:ext>
          </a:extLst>
        </p:cNvPr>
        <p:cNvGrpSpPr/>
        <p:nvPr/>
      </p:nvGrpSpPr>
      <p:grpSpPr>
        <a:xfrm>
          <a:off x="0" y="0"/>
          <a:ext cx="0" cy="0"/>
          <a:chOff x="0" y="0"/>
          <a:chExt cx="0" cy="0"/>
        </a:xfrm>
      </p:grpSpPr>
      <p:pic>
        <p:nvPicPr>
          <p:cNvPr id="4" name="Picture 2">
            <a:extLst>
              <a:ext uri="{FF2B5EF4-FFF2-40B4-BE49-F238E27FC236}">
                <a16:creationId xmlns:a16="http://schemas.microsoft.com/office/drawing/2014/main" id="{C76A6D34-929D-54B1-8BA1-B8F9BDADBF0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409" t="1556" r="6859" b="2627"/>
          <a:stretch>
            <a:fillRect/>
          </a:stretch>
        </p:blipFill>
        <p:spPr bwMode="auto">
          <a:xfrm>
            <a:off x="839416" y="2739379"/>
            <a:ext cx="2165604" cy="313789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14">
            <a:extLst>
              <a:ext uri="{FF2B5EF4-FFF2-40B4-BE49-F238E27FC236}">
                <a16:creationId xmlns:a16="http://schemas.microsoft.com/office/drawing/2014/main" id="{5FBD14A8-BD71-342A-2A65-975C9AD22773}"/>
              </a:ext>
            </a:extLst>
          </p:cNvPr>
          <p:cNvGraphicFramePr>
            <a:graphicFrameLocks noGrp="1"/>
          </p:cNvGraphicFramePr>
          <p:nvPr/>
        </p:nvGraphicFramePr>
        <p:xfrm>
          <a:off x="844780" y="1556792"/>
          <a:ext cx="4752526" cy="768278"/>
        </p:xfrm>
        <a:graphic>
          <a:graphicData uri="http://schemas.openxmlformats.org/drawingml/2006/table">
            <a:tbl>
              <a:tblPr/>
              <a:tblGrid>
                <a:gridCol w="1005033">
                  <a:extLst>
                    <a:ext uri="{9D8B030D-6E8A-4147-A177-3AD203B41FA5}">
                      <a16:colId xmlns:a16="http://schemas.microsoft.com/office/drawing/2014/main" val="4031183426"/>
                    </a:ext>
                  </a:extLst>
                </a:gridCol>
                <a:gridCol w="1240251">
                  <a:extLst>
                    <a:ext uri="{9D8B030D-6E8A-4147-A177-3AD203B41FA5}">
                      <a16:colId xmlns:a16="http://schemas.microsoft.com/office/drawing/2014/main" val="652494891"/>
                    </a:ext>
                  </a:extLst>
                </a:gridCol>
                <a:gridCol w="1368557">
                  <a:extLst>
                    <a:ext uri="{9D8B030D-6E8A-4147-A177-3AD203B41FA5}">
                      <a16:colId xmlns:a16="http://schemas.microsoft.com/office/drawing/2014/main" val="1368729184"/>
                    </a:ext>
                  </a:extLst>
                </a:gridCol>
                <a:gridCol w="1138685">
                  <a:extLst>
                    <a:ext uri="{9D8B030D-6E8A-4147-A177-3AD203B41FA5}">
                      <a16:colId xmlns:a16="http://schemas.microsoft.com/office/drawing/2014/main" val="3043093577"/>
                    </a:ext>
                  </a:extLst>
                </a:gridCol>
              </a:tblGrid>
              <a:tr h="162498">
                <a:tc gridSpan="4">
                  <a:txBody>
                    <a:bodyPr/>
                    <a:lstStyle/>
                    <a:p>
                      <a:pPr algn="ctr" rtl="0" fontAlgn="ctr">
                        <a:buNone/>
                      </a:pPr>
                      <a:r>
                        <a:rPr lang="es-PE" sz="800" b="1" i="0" u="none" strike="noStrike" dirty="0">
                          <a:solidFill>
                            <a:srgbClr val="FFFFFF"/>
                          </a:solidFill>
                          <a:effectLst/>
                          <a:latin typeface="Trebuchet MS" panose="020B0603020202020204" pitchFamily="34" charset="0"/>
                        </a:rPr>
                        <a:t>Exposición de Activos por Departamentos Afectados</a:t>
                      </a:r>
                    </a:p>
                    <a:p>
                      <a:pPr algn="ctr" rtl="0" fontAlgn="ctr">
                        <a:buNone/>
                      </a:pPr>
                      <a:endParaRPr lang="es-PE" sz="800" b="1" i="0" u="none" strike="noStrike" dirty="0">
                        <a:solidFill>
                          <a:srgbClr val="FFFFFF"/>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tc hMerge="1">
                  <a:txBody>
                    <a:bodyPr/>
                    <a:lstStyle/>
                    <a:p>
                      <a:pPr algn="ctr" rtl="0" fontAlgn="ctr">
                        <a:buNone/>
                      </a:pPr>
                      <a:endParaRPr lang="es-PE" sz="700" b="1" i="0" u="none" strike="noStrike" dirty="0">
                        <a:solidFill>
                          <a:srgbClr val="FFFFFF"/>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tc hMerge="1">
                  <a:txBody>
                    <a:bodyPr/>
                    <a:lstStyle/>
                    <a:p>
                      <a:pPr algn="ctr" rtl="0" fontAlgn="ctr">
                        <a:buNone/>
                      </a:pPr>
                      <a:endParaRPr lang="es-PE" sz="700" b="1" i="0" u="none" strike="noStrike" dirty="0">
                        <a:solidFill>
                          <a:srgbClr val="FFFFFF"/>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tc hMerge="1">
                  <a:txBody>
                    <a:bodyPr/>
                    <a:lstStyle/>
                    <a:p>
                      <a:pPr algn="ctr" rtl="0" fontAlgn="ctr">
                        <a:buNone/>
                      </a:pPr>
                      <a:endParaRPr lang="es-PE" sz="700" b="1" i="0" u="none" strike="noStrike" dirty="0">
                        <a:solidFill>
                          <a:srgbClr val="FFFFFF"/>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extLst>
                  <a:ext uri="{0D108BD9-81ED-4DB2-BD59-A6C34878D82A}">
                    <a16:rowId xmlns:a16="http://schemas.microsoft.com/office/drawing/2014/main" val="2839454209"/>
                  </a:ext>
                </a:extLst>
              </a:tr>
              <a:tr h="162498">
                <a:tc>
                  <a:txBody>
                    <a:bodyPr/>
                    <a:lstStyle/>
                    <a:p>
                      <a:pPr algn="ctr" rtl="0" fontAlgn="ctr">
                        <a:buNone/>
                      </a:pPr>
                      <a:r>
                        <a:rPr lang="es-PE" sz="700" b="1" i="0" u="none" strike="noStrike" dirty="0">
                          <a:solidFill>
                            <a:srgbClr val="FFFFFF"/>
                          </a:solidFill>
                          <a:effectLst/>
                          <a:latin typeface="Trebuchet MS" panose="020B0603020202020204" pitchFamily="34" charset="0"/>
                        </a:rPr>
                        <a:t>Región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AUM Región (S/.)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AUM Total RV (AUM RV 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Peso sobre AUM RV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extLst>
                  <a:ext uri="{0D108BD9-81ED-4DB2-BD59-A6C34878D82A}">
                    <a16:rowId xmlns:a16="http://schemas.microsoft.com/office/drawing/2014/main" val="3888475785"/>
                  </a:ext>
                </a:extLst>
              </a:tr>
              <a:tr h="168110">
                <a:tc>
                  <a:txBody>
                    <a:bodyPr/>
                    <a:lstStyle/>
                    <a:p>
                      <a:pPr algn="ctr" rtl="0" fontAlgn="ctr">
                        <a:buNone/>
                      </a:pPr>
                      <a:r>
                        <a:rPr lang="es-PE" sz="700" b="0" i="0" u="none" strike="noStrike">
                          <a:solidFill>
                            <a:srgbClr val="1E2E6E"/>
                          </a:solidFill>
                          <a:effectLst/>
                          <a:latin typeface="Trebuchet MS" panose="020B0603020202020204" pitchFamily="34" charset="0"/>
                        </a:rPr>
                        <a:t>Norte - Lluvias</a:t>
                      </a:r>
                    </a:p>
                  </a:txBody>
                  <a:tcPr marL="9525" marR="9525" marT="9525" marB="0" anchor="ctr">
                    <a:lnL w="635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694,579,189</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6,946,335,944</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10.00%</a:t>
                      </a:r>
                    </a:p>
                  </a:txBody>
                  <a:tcPr marL="9525" marR="9525" marT="9525" marB="0" anchor="ctr">
                    <a:lnL>
                      <a:noFill/>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197378414"/>
                  </a:ext>
                </a:extLst>
              </a:tr>
              <a:tr h="184305">
                <a:tc>
                  <a:txBody>
                    <a:bodyPr/>
                    <a:lstStyle/>
                    <a:p>
                      <a:pPr algn="ctr" rtl="0" fontAlgn="ctr">
                        <a:buNone/>
                      </a:pPr>
                      <a:r>
                        <a:rPr lang="es-PE" sz="700" b="0" i="0" u="none" strike="noStrike">
                          <a:solidFill>
                            <a:srgbClr val="1E2E6E"/>
                          </a:solidFill>
                          <a:effectLst/>
                          <a:latin typeface="Trebuchet MS" panose="020B0603020202020204" pitchFamily="34" charset="0"/>
                        </a:rPr>
                        <a:t>Sur - Sequías</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897,739,932</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6,946,335,944</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12.90%</a:t>
                      </a: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52648168"/>
                  </a:ext>
                </a:extLst>
              </a:tr>
            </a:tbl>
          </a:graphicData>
        </a:graphic>
      </p:graphicFrame>
      <p:pic>
        <p:nvPicPr>
          <p:cNvPr id="8" name="Picture 3">
            <a:extLst>
              <a:ext uri="{FF2B5EF4-FFF2-40B4-BE49-F238E27FC236}">
                <a16:creationId xmlns:a16="http://schemas.microsoft.com/office/drawing/2014/main" id="{D0EFA558-2C6C-5799-AD93-50709324D7FC}"/>
              </a:ext>
            </a:extLst>
          </p:cNvPr>
          <p:cNvPicPr>
            <a:picLocks noChangeAspect="1"/>
          </p:cNvPicPr>
          <p:nvPr/>
        </p:nvPicPr>
        <p:blipFill>
          <a:blip r:embed="rId4"/>
          <a:stretch>
            <a:fillRect/>
          </a:stretch>
        </p:blipFill>
        <p:spPr>
          <a:xfrm>
            <a:off x="846189" y="6204535"/>
            <a:ext cx="1654775" cy="176793"/>
          </a:xfrm>
          <a:prstGeom prst="rect">
            <a:avLst/>
          </a:prstGeom>
        </p:spPr>
      </p:pic>
      <p:graphicFrame>
        <p:nvGraphicFramePr>
          <p:cNvPr id="10" name="Table 11">
            <a:extLst>
              <a:ext uri="{FF2B5EF4-FFF2-40B4-BE49-F238E27FC236}">
                <a16:creationId xmlns:a16="http://schemas.microsoft.com/office/drawing/2014/main" id="{B75FC0FB-C579-10F7-B42D-5412BBA42080}"/>
              </a:ext>
            </a:extLst>
          </p:cNvPr>
          <p:cNvGraphicFramePr>
            <a:graphicFrameLocks noGrp="1"/>
          </p:cNvGraphicFramePr>
          <p:nvPr/>
        </p:nvGraphicFramePr>
        <p:xfrm>
          <a:off x="3149036" y="2718277"/>
          <a:ext cx="2448271" cy="1540600"/>
        </p:xfrm>
        <a:graphic>
          <a:graphicData uri="http://schemas.openxmlformats.org/drawingml/2006/table">
            <a:tbl>
              <a:tblPr/>
              <a:tblGrid>
                <a:gridCol w="788176">
                  <a:extLst>
                    <a:ext uri="{9D8B030D-6E8A-4147-A177-3AD203B41FA5}">
                      <a16:colId xmlns:a16="http://schemas.microsoft.com/office/drawing/2014/main" val="155823564"/>
                    </a:ext>
                  </a:extLst>
                </a:gridCol>
                <a:gridCol w="694580">
                  <a:extLst>
                    <a:ext uri="{9D8B030D-6E8A-4147-A177-3AD203B41FA5}">
                      <a16:colId xmlns:a16="http://schemas.microsoft.com/office/drawing/2014/main" val="1262537147"/>
                    </a:ext>
                  </a:extLst>
                </a:gridCol>
                <a:gridCol w="965515">
                  <a:extLst>
                    <a:ext uri="{9D8B030D-6E8A-4147-A177-3AD203B41FA5}">
                      <a16:colId xmlns:a16="http://schemas.microsoft.com/office/drawing/2014/main" val="331072180"/>
                    </a:ext>
                  </a:extLst>
                </a:gridCol>
              </a:tblGrid>
              <a:tr h="157960">
                <a:tc gridSpan="3">
                  <a:txBody>
                    <a:bodyPr/>
                    <a:lstStyle/>
                    <a:p>
                      <a:pPr algn="ctr" rtl="0" fontAlgn="ctr">
                        <a:buNone/>
                      </a:pPr>
                      <a:r>
                        <a:rPr lang="es-PE" sz="700" b="1" i="0" u="none" strike="noStrike" dirty="0">
                          <a:solidFill>
                            <a:srgbClr val="FFFFFF"/>
                          </a:solidFill>
                          <a:effectLst/>
                          <a:latin typeface="Trebuchet MS" panose="020B0603020202020204" pitchFamily="34" charset="0"/>
                        </a:rPr>
                        <a:t>NORTE - LLUVIAS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4220653369"/>
                  </a:ext>
                </a:extLst>
              </a:tr>
              <a:tr h="240099">
                <a:tc>
                  <a:txBody>
                    <a:bodyPr/>
                    <a:lstStyle/>
                    <a:p>
                      <a:pPr algn="ctr" rtl="0" fontAlgn="ctr">
                        <a:buNone/>
                      </a:pPr>
                      <a:r>
                        <a:rPr lang="es-PE" sz="700" b="1" i="0" u="none" strike="noStrike" dirty="0">
                          <a:solidFill>
                            <a:srgbClr val="FFFFFF"/>
                          </a:solidFill>
                          <a:effectLst/>
                          <a:latin typeface="Trebuchet MS" panose="020B0603020202020204" pitchFamily="34" charset="0"/>
                        </a:rPr>
                        <a:t>Empresa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Activos Físicos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Peso en el negocio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extLst>
                  <a:ext uri="{0D108BD9-81ED-4DB2-BD59-A6C34878D82A}">
                    <a16:rowId xmlns:a16="http://schemas.microsoft.com/office/drawing/2014/main" val="2712112187"/>
                  </a:ext>
                </a:extLst>
              </a:tr>
              <a:tr h="126655">
                <a:tc>
                  <a:txBody>
                    <a:bodyPr/>
                    <a:lstStyle/>
                    <a:p>
                      <a:pPr algn="ctr" rtl="0" fontAlgn="ctr">
                        <a:buNone/>
                      </a:pPr>
                      <a:r>
                        <a:rPr lang="es-PE" sz="700" b="0" i="0" u="none" strike="noStrike">
                          <a:solidFill>
                            <a:srgbClr val="1E2E6E"/>
                          </a:solidFill>
                          <a:effectLst/>
                          <a:latin typeface="Trebuchet MS" panose="020B0603020202020204" pitchFamily="34" charset="0"/>
                        </a:rPr>
                        <a:t>Pacasmayo</a:t>
                      </a: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2</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89.10%</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412724517"/>
                  </a:ext>
                </a:extLst>
              </a:tr>
              <a:tr h="0">
                <a:tc>
                  <a:txBody>
                    <a:bodyPr/>
                    <a:lstStyle/>
                    <a:p>
                      <a:pPr algn="ctr" rtl="0" fontAlgn="ctr">
                        <a:buNone/>
                      </a:pPr>
                      <a:r>
                        <a:rPr lang="es-PE" sz="700" b="0" i="0" u="none" strike="noStrike">
                          <a:solidFill>
                            <a:srgbClr val="1E2E6E"/>
                          </a:solidFill>
                          <a:effectLst/>
                          <a:latin typeface="Trebuchet MS" panose="020B0603020202020204" pitchFamily="34" charset="0"/>
                        </a:rPr>
                        <a:t>Aenza</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24.80%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721124800"/>
                  </a:ext>
                </a:extLst>
              </a:tr>
              <a:tr h="126367">
                <a:tc>
                  <a:txBody>
                    <a:bodyPr/>
                    <a:lstStyle/>
                    <a:p>
                      <a:pPr algn="ctr" rtl="0" fontAlgn="ctr">
                        <a:buNone/>
                      </a:pPr>
                      <a:r>
                        <a:rPr lang="es-PE" sz="700" b="0" i="0" u="none" strike="noStrike">
                          <a:solidFill>
                            <a:srgbClr val="1E2E6E"/>
                          </a:solidFill>
                          <a:effectLst/>
                          <a:latin typeface="Trebuchet MS" panose="020B0603020202020204" pitchFamily="34" charset="0"/>
                        </a:rPr>
                        <a:t>Ferreycorp</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10</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23.10%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494711031"/>
                  </a:ext>
                </a:extLst>
              </a:tr>
              <a:tr h="126367">
                <a:tc>
                  <a:txBody>
                    <a:bodyPr/>
                    <a:lstStyle/>
                    <a:p>
                      <a:pPr algn="ctr" rtl="0" fontAlgn="ctr">
                        <a:buNone/>
                      </a:pPr>
                      <a:r>
                        <a:rPr lang="es-PE" sz="700" b="0" i="0" u="none" strike="noStrike">
                          <a:solidFill>
                            <a:srgbClr val="1E2E6E"/>
                          </a:solidFill>
                          <a:effectLst/>
                          <a:latin typeface="Trebuchet MS" panose="020B0603020202020204" pitchFamily="34" charset="0"/>
                        </a:rPr>
                        <a:t>Inretail</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982</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22.10%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222509440"/>
                  </a:ext>
                </a:extLst>
              </a:tr>
              <a:tr h="126367">
                <a:tc>
                  <a:txBody>
                    <a:bodyPr/>
                    <a:lstStyle/>
                    <a:p>
                      <a:pPr algn="ctr" rtl="0" fontAlgn="ctr">
                        <a:buNone/>
                      </a:pPr>
                      <a:r>
                        <a:rPr lang="es-PE" sz="700" b="0" i="0" u="none" strike="noStrike">
                          <a:solidFill>
                            <a:srgbClr val="1E2E6E"/>
                          </a:solidFill>
                          <a:effectLst/>
                          <a:latin typeface="Trebuchet MS" panose="020B0603020202020204" pitchFamily="34" charset="0"/>
                        </a:rPr>
                        <a:t>Auna</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5</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19.20%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794643204"/>
                  </a:ext>
                </a:extLst>
              </a:tr>
              <a:tr h="126367">
                <a:tc>
                  <a:txBody>
                    <a:bodyPr/>
                    <a:lstStyle/>
                    <a:p>
                      <a:pPr algn="ctr" rtl="0" fontAlgn="ctr">
                        <a:buNone/>
                      </a:pPr>
                      <a:r>
                        <a:rPr lang="es-PE" sz="700" b="0" i="0" u="none" strike="noStrike">
                          <a:solidFill>
                            <a:srgbClr val="1E2E6E"/>
                          </a:solidFill>
                          <a:effectLst/>
                          <a:latin typeface="Trebuchet MS" panose="020B0603020202020204" pitchFamily="34" charset="0"/>
                        </a:rPr>
                        <a:t>Alicorp</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4</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19.20%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575785490"/>
                  </a:ext>
                </a:extLst>
              </a:tr>
              <a:tr h="151641">
                <a:tc>
                  <a:txBody>
                    <a:bodyPr/>
                    <a:lstStyle/>
                    <a:p>
                      <a:pPr algn="ctr" rtl="0" fontAlgn="ctr">
                        <a:buNone/>
                      </a:pPr>
                      <a:r>
                        <a:rPr lang="es-PE" sz="700" b="0" i="0" u="none" strike="noStrike">
                          <a:solidFill>
                            <a:srgbClr val="1E2E6E"/>
                          </a:solidFill>
                          <a:effectLst/>
                          <a:latin typeface="Trebuchet MS" panose="020B0603020202020204" pitchFamily="34" charset="0"/>
                        </a:rPr>
                        <a:t>BBVA</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18</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9.10%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611495894"/>
                  </a:ext>
                </a:extLst>
              </a:tr>
              <a:tr h="126367">
                <a:tc>
                  <a:txBody>
                    <a:bodyPr/>
                    <a:lstStyle/>
                    <a:p>
                      <a:pPr algn="ctr" rtl="0" fontAlgn="ctr">
                        <a:buNone/>
                      </a:pPr>
                      <a:r>
                        <a:rPr lang="es-PE" sz="700" b="0" i="0" u="none" strike="noStrike">
                          <a:solidFill>
                            <a:srgbClr val="1E2E6E"/>
                          </a:solidFill>
                          <a:effectLst/>
                          <a:latin typeface="Trebuchet MS" panose="020B0603020202020204" pitchFamily="34" charset="0"/>
                        </a:rPr>
                        <a:t>Credicorp</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76</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8.40%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142526891"/>
                  </a:ext>
                </a:extLst>
              </a:tr>
              <a:tr h="0">
                <a:tc>
                  <a:txBody>
                    <a:bodyPr/>
                    <a:lstStyle/>
                    <a:p>
                      <a:pPr algn="ctr" rtl="0" fontAlgn="ctr">
                        <a:buNone/>
                      </a:pPr>
                      <a:r>
                        <a:rPr lang="es-PE" sz="700" b="0" i="0" u="none" strike="noStrike">
                          <a:solidFill>
                            <a:srgbClr val="1E2E6E"/>
                          </a:solidFill>
                          <a:effectLst/>
                          <a:latin typeface="Trebuchet MS" panose="020B0603020202020204" pitchFamily="34" charset="0"/>
                        </a:rPr>
                        <a:t>IFS</a:t>
                      </a:r>
                    </a:p>
                  </a:txBody>
                  <a:tcPr marL="9525" marR="9525" marT="9525" marB="0" anchor="ctr">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12</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8.10%</a:t>
                      </a:r>
                    </a:p>
                  </a:txBody>
                  <a:tcPr marL="9525" marR="9525" marT="9525" marB="0" anchor="ctr">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66608933"/>
                  </a:ext>
                </a:extLst>
              </a:tr>
            </a:tbl>
          </a:graphicData>
        </a:graphic>
      </p:graphicFrame>
      <p:graphicFrame>
        <p:nvGraphicFramePr>
          <p:cNvPr id="12" name="Table 11">
            <a:extLst>
              <a:ext uri="{FF2B5EF4-FFF2-40B4-BE49-F238E27FC236}">
                <a16:creationId xmlns:a16="http://schemas.microsoft.com/office/drawing/2014/main" id="{ED649A63-1DAE-7FDB-4D89-1BCA50D0092C}"/>
              </a:ext>
            </a:extLst>
          </p:cNvPr>
          <p:cNvGraphicFramePr>
            <a:graphicFrameLocks noGrp="1"/>
          </p:cNvGraphicFramePr>
          <p:nvPr/>
        </p:nvGraphicFramePr>
        <p:xfrm>
          <a:off x="3149036" y="4467127"/>
          <a:ext cx="2448271" cy="1914201"/>
        </p:xfrm>
        <a:graphic>
          <a:graphicData uri="http://schemas.openxmlformats.org/drawingml/2006/table">
            <a:tbl>
              <a:tblPr/>
              <a:tblGrid>
                <a:gridCol w="788176">
                  <a:extLst>
                    <a:ext uri="{9D8B030D-6E8A-4147-A177-3AD203B41FA5}">
                      <a16:colId xmlns:a16="http://schemas.microsoft.com/office/drawing/2014/main" val="155823564"/>
                    </a:ext>
                  </a:extLst>
                </a:gridCol>
                <a:gridCol w="694580">
                  <a:extLst>
                    <a:ext uri="{9D8B030D-6E8A-4147-A177-3AD203B41FA5}">
                      <a16:colId xmlns:a16="http://schemas.microsoft.com/office/drawing/2014/main" val="1262537147"/>
                    </a:ext>
                  </a:extLst>
                </a:gridCol>
                <a:gridCol w="965515">
                  <a:extLst>
                    <a:ext uri="{9D8B030D-6E8A-4147-A177-3AD203B41FA5}">
                      <a16:colId xmlns:a16="http://schemas.microsoft.com/office/drawing/2014/main" val="331072180"/>
                    </a:ext>
                  </a:extLst>
                </a:gridCol>
              </a:tblGrid>
              <a:tr h="157960">
                <a:tc gridSpan="3">
                  <a:txBody>
                    <a:bodyPr/>
                    <a:lstStyle/>
                    <a:p>
                      <a:pPr algn="ctr" rtl="0" fontAlgn="ctr">
                        <a:buNone/>
                      </a:pPr>
                      <a:r>
                        <a:rPr lang="es-PE" sz="700" b="1" i="0" u="none" strike="noStrike" dirty="0">
                          <a:solidFill>
                            <a:srgbClr val="FFFFFF"/>
                          </a:solidFill>
                          <a:effectLst/>
                          <a:latin typeface="Trebuchet MS" panose="020B0603020202020204" pitchFamily="34" charset="0"/>
                        </a:rPr>
                        <a:t>SUR – SEQUÍAS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4220653369"/>
                  </a:ext>
                </a:extLst>
              </a:tr>
              <a:tr h="240099">
                <a:tc>
                  <a:txBody>
                    <a:bodyPr/>
                    <a:lstStyle/>
                    <a:p>
                      <a:pPr algn="ctr" rtl="0" fontAlgn="ctr">
                        <a:buNone/>
                      </a:pPr>
                      <a:r>
                        <a:rPr lang="es-PE" sz="700" b="1" i="0" u="none" strike="noStrike" dirty="0">
                          <a:solidFill>
                            <a:srgbClr val="FFFFFF"/>
                          </a:solidFill>
                          <a:effectLst/>
                          <a:latin typeface="Trebuchet MS" panose="020B0603020202020204" pitchFamily="34" charset="0"/>
                        </a:rPr>
                        <a:t>Empresa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Activos Físicos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Peso en el negocio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93D9"/>
                    </a:solidFill>
                  </a:tcPr>
                </a:tc>
                <a:extLst>
                  <a:ext uri="{0D108BD9-81ED-4DB2-BD59-A6C34878D82A}">
                    <a16:rowId xmlns:a16="http://schemas.microsoft.com/office/drawing/2014/main" val="2712112187"/>
                  </a:ext>
                </a:extLst>
              </a:tr>
              <a:tr h="105997">
                <a:tc>
                  <a:txBody>
                    <a:bodyPr/>
                    <a:lstStyle/>
                    <a:p>
                      <a:pPr algn="ctr" rtl="0" fontAlgn="ctr">
                        <a:buNone/>
                      </a:pPr>
                      <a:r>
                        <a:rPr lang="es-PE" sz="700" b="0" i="0" u="none" strike="noStrike">
                          <a:solidFill>
                            <a:srgbClr val="1E2E6E"/>
                          </a:solidFill>
                          <a:effectLst/>
                          <a:latin typeface="Trebuchet MS" panose="020B0603020202020204" pitchFamily="34" charset="0"/>
                        </a:rPr>
                        <a:t>Ferreycorp</a:t>
                      </a: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19</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39.00%</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412724517"/>
                  </a:ext>
                </a:extLst>
              </a:tr>
              <a:tr h="151641">
                <a:tc>
                  <a:txBody>
                    <a:bodyPr/>
                    <a:lstStyle/>
                    <a:p>
                      <a:pPr algn="ctr" rtl="0" fontAlgn="ctr">
                        <a:buNone/>
                      </a:pPr>
                      <a:r>
                        <a:rPr lang="es-PE" sz="700" b="0" i="0" u="none" strike="noStrike">
                          <a:solidFill>
                            <a:srgbClr val="1E2E6E"/>
                          </a:solidFill>
                          <a:effectLst/>
                          <a:latin typeface="Trebuchet MS" panose="020B0603020202020204" pitchFamily="34" charset="0"/>
                        </a:rPr>
                        <a:t>Engie</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5</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35.10%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721124800"/>
                  </a:ext>
                </a:extLst>
              </a:tr>
              <a:tr h="126367">
                <a:tc>
                  <a:txBody>
                    <a:bodyPr/>
                    <a:lstStyle/>
                    <a:p>
                      <a:pPr algn="ctr" rtl="0" fontAlgn="ctr">
                        <a:buNone/>
                      </a:pPr>
                      <a:r>
                        <a:rPr lang="es-PE" sz="700" b="0" i="0" u="none" strike="noStrike">
                          <a:solidFill>
                            <a:srgbClr val="1E2E6E"/>
                          </a:solidFill>
                          <a:effectLst/>
                          <a:latin typeface="Trebuchet MS" panose="020B0603020202020204" pitchFamily="34" charset="0"/>
                        </a:rPr>
                        <a:t>Orygen</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3</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28.90%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494711031"/>
                  </a:ext>
                </a:extLst>
              </a:tr>
              <a:tr h="126367">
                <a:tc>
                  <a:txBody>
                    <a:bodyPr/>
                    <a:lstStyle/>
                    <a:p>
                      <a:pPr algn="ctr" rtl="0" fontAlgn="ctr">
                        <a:buNone/>
                      </a:pPr>
                      <a:r>
                        <a:rPr lang="es-PE" sz="700" b="0" i="0" u="none" strike="noStrike">
                          <a:solidFill>
                            <a:srgbClr val="1E2E6E"/>
                          </a:solidFill>
                          <a:effectLst/>
                          <a:latin typeface="Trebuchet MS" panose="020B0603020202020204" pitchFamily="34" charset="0"/>
                        </a:rPr>
                        <a:t>Minsur</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2</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23.20%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222509440"/>
                  </a:ext>
                </a:extLst>
              </a:tr>
              <a:tr h="126367">
                <a:tc>
                  <a:txBody>
                    <a:bodyPr/>
                    <a:lstStyle/>
                    <a:p>
                      <a:pPr algn="ctr" rtl="0" fontAlgn="ctr">
                        <a:buNone/>
                      </a:pPr>
                      <a:r>
                        <a:rPr lang="es-PE" sz="700" b="0" i="0" u="none" strike="noStrike">
                          <a:solidFill>
                            <a:srgbClr val="1E2E6E"/>
                          </a:solidFill>
                          <a:effectLst/>
                          <a:latin typeface="Trebuchet MS" panose="020B0603020202020204" pitchFamily="34" charset="0"/>
                        </a:rPr>
                        <a:t>Aenza</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15</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15.30%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794643204"/>
                  </a:ext>
                </a:extLst>
              </a:tr>
              <a:tr h="126367">
                <a:tc>
                  <a:txBody>
                    <a:bodyPr/>
                    <a:lstStyle/>
                    <a:p>
                      <a:pPr algn="ctr" rtl="0" fontAlgn="ctr">
                        <a:buNone/>
                      </a:pPr>
                      <a:r>
                        <a:rPr lang="es-PE" sz="700" b="0" i="0" u="none" strike="noStrike">
                          <a:solidFill>
                            <a:srgbClr val="1E2E6E"/>
                          </a:solidFill>
                          <a:effectLst/>
                          <a:latin typeface="Trebuchet MS" panose="020B0603020202020204" pitchFamily="34" charset="0"/>
                        </a:rPr>
                        <a:t>Inretail</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522</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12.10%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575785490"/>
                  </a:ext>
                </a:extLst>
              </a:tr>
              <a:tr h="151641">
                <a:tc>
                  <a:txBody>
                    <a:bodyPr/>
                    <a:lstStyle/>
                    <a:p>
                      <a:pPr algn="ctr" rtl="0" fontAlgn="ctr">
                        <a:buNone/>
                      </a:pPr>
                      <a:r>
                        <a:rPr lang="es-PE" sz="700" b="0" i="0" u="none" strike="noStrike">
                          <a:solidFill>
                            <a:srgbClr val="1E2E6E"/>
                          </a:solidFill>
                          <a:effectLst/>
                          <a:latin typeface="Trebuchet MS" panose="020B0603020202020204" pitchFamily="34" charset="0"/>
                        </a:rPr>
                        <a:t>Credicorp</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68</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6.80%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611495894"/>
                  </a:ext>
                </a:extLst>
              </a:tr>
              <a:tr h="126367">
                <a:tc>
                  <a:txBody>
                    <a:bodyPr/>
                    <a:lstStyle/>
                    <a:p>
                      <a:pPr algn="ctr" rtl="0" fontAlgn="ctr">
                        <a:buNone/>
                      </a:pPr>
                      <a:r>
                        <a:rPr lang="es-PE" sz="700" b="0" i="0" u="none" strike="noStrike">
                          <a:solidFill>
                            <a:srgbClr val="1E2E6E"/>
                          </a:solidFill>
                          <a:effectLst/>
                          <a:latin typeface="Trebuchet MS" panose="020B0603020202020204" pitchFamily="34" charset="0"/>
                        </a:rPr>
                        <a:t>BBVA</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23</a:t>
                      </a:r>
                    </a:p>
                  </a:txBody>
                  <a:tcPr marL="9525" marR="9525" marT="9525" marB="0" anchor="ctr">
                    <a:lnL>
                      <a:noFill/>
                    </a:lnL>
                    <a:lnR>
                      <a:noFill/>
                    </a:lnR>
                    <a:lnT>
                      <a:noFill/>
                    </a:lnT>
                    <a:lnB>
                      <a:noFill/>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6.00%</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142526891"/>
                  </a:ext>
                </a:extLst>
              </a:tr>
              <a:tr h="0">
                <a:tc>
                  <a:txBody>
                    <a:bodyPr/>
                    <a:lstStyle/>
                    <a:p>
                      <a:pPr algn="ctr" rtl="0" fontAlgn="ctr">
                        <a:buNone/>
                      </a:pPr>
                      <a:r>
                        <a:rPr lang="es-PE" sz="700" b="0" i="0" u="none" strike="noStrike">
                          <a:solidFill>
                            <a:srgbClr val="1E2E6E"/>
                          </a:solidFill>
                          <a:effectLst/>
                          <a:latin typeface="Trebuchet MS" panose="020B0603020202020204" pitchFamily="34" charset="0"/>
                        </a:rPr>
                        <a:t>Auna</a:t>
                      </a:r>
                    </a:p>
                  </a:txBody>
                  <a:tcPr marL="9525" marR="9525" marT="9525" marB="0" anchor="ctr">
                    <a:lnL w="12700" cap="flat" cmpd="sng" algn="ctr">
                      <a:solidFill>
                        <a:srgbClr val="000000"/>
                      </a:solidFill>
                      <a:prstDash val="solid"/>
                      <a:round/>
                      <a:headEnd type="none" w="med" len="med"/>
                      <a:tailEnd type="none" w="med" len="med"/>
                    </a:lnL>
                    <a:lnR>
                      <a:noFill/>
                    </a:lnR>
                    <a:lnT>
                      <a:noFill/>
                    </a:lnT>
                    <a:lnB w="12700" cap="flat" cmpd="sng" algn="ctr">
                      <a:noFill/>
                      <a:prstDash val="solid"/>
                      <a:round/>
                      <a:headEnd type="none" w="med" len="med"/>
                      <a:tailEnd type="none" w="med" len="med"/>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1</a:t>
                      </a:r>
                    </a:p>
                  </a:txBody>
                  <a:tcPr marL="9525" marR="9525" marT="9525" marB="0" anchor="ctr">
                    <a:lnL>
                      <a:noFill/>
                    </a:lnL>
                    <a:lnR>
                      <a:noFill/>
                    </a:lnR>
                    <a:lnT>
                      <a:noFill/>
                    </a:lnT>
                    <a:lnB w="12700" cap="flat" cmpd="sng" algn="ctr">
                      <a:noFill/>
                      <a:prstDash val="solid"/>
                      <a:round/>
                      <a:headEnd type="none" w="med" len="med"/>
                      <a:tailEnd type="none" w="med" len="med"/>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5.20%</a:t>
                      </a:r>
                    </a:p>
                  </a:txBody>
                  <a:tcPr marL="9525" marR="9525" marT="9525" marB="0" anchor="ctr">
                    <a:lnL>
                      <a:noFill/>
                    </a:lnL>
                    <a:lnR w="12700" cap="flat" cmpd="sng" algn="ctr">
                      <a:solidFill>
                        <a:srgbClr val="000000"/>
                      </a:solidFill>
                      <a:prstDash val="solid"/>
                      <a:round/>
                      <a:headEnd type="none" w="med" len="med"/>
                      <a:tailEnd type="none" w="med" len="med"/>
                    </a:lnR>
                    <a:lnT>
                      <a:noFill/>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2866608933"/>
                  </a:ext>
                </a:extLst>
              </a:tr>
              <a:tr h="0">
                <a:tc>
                  <a:txBody>
                    <a:bodyPr/>
                    <a:lstStyle/>
                    <a:p>
                      <a:pPr algn="ctr" rtl="0" fontAlgn="ctr">
                        <a:buNone/>
                      </a:pPr>
                      <a:r>
                        <a:rPr lang="es-PE" sz="700" b="0" i="0" u="none" strike="noStrike">
                          <a:solidFill>
                            <a:srgbClr val="1E2E6E"/>
                          </a:solidFill>
                          <a:effectLst/>
                          <a:latin typeface="Trebuchet MS" panose="020B0603020202020204" pitchFamily="34" charset="0"/>
                        </a:rPr>
                        <a:t>Alicorp</a:t>
                      </a:r>
                    </a:p>
                  </a:txBody>
                  <a:tcPr marL="9525" marR="9525" marT="9525" marB="0" anchor="ctr">
                    <a:lnL w="12700" cap="flat" cmpd="sng" algn="ctr">
                      <a:solidFill>
                        <a:srgbClr val="000000"/>
                      </a:solidFill>
                      <a:prstDash val="solid"/>
                      <a:round/>
                      <a:headEnd type="none" w="med" len="med"/>
                      <a:tailEnd type="none" w="med" len="med"/>
                    </a:lnL>
                    <a:lnR>
                      <a:noFill/>
                    </a:lnR>
                    <a:lnT>
                      <a:noFill/>
                    </a:lnT>
                    <a:lnB w="12700" cap="flat" cmpd="sng" algn="ctr">
                      <a:noFill/>
                      <a:prstDash val="solid"/>
                      <a:round/>
                      <a:headEnd type="none" w="med" len="med"/>
                      <a:tailEnd type="none" w="med" len="med"/>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1</a:t>
                      </a:r>
                    </a:p>
                  </a:txBody>
                  <a:tcPr marL="9525" marR="9525" marT="9525" marB="0" anchor="ctr">
                    <a:lnL>
                      <a:noFill/>
                    </a:lnL>
                    <a:lnR>
                      <a:noFill/>
                    </a:lnR>
                    <a:lnT>
                      <a:noFill/>
                    </a:lnT>
                    <a:lnB w="12700" cap="flat" cmpd="sng" algn="ctr">
                      <a:noFill/>
                      <a:prstDash val="solid"/>
                      <a:round/>
                      <a:headEnd type="none" w="med" len="med"/>
                      <a:tailEnd type="none" w="med" len="med"/>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4.80%</a:t>
                      </a:r>
                    </a:p>
                  </a:txBody>
                  <a:tcPr marL="9525" marR="9525" marT="9525" marB="0" anchor="ctr">
                    <a:lnL>
                      <a:noFill/>
                    </a:lnL>
                    <a:lnR w="12700" cap="flat" cmpd="sng" algn="ctr">
                      <a:solidFill>
                        <a:srgbClr val="000000"/>
                      </a:solidFill>
                      <a:prstDash val="solid"/>
                      <a:round/>
                      <a:headEnd type="none" w="med" len="med"/>
                      <a:tailEnd type="none" w="med" len="med"/>
                    </a:lnR>
                    <a:lnT>
                      <a:noFill/>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774632134"/>
                  </a:ext>
                </a:extLst>
              </a:tr>
              <a:tr h="0">
                <a:tc>
                  <a:txBody>
                    <a:bodyPr/>
                    <a:lstStyle/>
                    <a:p>
                      <a:pPr algn="ctr" rtl="0" fontAlgn="ctr">
                        <a:buNone/>
                      </a:pPr>
                      <a:r>
                        <a:rPr lang="es-PE" sz="700" b="0" i="0" u="none" strike="noStrike">
                          <a:solidFill>
                            <a:srgbClr val="1E2E6E"/>
                          </a:solidFill>
                          <a:effectLst/>
                          <a:latin typeface="Trebuchet MS" panose="020B0603020202020204" pitchFamily="34" charset="0"/>
                        </a:rPr>
                        <a:t>IFS</a:t>
                      </a:r>
                    </a:p>
                  </a:txBody>
                  <a:tcPr marL="9525" marR="9525" marT="9525" marB="0" anchor="ctr">
                    <a:lnL w="12700" cap="flat" cmpd="sng" algn="ctr">
                      <a:solidFill>
                        <a:srgbClr val="000000"/>
                      </a:solidFill>
                      <a:prstDash val="solid"/>
                      <a:round/>
                      <a:headEnd type="none" w="med" len="med"/>
                      <a:tailEnd type="none" w="med" len="med"/>
                    </a:lnL>
                    <a:lnR>
                      <a:noFill/>
                    </a:lnR>
                    <a:lnT>
                      <a:noFill/>
                    </a:lnT>
                    <a:lnB w="12700" cap="flat" cmpd="sng" algn="ctr">
                      <a:noFill/>
                      <a:prstDash val="solid"/>
                      <a:round/>
                      <a:headEnd type="none" w="med" len="med"/>
                      <a:tailEnd type="none" w="med" len="med"/>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16</a:t>
                      </a:r>
                    </a:p>
                  </a:txBody>
                  <a:tcPr marL="9525" marR="9525" marT="9525" marB="0" anchor="ctr">
                    <a:lnL>
                      <a:noFill/>
                    </a:lnL>
                    <a:lnR>
                      <a:noFill/>
                    </a:lnR>
                    <a:lnT>
                      <a:noFill/>
                    </a:lnT>
                    <a:lnB w="12700" cap="flat" cmpd="sng" algn="ctr">
                      <a:noFill/>
                      <a:prstDash val="solid"/>
                      <a:round/>
                      <a:headEnd type="none" w="med" len="med"/>
                      <a:tailEnd type="none" w="med" len="med"/>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4.70%</a:t>
                      </a:r>
                    </a:p>
                  </a:txBody>
                  <a:tcPr marL="9525" marR="9525" marT="9525" marB="0" anchor="ctr">
                    <a:lnL>
                      <a:noFill/>
                    </a:lnL>
                    <a:lnR w="12700" cap="flat" cmpd="sng" algn="ctr">
                      <a:solidFill>
                        <a:srgbClr val="000000"/>
                      </a:solidFill>
                      <a:prstDash val="solid"/>
                      <a:round/>
                      <a:headEnd type="none" w="med" len="med"/>
                      <a:tailEnd type="none" w="med" len="med"/>
                    </a:lnR>
                    <a:lnT>
                      <a:noFill/>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3198410843"/>
                  </a:ext>
                </a:extLst>
              </a:tr>
              <a:tr h="0">
                <a:tc>
                  <a:txBody>
                    <a:bodyPr/>
                    <a:lstStyle/>
                    <a:p>
                      <a:pPr algn="ctr" rtl="0" fontAlgn="ctr">
                        <a:buNone/>
                      </a:pPr>
                      <a:r>
                        <a:rPr lang="es-PE" sz="700" b="0" i="0" u="none" strike="noStrike">
                          <a:solidFill>
                            <a:srgbClr val="1E2E6E"/>
                          </a:solidFill>
                          <a:effectLst/>
                          <a:latin typeface="Trebuchet MS" panose="020B0603020202020204" pitchFamily="34" charset="0"/>
                        </a:rPr>
                        <a:t>Buenaventura</a:t>
                      </a:r>
                    </a:p>
                  </a:txBody>
                  <a:tcPr marL="9525" marR="9525" marT="9525" marB="0" anchor="ctr">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s-PE" sz="700" b="0" i="0" u="none" strike="noStrike">
                          <a:solidFill>
                            <a:srgbClr val="1E2E6E"/>
                          </a:solidFill>
                          <a:effectLst/>
                          <a:latin typeface="Trebuchet MS" panose="020B0603020202020204" pitchFamily="34" charset="0"/>
                        </a:rPr>
                        <a:t>4</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4.60%</a:t>
                      </a:r>
                    </a:p>
                  </a:txBody>
                  <a:tcPr marL="9525" marR="9525" marT="9525" marB="0" anchor="ctr">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72516448"/>
                  </a:ext>
                </a:extLst>
              </a:tr>
            </a:tbl>
          </a:graphicData>
        </a:graphic>
      </p:graphicFrame>
      <p:sp>
        <p:nvSpPr>
          <p:cNvPr id="17" name="Rectangle 1">
            <a:extLst>
              <a:ext uri="{FF2B5EF4-FFF2-40B4-BE49-F238E27FC236}">
                <a16:creationId xmlns:a16="http://schemas.microsoft.com/office/drawing/2014/main" id="{5C84D5E9-2835-7CFD-4AC1-B0CB0FD4A5F4}"/>
              </a:ext>
            </a:extLst>
          </p:cNvPr>
          <p:cNvSpPr/>
          <p:nvPr/>
        </p:nvSpPr>
        <p:spPr>
          <a:xfrm>
            <a:off x="623392" y="6525344"/>
            <a:ext cx="9087097" cy="1767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800" i="1" dirty="0">
                <a:solidFill>
                  <a:srgbClr val="002060"/>
                </a:solidFill>
                <a:latin typeface="Trebuchet MS" panose="020B0603020202020204" pitchFamily="34" charset="0"/>
              </a:rPr>
              <a:t>* Pendiente: Respuestas de empresas para definir </a:t>
            </a:r>
            <a:r>
              <a:rPr lang="es-PE" sz="800" i="1" dirty="0" err="1">
                <a:solidFill>
                  <a:srgbClr val="002060"/>
                </a:solidFill>
                <a:latin typeface="Trebuchet MS" panose="020B0603020202020204" pitchFamily="34" charset="0"/>
              </a:rPr>
              <a:t>call</a:t>
            </a:r>
            <a:r>
              <a:rPr lang="es-PE" sz="800" i="1" dirty="0">
                <a:solidFill>
                  <a:srgbClr val="002060"/>
                </a:solidFill>
                <a:latin typeface="Trebuchet MS" panose="020B0603020202020204" pitchFamily="34" charset="0"/>
              </a:rPr>
              <a:t>: Auna, Buenaventura, Engie, Hochschild, </a:t>
            </a:r>
            <a:r>
              <a:rPr lang="es-PE" sz="800" i="1" dirty="0" err="1">
                <a:solidFill>
                  <a:srgbClr val="002060"/>
                </a:solidFill>
                <a:latin typeface="Trebuchet MS" panose="020B0603020202020204" pitchFamily="34" charset="0"/>
              </a:rPr>
              <a:t>Pluz</a:t>
            </a:r>
            <a:r>
              <a:rPr lang="es-PE" sz="800" i="1" dirty="0">
                <a:solidFill>
                  <a:srgbClr val="002060"/>
                </a:solidFill>
                <a:latin typeface="Trebuchet MS" panose="020B0603020202020204" pitchFamily="34" charset="0"/>
              </a:rPr>
              <a:t>, y </a:t>
            </a:r>
            <a:r>
              <a:rPr lang="es-PE" sz="800" i="1" dirty="0" err="1">
                <a:solidFill>
                  <a:srgbClr val="002060"/>
                </a:solidFill>
                <a:latin typeface="Trebuchet MS" panose="020B0603020202020204" pitchFamily="34" charset="0"/>
              </a:rPr>
              <a:t>Unacem</a:t>
            </a:r>
            <a:r>
              <a:rPr lang="es-PE" sz="800" i="1" dirty="0">
                <a:solidFill>
                  <a:srgbClr val="002060"/>
                </a:solidFill>
                <a:latin typeface="Trebuchet MS" panose="020B0603020202020204" pitchFamily="34" charset="0"/>
              </a:rPr>
              <a:t>. Otras empresas fuera de </a:t>
            </a:r>
            <a:r>
              <a:rPr lang="es-PE" sz="800" i="1" dirty="0" err="1">
                <a:solidFill>
                  <a:srgbClr val="002060"/>
                </a:solidFill>
                <a:latin typeface="Trebuchet MS" panose="020B0603020202020204" pitchFamily="34" charset="0"/>
              </a:rPr>
              <a:t>scope</a:t>
            </a:r>
            <a:r>
              <a:rPr lang="es-PE" sz="800" i="1" dirty="0">
                <a:solidFill>
                  <a:srgbClr val="002060"/>
                </a:solidFill>
                <a:latin typeface="Trebuchet MS" panose="020B0603020202020204" pitchFamily="34" charset="0"/>
              </a:rPr>
              <a:t>: </a:t>
            </a:r>
            <a:r>
              <a:rPr lang="es-PE" sz="800" i="1" dirty="0" err="1">
                <a:solidFill>
                  <a:srgbClr val="002060"/>
                </a:solidFill>
                <a:latin typeface="Trebuchet MS" panose="020B0603020202020204" pitchFamily="34" charset="0"/>
              </a:rPr>
              <a:t>Aenza</a:t>
            </a:r>
            <a:r>
              <a:rPr lang="es-PE" sz="800" i="1" dirty="0">
                <a:solidFill>
                  <a:srgbClr val="002060"/>
                </a:solidFill>
                <a:latin typeface="Trebuchet MS" panose="020B0603020202020204" pitchFamily="34" charset="0"/>
              </a:rPr>
              <a:t>, Cerro Verde, </a:t>
            </a:r>
            <a:r>
              <a:rPr lang="es-PE" sz="800" i="1" dirty="0" err="1">
                <a:solidFill>
                  <a:srgbClr val="002060"/>
                </a:solidFill>
                <a:latin typeface="Trebuchet MS" panose="020B0603020202020204" pitchFamily="34" charset="0"/>
              </a:rPr>
              <a:t>Orygen</a:t>
            </a:r>
            <a:r>
              <a:rPr lang="es-PE" sz="800" i="1" dirty="0">
                <a:solidFill>
                  <a:srgbClr val="002060"/>
                </a:solidFill>
                <a:latin typeface="Trebuchet MS" panose="020B0603020202020204" pitchFamily="34" charset="0"/>
              </a:rPr>
              <a:t>, y Pacasmayo. </a:t>
            </a:r>
          </a:p>
        </p:txBody>
      </p:sp>
      <p:sp>
        <p:nvSpPr>
          <p:cNvPr id="19" name="Rectangle 8">
            <a:extLst>
              <a:ext uri="{FF2B5EF4-FFF2-40B4-BE49-F238E27FC236}">
                <a16:creationId xmlns:a16="http://schemas.microsoft.com/office/drawing/2014/main" id="{0662749B-F20B-6711-4859-A911A428CD87}"/>
              </a:ext>
            </a:extLst>
          </p:cNvPr>
          <p:cNvSpPr/>
          <p:nvPr/>
        </p:nvSpPr>
        <p:spPr>
          <a:xfrm>
            <a:off x="839416" y="803007"/>
            <a:ext cx="8892480" cy="46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s-PE" sz="1000" dirty="0">
              <a:solidFill>
                <a:srgbClr val="1F497D"/>
              </a:solidFill>
              <a:latin typeface="Trebuchet MS" panose="020B0603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CFC817F4-CB01-077F-7388-F62C5B19F857}"/>
              </a:ext>
            </a:extLst>
          </p:cNvPr>
          <p:cNvGraphicFramePr>
            <a:graphicFrameLocks noGrp="1"/>
          </p:cNvGraphicFramePr>
          <p:nvPr/>
        </p:nvGraphicFramePr>
        <p:xfrm>
          <a:off x="5811140" y="1556792"/>
          <a:ext cx="6123183" cy="4827377"/>
        </p:xfrm>
        <a:graphic>
          <a:graphicData uri="http://schemas.openxmlformats.org/drawingml/2006/table">
            <a:tbl>
              <a:tblPr/>
              <a:tblGrid>
                <a:gridCol w="589949">
                  <a:extLst>
                    <a:ext uri="{9D8B030D-6E8A-4147-A177-3AD203B41FA5}">
                      <a16:colId xmlns:a16="http://schemas.microsoft.com/office/drawing/2014/main" val="1753510475"/>
                    </a:ext>
                  </a:extLst>
                </a:gridCol>
                <a:gridCol w="776767">
                  <a:extLst>
                    <a:ext uri="{9D8B030D-6E8A-4147-A177-3AD203B41FA5}">
                      <a16:colId xmlns:a16="http://schemas.microsoft.com/office/drawing/2014/main" val="3602052947"/>
                    </a:ext>
                  </a:extLst>
                </a:gridCol>
                <a:gridCol w="1585489">
                  <a:extLst>
                    <a:ext uri="{9D8B030D-6E8A-4147-A177-3AD203B41FA5}">
                      <a16:colId xmlns:a16="http://schemas.microsoft.com/office/drawing/2014/main" val="373190929"/>
                    </a:ext>
                  </a:extLst>
                </a:gridCol>
                <a:gridCol w="1585489">
                  <a:extLst>
                    <a:ext uri="{9D8B030D-6E8A-4147-A177-3AD203B41FA5}">
                      <a16:colId xmlns:a16="http://schemas.microsoft.com/office/drawing/2014/main" val="2117133738"/>
                    </a:ext>
                  </a:extLst>
                </a:gridCol>
                <a:gridCol w="1585489">
                  <a:extLst>
                    <a:ext uri="{9D8B030D-6E8A-4147-A177-3AD203B41FA5}">
                      <a16:colId xmlns:a16="http://schemas.microsoft.com/office/drawing/2014/main" val="1877628059"/>
                    </a:ext>
                  </a:extLst>
                </a:gridCol>
              </a:tblGrid>
              <a:tr h="238194">
                <a:tc gridSpan="5">
                  <a:txBody>
                    <a:bodyPr/>
                    <a:lstStyle/>
                    <a:p>
                      <a:pPr algn="ctr" rtl="0" fontAlgn="ctr">
                        <a:buNone/>
                      </a:pPr>
                      <a:r>
                        <a:rPr lang="es-PE" sz="800" b="1" i="0" u="none" strike="noStrike" dirty="0">
                          <a:solidFill>
                            <a:srgbClr val="FFFFFF"/>
                          </a:solidFill>
                          <a:effectLst/>
                          <a:latin typeface="Trebuchet MS" panose="020B0603020202020204" pitchFamily="34" charset="0"/>
                        </a:rPr>
                        <a:t>Seguimiento con Empresas* – Impacto FEN</a:t>
                      </a:r>
                    </a:p>
                    <a:p>
                      <a:pPr algn="ctr" rtl="0" fontAlgn="ctr">
                        <a:buNone/>
                      </a:pPr>
                      <a:endParaRPr lang="es-PE" sz="800" b="1" i="0" u="none" strike="noStrike" dirty="0">
                        <a:solidFill>
                          <a:srgbClr val="FFFFFF"/>
                        </a:solidFill>
                        <a:effectLst/>
                        <a:latin typeface="Trebuchet MS" panose="020B0603020202020204" pitchFamily="34" charset="0"/>
                      </a:endParaRPr>
                    </a:p>
                  </a:txBody>
                  <a:tcPr marL="9525" marR="9525" marT="9525" marB="0" anchor="ctr">
                    <a:lnL w="12700" cap="flat" cmpd="sng" algn="ctr">
                      <a:solidFill>
                        <a:srgbClr val="1E2E6E"/>
                      </a:solidFill>
                      <a:prstDash val="solid"/>
                      <a:round/>
                      <a:headEnd type="none" w="med" len="med"/>
                      <a:tailEnd type="none" w="med" len="med"/>
                    </a:lnL>
                    <a:lnR w="12700" cap="flat" cmpd="sng" algn="ctr">
                      <a:solidFill>
                        <a:srgbClr val="1E2E6E"/>
                      </a:solidFill>
                      <a:prstDash val="solid"/>
                      <a:round/>
                      <a:headEnd type="none" w="med" len="med"/>
                      <a:tailEnd type="none" w="med" len="med"/>
                    </a:lnR>
                    <a:lnT w="12700" cap="flat" cmpd="sng" algn="ctr">
                      <a:solidFill>
                        <a:srgbClr val="1E2E6E"/>
                      </a:solidFill>
                      <a:prstDash val="solid"/>
                      <a:round/>
                      <a:headEnd type="none" w="med" len="med"/>
                      <a:tailEnd type="none" w="med" len="med"/>
                    </a:lnT>
                    <a:lnB w="12700" cap="flat" cmpd="sng" algn="ctr">
                      <a:solidFill>
                        <a:srgbClr val="1E2E6E"/>
                      </a:solidFill>
                      <a:prstDash val="solid"/>
                      <a:round/>
                      <a:headEnd type="none" w="med" len="med"/>
                      <a:tailEnd type="none" w="med" len="med"/>
                    </a:lnB>
                    <a:solidFill>
                      <a:srgbClr val="4D93D9"/>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481936220"/>
                  </a:ext>
                </a:extLst>
              </a:tr>
              <a:tr h="258907">
                <a:tc>
                  <a:txBody>
                    <a:bodyPr/>
                    <a:lstStyle/>
                    <a:p>
                      <a:pPr algn="ctr" rtl="0" fontAlgn="ctr">
                        <a:buNone/>
                      </a:pPr>
                      <a:r>
                        <a:rPr lang="es-PE" sz="700" b="1" i="0" u="none" strike="noStrike">
                          <a:solidFill>
                            <a:srgbClr val="FFFFFF"/>
                          </a:solidFill>
                          <a:effectLst/>
                          <a:latin typeface="Trebuchet MS" panose="020B0603020202020204" pitchFamily="34" charset="0"/>
                        </a:rPr>
                        <a:t>Empresa</a:t>
                      </a:r>
                    </a:p>
                  </a:txBody>
                  <a:tcPr marL="9525" marR="9525" marT="9525" marB="0" anchor="ctr">
                    <a:lnL w="12700" cap="flat" cmpd="sng" algn="ctr">
                      <a:solidFill>
                        <a:srgbClr val="1E2E6E"/>
                      </a:solidFill>
                      <a:prstDash val="solid"/>
                      <a:round/>
                      <a:headEnd type="none" w="med" len="med"/>
                      <a:tailEnd type="none" w="med" len="med"/>
                    </a:lnL>
                    <a:lnR w="12700" cap="flat" cmpd="sng" algn="ctr">
                      <a:solidFill>
                        <a:srgbClr val="1E2E6E"/>
                      </a:solidFill>
                      <a:prstDash val="solid"/>
                      <a:round/>
                      <a:headEnd type="none" w="med" len="med"/>
                      <a:tailEnd type="none" w="med" len="med"/>
                    </a:lnR>
                    <a:lnT w="12700" cap="flat" cmpd="sng" algn="ctr">
                      <a:solidFill>
                        <a:srgbClr val="1E2E6E"/>
                      </a:solidFill>
                      <a:prstDash val="solid"/>
                      <a:round/>
                      <a:headEnd type="none" w="med" len="med"/>
                      <a:tailEnd type="none" w="med" len="med"/>
                    </a:lnT>
                    <a:lnB w="12700" cap="flat" cmpd="sng" algn="ctr">
                      <a:solidFill>
                        <a:srgbClr val="1E2E6E"/>
                      </a:solidFill>
                      <a:prstDash val="solid"/>
                      <a:round/>
                      <a:headEnd type="none" w="med" len="med"/>
                      <a:tailEnd type="none" w="med" len="med"/>
                    </a:lnB>
                    <a:solidFill>
                      <a:srgbClr val="4D93D9"/>
                    </a:solidFill>
                  </a:tcPr>
                </a:tc>
                <a:tc>
                  <a:txBody>
                    <a:bodyPr/>
                    <a:lstStyle/>
                    <a:p>
                      <a:pPr algn="ctr" rtl="0" fontAlgn="ctr">
                        <a:buNone/>
                      </a:pPr>
                      <a:r>
                        <a:rPr lang="es-PE" sz="700" b="1" i="0" u="none" strike="noStrike" dirty="0" err="1">
                          <a:solidFill>
                            <a:srgbClr val="FFC000"/>
                          </a:solidFill>
                          <a:effectLst/>
                          <a:latin typeface="Trebuchet MS" panose="020B0603020202020204" pitchFamily="34" charset="0"/>
                        </a:rPr>
                        <a:t>Guidance</a:t>
                      </a:r>
                      <a:r>
                        <a:rPr lang="es-PE" sz="700" b="1" i="0" u="none" strike="noStrike" dirty="0">
                          <a:solidFill>
                            <a:srgbClr val="FFC000"/>
                          </a:solidFill>
                          <a:effectLst/>
                          <a:latin typeface="Trebuchet MS" panose="020B0603020202020204" pitchFamily="34" charset="0"/>
                        </a:rPr>
                        <a:t> 2026</a:t>
                      </a:r>
                    </a:p>
                  </a:txBody>
                  <a:tcPr marL="9525" marR="9525" marT="9525" marB="0" anchor="ctr">
                    <a:lnL w="12700" cap="flat" cmpd="sng" algn="ctr">
                      <a:solidFill>
                        <a:srgbClr val="1E2E6E"/>
                      </a:solidFill>
                      <a:prstDash val="solid"/>
                      <a:round/>
                      <a:headEnd type="none" w="med" len="med"/>
                      <a:tailEnd type="none" w="med" len="med"/>
                    </a:lnL>
                    <a:lnR w="12700" cap="flat" cmpd="sng" algn="ctr">
                      <a:solidFill>
                        <a:srgbClr val="1E2E6E"/>
                      </a:solidFill>
                      <a:prstDash val="solid"/>
                      <a:round/>
                      <a:headEnd type="none" w="med" len="med"/>
                      <a:tailEnd type="none" w="med" len="med"/>
                    </a:lnR>
                    <a:lnT w="12700" cap="flat" cmpd="sng" algn="ctr">
                      <a:solidFill>
                        <a:srgbClr val="1E2E6E"/>
                      </a:solidFill>
                      <a:prstDash val="solid"/>
                      <a:round/>
                      <a:headEnd type="none" w="med" len="med"/>
                      <a:tailEnd type="none" w="med" len="med"/>
                    </a:lnT>
                    <a:lnB w="12700" cap="flat" cmpd="sng" algn="ctr">
                      <a:solidFill>
                        <a:srgbClr val="1E2E6E"/>
                      </a:solidFill>
                      <a:prstDash val="solid"/>
                      <a:round/>
                      <a:headEnd type="none" w="med" len="med"/>
                      <a:tailEnd type="none" w="med" len="med"/>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Infraestructura</a:t>
                      </a:r>
                    </a:p>
                  </a:txBody>
                  <a:tcPr marL="9525" marR="9525" marT="9525" marB="0" anchor="ctr">
                    <a:lnL w="12700" cap="flat" cmpd="sng" algn="ctr">
                      <a:solidFill>
                        <a:srgbClr val="1E2E6E"/>
                      </a:solidFill>
                      <a:prstDash val="solid"/>
                      <a:round/>
                      <a:headEnd type="none" w="med" len="med"/>
                      <a:tailEnd type="none" w="med" len="med"/>
                    </a:lnL>
                    <a:lnR w="12700" cap="flat" cmpd="sng" algn="ctr">
                      <a:solidFill>
                        <a:srgbClr val="1E2E6E"/>
                      </a:solidFill>
                      <a:prstDash val="solid"/>
                      <a:round/>
                      <a:headEnd type="none" w="med" len="med"/>
                      <a:tailEnd type="none" w="med" len="med"/>
                    </a:lnR>
                    <a:lnT w="12700" cap="flat" cmpd="sng" algn="ctr">
                      <a:solidFill>
                        <a:srgbClr val="1E2E6E"/>
                      </a:solidFill>
                      <a:prstDash val="solid"/>
                      <a:round/>
                      <a:headEnd type="none" w="med" len="med"/>
                      <a:tailEnd type="none" w="med" len="med"/>
                    </a:lnT>
                    <a:lnB w="12700" cap="flat" cmpd="sng" algn="ctr">
                      <a:solidFill>
                        <a:srgbClr val="1E2E6E"/>
                      </a:solidFill>
                      <a:prstDash val="solid"/>
                      <a:round/>
                      <a:headEnd type="none" w="med" len="med"/>
                      <a:tailEnd type="none" w="med" len="med"/>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Logística</a:t>
                      </a:r>
                    </a:p>
                  </a:txBody>
                  <a:tcPr marL="9525" marR="9525" marT="9525" marB="0" anchor="ctr">
                    <a:lnL w="12700" cap="flat" cmpd="sng" algn="ctr">
                      <a:solidFill>
                        <a:srgbClr val="1E2E6E"/>
                      </a:solidFill>
                      <a:prstDash val="solid"/>
                      <a:round/>
                      <a:headEnd type="none" w="med" len="med"/>
                      <a:tailEnd type="none" w="med" len="med"/>
                    </a:lnL>
                    <a:lnR w="12700" cap="flat" cmpd="sng" algn="ctr">
                      <a:solidFill>
                        <a:srgbClr val="1E2E6E"/>
                      </a:solidFill>
                      <a:prstDash val="solid"/>
                      <a:round/>
                      <a:headEnd type="none" w="med" len="med"/>
                      <a:tailEnd type="none" w="med" len="med"/>
                    </a:lnR>
                    <a:lnT w="12700" cap="flat" cmpd="sng" algn="ctr">
                      <a:solidFill>
                        <a:srgbClr val="1E2E6E"/>
                      </a:solidFill>
                      <a:prstDash val="solid"/>
                      <a:round/>
                      <a:headEnd type="none" w="med" len="med"/>
                      <a:tailEnd type="none" w="med" len="med"/>
                    </a:lnT>
                    <a:lnB w="12700" cap="flat" cmpd="sng" algn="ctr">
                      <a:solidFill>
                        <a:srgbClr val="1E2E6E"/>
                      </a:solidFill>
                      <a:prstDash val="solid"/>
                      <a:round/>
                      <a:headEnd type="none" w="med" len="med"/>
                      <a:tailEnd type="none" w="med" len="med"/>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Créditos</a:t>
                      </a:r>
                    </a:p>
                  </a:txBody>
                  <a:tcPr marL="9525" marR="9525" marT="9525" marB="0" anchor="ctr">
                    <a:lnL w="12700" cap="flat" cmpd="sng" algn="ctr">
                      <a:solidFill>
                        <a:srgbClr val="1E2E6E"/>
                      </a:solidFill>
                      <a:prstDash val="solid"/>
                      <a:round/>
                      <a:headEnd type="none" w="med" len="med"/>
                      <a:tailEnd type="none" w="med" len="med"/>
                    </a:lnL>
                    <a:lnR w="12700" cap="flat" cmpd="sng" algn="ctr">
                      <a:solidFill>
                        <a:srgbClr val="1E2E6E"/>
                      </a:solidFill>
                      <a:prstDash val="solid"/>
                      <a:round/>
                      <a:headEnd type="none" w="med" len="med"/>
                      <a:tailEnd type="none" w="med" len="med"/>
                    </a:lnR>
                    <a:lnT w="12700" cap="flat" cmpd="sng" algn="ctr">
                      <a:solidFill>
                        <a:srgbClr val="1E2E6E"/>
                      </a:solidFill>
                      <a:prstDash val="solid"/>
                      <a:round/>
                      <a:headEnd type="none" w="med" len="med"/>
                      <a:tailEnd type="none" w="med" len="med"/>
                    </a:lnT>
                    <a:lnB w="12700" cap="flat" cmpd="sng" algn="ctr">
                      <a:solidFill>
                        <a:srgbClr val="1E2E6E"/>
                      </a:solidFill>
                      <a:prstDash val="solid"/>
                      <a:round/>
                      <a:headEnd type="none" w="med" len="med"/>
                      <a:tailEnd type="none" w="med" len="med"/>
                    </a:lnB>
                    <a:solidFill>
                      <a:srgbClr val="4D93D9"/>
                    </a:solidFill>
                  </a:tcPr>
                </a:tc>
                <a:extLst>
                  <a:ext uri="{0D108BD9-81ED-4DB2-BD59-A6C34878D82A}">
                    <a16:rowId xmlns:a16="http://schemas.microsoft.com/office/drawing/2014/main" val="3605482775"/>
                  </a:ext>
                </a:extLst>
              </a:tr>
              <a:tr h="358326">
                <a:tc>
                  <a:txBody>
                    <a:bodyPr/>
                    <a:lstStyle/>
                    <a:p>
                      <a:pPr algn="ctr" rtl="0" fontAlgn="ctr">
                        <a:buNone/>
                      </a:pPr>
                      <a:r>
                        <a:rPr lang="es-PE" sz="700" b="0" i="0" u="none" strike="noStrike">
                          <a:solidFill>
                            <a:srgbClr val="1E2E6E"/>
                          </a:solidFill>
                          <a:effectLst/>
                          <a:latin typeface="Trebuchet MS" panose="020B0603020202020204" pitchFamily="34" charset="0"/>
                        </a:rPr>
                        <a:t>Alicorp</a:t>
                      </a: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1E2E6E"/>
                      </a:solidFill>
                      <a:prstDash val="solid"/>
                      <a:round/>
                      <a:headEnd type="none" w="med" len="med"/>
                      <a:tailEnd type="none" w="med" len="med"/>
                    </a:lnT>
                    <a:lnB>
                      <a:noFill/>
                    </a:lnB>
                    <a:noFill/>
                  </a:tcPr>
                </a:tc>
                <a:tc>
                  <a:txBody>
                    <a:bodyPr/>
                    <a:lstStyle/>
                    <a:p>
                      <a:pPr algn="ctr" rtl="0" fontAlgn="ctr">
                        <a:buNone/>
                      </a:pPr>
                      <a:r>
                        <a:rPr lang="es-PE" sz="700" b="0" i="0" u="none" strike="noStrike" kern="1200" dirty="0">
                          <a:solidFill>
                            <a:srgbClr val="1E2E6E"/>
                          </a:solidFill>
                          <a:effectLst/>
                          <a:latin typeface="Trebuchet MS" panose="020B0603020202020204" pitchFamily="34" charset="0"/>
                          <a:ea typeface="+mn-ea"/>
                          <a:cs typeface="+mn-cs"/>
                        </a:rPr>
                        <a:t>=   (Preparación Alta)</a:t>
                      </a:r>
                    </a:p>
                  </a:txBody>
                  <a:tcPr marL="9525" marR="9525" marT="9525" marB="0" anchor="ctr">
                    <a:lnL>
                      <a:noFill/>
                    </a:lnL>
                    <a:lnR>
                      <a:noFill/>
                    </a:lnR>
                    <a:lnT w="12700" cap="flat" cmpd="sng" algn="ctr">
                      <a:solidFill>
                        <a:srgbClr val="1E2E6E"/>
                      </a:solidFill>
                      <a:prstDash val="solid"/>
                      <a:round/>
                      <a:headEnd type="none" w="med" len="med"/>
                      <a:tailEnd type="none" w="med" len="med"/>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Presupuesto incluye prevención estándar + Sistema de Alertas</a:t>
                      </a:r>
                    </a:p>
                  </a:txBody>
                  <a:tcPr marL="9525" marR="9525" marT="9525" marB="0" anchor="ctr">
                    <a:lnL>
                      <a:noFill/>
                    </a:lnL>
                    <a:lnR>
                      <a:noFill/>
                    </a:lnR>
                    <a:lnT w="12700" cap="flat" cmpd="sng" algn="ctr">
                      <a:solidFill>
                        <a:srgbClr val="1E2E6E"/>
                      </a:solidFill>
                      <a:prstDash val="solid"/>
                      <a:round/>
                      <a:headEnd type="none" w="med" len="med"/>
                      <a:tailEnd type="none" w="med" len="med"/>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Sistema de Alertas para monitoreo de precios de materia prima y prevención logística</a:t>
                      </a:r>
                    </a:p>
                  </a:txBody>
                  <a:tcPr marL="9525" marR="9525" marT="9525" marB="0" anchor="ctr">
                    <a:lnL>
                      <a:noFill/>
                    </a:lnL>
                    <a:lnR>
                      <a:noFill/>
                    </a:lnR>
                    <a:lnT w="12700" cap="flat" cmpd="sng" algn="ctr">
                      <a:solidFill>
                        <a:srgbClr val="1E2E6E"/>
                      </a:solidFill>
                      <a:prstDash val="solid"/>
                      <a:round/>
                      <a:headEnd type="none" w="med" len="med"/>
                      <a:tailEnd type="none" w="med" len="med"/>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1E2E6E"/>
                      </a:solidFill>
                      <a:prstDash val="solid"/>
                      <a:round/>
                      <a:headEnd type="none" w="med" len="med"/>
                      <a:tailEnd type="none" w="med" len="med"/>
                    </a:lnT>
                    <a:lnB>
                      <a:noFill/>
                    </a:lnB>
                    <a:noFill/>
                  </a:tcPr>
                </a:tc>
                <a:extLst>
                  <a:ext uri="{0D108BD9-81ED-4DB2-BD59-A6C34878D82A}">
                    <a16:rowId xmlns:a16="http://schemas.microsoft.com/office/drawing/2014/main" val="720944393"/>
                  </a:ext>
                </a:extLst>
              </a:tr>
              <a:tr h="551643">
                <a:tc>
                  <a:txBody>
                    <a:bodyPr/>
                    <a:lstStyle/>
                    <a:p>
                      <a:pPr algn="ctr" rtl="0" fontAlgn="ctr">
                        <a:buNone/>
                      </a:pPr>
                      <a:r>
                        <a:rPr lang="es-PE" sz="700" b="0" i="0" u="none" strike="noStrike">
                          <a:solidFill>
                            <a:srgbClr val="1E2E6E"/>
                          </a:solidFill>
                          <a:effectLst/>
                          <a:latin typeface="Trebuchet MS" panose="020B0603020202020204" pitchFamily="34" charset="0"/>
                        </a:rPr>
                        <a:t>BBVA</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kern="1200" dirty="0">
                          <a:solidFill>
                            <a:srgbClr val="1E2E6E"/>
                          </a:solidFill>
                          <a:effectLst/>
                          <a:latin typeface="Trebuchet MS" panose="020B0603020202020204" pitchFamily="34" charset="0"/>
                          <a:ea typeface="+mn-ea"/>
                          <a:cs typeface="+mn-cs"/>
                        </a:rPr>
                        <a:t>= (Preparación Media)</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Presupuesto incluye prevención estándar (agencias)</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Digitalización Media de operaciones (57% de clientes son solo digitales)</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Pronto Provisiones. BBVA: Identificados sectores más expuestos: Agro y Pesca (8%). Pymes (16%) con ubicación de operaciones y Cenepred. </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65348062"/>
                  </a:ext>
                </a:extLst>
              </a:tr>
              <a:tr h="590307">
                <a:tc>
                  <a:txBody>
                    <a:bodyPr/>
                    <a:lstStyle/>
                    <a:p>
                      <a:pPr algn="ctr" rtl="0" fontAlgn="ctr">
                        <a:buNone/>
                      </a:pPr>
                      <a:r>
                        <a:rPr lang="es-PE" sz="700" b="0" i="0" u="none" strike="noStrike">
                          <a:solidFill>
                            <a:srgbClr val="1E2E6E"/>
                          </a:solidFill>
                          <a:effectLst/>
                          <a:latin typeface="Trebuchet MS" panose="020B0603020202020204" pitchFamily="34" charset="0"/>
                        </a:rPr>
                        <a:t>Credicorp</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kern="1200" dirty="0">
                          <a:solidFill>
                            <a:srgbClr val="1E2E6E"/>
                          </a:solidFill>
                          <a:effectLst/>
                          <a:latin typeface="Trebuchet MS" panose="020B0603020202020204" pitchFamily="34" charset="0"/>
                          <a:ea typeface="+mn-ea"/>
                          <a:cs typeface="+mn-cs"/>
                        </a:rPr>
                        <a:t>= (Preparación Media)</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Presupuesto incluye prevención estándar (agencias)</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Mayor Digitalización de operaciones</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Pronto Provisiones. BCP: Identificados sectores más expuestos y  lineamientos de gestión. MiBanco: menos expuesto que en 2023. Pacífico: 91% reasegurado.</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2180748"/>
                  </a:ext>
                </a:extLst>
              </a:tr>
              <a:tr h="474316">
                <a:tc>
                  <a:txBody>
                    <a:bodyPr/>
                    <a:lstStyle/>
                    <a:p>
                      <a:pPr algn="ctr" rtl="0" fontAlgn="ctr">
                        <a:buNone/>
                      </a:pPr>
                      <a:r>
                        <a:rPr lang="es-PE" sz="700" b="0" i="0" u="none" strike="noStrike">
                          <a:solidFill>
                            <a:srgbClr val="1E2E6E"/>
                          </a:solidFill>
                          <a:effectLst/>
                          <a:latin typeface="Trebuchet MS" panose="020B0603020202020204" pitchFamily="34" charset="0"/>
                        </a:rPr>
                        <a:t>Ferreycorp</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kern="1200" dirty="0">
                          <a:solidFill>
                            <a:srgbClr val="1E2E6E"/>
                          </a:solidFill>
                          <a:effectLst/>
                          <a:latin typeface="Trebuchet MS" panose="020B0603020202020204" pitchFamily="34" charset="0"/>
                          <a:ea typeface="+mn-ea"/>
                          <a:cs typeface="+mn-cs"/>
                        </a:rPr>
                        <a:t>= o &gt; (Preparación Alta)</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Presupuesto incluye prevención estándar y PCN de operaciones mineras, según el caso + Sistema de Alertas (Rímac)</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Rutas alternas + Planes con Latam + Cabotaje + Aumento de Inventarios</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79753026"/>
                  </a:ext>
                </a:extLst>
              </a:tr>
              <a:tr h="358326">
                <a:tc>
                  <a:txBody>
                    <a:bodyPr/>
                    <a:lstStyle/>
                    <a:p>
                      <a:pPr algn="ctr" rtl="0" fontAlgn="ctr">
                        <a:buNone/>
                      </a:pPr>
                      <a:r>
                        <a:rPr lang="es-PE" sz="700" b="0" i="0" u="none" strike="noStrike">
                          <a:solidFill>
                            <a:srgbClr val="1E2E6E"/>
                          </a:solidFill>
                          <a:effectLst/>
                          <a:latin typeface="Trebuchet MS" panose="020B0603020202020204" pitchFamily="34" charset="0"/>
                        </a:rPr>
                        <a:t>Hudbay</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kern="1200" dirty="0">
                          <a:solidFill>
                            <a:srgbClr val="1E2E6E"/>
                          </a:solidFill>
                          <a:effectLst/>
                          <a:latin typeface="Trebuchet MS" panose="020B0603020202020204" pitchFamily="34" charset="0"/>
                          <a:ea typeface="+mn-ea"/>
                          <a:cs typeface="+mn-cs"/>
                        </a:rPr>
                        <a:t>= (Preparación Alta)</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Presupuesto incluye prevención estándar</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Mayor inventario: 14-21 días de insumos y 30-60 de producto (en offsite)</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868334167"/>
                  </a:ext>
                </a:extLst>
              </a:tr>
              <a:tr h="590307">
                <a:tc>
                  <a:txBody>
                    <a:bodyPr/>
                    <a:lstStyle/>
                    <a:p>
                      <a:pPr algn="ctr" rtl="0" fontAlgn="ctr">
                        <a:buNone/>
                      </a:pPr>
                      <a:r>
                        <a:rPr lang="es-PE" sz="700" b="0" i="0" u="none" strike="noStrike">
                          <a:solidFill>
                            <a:srgbClr val="1E2E6E"/>
                          </a:solidFill>
                          <a:effectLst/>
                          <a:latin typeface="Trebuchet MS" panose="020B0603020202020204" pitchFamily="34" charset="0"/>
                        </a:rPr>
                        <a:t>IFS</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kern="1200" dirty="0">
                          <a:solidFill>
                            <a:srgbClr val="1E2E6E"/>
                          </a:solidFill>
                          <a:effectLst/>
                          <a:latin typeface="Trebuchet MS" panose="020B0603020202020204" pitchFamily="34" charset="0"/>
                          <a:ea typeface="+mn-ea"/>
                          <a:cs typeface="+mn-cs"/>
                        </a:rPr>
                        <a:t>= (Preparación Media)</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Presupuesto incluye prevención estándar (agencias) + Reducción de agencias (300 </a:t>
                      </a:r>
                      <a:r>
                        <a:rPr lang="es-PE" sz="700" b="0" i="0" u="none" strike="noStrike" dirty="0" err="1">
                          <a:solidFill>
                            <a:srgbClr val="1E2E6E"/>
                          </a:solidFill>
                          <a:effectLst/>
                          <a:latin typeface="Trebuchet MS" panose="020B0603020202020204" pitchFamily="34" charset="0"/>
                        </a:rPr>
                        <a:t>precovid</a:t>
                      </a:r>
                      <a:r>
                        <a:rPr lang="es-PE" sz="700" b="0" i="0" u="none" strike="noStrike" dirty="0">
                          <a:solidFill>
                            <a:srgbClr val="1E2E6E"/>
                          </a:solidFill>
                          <a:effectLst/>
                          <a:latin typeface="Trebuchet MS" panose="020B0603020202020204" pitchFamily="34" charset="0"/>
                        </a:rPr>
                        <a:t> a 150 actuales) </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 Mayor Digitalización de operaciones (84% de clientes son solo digitales)</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Pronto Provisiones. Interbank: Indentificados sectores más expuestos (Pesca + Agro: 7%)  y Textil es maduro) y lineamientos de gestión + limitación de préstamos.</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6861320"/>
                  </a:ext>
                </a:extLst>
              </a:tr>
              <a:tr h="344518">
                <a:tc>
                  <a:txBody>
                    <a:bodyPr/>
                    <a:lstStyle/>
                    <a:p>
                      <a:pPr algn="ctr" rtl="0" fontAlgn="ctr">
                        <a:buNone/>
                      </a:pPr>
                      <a:r>
                        <a:rPr lang="es-PE" sz="700" b="0" i="0" u="none" strike="noStrike">
                          <a:solidFill>
                            <a:srgbClr val="1E2E6E"/>
                          </a:solidFill>
                          <a:effectLst/>
                          <a:latin typeface="Trebuchet MS" panose="020B0603020202020204" pitchFamily="34" charset="0"/>
                        </a:rPr>
                        <a:t>Inretail</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kern="1200" dirty="0">
                          <a:solidFill>
                            <a:srgbClr val="1E2E6E"/>
                          </a:solidFill>
                          <a:effectLst/>
                          <a:latin typeface="Trebuchet MS" panose="020B0603020202020204" pitchFamily="34" charset="0"/>
                          <a:ea typeface="+mn-ea"/>
                          <a:cs typeface="+mn-cs"/>
                        </a:rPr>
                        <a:t>= o &gt; (Preparación Media)</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Presupuesto incluye prevención estándar + preparación FEN</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Aumento de Inventarios acotados</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690091893"/>
                  </a:ext>
                </a:extLst>
              </a:tr>
              <a:tr h="358326">
                <a:tc>
                  <a:txBody>
                    <a:bodyPr/>
                    <a:lstStyle/>
                    <a:p>
                      <a:pPr algn="ctr" rtl="0" fontAlgn="ctr">
                        <a:buNone/>
                      </a:pPr>
                      <a:r>
                        <a:rPr lang="es-PE" sz="700" b="0" i="0" u="none" strike="noStrike">
                          <a:solidFill>
                            <a:srgbClr val="1E2E6E"/>
                          </a:solidFill>
                          <a:effectLst/>
                          <a:latin typeface="Trebuchet MS" panose="020B0603020202020204" pitchFamily="34" charset="0"/>
                        </a:rPr>
                        <a:t>Minsur</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kern="1200" dirty="0">
                          <a:solidFill>
                            <a:srgbClr val="1E2E6E"/>
                          </a:solidFill>
                          <a:effectLst/>
                          <a:latin typeface="Trebuchet MS" panose="020B0603020202020204" pitchFamily="34" charset="0"/>
                          <a:ea typeface="+mn-ea"/>
                          <a:cs typeface="+mn-cs"/>
                        </a:rPr>
                        <a:t>= (Preparación Media)</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Presupuesto incluye prevención estándar </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Mayor Inventario: 30 días de autonomía de operaciones y 15/20 de producto</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94673884"/>
                  </a:ext>
                </a:extLst>
              </a:tr>
              <a:tr h="344518">
                <a:tc>
                  <a:txBody>
                    <a:bodyPr/>
                    <a:lstStyle/>
                    <a:p>
                      <a:pPr algn="ctr" rtl="0" fontAlgn="ctr">
                        <a:buNone/>
                      </a:pPr>
                      <a:r>
                        <a:rPr lang="es-PE" sz="700" b="0" i="0" u="none" strike="noStrike">
                          <a:solidFill>
                            <a:srgbClr val="1E2E6E"/>
                          </a:solidFill>
                          <a:effectLst/>
                          <a:latin typeface="Trebuchet MS" panose="020B0603020202020204" pitchFamily="34" charset="0"/>
                        </a:rPr>
                        <a:t>Nexa Perú</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kern="1200" dirty="0">
                          <a:solidFill>
                            <a:srgbClr val="1E2E6E"/>
                          </a:solidFill>
                          <a:effectLst/>
                          <a:latin typeface="Trebuchet MS" panose="020B0603020202020204" pitchFamily="34" charset="0"/>
                          <a:ea typeface="+mn-ea"/>
                          <a:cs typeface="+mn-cs"/>
                        </a:rPr>
                        <a:t>= (Preparación en Proceso)</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Presupuesto incluye prevención estándar + actualizaciones</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Por definir temas de inventarios</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19693780"/>
                  </a:ext>
                </a:extLst>
              </a:tr>
              <a:tr h="344518">
                <a:tc>
                  <a:txBody>
                    <a:bodyPr/>
                    <a:lstStyle/>
                    <a:p>
                      <a:pPr algn="ctr" rtl="0" fontAlgn="ctr">
                        <a:buNone/>
                      </a:pPr>
                      <a:r>
                        <a:rPr lang="es-PE" sz="700" b="0" i="0" u="none" strike="noStrike">
                          <a:solidFill>
                            <a:srgbClr val="1E2E6E"/>
                          </a:solidFill>
                          <a:effectLst/>
                          <a:latin typeface="Trebuchet MS" panose="020B0603020202020204" pitchFamily="34" charset="0"/>
                        </a:rPr>
                        <a:t>Volcan</a:t>
                      </a:r>
                    </a:p>
                  </a:txBody>
                  <a:tcPr marL="9525" marR="9525" marT="9525"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kern="1200" dirty="0">
                          <a:solidFill>
                            <a:srgbClr val="1E2E6E"/>
                          </a:solidFill>
                          <a:effectLst/>
                          <a:latin typeface="Trebuchet MS" panose="020B0603020202020204" pitchFamily="34" charset="0"/>
                          <a:ea typeface="+mn-ea"/>
                          <a:cs typeface="+mn-cs"/>
                        </a:rPr>
                        <a:t>= (Preparación en Proceso)</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Presupuesto incluye prevención estándar </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Mayor Inventario: 15-20 días de insumos. </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a:t>
                      </a:r>
                    </a:p>
                  </a:txBody>
                  <a:tcPr marL="9525" marR="9525" marT="9525"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2704831"/>
                  </a:ext>
                </a:extLst>
              </a:tr>
            </a:tbl>
          </a:graphicData>
        </a:graphic>
      </p:graphicFrame>
      <p:sp>
        <p:nvSpPr>
          <p:cNvPr id="3" name="Rectángulo 2">
            <a:extLst>
              <a:ext uri="{FF2B5EF4-FFF2-40B4-BE49-F238E27FC236}">
                <a16:creationId xmlns:a16="http://schemas.microsoft.com/office/drawing/2014/main" id="{1D8BCA1B-23B5-C0ED-20D0-1BA939C05013}"/>
              </a:ext>
            </a:extLst>
          </p:cNvPr>
          <p:cNvSpPr/>
          <p:nvPr/>
        </p:nvSpPr>
        <p:spPr>
          <a:xfrm>
            <a:off x="767408" y="6165304"/>
            <a:ext cx="720080" cy="2160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Title 2">
            <a:extLst>
              <a:ext uri="{FF2B5EF4-FFF2-40B4-BE49-F238E27FC236}">
                <a16:creationId xmlns:a16="http://schemas.microsoft.com/office/drawing/2014/main" id="{48F29DD2-1C15-2EA9-91AA-866C3409B3A9}"/>
              </a:ext>
            </a:extLst>
          </p:cNvPr>
          <p:cNvSpPr>
            <a:spLocks noGrp="1"/>
          </p:cNvSpPr>
          <p:nvPr>
            <p:ph type="title"/>
          </p:nvPr>
        </p:nvSpPr>
        <p:spPr>
          <a:xfrm>
            <a:off x="0" y="88429"/>
            <a:ext cx="10819699" cy="676275"/>
          </a:xfrm>
        </p:spPr>
        <p:txBody>
          <a:bodyPr>
            <a:noAutofit/>
          </a:bodyPr>
          <a:lstStyle/>
          <a:p>
            <a:r>
              <a:rPr lang="es-ES" sz="2000" dirty="0"/>
              <a:t>3.5 Gestión Climática</a:t>
            </a:r>
            <a:r>
              <a:rPr lang="es-PE" sz="2000" dirty="0"/>
              <a:t> – Riesgos Físicos: Objetivo 2025-2027: Resultados 1S2026 </a:t>
            </a:r>
            <a:endParaRPr lang="es-ES" sz="2000" dirty="0"/>
          </a:p>
        </p:txBody>
      </p:sp>
      <p:sp>
        <p:nvSpPr>
          <p:cNvPr id="13" name="Rectangle: Rounded Corners 4">
            <a:extLst>
              <a:ext uri="{FF2B5EF4-FFF2-40B4-BE49-F238E27FC236}">
                <a16:creationId xmlns:a16="http://schemas.microsoft.com/office/drawing/2014/main" id="{63A5565F-AAC9-5605-4D5F-A9BD5A1EACB0}"/>
              </a:ext>
            </a:extLst>
          </p:cNvPr>
          <p:cNvSpPr/>
          <p:nvPr/>
        </p:nvSpPr>
        <p:spPr>
          <a:xfrm>
            <a:off x="779440" y="1124744"/>
            <a:ext cx="11077200" cy="288032"/>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just">
              <a:defRPr/>
            </a:pPr>
            <a:r>
              <a:rPr lang="es-MX" sz="1000" dirty="0">
                <a:solidFill>
                  <a:srgbClr val="1F497D"/>
                </a:solidFill>
                <a:latin typeface="Trebuchet MS" panose="020B0603020202020204" pitchFamily="34" charset="0"/>
                <a:cs typeface="Arial" panose="020B0604020202020204" pitchFamily="34" charset="0"/>
              </a:rPr>
              <a:t>Se identificó la exposición por Regiones usualmente afectadas por el FEN y se inició el seguimiento (Julio-Agosto) con las empresas de RV.</a:t>
            </a:r>
            <a:endParaRPr lang="es-PE" sz="1000" dirty="0">
              <a:solidFill>
                <a:srgbClr val="1F497D"/>
              </a:solidFill>
              <a:latin typeface="Trebuchet MS" panose="020B0603020202020204" pitchFamily="34" charset="0"/>
              <a:cs typeface="Arial" panose="020B0604020202020204" pitchFamily="34" charset="0"/>
            </a:endParaRPr>
          </a:p>
        </p:txBody>
      </p:sp>
      <p:sp>
        <p:nvSpPr>
          <p:cNvPr id="15" name="Rectangle: Rounded Corners 12">
            <a:extLst>
              <a:ext uri="{FF2B5EF4-FFF2-40B4-BE49-F238E27FC236}">
                <a16:creationId xmlns:a16="http://schemas.microsoft.com/office/drawing/2014/main" id="{8649B6D7-BAFF-B6E9-BCBE-3F221D371BC3}"/>
              </a:ext>
            </a:extLst>
          </p:cNvPr>
          <p:cNvSpPr/>
          <p:nvPr/>
        </p:nvSpPr>
        <p:spPr>
          <a:xfrm>
            <a:off x="767408" y="764704"/>
            <a:ext cx="8784976"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Metodología Interna Mejorada (Exposición de Activos por Regiones) - Riesgos Físicos por Emisor Local</a:t>
            </a:r>
            <a:r>
              <a:rPr lang="es-PE" sz="1000" b="1" dirty="0">
                <a:solidFill>
                  <a:srgbClr val="1F497D"/>
                </a:solidFill>
                <a:latin typeface="Trebuchet MS" panose="020B0603020202020204" pitchFamily="34" charset="0"/>
              </a:rPr>
              <a:t>:</a:t>
            </a: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Tree>
    <p:extLst>
      <p:ext uri="{BB962C8B-B14F-4D97-AF65-F5344CB8AC3E}">
        <p14:creationId xmlns:p14="http://schemas.microsoft.com/office/powerpoint/2010/main" val="1812015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FA4A1-D1DA-8E8B-B196-572E8E8F991C}"/>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B315944-CC47-BE3E-A252-39A7B412DF36}"/>
              </a:ext>
            </a:extLst>
          </p:cNvPr>
          <p:cNvSpPr/>
          <p:nvPr/>
        </p:nvSpPr>
        <p:spPr>
          <a:xfrm>
            <a:off x="839416" y="1124744"/>
            <a:ext cx="11089232" cy="288032"/>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MX" sz="1000" dirty="0">
                <a:solidFill>
                  <a:srgbClr val="1E2E6E"/>
                </a:solidFill>
                <a:latin typeface="Trebuchet MS" panose="020B0603020202020204" pitchFamily="34" charset="0"/>
                <a:cs typeface="Arial" panose="020B0604020202020204" pitchFamily="34" charset="0"/>
              </a:rPr>
              <a:t>Movimientos de Masa con ubicación de activos a nivel distrital con fuentes de data BU homologadas (Minam, COES, SBS, etc.) e identificación de Mitigantes de Riesgo + </a:t>
            </a:r>
            <a:r>
              <a:rPr lang="es-MX" sz="1000" dirty="0" err="1">
                <a:solidFill>
                  <a:srgbClr val="1E2E6E"/>
                </a:solidFill>
                <a:latin typeface="Trebuchet MS" panose="020B0603020202020204" pitchFamily="34" charset="0"/>
                <a:cs typeface="Arial" panose="020B0604020202020204" pitchFamily="34" charset="0"/>
              </a:rPr>
              <a:t>Dashboard</a:t>
            </a:r>
            <a:r>
              <a:rPr lang="es-MX" sz="1000" dirty="0">
                <a:solidFill>
                  <a:srgbClr val="1E2E6E"/>
                </a:solidFill>
                <a:latin typeface="Trebuchet MS" panose="020B0603020202020204" pitchFamily="34" charset="0"/>
                <a:cs typeface="Arial" panose="020B0604020202020204" pitchFamily="34" charset="0"/>
              </a:rPr>
              <a:t>.</a:t>
            </a:r>
            <a:endPar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13" name="Rectangle: Rounded Corners 12">
            <a:extLst>
              <a:ext uri="{FF2B5EF4-FFF2-40B4-BE49-F238E27FC236}">
                <a16:creationId xmlns:a16="http://schemas.microsoft.com/office/drawing/2014/main" id="{A55E9988-E3A7-66CD-FA56-05F7724843D7}"/>
              </a:ext>
            </a:extLst>
          </p:cNvPr>
          <p:cNvSpPr/>
          <p:nvPr/>
        </p:nvSpPr>
        <p:spPr>
          <a:xfrm>
            <a:off x="767408" y="764704"/>
            <a:ext cx="8784976"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Metodología Interna Mejorada (Nivel Distrital - Histórico) - Riesgos Físicos por Emisor Local</a:t>
            </a:r>
            <a:r>
              <a:rPr lang="es-PE" sz="1000" b="1" dirty="0">
                <a:solidFill>
                  <a:srgbClr val="1F497D"/>
                </a:solidFill>
                <a:latin typeface="Trebuchet MS" panose="020B0603020202020204" pitchFamily="34" charset="0"/>
              </a:rPr>
              <a:t>:</a:t>
            </a: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graphicFrame>
        <p:nvGraphicFramePr>
          <p:cNvPr id="4" name="Table 3">
            <a:extLst>
              <a:ext uri="{FF2B5EF4-FFF2-40B4-BE49-F238E27FC236}">
                <a16:creationId xmlns:a16="http://schemas.microsoft.com/office/drawing/2014/main" id="{600F5E70-F700-C29C-987D-35ED57B108D6}"/>
              </a:ext>
            </a:extLst>
          </p:cNvPr>
          <p:cNvGraphicFramePr>
            <a:graphicFrameLocks noGrp="1"/>
          </p:cNvGraphicFramePr>
          <p:nvPr/>
        </p:nvGraphicFramePr>
        <p:xfrm>
          <a:off x="1192654" y="1556792"/>
          <a:ext cx="4831338" cy="560396"/>
        </p:xfrm>
        <a:graphic>
          <a:graphicData uri="http://schemas.openxmlformats.org/drawingml/2006/table">
            <a:tbl>
              <a:tblPr/>
              <a:tblGrid>
                <a:gridCol w="2415669">
                  <a:extLst>
                    <a:ext uri="{9D8B030D-6E8A-4147-A177-3AD203B41FA5}">
                      <a16:colId xmlns:a16="http://schemas.microsoft.com/office/drawing/2014/main" val="1562374121"/>
                    </a:ext>
                  </a:extLst>
                </a:gridCol>
                <a:gridCol w="2415669">
                  <a:extLst>
                    <a:ext uri="{9D8B030D-6E8A-4147-A177-3AD203B41FA5}">
                      <a16:colId xmlns:a16="http://schemas.microsoft.com/office/drawing/2014/main" val="2602063270"/>
                    </a:ext>
                  </a:extLst>
                </a:gridCol>
              </a:tblGrid>
              <a:tr h="267682">
                <a:tc gridSpan="2">
                  <a:txBody>
                    <a:bodyPr/>
                    <a:lstStyle/>
                    <a:p>
                      <a:pPr algn="ctr" rtl="0" fontAlgn="ctr">
                        <a:buNone/>
                      </a:pPr>
                      <a:r>
                        <a:rPr lang="es-PE" sz="1000" b="1" i="0" u="none" strike="noStrike" dirty="0">
                          <a:solidFill>
                            <a:srgbClr val="FFFFFF"/>
                          </a:solidFill>
                          <a:effectLst/>
                          <a:latin typeface="Trebuchet MS" panose="020B0603020202020204" pitchFamily="34" charset="0"/>
                        </a:rPr>
                        <a:t>Ejemplos - Comparación</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2683C6"/>
                    </a:solidFill>
                  </a:tcPr>
                </a:tc>
                <a:tc hMerge="1">
                  <a:txBody>
                    <a:bodyPr/>
                    <a:lstStyle/>
                    <a:p>
                      <a:endParaRPr lang="es-PE"/>
                    </a:p>
                  </a:txBody>
                  <a:tcPr/>
                </a:tc>
                <a:extLst>
                  <a:ext uri="{0D108BD9-81ED-4DB2-BD59-A6C34878D82A}">
                    <a16:rowId xmlns:a16="http://schemas.microsoft.com/office/drawing/2014/main" val="2900688189"/>
                  </a:ext>
                </a:extLst>
              </a:tr>
              <a:tr h="292714">
                <a:tc>
                  <a:txBody>
                    <a:bodyPr/>
                    <a:lstStyle/>
                    <a:p>
                      <a:pPr algn="ctr" rtl="0" fontAlgn="ctr">
                        <a:buNone/>
                      </a:pPr>
                      <a:r>
                        <a:rPr lang="es-PE" sz="1100" b="1" i="0" u="none" strike="noStrike">
                          <a:solidFill>
                            <a:srgbClr val="1E2E6E"/>
                          </a:solidFill>
                          <a:effectLst/>
                          <a:latin typeface="Trebuchet MS" panose="020B0603020202020204" pitchFamily="34" charset="0"/>
                        </a:rPr>
                        <a:t>Buenaventura</a:t>
                      </a:r>
                    </a:p>
                  </a:txBody>
                  <a:tcPr marL="9525" marR="9525" marT="9525" marB="0" anchor="ctr">
                    <a:lnL>
                      <a:noFill/>
                    </a:lnL>
                    <a:lnR w="1270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gn="ctr" rtl="0" fontAlgn="ctr">
                        <a:buNone/>
                      </a:pPr>
                      <a:r>
                        <a:rPr lang="es-PE" sz="1100" b="1" i="0" u="none" strike="noStrike" dirty="0" err="1">
                          <a:solidFill>
                            <a:srgbClr val="1E2E6E"/>
                          </a:solidFill>
                          <a:effectLst/>
                          <a:latin typeface="Trebuchet MS" panose="020B0603020202020204" pitchFamily="34" charset="0"/>
                        </a:rPr>
                        <a:t>Nexa</a:t>
                      </a:r>
                      <a:r>
                        <a:rPr lang="es-PE" sz="1100" b="1" i="0" u="none" strike="noStrike" dirty="0">
                          <a:solidFill>
                            <a:srgbClr val="1E2E6E"/>
                          </a:solidFill>
                          <a:effectLst/>
                          <a:latin typeface="Trebuchet MS" panose="020B0603020202020204" pitchFamily="34" charset="0"/>
                        </a:rPr>
                        <a:t> Perú</a:t>
                      </a:r>
                    </a:p>
                  </a:txBody>
                  <a:tcPr marL="9525" marR="9525" marT="9525" marB="0" anchor="ctr">
                    <a:lnL w="12700" cap="flat" cmpd="sng" algn="ctr">
                      <a:solidFill>
                        <a:srgbClr val="7F7F7F"/>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1401173728"/>
                  </a:ext>
                </a:extLst>
              </a:tr>
            </a:tbl>
          </a:graphicData>
        </a:graphic>
      </p:graphicFrame>
      <p:pic>
        <p:nvPicPr>
          <p:cNvPr id="10" name="Picture 9">
            <a:extLst>
              <a:ext uri="{FF2B5EF4-FFF2-40B4-BE49-F238E27FC236}">
                <a16:creationId xmlns:a16="http://schemas.microsoft.com/office/drawing/2014/main" id="{6FB1F142-0B0D-A8B9-3933-0A5AD9B85A99}"/>
              </a:ext>
            </a:extLst>
          </p:cNvPr>
          <p:cNvPicPr>
            <a:picLocks noChangeAspect="1"/>
          </p:cNvPicPr>
          <p:nvPr/>
        </p:nvPicPr>
        <p:blipFill>
          <a:blip r:embed="rId3"/>
          <a:stretch>
            <a:fillRect/>
          </a:stretch>
        </p:blipFill>
        <p:spPr>
          <a:xfrm>
            <a:off x="3814916" y="2219155"/>
            <a:ext cx="1705020" cy="2502781"/>
          </a:xfrm>
          <a:prstGeom prst="rect">
            <a:avLst/>
          </a:prstGeom>
        </p:spPr>
      </p:pic>
      <p:pic>
        <p:nvPicPr>
          <p:cNvPr id="12" name="Picture 11">
            <a:extLst>
              <a:ext uri="{FF2B5EF4-FFF2-40B4-BE49-F238E27FC236}">
                <a16:creationId xmlns:a16="http://schemas.microsoft.com/office/drawing/2014/main" id="{81E11AD4-ACFB-40D3-4FE2-0BEB3ECE8A43}"/>
              </a:ext>
            </a:extLst>
          </p:cNvPr>
          <p:cNvPicPr>
            <a:picLocks noChangeAspect="1"/>
          </p:cNvPicPr>
          <p:nvPr/>
        </p:nvPicPr>
        <p:blipFill>
          <a:blip r:embed="rId4"/>
          <a:stretch>
            <a:fillRect/>
          </a:stretch>
        </p:blipFill>
        <p:spPr>
          <a:xfrm>
            <a:off x="1591192" y="2202810"/>
            <a:ext cx="1716750" cy="2522334"/>
          </a:xfrm>
          <a:prstGeom prst="rect">
            <a:avLst/>
          </a:prstGeom>
        </p:spPr>
      </p:pic>
      <p:pic>
        <p:nvPicPr>
          <p:cNvPr id="15" name="Picture 14">
            <a:extLst>
              <a:ext uri="{FF2B5EF4-FFF2-40B4-BE49-F238E27FC236}">
                <a16:creationId xmlns:a16="http://schemas.microsoft.com/office/drawing/2014/main" id="{E51FEEB9-C707-D969-A6AC-A9E8D31F25B9}"/>
              </a:ext>
            </a:extLst>
          </p:cNvPr>
          <p:cNvPicPr>
            <a:picLocks noChangeAspect="1"/>
          </p:cNvPicPr>
          <p:nvPr/>
        </p:nvPicPr>
        <p:blipFill>
          <a:blip r:embed="rId5"/>
          <a:stretch>
            <a:fillRect/>
          </a:stretch>
        </p:blipFill>
        <p:spPr>
          <a:xfrm>
            <a:off x="1487488" y="4799235"/>
            <a:ext cx="4225337" cy="213941"/>
          </a:xfrm>
          <a:prstGeom prst="rect">
            <a:avLst/>
          </a:prstGeom>
        </p:spPr>
      </p:pic>
      <p:graphicFrame>
        <p:nvGraphicFramePr>
          <p:cNvPr id="18" name="Tabla 17">
            <a:extLst>
              <a:ext uri="{FF2B5EF4-FFF2-40B4-BE49-F238E27FC236}">
                <a16:creationId xmlns:a16="http://schemas.microsoft.com/office/drawing/2014/main" id="{8395E498-1CD2-70B8-2097-A5E6DECB8F8D}"/>
              </a:ext>
            </a:extLst>
          </p:cNvPr>
          <p:cNvGraphicFramePr>
            <a:graphicFrameLocks noGrp="1"/>
          </p:cNvGraphicFramePr>
          <p:nvPr/>
        </p:nvGraphicFramePr>
        <p:xfrm>
          <a:off x="983431" y="5229200"/>
          <a:ext cx="5256585" cy="1296142"/>
        </p:xfrm>
        <a:graphic>
          <a:graphicData uri="http://schemas.openxmlformats.org/drawingml/2006/table">
            <a:tbl>
              <a:tblPr/>
              <a:tblGrid>
                <a:gridCol w="584065">
                  <a:extLst>
                    <a:ext uri="{9D8B030D-6E8A-4147-A177-3AD203B41FA5}">
                      <a16:colId xmlns:a16="http://schemas.microsoft.com/office/drawing/2014/main" val="3318274898"/>
                    </a:ext>
                  </a:extLst>
                </a:gridCol>
                <a:gridCol w="584065">
                  <a:extLst>
                    <a:ext uri="{9D8B030D-6E8A-4147-A177-3AD203B41FA5}">
                      <a16:colId xmlns:a16="http://schemas.microsoft.com/office/drawing/2014/main" val="309227188"/>
                    </a:ext>
                  </a:extLst>
                </a:gridCol>
                <a:gridCol w="584065">
                  <a:extLst>
                    <a:ext uri="{9D8B030D-6E8A-4147-A177-3AD203B41FA5}">
                      <a16:colId xmlns:a16="http://schemas.microsoft.com/office/drawing/2014/main" val="860455841"/>
                    </a:ext>
                  </a:extLst>
                </a:gridCol>
                <a:gridCol w="584065">
                  <a:extLst>
                    <a:ext uri="{9D8B030D-6E8A-4147-A177-3AD203B41FA5}">
                      <a16:colId xmlns:a16="http://schemas.microsoft.com/office/drawing/2014/main" val="11884988"/>
                    </a:ext>
                  </a:extLst>
                </a:gridCol>
                <a:gridCol w="584065">
                  <a:extLst>
                    <a:ext uri="{9D8B030D-6E8A-4147-A177-3AD203B41FA5}">
                      <a16:colId xmlns:a16="http://schemas.microsoft.com/office/drawing/2014/main" val="2851579602"/>
                    </a:ext>
                  </a:extLst>
                </a:gridCol>
                <a:gridCol w="584065">
                  <a:extLst>
                    <a:ext uri="{9D8B030D-6E8A-4147-A177-3AD203B41FA5}">
                      <a16:colId xmlns:a16="http://schemas.microsoft.com/office/drawing/2014/main" val="93230683"/>
                    </a:ext>
                  </a:extLst>
                </a:gridCol>
                <a:gridCol w="584065">
                  <a:extLst>
                    <a:ext uri="{9D8B030D-6E8A-4147-A177-3AD203B41FA5}">
                      <a16:colId xmlns:a16="http://schemas.microsoft.com/office/drawing/2014/main" val="518195941"/>
                    </a:ext>
                  </a:extLst>
                </a:gridCol>
                <a:gridCol w="584065">
                  <a:extLst>
                    <a:ext uri="{9D8B030D-6E8A-4147-A177-3AD203B41FA5}">
                      <a16:colId xmlns:a16="http://schemas.microsoft.com/office/drawing/2014/main" val="3996630491"/>
                    </a:ext>
                  </a:extLst>
                </a:gridCol>
                <a:gridCol w="584065">
                  <a:extLst>
                    <a:ext uri="{9D8B030D-6E8A-4147-A177-3AD203B41FA5}">
                      <a16:colId xmlns:a16="http://schemas.microsoft.com/office/drawing/2014/main" val="1330425442"/>
                    </a:ext>
                  </a:extLst>
                </a:gridCol>
              </a:tblGrid>
              <a:tr h="210186">
                <a:tc>
                  <a:txBody>
                    <a:bodyPr/>
                    <a:lstStyle/>
                    <a:p>
                      <a:pPr algn="ctr" rtl="0" fontAlgn="ctr">
                        <a:buNone/>
                      </a:pPr>
                      <a:r>
                        <a:rPr lang="es-PE" sz="700" b="1" i="0" u="none" strike="noStrike" dirty="0" err="1">
                          <a:solidFill>
                            <a:srgbClr val="FFFFFF"/>
                          </a:solidFill>
                          <a:effectLst/>
                          <a:latin typeface="Trebuchet MS" panose="020B0603020202020204" pitchFamily="34" charset="0"/>
                        </a:rPr>
                        <a:t>Utilities</a:t>
                      </a:r>
                      <a:endParaRPr lang="es-PE" sz="700" b="1" i="0" u="none" strike="noStrike" dirty="0">
                        <a:solidFill>
                          <a:srgbClr val="FFFFFF"/>
                        </a:solidFill>
                        <a:effectLst/>
                        <a:latin typeface="Trebuchet MS" panose="020B0603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FFC000"/>
                          </a:solidFill>
                          <a:effectLst/>
                          <a:latin typeface="Trebuchet MS" panose="020B0603020202020204" pitchFamily="34" charset="0"/>
                        </a:rPr>
                        <a:t>Score </a:t>
                      </a:r>
                      <a:r>
                        <a:rPr lang="es-PE" sz="700" b="1" i="0" u="none" strike="noStrike" dirty="0" err="1">
                          <a:solidFill>
                            <a:srgbClr val="FFC000"/>
                          </a:solidFill>
                          <a:effectLst/>
                          <a:latin typeface="Trebuchet MS" panose="020B0603020202020204" pitchFamily="34" charset="0"/>
                        </a:rPr>
                        <a:t>Ajust</a:t>
                      </a:r>
                      <a:r>
                        <a:rPr lang="es-PE" sz="700" b="1" i="0" u="none" strike="noStrike" dirty="0">
                          <a:solidFill>
                            <a:srgbClr val="FFC000"/>
                          </a:solidFill>
                          <a:effectLst/>
                          <a:latin typeface="Trebuchet MS" panose="020B0603020202020204" pitchFamily="34" charset="0"/>
                        </a:rPr>
                        <a:t>.</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4286081076"/>
                  </a:ext>
                </a:extLst>
              </a:tr>
              <a:tr h="175154">
                <a:tc>
                  <a:txBody>
                    <a:bodyPr/>
                    <a:lstStyle/>
                    <a:p>
                      <a:pPr algn="ctr" rtl="0" fontAlgn="ctr">
                        <a:buNone/>
                      </a:pPr>
                      <a:r>
                        <a:rPr lang="es-PE" sz="700" b="0" i="0" u="none" strike="noStrike">
                          <a:solidFill>
                            <a:srgbClr val="1E2E6E"/>
                          </a:solidFill>
                          <a:effectLst/>
                          <a:latin typeface="Trebuchet MS" panose="020B0603020202020204" pitchFamily="34" charset="0"/>
                        </a:rPr>
                        <a:t>Engie</a:t>
                      </a: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0.0%</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4.0</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4.0</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solidFill>
                      <a:srgbClr val="F96C6E"/>
                    </a:solidFill>
                  </a:tcPr>
                </a:tc>
                <a:extLst>
                  <a:ext uri="{0D108BD9-81ED-4DB2-BD59-A6C34878D82A}">
                    <a16:rowId xmlns:a16="http://schemas.microsoft.com/office/drawing/2014/main" val="2935278922"/>
                  </a:ext>
                </a:extLst>
              </a:tr>
              <a:tr h="175154">
                <a:tc>
                  <a:txBody>
                    <a:bodyPr/>
                    <a:lstStyle/>
                    <a:p>
                      <a:pPr algn="ctr" rtl="0" fontAlgn="ctr">
                        <a:buNone/>
                      </a:pPr>
                      <a:r>
                        <a:rPr lang="es-PE" sz="700" b="0" i="0" u="none" strike="noStrike">
                          <a:solidFill>
                            <a:srgbClr val="1E2E6E"/>
                          </a:solidFill>
                          <a:effectLst/>
                          <a:latin typeface="Trebuchet MS" panose="020B0603020202020204" pitchFamily="34" charset="0"/>
                        </a:rPr>
                        <a:t>Orygen</a:t>
                      </a: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35.0%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59.0%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6.0%</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3.7</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3.7</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solidFill>
                      <a:srgbClr val="FA9698"/>
                    </a:solidFill>
                  </a:tcPr>
                </a:tc>
                <a:extLst>
                  <a:ext uri="{0D108BD9-81ED-4DB2-BD59-A6C34878D82A}">
                    <a16:rowId xmlns:a16="http://schemas.microsoft.com/office/drawing/2014/main" val="3694991416"/>
                  </a:ext>
                </a:extLst>
              </a:tr>
              <a:tr h="175154">
                <a:tc>
                  <a:txBody>
                    <a:bodyPr/>
                    <a:lstStyle/>
                    <a:p>
                      <a:pPr algn="ctr" rtl="0" fontAlgn="ctr">
                        <a:buNone/>
                      </a:pPr>
                      <a:r>
                        <a:rPr lang="es-PE" sz="700" b="0" i="0" u="none" strike="noStrike">
                          <a:solidFill>
                            <a:srgbClr val="1E2E6E"/>
                          </a:solidFill>
                          <a:effectLst/>
                          <a:latin typeface="Trebuchet MS" panose="020B0603020202020204" pitchFamily="34" charset="0"/>
                        </a:rPr>
                        <a:t>Pluz Energía</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27.0%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18.0%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21.0%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2.6</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Bajo</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2.6</a:t>
                      </a: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9EDE1"/>
                    </a:solidFill>
                  </a:tcPr>
                </a:tc>
                <a:extLst>
                  <a:ext uri="{0D108BD9-81ED-4DB2-BD59-A6C34878D82A}">
                    <a16:rowId xmlns:a16="http://schemas.microsoft.com/office/drawing/2014/main" val="3018701955"/>
                  </a:ext>
                </a:extLst>
              </a:tr>
              <a:tr h="175154">
                <a:tc>
                  <a:txBody>
                    <a:bodyPr/>
                    <a:lstStyle/>
                    <a:p>
                      <a:pPr algn="ctr" rtl="0" fontAlgn="ctr">
                        <a:buNone/>
                      </a:pPr>
                      <a:r>
                        <a:rPr lang="es-PE" sz="700" b="0" i="0" u="none" strike="noStrike">
                          <a:solidFill>
                            <a:srgbClr val="1E2E6E"/>
                          </a:solidFill>
                          <a:effectLst/>
                          <a:latin typeface="Trebuchet MS" panose="020B060302020202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PE" sz="700" b="0" i="0" u="none" strike="noStrike">
                          <a:solidFill>
                            <a:srgbClr val="000000"/>
                          </a:solidFill>
                          <a:effectLst/>
                          <a:latin typeface="Trebuchet MS" panose="020B0603020202020204" pitchFamily="34" charset="0"/>
                        </a:rPr>
                        <a:t> </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endParaRPr lang="es-PE" sz="700" b="0" i="0" u="none" strike="noStrike" dirty="0">
                        <a:solidFill>
                          <a:srgbClr val="000000"/>
                        </a:solidFill>
                        <a:effectLst/>
                        <a:latin typeface="Trebuchet MS" panose="020B0603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1" i="0" u="none" strike="noStrike">
                        <a:solidFill>
                          <a:srgbClr val="1F2533"/>
                        </a:solidFill>
                        <a:effectLst/>
                        <a:latin typeface="Trebuchet MS" panose="020B060302020202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6966049"/>
                  </a:ext>
                </a:extLst>
              </a:tr>
              <a:tr h="210186">
                <a:tc>
                  <a:txBody>
                    <a:bodyPr/>
                    <a:lstStyle/>
                    <a:p>
                      <a:pPr algn="ctr" rtl="0" fontAlgn="ctr">
                        <a:buNone/>
                      </a:pPr>
                      <a:r>
                        <a:rPr lang="es-PE" sz="700" b="1" i="0" u="none" strike="noStrike">
                          <a:solidFill>
                            <a:srgbClr val="FFFFFF"/>
                          </a:solidFill>
                          <a:effectLst/>
                          <a:latin typeface="Trebuchet MS" panose="020B0603020202020204" pitchFamily="34" charset="0"/>
                        </a:rPr>
                        <a:t>Salud</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92D050"/>
                          </a:solidFill>
                          <a:effectLst/>
                          <a:latin typeface="Trebuchet MS" panose="020B0603020202020204" pitchFamily="34" charset="0"/>
                        </a:rPr>
                        <a:t>Mitigantes</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FFC000"/>
                          </a:solidFill>
                          <a:effectLst/>
                          <a:latin typeface="Trebuchet MS" panose="020B0603020202020204" pitchFamily="34" charset="0"/>
                        </a:rPr>
                        <a:t>Score </a:t>
                      </a:r>
                      <a:r>
                        <a:rPr lang="es-PE" sz="700" b="1" i="0" u="none" strike="noStrike" dirty="0" err="1">
                          <a:solidFill>
                            <a:srgbClr val="FFC000"/>
                          </a:solidFill>
                          <a:effectLst/>
                          <a:latin typeface="Trebuchet MS" panose="020B0603020202020204" pitchFamily="34" charset="0"/>
                        </a:rPr>
                        <a:t>Ajust</a:t>
                      </a:r>
                      <a:r>
                        <a:rPr lang="es-PE" sz="700" b="1" i="0" u="none" strike="noStrike" dirty="0">
                          <a:solidFill>
                            <a:srgbClr val="FFC000"/>
                          </a:solidFill>
                          <a:effectLst/>
                          <a:latin typeface="Trebuchet MS" panose="020B0603020202020204" pitchFamily="34" charset="0"/>
                        </a:rPr>
                        <a:t>.</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2902438303"/>
                  </a:ext>
                </a:extLst>
              </a:tr>
              <a:tr h="175154">
                <a:tc>
                  <a:txBody>
                    <a:bodyPr/>
                    <a:lstStyle/>
                    <a:p>
                      <a:pPr algn="ctr" rtl="0" fontAlgn="ctr">
                        <a:buNone/>
                      </a:pPr>
                      <a:r>
                        <a:rPr lang="es-PE" sz="700" b="0" i="0" u="none" strike="noStrike">
                          <a:solidFill>
                            <a:srgbClr val="1E2E6E"/>
                          </a:solidFill>
                          <a:effectLst/>
                          <a:latin typeface="Trebuchet MS" panose="020B0603020202020204" pitchFamily="34" charset="0"/>
                        </a:rPr>
                        <a:t>Auna</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56.0%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44.0%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1.4</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Bajo</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1.4</a:t>
                      </a: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74C58A"/>
                    </a:solidFill>
                  </a:tcPr>
                </a:tc>
                <a:extLst>
                  <a:ext uri="{0D108BD9-81ED-4DB2-BD59-A6C34878D82A}">
                    <a16:rowId xmlns:a16="http://schemas.microsoft.com/office/drawing/2014/main" val="2843196198"/>
                  </a:ext>
                </a:extLst>
              </a:tr>
            </a:tbl>
          </a:graphicData>
        </a:graphic>
      </p:graphicFrame>
      <p:graphicFrame>
        <p:nvGraphicFramePr>
          <p:cNvPr id="19" name="Tabla 18">
            <a:extLst>
              <a:ext uri="{FF2B5EF4-FFF2-40B4-BE49-F238E27FC236}">
                <a16:creationId xmlns:a16="http://schemas.microsoft.com/office/drawing/2014/main" id="{FF00CD81-F92E-5475-14D9-49392C2DD9EA}"/>
              </a:ext>
            </a:extLst>
          </p:cNvPr>
          <p:cNvGraphicFramePr>
            <a:graphicFrameLocks noGrp="1"/>
          </p:cNvGraphicFramePr>
          <p:nvPr/>
        </p:nvGraphicFramePr>
        <p:xfrm>
          <a:off x="6600056" y="1556792"/>
          <a:ext cx="5256585" cy="4987697"/>
        </p:xfrm>
        <a:graphic>
          <a:graphicData uri="http://schemas.openxmlformats.org/drawingml/2006/table">
            <a:tbl>
              <a:tblPr/>
              <a:tblGrid>
                <a:gridCol w="584065">
                  <a:extLst>
                    <a:ext uri="{9D8B030D-6E8A-4147-A177-3AD203B41FA5}">
                      <a16:colId xmlns:a16="http://schemas.microsoft.com/office/drawing/2014/main" val="2283292229"/>
                    </a:ext>
                  </a:extLst>
                </a:gridCol>
                <a:gridCol w="584065">
                  <a:extLst>
                    <a:ext uri="{9D8B030D-6E8A-4147-A177-3AD203B41FA5}">
                      <a16:colId xmlns:a16="http://schemas.microsoft.com/office/drawing/2014/main" val="2725663534"/>
                    </a:ext>
                  </a:extLst>
                </a:gridCol>
                <a:gridCol w="584065">
                  <a:extLst>
                    <a:ext uri="{9D8B030D-6E8A-4147-A177-3AD203B41FA5}">
                      <a16:colId xmlns:a16="http://schemas.microsoft.com/office/drawing/2014/main" val="2853509437"/>
                    </a:ext>
                  </a:extLst>
                </a:gridCol>
                <a:gridCol w="584065">
                  <a:extLst>
                    <a:ext uri="{9D8B030D-6E8A-4147-A177-3AD203B41FA5}">
                      <a16:colId xmlns:a16="http://schemas.microsoft.com/office/drawing/2014/main" val="1175224711"/>
                    </a:ext>
                  </a:extLst>
                </a:gridCol>
                <a:gridCol w="584065">
                  <a:extLst>
                    <a:ext uri="{9D8B030D-6E8A-4147-A177-3AD203B41FA5}">
                      <a16:colId xmlns:a16="http://schemas.microsoft.com/office/drawing/2014/main" val="3504044249"/>
                    </a:ext>
                  </a:extLst>
                </a:gridCol>
                <a:gridCol w="584065">
                  <a:extLst>
                    <a:ext uri="{9D8B030D-6E8A-4147-A177-3AD203B41FA5}">
                      <a16:colId xmlns:a16="http://schemas.microsoft.com/office/drawing/2014/main" val="765296704"/>
                    </a:ext>
                  </a:extLst>
                </a:gridCol>
                <a:gridCol w="584065">
                  <a:extLst>
                    <a:ext uri="{9D8B030D-6E8A-4147-A177-3AD203B41FA5}">
                      <a16:colId xmlns:a16="http://schemas.microsoft.com/office/drawing/2014/main" val="47710196"/>
                    </a:ext>
                  </a:extLst>
                </a:gridCol>
                <a:gridCol w="584065">
                  <a:extLst>
                    <a:ext uri="{9D8B030D-6E8A-4147-A177-3AD203B41FA5}">
                      <a16:colId xmlns:a16="http://schemas.microsoft.com/office/drawing/2014/main" val="630729056"/>
                    </a:ext>
                  </a:extLst>
                </a:gridCol>
                <a:gridCol w="584065">
                  <a:extLst>
                    <a:ext uri="{9D8B030D-6E8A-4147-A177-3AD203B41FA5}">
                      <a16:colId xmlns:a16="http://schemas.microsoft.com/office/drawing/2014/main" val="2028791520"/>
                    </a:ext>
                  </a:extLst>
                </a:gridCol>
              </a:tblGrid>
              <a:tr h="216356">
                <a:tc>
                  <a:txBody>
                    <a:bodyPr/>
                    <a:lstStyle/>
                    <a:p>
                      <a:pPr algn="ctr" rtl="0" fontAlgn="ctr">
                        <a:buNone/>
                      </a:pPr>
                      <a:r>
                        <a:rPr lang="es-PE" sz="700" b="1" i="0" u="none" strike="noStrike" dirty="0">
                          <a:solidFill>
                            <a:srgbClr val="FFFFFF"/>
                          </a:solidFill>
                          <a:effectLst/>
                          <a:latin typeface="Trebuchet MS" panose="020B0603020202020204" pitchFamily="34" charset="0"/>
                        </a:rPr>
                        <a:t>Materiales - Cementeras</a:t>
                      </a:r>
                    </a:p>
                  </a:txBody>
                  <a:tcPr marL="7781" marR="7781" marT="778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1</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7781" marR="7781" marT="778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4116631906"/>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Unacem</a:t>
                      </a:r>
                    </a:p>
                  </a:txBody>
                  <a:tcPr marL="7781" marR="7781" marT="7781"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dirty="0">
                          <a:solidFill>
                            <a:srgbClr val="1F2533"/>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100.0%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4.0</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4.0</a:t>
                      </a:r>
                    </a:p>
                  </a:txBody>
                  <a:tcPr marL="7781" marR="7781" marT="7781" marB="0" anchor="ctr">
                    <a:lnL>
                      <a:noFill/>
                    </a:lnL>
                    <a:lnR w="6350" cap="flat" cmpd="sng" algn="ctr">
                      <a:solidFill>
                        <a:srgbClr val="000000"/>
                      </a:solidFill>
                      <a:prstDash val="solid"/>
                      <a:round/>
                      <a:headEnd type="none" w="med" len="med"/>
                      <a:tailEnd type="none" w="med" len="med"/>
                    </a:lnR>
                    <a:lnT>
                      <a:noFill/>
                    </a:lnT>
                    <a:lnB>
                      <a:noFill/>
                    </a:lnB>
                    <a:solidFill>
                      <a:srgbClr val="F96C6E"/>
                    </a:solidFill>
                  </a:tcPr>
                </a:tc>
                <a:extLst>
                  <a:ext uri="{0D108BD9-81ED-4DB2-BD59-A6C34878D82A}">
                    <a16:rowId xmlns:a16="http://schemas.microsoft.com/office/drawing/2014/main" val="2685312489"/>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Pacasmayo</a:t>
                      </a:r>
                    </a:p>
                  </a:txBody>
                  <a:tcPr marL="7781" marR="7781" marT="7781"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44.5%</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dirty="0">
                          <a:solidFill>
                            <a:srgbClr val="1F2533"/>
                          </a:solidFill>
                          <a:effectLst/>
                          <a:latin typeface="Trebuchet MS" panose="020B0603020202020204" pitchFamily="34" charset="0"/>
                        </a:rPr>
                        <a:t>44.5%</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10.9%</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1.8</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Alto</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1.2</a:t>
                      </a:r>
                    </a:p>
                  </a:txBody>
                  <a:tcPr marL="7781" marR="7781" marT="778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2091968033"/>
                  </a:ext>
                </a:extLst>
              </a:tr>
              <a:tr h="265477">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dirty="0">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endParaRPr lang="es-PE" sz="700" b="0" i="0" u="none" strike="noStrike">
                        <a:solidFill>
                          <a:srgbClr val="000000"/>
                        </a:solidFill>
                        <a:effectLst/>
                        <a:latin typeface="Trebuchet MS" panose="020B0603020202020204" pitchFamily="34" charset="0"/>
                      </a:endParaRPr>
                    </a:p>
                  </a:txBody>
                  <a:tcPr marL="7781" marR="7781" marT="778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rial" panose="020B0604020202020204" pitchFamily="34" charset="0"/>
                      </a:endParaRPr>
                    </a:p>
                  </a:txBody>
                  <a:tcPr marL="7781" marR="7781" marT="778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1" i="0" u="none" strike="noStrike">
                        <a:solidFill>
                          <a:srgbClr val="1F2533"/>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54400"/>
                  </a:ext>
                </a:extLst>
              </a:tr>
              <a:tr h="216356">
                <a:tc>
                  <a:txBody>
                    <a:bodyPr/>
                    <a:lstStyle/>
                    <a:p>
                      <a:pPr algn="ctr" rtl="0" fontAlgn="ctr">
                        <a:buNone/>
                      </a:pPr>
                      <a:r>
                        <a:rPr lang="es-PE" sz="700" b="1" i="0" u="none" strike="noStrike">
                          <a:solidFill>
                            <a:srgbClr val="FFFFFF"/>
                          </a:solidFill>
                          <a:effectLst/>
                          <a:latin typeface="Trebuchet MS" panose="020B0603020202020204" pitchFamily="34" charset="0"/>
                        </a:rPr>
                        <a:t>Consumo No Discrecional</a:t>
                      </a:r>
                    </a:p>
                  </a:txBody>
                  <a:tcPr marL="7781" marR="7781" marT="778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3</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7781" marR="7781" marT="778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223490335"/>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InRetail</a:t>
                      </a:r>
                    </a:p>
                  </a:txBody>
                  <a:tcPr marL="7781" marR="7781" marT="7781"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28.0%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23.0%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12.0%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22.0%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13.0%</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2.7</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2.7</a:t>
                      </a:r>
                    </a:p>
                  </a:txBody>
                  <a:tcPr marL="7781" marR="7781" marT="7781" marB="0" anchor="ctr">
                    <a:lnL>
                      <a:noFill/>
                    </a:lnL>
                    <a:lnR w="6350" cap="flat" cmpd="sng" algn="ctr">
                      <a:solidFill>
                        <a:srgbClr val="000000"/>
                      </a:solidFill>
                      <a:prstDash val="solid"/>
                      <a:round/>
                      <a:headEnd type="none" w="med" len="med"/>
                      <a:tailEnd type="none" w="med" len="med"/>
                    </a:lnR>
                    <a:lnT>
                      <a:noFill/>
                    </a:lnT>
                    <a:lnB>
                      <a:noFill/>
                    </a:lnB>
                    <a:solidFill>
                      <a:srgbClr val="E1F1E8"/>
                    </a:solidFill>
                  </a:tcPr>
                </a:tc>
                <a:extLst>
                  <a:ext uri="{0D108BD9-81ED-4DB2-BD59-A6C34878D82A}">
                    <a16:rowId xmlns:a16="http://schemas.microsoft.com/office/drawing/2014/main" val="3476025314"/>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Alicorp</a:t>
                      </a:r>
                    </a:p>
                  </a:txBody>
                  <a:tcPr marL="7781" marR="7781" marT="7781"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38.9%</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16.7%</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16.7%</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16.7%</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11.1%</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2.4</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Alto</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1.7</a:t>
                      </a:r>
                    </a:p>
                  </a:txBody>
                  <a:tcPr marL="7781" marR="7781" marT="778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8BCE9E"/>
                    </a:solidFill>
                  </a:tcPr>
                </a:tc>
                <a:extLst>
                  <a:ext uri="{0D108BD9-81ED-4DB2-BD59-A6C34878D82A}">
                    <a16:rowId xmlns:a16="http://schemas.microsoft.com/office/drawing/2014/main" val="2525455884"/>
                  </a:ext>
                </a:extLst>
              </a:tr>
              <a:tr h="265477">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endParaRPr lang="es-PE" sz="700" b="0" i="0" u="none" strike="noStrike">
                        <a:solidFill>
                          <a:srgbClr val="000000"/>
                        </a:solidFill>
                        <a:effectLst/>
                        <a:latin typeface="Trebuchet MS" panose="020B0603020202020204" pitchFamily="34" charset="0"/>
                      </a:endParaRPr>
                    </a:p>
                  </a:txBody>
                  <a:tcPr marL="7781" marR="7781" marT="778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rial" panose="020B0604020202020204" pitchFamily="34" charset="0"/>
                      </a:endParaRPr>
                    </a:p>
                  </a:txBody>
                  <a:tcPr marL="7781" marR="7781" marT="778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1" i="0" u="none" strike="noStrike">
                        <a:solidFill>
                          <a:srgbClr val="1F2533"/>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3157023"/>
                  </a:ext>
                </a:extLst>
              </a:tr>
              <a:tr h="209740">
                <a:tc>
                  <a:txBody>
                    <a:bodyPr/>
                    <a:lstStyle/>
                    <a:p>
                      <a:pPr algn="ctr" rtl="0" fontAlgn="ctr">
                        <a:buNone/>
                      </a:pPr>
                      <a:r>
                        <a:rPr lang="es-PE" sz="700" b="1" i="0" u="none" strike="noStrike">
                          <a:solidFill>
                            <a:srgbClr val="FFFFFF"/>
                          </a:solidFill>
                          <a:effectLst/>
                          <a:latin typeface="Trebuchet MS" panose="020B0603020202020204" pitchFamily="34" charset="0"/>
                        </a:rPr>
                        <a:t>Financieras</a:t>
                      </a:r>
                    </a:p>
                  </a:txBody>
                  <a:tcPr marL="7781" marR="7781" marT="778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7781" marR="7781" marT="778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918109305"/>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Credicorp</a:t>
                      </a:r>
                    </a:p>
                  </a:txBody>
                  <a:tcPr marL="7781" marR="7781" marT="7781"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29.5%</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57.0%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3.5%</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8.2%</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1.9%</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2.0</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2.0</a:t>
                      </a:r>
                    </a:p>
                  </a:txBody>
                  <a:tcPr marL="7781" marR="7781" marT="7781" marB="0" anchor="ctr">
                    <a:lnL>
                      <a:noFill/>
                    </a:lnL>
                    <a:lnR w="6350" cap="flat" cmpd="sng" algn="ctr">
                      <a:solidFill>
                        <a:srgbClr val="000000"/>
                      </a:solidFill>
                      <a:prstDash val="solid"/>
                      <a:round/>
                      <a:headEnd type="none" w="med" len="med"/>
                      <a:tailEnd type="none" w="med" len="med"/>
                    </a:lnR>
                    <a:lnT>
                      <a:noFill/>
                    </a:lnT>
                    <a:lnB>
                      <a:noFill/>
                    </a:lnB>
                    <a:solidFill>
                      <a:srgbClr val="A1D7B1"/>
                    </a:solidFill>
                  </a:tcPr>
                </a:tc>
                <a:extLst>
                  <a:ext uri="{0D108BD9-81ED-4DB2-BD59-A6C34878D82A}">
                    <a16:rowId xmlns:a16="http://schemas.microsoft.com/office/drawing/2014/main" val="4260809702"/>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IFS</a:t>
                      </a:r>
                    </a:p>
                  </a:txBody>
                  <a:tcPr marL="7781" marR="7781" marT="7781"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39.9%</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49.4%</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2.5%</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6.8%</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1.4%</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1.8</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1.8</a:t>
                      </a:r>
                    </a:p>
                  </a:txBody>
                  <a:tcPr marL="7781" marR="7781" marT="7781" marB="0" anchor="ctr">
                    <a:lnL>
                      <a:noFill/>
                    </a:lnL>
                    <a:lnR w="6350" cap="flat" cmpd="sng" algn="ctr">
                      <a:solidFill>
                        <a:srgbClr val="000000"/>
                      </a:solidFill>
                      <a:prstDash val="solid"/>
                      <a:round/>
                      <a:headEnd type="none" w="med" len="med"/>
                      <a:tailEnd type="none" w="med" len="med"/>
                    </a:lnR>
                    <a:lnT>
                      <a:noFill/>
                    </a:lnT>
                    <a:lnB>
                      <a:noFill/>
                    </a:lnB>
                    <a:solidFill>
                      <a:srgbClr val="93D1A5"/>
                    </a:solidFill>
                  </a:tcPr>
                </a:tc>
                <a:extLst>
                  <a:ext uri="{0D108BD9-81ED-4DB2-BD59-A6C34878D82A}">
                    <a16:rowId xmlns:a16="http://schemas.microsoft.com/office/drawing/2014/main" val="2722193624"/>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BBVA</a:t>
                      </a:r>
                    </a:p>
                  </a:txBody>
                  <a:tcPr marL="7781" marR="7781" marT="7781"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64.4%</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16.4%</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4.8%</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11.0%</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3.3%</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1.7</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1.7</a:t>
                      </a:r>
                    </a:p>
                  </a:txBody>
                  <a:tcPr marL="7781" marR="7781" marT="778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8DCF9F"/>
                    </a:solidFill>
                  </a:tcPr>
                </a:tc>
                <a:extLst>
                  <a:ext uri="{0D108BD9-81ED-4DB2-BD59-A6C34878D82A}">
                    <a16:rowId xmlns:a16="http://schemas.microsoft.com/office/drawing/2014/main" val="2580452058"/>
                  </a:ext>
                </a:extLst>
              </a:tr>
              <a:tr h="265477">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endParaRPr lang="es-PE" sz="700" b="0" i="0" u="none" strike="noStrike" dirty="0">
                        <a:solidFill>
                          <a:srgbClr val="000000"/>
                        </a:solidFill>
                        <a:effectLst/>
                        <a:latin typeface="Trebuchet MS" panose="020B0603020202020204" pitchFamily="34" charset="0"/>
                      </a:endParaRPr>
                    </a:p>
                  </a:txBody>
                  <a:tcPr marL="7781" marR="7781" marT="778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rial" panose="020B0604020202020204" pitchFamily="34" charset="0"/>
                      </a:endParaRPr>
                    </a:p>
                  </a:txBody>
                  <a:tcPr marL="7781" marR="7781" marT="778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1" i="0" u="none" strike="noStrike">
                        <a:solidFill>
                          <a:srgbClr val="1F2533"/>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5545047"/>
                  </a:ext>
                </a:extLst>
              </a:tr>
              <a:tr h="209740">
                <a:tc>
                  <a:txBody>
                    <a:bodyPr/>
                    <a:lstStyle/>
                    <a:p>
                      <a:pPr algn="ctr" rtl="0" fontAlgn="ctr">
                        <a:buNone/>
                      </a:pPr>
                      <a:r>
                        <a:rPr lang="es-PE" sz="700" b="1" i="0" u="none" strike="noStrike">
                          <a:solidFill>
                            <a:srgbClr val="FFFFFF"/>
                          </a:solidFill>
                          <a:effectLst/>
                          <a:latin typeface="Trebuchet MS" panose="020B0603020202020204" pitchFamily="34" charset="0"/>
                        </a:rPr>
                        <a:t>Industrial</a:t>
                      </a:r>
                    </a:p>
                  </a:txBody>
                  <a:tcPr marL="7781" marR="7781" marT="778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7781" marR="7781" marT="778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3526409477"/>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Aenza</a:t>
                      </a:r>
                    </a:p>
                  </a:txBody>
                  <a:tcPr marL="7781" marR="7781" marT="7781"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14.4%</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16.3%</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27.4%</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11.9%</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3.1</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3.1</a:t>
                      </a:r>
                    </a:p>
                  </a:txBody>
                  <a:tcPr marL="7781" marR="7781" marT="7781" marB="0" anchor="ctr">
                    <a:lnL>
                      <a:noFill/>
                    </a:lnL>
                    <a:lnR w="6350" cap="flat" cmpd="sng" algn="ctr">
                      <a:solidFill>
                        <a:srgbClr val="000000"/>
                      </a:solidFill>
                      <a:prstDash val="solid"/>
                      <a:round/>
                      <a:headEnd type="none" w="med" len="med"/>
                      <a:tailEnd type="none" w="med" len="med"/>
                    </a:lnR>
                    <a:lnT>
                      <a:noFill/>
                    </a:lnT>
                    <a:lnB>
                      <a:noFill/>
                    </a:lnB>
                    <a:solidFill>
                      <a:srgbClr val="FCF4F7"/>
                    </a:solidFill>
                  </a:tcPr>
                </a:tc>
                <a:extLst>
                  <a:ext uri="{0D108BD9-81ED-4DB2-BD59-A6C34878D82A}">
                    <a16:rowId xmlns:a16="http://schemas.microsoft.com/office/drawing/2014/main" val="3057053118"/>
                  </a:ext>
                </a:extLst>
              </a:tr>
              <a:tr h="216356">
                <a:tc>
                  <a:txBody>
                    <a:bodyPr/>
                    <a:lstStyle/>
                    <a:p>
                      <a:pPr algn="ctr" rtl="0" fontAlgn="ctr">
                        <a:buNone/>
                      </a:pPr>
                      <a:r>
                        <a:rPr lang="es-PE" sz="700" b="0" i="0" u="none" strike="noStrike">
                          <a:solidFill>
                            <a:srgbClr val="1E2E6E"/>
                          </a:solidFill>
                          <a:effectLst/>
                          <a:latin typeface="Trebuchet MS" panose="020B0603020202020204" pitchFamily="34" charset="0"/>
                        </a:rPr>
                        <a:t>Puerto Chancay</a:t>
                      </a:r>
                    </a:p>
                  </a:txBody>
                  <a:tcPr marL="7781" marR="7781" marT="7781"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3.0</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3.0</a:t>
                      </a:r>
                    </a:p>
                  </a:txBody>
                  <a:tcPr marL="7781" marR="7781" marT="7781" marB="0" anchor="ctr">
                    <a:lnL>
                      <a:noFill/>
                    </a:lnL>
                    <a:lnR w="6350" cap="flat" cmpd="sng" algn="ctr">
                      <a:solidFill>
                        <a:srgbClr val="000000"/>
                      </a:solidFill>
                      <a:prstDash val="solid"/>
                      <a:round/>
                      <a:headEnd type="none" w="med" len="med"/>
                      <a:tailEnd type="none" w="med" len="med"/>
                    </a:lnR>
                    <a:lnT>
                      <a:noFill/>
                    </a:lnT>
                    <a:lnB>
                      <a:noFill/>
                    </a:lnB>
                    <a:solidFill>
                      <a:srgbClr val="FCFCFF"/>
                    </a:solidFill>
                  </a:tcPr>
                </a:tc>
                <a:extLst>
                  <a:ext uri="{0D108BD9-81ED-4DB2-BD59-A6C34878D82A}">
                    <a16:rowId xmlns:a16="http://schemas.microsoft.com/office/drawing/2014/main" val="2577683376"/>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Ferreycorp</a:t>
                      </a:r>
                    </a:p>
                  </a:txBody>
                  <a:tcPr marL="7781" marR="7781" marT="7781"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19.7%</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17.0%</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26.3%</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29.0%</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8.0%</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2.9</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Bajo</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2.9</a:t>
                      </a:r>
                    </a:p>
                  </a:txBody>
                  <a:tcPr marL="7781" marR="7781" marT="778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8F6"/>
                    </a:solidFill>
                  </a:tcPr>
                </a:tc>
                <a:extLst>
                  <a:ext uri="{0D108BD9-81ED-4DB2-BD59-A6C34878D82A}">
                    <a16:rowId xmlns:a16="http://schemas.microsoft.com/office/drawing/2014/main" val="3826548824"/>
                  </a:ext>
                </a:extLst>
              </a:tr>
              <a:tr h="265477">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0" i="0" u="none" strike="noStrike">
                        <a:solidFill>
                          <a:srgbClr val="1E2E6E"/>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endParaRPr lang="es-PE" sz="700" b="0" i="0" u="none" strike="noStrike">
                        <a:solidFill>
                          <a:srgbClr val="000000"/>
                        </a:solidFill>
                        <a:effectLst/>
                        <a:latin typeface="Trebuchet MS" panose="020B0603020202020204" pitchFamily="34" charset="0"/>
                      </a:endParaRPr>
                    </a:p>
                  </a:txBody>
                  <a:tcPr marL="7781" marR="7781" marT="778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dirty="0">
                        <a:solidFill>
                          <a:srgbClr val="000000"/>
                        </a:solidFill>
                        <a:effectLst/>
                        <a:latin typeface="Arial" panose="020B0604020202020204" pitchFamily="34" charset="0"/>
                      </a:endParaRPr>
                    </a:p>
                  </a:txBody>
                  <a:tcPr marL="7781" marR="7781" marT="778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endParaRPr lang="es-PE" sz="700" b="1" i="0" u="none" strike="noStrike">
                        <a:solidFill>
                          <a:srgbClr val="1F2533"/>
                        </a:solidFill>
                        <a:effectLst/>
                        <a:latin typeface="Trebuchet MS" panose="020B0603020202020204" pitchFamily="34" charset="0"/>
                      </a:endParaRPr>
                    </a:p>
                  </a:txBody>
                  <a:tcPr marL="7781" marR="7781" marT="7781"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2262577"/>
                  </a:ext>
                </a:extLst>
              </a:tr>
              <a:tr h="216356">
                <a:tc>
                  <a:txBody>
                    <a:bodyPr/>
                    <a:lstStyle/>
                    <a:p>
                      <a:pPr algn="ctr" rtl="0" fontAlgn="ctr">
                        <a:buNone/>
                      </a:pPr>
                      <a:r>
                        <a:rPr lang="es-PE" sz="700" b="1" i="0" u="none" strike="noStrike">
                          <a:solidFill>
                            <a:srgbClr val="FFFFFF"/>
                          </a:solidFill>
                          <a:effectLst/>
                          <a:latin typeface="Trebuchet MS" panose="020B0603020202020204" pitchFamily="34" charset="0"/>
                        </a:rPr>
                        <a:t>Materiales - Minería</a:t>
                      </a:r>
                    </a:p>
                  </a:txBody>
                  <a:tcPr marL="7781" marR="7781" marT="778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7781" marR="7781" marT="7781"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FFC000"/>
                          </a:solidFill>
                          <a:effectLst/>
                          <a:latin typeface="Trebuchet MS" panose="020B0603020202020204" pitchFamily="34" charset="0"/>
                        </a:rPr>
                        <a:t>Score </a:t>
                      </a:r>
                      <a:r>
                        <a:rPr lang="es-PE" sz="700" b="1" i="0" u="none" strike="noStrike" dirty="0" err="1">
                          <a:solidFill>
                            <a:srgbClr val="FFC000"/>
                          </a:solidFill>
                          <a:effectLst/>
                          <a:latin typeface="Trebuchet MS" panose="020B0603020202020204" pitchFamily="34" charset="0"/>
                        </a:rPr>
                        <a:t>Ajust</a:t>
                      </a:r>
                      <a:r>
                        <a:rPr lang="es-PE" sz="700" b="1" i="0" u="none" strike="noStrike" dirty="0">
                          <a:solidFill>
                            <a:srgbClr val="FFC000"/>
                          </a:solidFill>
                          <a:effectLst/>
                          <a:latin typeface="Trebuchet MS" panose="020B0603020202020204" pitchFamily="34" charset="0"/>
                        </a:rPr>
                        <a:t>.</a:t>
                      </a:r>
                    </a:p>
                  </a:txBody>
                  <a:tcPr marL="7781" marR="7781" marT="778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845639287"/>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Nexa Perú</a:t>
                      </a:r>
                    </a:p>
                  </a:txBody>
                  <a:tcPr marL="7781" marR="7781" marT="7781"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97.8%</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2.2%</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4.0</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4.0</a:t>
                      </a:r>
                    </a:p>
                  </a:txBody>
                  <a:tcPr marL="7781" marR="7781" marT="7781" marB="0" anchor="ctr">
                    <a:lnL>
                      <a:noFill/>
                    </a:lnL>
                    <a:lnR w="6350" cap="flat" cmpd="sng" algn="ctr">
                      <a:solidFill>
                        <a:srgbClr val="000000"/>
                      </a:solidFill>
                      <a:prstDash val="solid"/>
                      <a:round/>
                      <a:headEnd type="none" w="med" len="med"/>
                      <a:tailEnd type="none" w="med" len="med"/>
                    </a:lnR>
                    <a:lnT>
                      <a:noFill/>
                    </a:lnT>
                    <a:lnB>
                      <a:noFill/>
                    </a:lnB>
                    <a:solidFill>
                      <a:srgbClr val="F8696B"/>
                    </a:solidFill>
                  </a:tcPr>
                </a:tc>
                <a:extLst>
                  <a:ext uri="{0D108BD9-81ED-4DB2-BD59-A6C34878D82A}">
                    <a16:rowId xmlns:a16="http://schemas.microsoft.com/office/drawing/2014/main" val="2371318378"/>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Volcan</a:t>
                      </a:r>
                    </a:p>
                  </a:txBody>
                  <a:tcPr marL="7781" marR="7781" marT="7781"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4.0</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4.0</a:t>
                      </a:r>
                    </a:p>
                  </a:txBody>
                  <a:tcPr marL="7781" marR="7781" marT="7781" marB="0" anchor="ctr">
                    <a:lnL>
                      <a:noFill/>
                    </a:lnL>
                    <a:lnR w="6350" cap="flat" cmpd="sng" algn="ctr">
                      <a:solidFill>
                        <a:srgbClr val="000000"/>
                      </a:solidFill>
                      <a:prstDash val="solid"/>
                      <a:round/>
                      <a:headEnd type="none" w="med" len="med"/>
                      <a:tailEnd type="none" w="med" len="med"/>
                    </a:lnR>
                    <a:lnT>
                      <a:noFill/>
                    </a:lnT>
                    <a:lnB>
                      <a:noFill/>
                    </a:lnB>
                    <a:solidFill>
                      <a:srgbClr val="F96C6E"/>
                    </a:solidFill>
                  </a:tcPr>
                </a:tc>
                <a:extLst>
                  <a:ext uri="{0D108BD9-81ED-4DB2-BD59-A6C34878D82A}">
                    <a16:rowId xmlns:a16="http://schemas.microsoft.com/office/drawing/2014/main" val="2921718837"/>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Hochschild</a:t>
                      </a:r>
                    </a:p>
                  </a:txBody>
                  <a:tcPr marL="7781" marR="7781" marT="7781"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5.0</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Alto</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3.5</a:t>
                      </a:r>
                    </a:p>
                  </a:txBody>
                  <a:tcPr marL="7781" marR="7781" marT="7781" marB="0" anchor="ctr">
                    <a:lnL>
                      <a:noFill/>
                    </a:lnL>
                    <a:lnR w="6350" cap="flat" cmpd="sng" algn="ctr">
                      <a:solidFill>
                        <a:srgbClr val="000000"/>
                      </a:solidFill>
                      <a:prstDash val="solid"/>
                      <a:round/>
                      <a:headEnd type="none" w="med" len="med"/>
                      <a:tailEnd type="none" w="med" len="med"/>
                    </a:lnR>
                    <a:lnT>
                      <a:noFill/>
                    </a:lnT>
                    <a:lnB>
                      <a:noFill/>
                    </a:lnB>
                    <a:solidFill>
                      <a:srgbClr val="FBB4B7"/>
                    </a:solidFill>
                  </a:tcPr>
                </a:tc>
                <a:extLst>
                  <a:ext uri="{0D108BD9-81ED-4DB2-BD59-A6C34878D82A}">
                    <a16:rowId xmlns:a16="http://schemas.microsoft.com/office/drawing/2014/main" val="3255673099"/>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Minsur</a:t>
                      </a:r>
                    </a:p>
                  </a:txBody>
                  <a:tcPr marL="7781" marR="7781" marT="7781"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76.8%</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23.2%</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3.2</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3.2</a:t>
                      </a:r>
                    </a:p>
                  </a:txBody>
                  <a:tcPr marL="7781" marR="7781" marT="7781" marB="0" anchor="ctr">
                    <a:lnL>
                      <a:noFill/>
                    </a:lnL>
                    <a:lnR w="6350" cap="flat" cmpd="sng" algn="ctr">
                      <a:solidFill>
                        <a:srgbClr val="000000"/>
                      </a:solidFill>
                      <a:prstDash val="solid"/>
                      <a:round/>
                      <a:headEnd type="none" w="med" len="med"/>
                      <a:tailEnd type="none" w="med" len="med"/>
                    </a:lnR>
                    <a:lnT>
                      <a:noFill/>
                    </a:lnT>
                    <a:lnB>
                      <a:noFill/>
                    </a:lnB>
                    <a:solidFill>
                      <a:srgbClr val="FCDBDE"/>
                    </a:solidFill>
                  </a:tcPr>
                </a:tc>
                <a:extLst>
                  <a:ext uri="{0D108BD9-81ED-4DB2-BD59-A6C34878D82A}">
                    <a16:rowId xmlns:a16="http://schemas.microsoft.com/office/drawing/2014/main" val="3380031355"/>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Buenaventura</a:t>
                      </a:r>
                    </a:p>
                  </a:txBody>
                  <a:tcPr marL="7781" marR="7781" marT="7781"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43.8%</a:t>
                      </a:r>
                    </a:p>
                  </a:txBody>
                  <a:tcPr marL="7781" marR="7781" marT="7781"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56.2%</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4.6</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Alto</a:t>
                      </a:r>
                    </a:p>
                  </a:txBody>
                  <a:tcPr marL="7781" marR="7781" marT="7781"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3.2</a:t>
                      </a:r>
                    </a:p>
                  </a:txBody>
                  <a:tcPr marL="7781" marR="7781" marT="7781" marB="0" anchor="ctr">
                    <a:lnL>
                      <a:noFill/>
                    </a:lnL>
                    <a:lnR w="6350" cap="flat" cmpd="sng" algn="ctr">
                      <a:solidFill>
                        <a:srgbClr val="000000"/>
                      </a:solidFill>
                      <a:prstDash val="solid"/>
                      <a:round/>
                      <a:headEnd type="none" w="med" len="med"/>
                      <a:tailEnd type="none" w="med" len="med"/>
                    </a:lnR>
                    <a:lnT>
                      <a:noFill/>
                    </a:lnT>
                    <a:lnB>
                      <a:noFill/>
                    </a:lnB>
                    <a:solidFill>
                      <a:srgbClr val="FCE1E4"/>
                    </a:solidFill>
                  </a:tcPr>
                </a:tc>
                <a:extLst>
                  <a:ext uri="{0D108BD9-81ED-4DB2-BD59-A6C34878D82A}">
                    <a16:rowId xmlns:a16="http://schemas.microsoft.com/office/drawing/2014/main" val="1215064597"/>
                  </a:ext>
                </a:extLst>
              </a:tr>
              <a:tr h="174783">
                <a:tc>
                  <a:txBody>
                    <a:bodyPr/>
                    <a:lstStyle/>
                    <a:p>
                      <a:pPr algn="ctr" rtl="0" fontAlgn="ctr">
                        <a:buNone/>
                      </a:pPr>
                      <a:r>
                        <a:rPr lang="es-PE" sz="700" b="0" i="0" u="none" strike="noStrike">
                          <a:solidFill>
                            <a:srgbClr val="1E2E6E"/>
                          </a:solidFill>
                          <a:effectLst/>
                          <a:latin typeface="Trebuchet MS" panose="020B0603020202020204" pitchFamily="34" charset="0"/>
                        </a:rPr>
                        <a:t>Hudbay</a:t>
                      </a:r>
                    </a:p>
                  </a:txBody>
                  <a:tcPr marL="7781" marR="7781" marT="7781"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3.0</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7781" marR="7781" marT="7781"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3.0</a:t>
                      </a:r>
                    </a:p>
                  </a:txBody>
                  <a:tcPr marL="7781" marR="7781" marT="778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CFCFF"/>
                    </a:solidFill>
                  </a:tcPr>
                </a:tc>
                <a:extLst>
                  <a:ext uri="{0D108BD9-81ED-4DB2-BD59-A6C34878D82A}">
                    <a16:rowId xmlns:a16="http://schemas.microsoft.com/office/drawing/2014/main" val="3228051362"/>
                  </a:ext>
                </a:extLst>
              </a:tr>
            </a:tbl>
          </a:graphicData>
        </a:graphic>
      </p:graphicFrame>
      <p:sp>
        <p:nvSpPr>
          <p:cNvPr id="26" name="Title 2">
            <a:extLst>
              <a:ext uri="{FF2B5EF4-FFF2-40B4-BE49-F238E27FC236}">
                <a16:creationId xmlns:a16="http://schemas.microsoft.com/office/drawing/2014/main" id="{C6674F9F-4C3E-ED8C-D899-50C1BFD62D97}"/>
              </a:ext>
            </a:extLst>
          </p:cNvPr>
          <p:cNvSpPr>
            <a:spLocks noGrp="1"/>
          </p:cNvSpPr>
          <p:nvPr>
            <p:ph type="title"/>
          </p:nvPr>
        </p:nvSpPr>
        <p:spPr>
          <a:xfrm>
            <a:off x="0" y="88429"/>
            <a:ext cx="10819699" cy="676275"/>
          </a:xfrm>
        </p:spPr>
        <p:txBody>
          <a:bodyPr>
            <a:noAutofit/>
          </a:bodyPr>
          <a:lstStyle/>
          <a:p>
            <a:r>
              <a:rPr lang="es-ES" sz="2000" dirty="0"/>
              <a:t>3.6 Gestión Climática</a:t>
            </a:r>
            <a:r>
              <a:rPr lang="es-PE" sz="2000" dirty="0"/>
              <a:t> – Riesgos Físicos: Objetivo 2025-2027: Resultados 1S2026 </a:t>
            </a:r>
            <a:endParaRPr lang="es-ES" sz="2000" dirty="0"/>
          </a:p>
        </p:txBody>
      </p:sp>
    </p:spTree>
    <p:extLst>
      <p:ext uri="{BB962C8B-B14F-4D97-AF65-F5344CB8AC3E}">
        <p14:creationId xmlns:p14="http://schemas.microsoft.com/office/powerpoint/2010/main" val="1766995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96575-21B5-6962-3021-CFFB6CB9E6A4}"/>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0ACD7F7-DEF2-6993-209F-2DC550D61089}"/>
              </a:ext>
            </a:extLst>
          </p:cNvPr>
          <p:cNvSpPr/>
          <p:nvPr/>
        </p:nvSpPr>
        <p:spPr>
          <a:xfrm>
            <a:off x="839416" y="1124744"/>
            <a:ext cx="11089232" cy="288032"/>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MX" sz="1000" dirty="0">
                <a:solidFill>
                  <a:srgbClr val="1E2E6E"/>
                </a:solidFill>
                <a:latin typeface="Trebuchet MS" panose="020B0603020202020204" pitchFamily="34" charset="0"/>
                <a:cs typeface="Arial" panose="020B0604020202020204" pitchFamily="34" charset="0"/>
              </a:rPr>
              <a:t>Inundaciones con ubicación de activos a nivel distrital con fuentes de data BU homologadas (Minam, COES, SBS, etc.) e identificación de Mitigantes de Riesgo + </a:t>
            </a:r>
            <a:r>
              <a:rPr lang="es-MX" sz="1000" dirty="0" err="1">
                <a:solidFill>
                  <a:srgbClr val="1E2E6E"/>
                </a:solidFill>
                <a:latin typeface="Trebuchet MS" panose="020B0603020202020204" pitchFamily="34" charset="0"/>
                <a:cs typeface="Arial" panose="020B0604020202020204" pitchFamily="34" charset="0"/>
              </a:rPr>
              <a:t>Dashboard</a:t>
            </a:r>
            <a:r>
              <a:rPr lang="es-MX" sz="1000" dirty="0">
                <a:solidFill>
                  <a:srgbClr val="1E2E6E"/>
                </a:solidFill>
                <a:latin typeface="Trebuchet MS" panose="020B0603020202020204" pitchFamily="34" charset="0"/>
                <a:cs typeface="Arial" panose="020B0604020202020204" pitchFamily="34" charset="0"/>
              </a:rPr>
              <a:t>.</a:t>
            </a:r>
            <a:endParaRPr lang="es-PE" sz="1000" dirty="0">
              <a:solidFill>
                <a:srgbClr val="1E2E6E"/>
              </a:solidFill>
              <a:latin typeface="Trebuchet MS" panose="020B0603020202020204" pitchFamily="34" charset="0"/>
              <a:cs typeface="Arial" panose="020B0604020202020204" pitchFamily="34" charset="0"/>
            </a:endParaRPr>
          </a:p>
          <a:p>
            <a:pPr lvl="0" algn="just" defTabSz="457200">
              <a:defRPr/>
            </a:pPr>
            <a:endPar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13" name="Rectangle: Rounded Corners 12">
            <a:extLst>
              <a:ext uri="{FF2B5EF4-FFF2-40B4-BE49-F238E27FC236}">
                <a16:creationId xmlns:a16="http://schemas.microsoft.com/office/drawing/2014/main" id="{0CF0EB8C-D361-548A-8626-8098526AE6F9}"/>
              </a:ext>
            </a:extLst>
          </p:cNvPr>
          <p:cNvSpPr/>
          <p:nvPr/>
        </p:nvSpPr>
        <p:spPr>
          <a:xfrm>
            <a:off x="767408" y="764704"/>
            <a:ext cx="7848872"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Metodología Interna Mejorada (Nivel Distrital - Histórico) - Riesgos Físicos por Emisor Local</a:t>
            </a:r>
            <a:r>
              <a:rPr lang="es-PE" sz="1000" b="1" dirty="0">
                <a:solidFill>
                  <a:srgbClr val="1F497D"/>
                </a:solidFill>
                <a:latin typeface="Trebuchet MS" panose="020B0603020202020204" pitchFamily="34" charset="0"/>
              </a:rPr>
              <a:t>:</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graphicFrame>
        <p:nvGraphicFramePr>
          <p:cNvPr id="4" name="Table 3">
            <a:extLst>
              <a:ext uri="{FF2B5EF4-FFF2-40B4-BE49-F238E27FC236}">
                <a16:creationId xmlns:a16="http://schemas.microsoft.com/office/drawing/2014/main" id="{19C2FBB9-7B08-5B0B-8230-9FA2D10BA1F3}"/>
              </a:ext>
            </a:extLst>
          </p:cNvPr>
          <p:cNvGraphicFramePr>
            <a:graphicFrameLocks noGrp="1"/>
          </p:cNvGraphicFramePr>
          <p:nvPr/>
        </p:nvGraphicFramePr>
        <p:xfrm>
          <a:off x="1192654" y="1556792"/>
          <a:ext cx="4831338" cy="560396"/>
        </p:xfrm>
        <a:graphic>
          <a:graphicData uri="http://schemas.openxmlformats.org/drawingml/2006/table">
            <a:tbl>
              <a:tblPr/>
              <a:tblGrid>
                <a:gridCol w="2415669">
                  <a:extLst>
                    <a:ext uri="{9D8B030D-6E8A-4147-A177-3AD203B41FA5}">
                      <a16:colId xmlns:a16="http://schemas.microsoft.com/office/drawing/2014/main" val="1562374121"/>
                    </a:ext>
                  </a:extLst>
                </a:gridCol>
                <a:gridCol w="2415669">
                  <a:extLst>
                    <a:ext uri="{9D8B030D-6E8A-4147-A177-3AD203B41FA5}">
                      <a16:colId xmlns:a16="http://schemas.microsoft.com/office/drawing/2014/main" val="2602063270"/>
                    </a:ext>
                  </a:extLst>
                </a:gridCol>
              </a:tblGrid>
              <a:tr h="267682">
                <a:tc gridSpan="2">
                  <a:txBody>
                    <a:bodyPr/>
                    <a:lstStyle/>
                    <a:p>
                      <a:pPr algn="ctr" rtl="0" fontAlgn="ctr">
                        <a:buNone/>
                      </a:pPr>
                      <a:r>
                        <a:rPr lang="es-PE" sz="1000" b="1" i="0" u="none" strike="noStrike" dirty="0">
                          <a:solidFill>
                            <a:srgbClr val="FFFFFF"/>
                          </a:solidFill>
                          <a:effectLst/>
                          <a:latin typeface="Trebuchet MS" panose="020B0603020202020204" pitchFamily="34" charset="0"/>
                        </a:rPr>
                        <a:t>Ejemplos - Comparación</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2683C6"/>
                    </a:solidFill>
                  </a:tcPr>
                </a:tc>
                <a:tc hMerge="1">
                  <a:txBody>
                    <a:bodyPr/>
                    <a:lstStyle/>
                    <a:p>
                      <a:endParaRPr lang="es-PE"/>
                    </a:p>
                  </a:txBody>
                  <a:tcPr/>
                </a:tc>
                <a:extLst>
                  <a:ext uri="{0D108BD9-81ED-4DB2-BD59-A6C34878D82A}">
                    <a16:rowId xmlns:a16="http://schemas.microsoft.com/office/drawing/2014/main" val="2900688189"/>
                  </a:ext>
                </a:extLst>
              </a:tr>
              <a:tr h="292714">
                <a:tc>
                  <a:txBody>
                    <a:bodyPr/>
                    <a:lstStyle/>
                    <a:p>
                      <a:pPr algn="ctr" rtl="0" fontAlgn="ctr">
                        <a:buNone/>
                      </a:pPr>
                      <a:r>
                        <a:rPr lang="es-PE" sz="1100" b="1" i="0" u="none" strike="noStrike">
                          <a:solidFill>
                            <a:srgbClr val="1E2E6E"/>
                          </a:solidFill>
                          <a:effectLst/>
                          <a:latin typeface="Trebuchet MS" panose="020B0603020202020204" pitchFamily="34" charset="0"/>
                        </a:rPr>
                        <a:t>Buenaventura</a:t>
                      </a:r>
                    </a:p>
                  </a:txBody>
                  <a:tcPr marL="9525" marR="9525" marT="9525" marB="0" anchor="ctr">
                    <a:lnL>
                      <a:noFill/>
                    </a:lnL>
                    <a:lnR w="1270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gn="ctr" rtl="0" fontAlgn="ctr">
                        <a:buNone/>
                      </a:pPr>
                      <a:r>
                        <a:rPr lang="es-PE" sz="1100" b="1" i="0" u="none" strike="noStrike" dirty="0" err="1">
                          <a:solidFill>
                            <a:srgbClr val="1E2E6E"/>
                          </a:solidFill>
                          <a:effectLst/>
                          <a:latin typeface="Trebuchet MS" panose="020B0603020202020204" pitchFamily="34" charset="0"/>
                        </a:rPr>
                        <a:t>Nexa</a:t>
                      </a:r>
                      <a:r>
                        <a:rPr lang="es-PE" sz="1100" b="1" i="0" u="none" strike="noStrike" dirty="0">
                          <a:solidFill>
                            <a:srgbClr val="1E2E6E"/>
                          </a:solidFill>
                          <a:effectLst/>
                          <a:latin typeface="Trebuchet MS" panose="020B0603020202020204" pitchFamily="34" charset="0"/>
                        </a:rPr>
                        <a:t> Perú</a:t>
                      </a:r>
                    </a:p>
                  </a:txBody>
                  <a:tcPr marL="9525" marR="9525" marT="9525" marB="0" anchor="ctr">
                    <a:lnL w="12700" cap="flat" cmpd="sng" algn="ctr">
                      <a:solidFill>
                        <a:srgbClr val="7F7F7F"/>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1401173728"/>
                  </a:ext>
                </a:extLst>
              </a:tr>
            </a:tbl>
          </a:graphicData>
        </a:graphic>
      </p:graphicFrame>
      <p:pic>
        <p:nvPicPr>
          <p:cNvPr id="10" name="Picture 14">
            <a:extLst>
              <a:ext uri="{FF2B5EF4-FFF2-40B4-BE49-F238E27FC236}">
                <a16:creationId xmlns:a16="http://schemas.microsoft.com/office/drawing/2014/main" id="{A4D1FA28-7291-CFEA-BB95-CB456A880915}"/>
              </a:ext>
            </a:extLst>
          </p:cNvPr>
          <p:cNvPicPr>
            <a:picLocks noChangeAspect="1"/>
          </p:cNvPicPr>
          <p:nvPr/>
        </p:nvPicPr>
        <p:blipFill>
          <a:blip r:embed="rId3"/>
          <a:stretch>
            <a:fillRect/>
          </a:stretch>
        </p:blipFill>
        <p:spPr>
          <a:xfrm>
            <a:off x="1487488" y="4799235"/>
            <a:ext cx="4225337" cy="213941"/>
          </a:xfrm>
          <a:prstGeom prst="rect">
            <a:avLst/>
          </a:prstGeom>
        </p:spPr>
      </p:pic>
      <p:pic>
        <p:nvPicPr>
          <p:cNvPr id="12" name="Picture 20">
            <a:extLst>
              <a:ext uri="{FF2B5EF4-FFF2-40B4-BE49-F238E27FC236}">
                <a16:creationId xmlns:a16="http://schemas.microsoft.com/office/drawing/2014/main" id="{B54DBA37-0D9D-4647-BA25-DFE8596FF483}"/>
              </a:ext>
            </a:extLst>
          </p:cNvPr>
          <p:cNvPicPr>
            <a:picLocks noChangeAspect="1"/>
          </p:cNvPicPr>
          <p:nvPr/>
        </p:nvPicPr>
        <p:blipFill>
          <a:blip r:embed="rId4"/>
          <a:stretch>
            <a:fillRect/>
          </a:stretch>
        </p:blipFill>
        <p:spPr>
          <a:xfrm>
            <a:off x="1559496" y="2204864"/>
            <a:ext cx="1728460" cy="2520180"/>
          </a:xfrm>
          <a:prstGeom prst="rect">
            <a:avLst/>
          </a:prstGeom>
        </p:spPr>
      </p:pic>
      <p:pic>
        <p:nvPicPr>
          <p:cNvPr id="17" name="Picture 22">
            <a:extLst>
              <a:ext uri="{FF2B5EF4-FFF2-40B4-BE49-F238E27FC236}">
                <a16:creationId xmlns:a16="http://schemas.microsoft.com/office/drawing/2014/main" id="{47071FEE-47BF-C6C3-8606-788B78740334}"/>
              </a:ext>
            </a:extLst>
          </p:cNvPr>
          <p:cNvPicPr>
            <a:picLocks noChangeAspect="1"/>
          </p:cNvPicPr>
          <p:nvPr/>
        </p:nvPicPr>
        <p:blipFill>
          <a:blip r:embed="rId5"/>
          <a:stretch>
            <a:fillRect/>
          </a:stretch>
        </p:blipFill>
        <p:spPr>
          <a:xfrm>
            <a:off x="3801991" y="2204865"/>
            <a:ext cx="1697104" cy="2516262"/>
          </a:xfrm>
          <a:prstGeom prst="rect">
            <a:avLst/>
          </a:prstGeom>
        </p:spPr>
      </p:pic>
      <p:graphicFrame>
        <p:nvGraphicFramePr>
          <p:cNvPr id="24" name="Tabla 23">
            <a:extLst>
              <a:ext uri="{FF2B5EF4-FFF2-40B4-BE49-F238E27FC236}">
                <a16:creationId xmlns:a16="http://schemas.microsoft.com/office/drawing/2014/main" id="{6357E041-1D33-72D6-2DEC-E577E82815EB}"/>
              </a:ext>
            </a:extLst>
          </p:cNvPr>
          <p:cNvGraphicFramePr>
            <a:graphicFrameLocks noGrp="1"/>
          </p:cNvGraphicFramePr>
          <p:nvPr/>
        </p:nvGraphicFramePr>
        <p:xfrm>
          <a:off x="983432" y="5229200"/>
          <a:ext cx="5256585" cy="1307885"/>
        </p:xfrm>
        <a:graphic>
          <a:graphicData uri="http://schemas.openxmlformats.org/drawingml/2006/table">
            <a:tbl>
              <a:tblPr/>
              <a:tblGrid>
                <a:gridCol w="584065">
                  <a:extLst>
                    <a:ext uri="{9D8B030D-6E8A-4147-A177-3AD203B41FA5}">
                      <a16:colId xmlns:a16="http://schemas.microsoft.com/office/drawing/2014/main" val="3518421299"/>
                    </a:ext>
                  </a:extLst>
                </a:gridCol>
                <a:gridCol w="584065">
                  <a:extLst>
                    <a:ext uri="{9D8B030D-6E8A-4147-A177-3AD203B41FA5}">
                      <a16:colId xmlns:a16="http://schemas.microsoft.com/office/drawing/2014/main" val="2293969017"/>
                    </a:ext>
                  </a:extLst>
                </a:gridCol>
                <a:gridCol w="584065">
                  <a:extLst>
                    <a:ext uri="{9D8B030D-6E8A-4147-A177-3AD203B41FA5}">
                      <a16:colId xmlns:a16="http://schemas.microsoft.com/office/drawing/2014/main" val="712911926"/>
                    </a:ext>
                  </a:extLst>
                </a:gridCol>
                <a:gridCol w="584065">
                  <a:extLst>
                    <a:ext uri="{9D8B030D-6E8A-4147-A177-3AD203B41FA5}">
                      <a16:colId xmlns:a16="http://schemas.microsoft.com/office/drawing/2014/main" val="729473800"/>
                    </a:ext>
                  </a:extLst>
                </a:gridCol>
                <a:gridCol w="584065">
                  <a:extLst>
                    <a:ext uri="{9D8B030D-6E8A-4147-A177-3AD203B41FA5}">
                      <a16:colId xmlns:a16="http://schemas.microsoft.com/office/drawing/2014/main" val="2954922939"/>
                    </a:ext>
                  </a:extLst>
                </a:gridCol>
                <a:gridCol w="584065">
                  <a:extLst>
                    <a:ext uri="{9D8B030D-6E8A-4147-A177-3AD203B41FA5}">
                      <a16:colId xmlns:a16="http://schemas.microsoft.com/office/drawing/2014/main" val="3121695739"/>
                    </a:ext>
                  </a:extLst>
                </a:gridCol>
                <a:gridCol w="584065">
                  <a:extLst>
                    <a:ext uri="{9D8B030D-6E8A-4147-A177-3AD203B41FA5}">
                      <a16:colId xmlns:a16="http://schemas.microsoft.com/office/drawing/2014/main" val="3498125284"/>
                    </a:ext>
                  </a:extLst>
                </a:gridCol>
                <a:gridCol w="584065">
                  <a:extLst>
                    <a:ext uri="{9D8B030D-6E8A-4147-A177-3AD203B41FA5}">
                      <a16:colId xmlns:a16="http://schemas.microsoft.com/office/drawing/2014/main" val="3566175356"/>
                    </a:ext>
                  </a:extLst>
                </a:gridCol>
                <a:gridCol w="584065">
                  <a:extLst>
                    <a:ext uri="{9D8B030D-6E8A-4147-A177-3AD203B41FA5}">
                      <a16:colId xmlns:a16="http://schemas.microsoft.com/office/drawing/2014/main" val="2621276271"/>
                    </a:ext>
                  </a:extLst>
                </a:gridCol>
              </a:tblGrid>
              <a:tr h="210075">
                <a:tc>
                  <a:txBody>
                    <a:bodyPr/>
                    <a:lstStyle/>
                    <a:p>
                      <a:pPr algn="ctr" rtl="0" fontAlgn="ctr">
                        <a:buNone/>
                      </a:pPr>
                      <a:r>
                        <a:rPr lang="es-PE" sz="700" b="1" i="0" u="none" strike="noStrike">
                          <a:solidFill>
                            <a:srgbClr val="FFFFFF"/>
                          </a:solidFill>
                          <a:effectLst/>
                          <a:latin typeface="Trebuchet MS" panose="020B0603020202020204" pitchFamily="34" charset="0"/>
                        </a:rPr>
                        <a:t>Utilities</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1080220164"/>
                  </a:ext>
                </a:extLst>
              </a:tr>
              <a:tr h="175062">
                <a:tc>
                  <a:txBody>
                    <a:bodyPr/>
                    <a:lstStyle/>
                    <a:p>
                      <a:pPr algn="ctr" rtl="0" fontAlgn="ctr">
                        <a:buNone/>
                      </a:pPr>
                      <a:r>
                        <a:rPr lang="es-PE" sz="700" b="0" i="0" u="none" strike="noStrike">
                          <a:solidFill>
                            <a:srgbClr val="1E2E6E"/>
                          </a:solidFill>
                          <a:effectLst/>
                          <a:latin typeface="Trebuchet MS" panose="020B0603020202020204" pitchFamily="34" charset="0"/>
                        </a:rPr>
                        <a:t>Pluz Energía</a:t>
                      </a: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0.0%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17.0%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29.0%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39.0%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15.0%</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3.5</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3.5</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solidFill>
                      <a:srgbClr val="FBD4D7"/>
                    </a:solidFill>
                  </a:tcPr>
                </a:tc>
                <a:extLst>
                  <a:ext uri="{0D108BD9-81ED-4DB2-BD59-A6C34878D82A}">
                    <a16:rowId xmlns:a16="http://schemas.microsoft.com/office/drawing/2014/main" val="3250608994"/>
                  </a:ext>
                </a:extLst>
              </a:tr>
              <a:tr h="175062">
                <a:tc>
                  <a:txBody>
                    <a:bodyPr/>
                    <a:lstStyle/>
                    <a:p>
                      <a:pPr algn="ctr" rtl="0" fontAlgn="ctr">
                        <a:buNone/>
                      </a:pPr>
                      <a:r>
                        <a:rPr lang="es-PE" sz="700" b="0" i="0" u="none" strike="noStrike">
                          <a:solidFill>
                            <a:srgbClr val="1E2E6E"/>
                          </a:solidFill>
                          <a:effectLst/>
                          <a:latin typeface="Trebuchet MS" panose="020B0603020202020204" pitchFamily="34" charset="0"/>
                        </a:rPr>
                        <a:t>Orygen</a:t>
                      </a: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30.0%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25.0%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45.0%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2.9</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2.9</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solidFill>
                      <a:srgbClr val="DEF0E5"/>
                    </a:solidFill>
                  </a:tcPr>
                </a:tc>
                <a:extLst>
                  <a:ext uri="{0D108BD9-81ED-4DB2-BD59-A6C34878D82A}">
                    <a16:rowId xmlns:a16="http://schemas.microsoft.com/office/drawing/2014/main" val="1020818938"/>
                  </a:ext>
                </a:extLst>
              </a:tr>
              <a:tr h="175062">
                <a:tc>
                  <a:txBody>
                    <a:bodyPr/>
                    <a:lstStyle/>
                    <a:p>
                      <a:pPr algn="ctr" rtl="0" fontAlgn="ctr">
                        <a:buNone/>
                      </a:pPr>
                      <a:r>
                        <a:rPr lang="es-PE" sz="700" b="0" i="0" u="none" strike="noStrike">
                          <a:solidFill>
                            <a:srgbClr val="1E2E6E"/>
                          </a:solidFill>
                          <a:effectLst/>
                          <a:latin typeface="Trebuchet MS" panose="020B0603020202020204" pitchFamily="34" charset="0"/>
                        </a:rPr>
                        <a:t>Engie</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42.0%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50.0%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7.0%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2.7</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2.7</a:t>
                      </a: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CE8D5"/>
                    </a:solidFill>
                  </a:tcPr>
                </a:tc>
                <a:extLst>
                  <a:ext uri="{0D108BD9-81ED-4DB2-BD59-A6C34878D82A}">
                    <a16:rowId xmlns:a16="http://schemas.microsoft.com/office/drawing/2014/main" val="2550821899"/>
                  </a:ext>
                </a:extLst>
              </a:tr>
              <a:tr h="187487">
                <a:tc>
                  <a:txBody>
                    <a:bodyPr/>
                    <a:lstStyle/>
                    <a:p>
                      <a:pPr algn="l" fontAlgn="b">
                        <a:buNone/>
                      </a:pPr>
                      <a:endParaRPr lang="es-PE" sz="11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11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11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11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11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11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11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11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11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8466664"/>
                  </a:ext>
                </a:extLst>
              </a:tr>
              <a:tr h="210075">
                <a:tc>
                  <a:txBody>
                    <a:bodyPr/>
                    <a:lstStyle/>
                    <a:p>
                      <a:pPr algn="ctr" rtl="0" fontAlgn="ctr">
                        <a:buNone/>
                      </a:pPr>
                      <a:r>
                        <a:rPr lang="es-PE" sz="700" b="1" i="0" u="none" strike="noStrike">
                          <a:solidFill>
                            <a:srgbClr val="FFFFFF"/>
                          </a:solidFill>
                          <a:effectLst/>
                          <a:latin typeface="Trebuchet MS" panose="020B0603020202020204" pitchFamily="34" charset="0"/>
                        </a:rPr>
                        <a:t>Salud</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2536541256"/>
                  </a:ext>
                </a:extLst>
              </a:tr>
              <a:tr h="175062">
                <a:tc>
                  <a:txBody>
                    <a:bodyPr/>
                    <a:lstStyle/>
                    <a:p>
                      <a:pPr algn="ctr" rtl="0" fontAlgn="ctr">
                        <a:buNone/>
                      </a:pPr>
                      <a:r>
                        <a:rPr lang="es-PE" sz="700" b="0" i="0" u="none" strike="noStrike">
                          <a:solidFill>
                            <a:srgbClr val="1E2E6E"/>
                          </a:solidFill>
                          <a:effectLst/>
                          <a:latin typeface="Trebuchet MS" panose="020B0603020202020204" pitchFamily="34" charset="0"/>
                        </a:rPr>
                        <a:t>Auna</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60.0%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40.0%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4.4</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4.4</a:t>
                      </a: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8696B"/>
                    </a:solidFill>
                  </a:tcPr>
                </a:tc>
                <a:extLst>
                  <a:ext uri="{0D108BD9-81ED-4DB2-BD59-A6C34878D82A}">
                    <a16:rowId xmlns:a16="http://schemas.microsoft.com/office/drawing/2014/main" val="3861581928"/>
                  </a:ext>
                </a:extLst>
              </a:tr>
            </a:tbl>
          </a:graphicData>
        </a:graphic>
      </p:graphicFrame>
      <p:graphicFrame>
        <p:nvGraphicFramePr>
          <p:cNvPr id="27" name="Tabla 26">
            <a:extLst>
              <a:ext uri="{FF2B5EF4-FFF2-40B4-BE49-F238E27FC236}">
                <a16:creationId xmlns:a16="http://schemas.microsoft.com/office/drawing/2014/main" id="{41850F85-29CD-B147-828C-3CD137BAFAFA}"/>
              </a:ext>
            </a:extLst>
          </p:cNvPr>
          <p:cNvGraphicFramePr>
            <a:graphicFrameLocks noGrp="1"/>
          </p:cNvGraphicFramePr>
          <p:nvPr/>
        </p:nvGraphicFramePr>
        <p:xfrm>
          <a:off x="6600056" y="1556792"/>
          <a:ext cx="5256585" cy="4999180"/>
        </p:xfrm>
        <a:graphic>
          <a:graphicData uri="http://schemas.openxmlformats.org/drawingml/2006/table">
            <a:tbl>
              <a:tblPr/>
              <a:tblGrid>
                <a:gridCol w="584065">
                  <a:extLst>
                    <a:ext uri="{9D8B030D-6E8A-4147-A177-3AD203B41FA5}">
                      <a16:colId xmlns:a16="http://schemas.microsoft.com/office/drawing/2014/main" val="2097800215"/>
                    </a:ext>
                  </a:extLst>
                </a:gridCol>
                <a:gridCol w="584065">
                  <a:extLst>
                    <a:ext uri="{9D8B030D-6E8A-4147-A177-3AD203B41FA5}">
                      <a16:colId xmlns:a16="http://schemas.microsoft.com/office/drawing/2014/main" val="2365328124"/>
                    </a:ext>
                  </a:extLst>
                </a:gridCol>
                <a:gridCol w="584065">
                  <a:extLst>
                    <a:ext uri="{9D8B030D-6E8A-4147-A177-3AD203B41FA5}">
                      <a16:colId xmlns:a16="http://schemas.microsoft.com/office/drawing/2014/main" val="2935062020"/>
                    </a:ext>
                  </a:extLst>
                </a:gridCol>
                <a:gridCol w="584065">
                  <a:extLst>
                    <a:ext uri="{9D8B030D-6E8A-4147-A177-3AD203B41FA5}">
                      <a16:colId xmlns:a16="http://schemas.microsoft.com/office/drawing/2014/main" val="1296716018"/>
                    </a:ext>
                  </a:extLst>
                </a:gridCol>
                <a:gridCol w="584065">
                  <a:extLst>
                    <a:ext uri="{9D8B030D-6E8A-4147-A177-3AD203B41FA5}">
                      <a16:colId xmlns:a16="http://schemas.microsoft.com/office/drawing/2014/main" val="374934094"/>
                    </a:ext>
                  </a:extLst>
                </a:gridCol>
                <a:gridCol w="584065">
                  <a:extLst>
                    <a:ext uri="{9D8B030D-6E8A-4147-A177-3AD203B41FA5}">
                      <a16:colId xmlns:a16="http://schemas.microsoft.com/office/drawing/2014/main" val="62103235"/>
                    </a:ext>
                  </a:extLst>
                </a:gridCol>
                <a:gridCol w="584065">
                  <a:extLst>
                    <a:ext uri="{9D8B030D-6E8A-4147-A177-3AD203B41FA5}">
                      <a16:colId xmlns:a16="http://schemas.microsoft.com/office/drawing/2014/main" val="693971116"/>
                    </a:ext>
                  </a:extLst>
                </a:gridCol>
                <a:gridCol w="584065">
                  <a:extLst>
                    <a:ext uri="{9D8B030D-6E8A-4147-A177-3AD203B41FA5}">
                      <a16:colId xmlns:a16="http://schemas.microsoft.com/office/drawing/2014/main" val="4080722965"/>
                    </a:ext>
                  </a:extLst>
                </a:gridCol>
                <a:gridCol w="584065">
                  <a:extLst>
                    <a:ext uri="{9D8B030D-6E8A-4147-A177-3AD203B41FA5}">
                      <a16:colId xmlns:a16="http://schemas.microsoft.com/office/drawing/2014/main" val="2046479942"/>
                    </a:ext>
                  </a:extLst>
                </a:gridCol>
              </a:tblGrid>
              <a:tr h="229318">
                <a:tc>
                  <a:txBody>
                    <a:bodyPr/>
                    <a:lstStyle/>
                    <a:p>
                      <a:pPr algn="ctr" rtl="0" fontAlgn="ctr">
                        <a:buNone/>
                      </a:pPr>
                      <a:r>
                        <a:rPr lang="es-PE" sz="700" b="1" i="0" u="none" strike="noStrike" dirty="0">
                          <a:solidFill>
                            <a:srgbClr val="FFFFFF"/>
                          </a:solidFill>
                          <a:effectLst/>
                          <a:latin typeface="Trebuchet MS" panose="020B0603020202020204" pitchFamily="34" charset="0"/>
                        </a:rPr>
                        <a:t>Materiales - Cementeras</a:t>
                      </a:r>
                    </a:p>
                  </a:txBody>
                  <a:tcPr marL="8368" marR="8368" marT="8368"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8368" marR="8368" marT="8368"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3413642195"/>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Pacasmayo</a:t>
                      </a:r>
                    </a:p>
                  </a:txBody>
                  <a:tcPr marL="8368" marR="8368" marT="8368"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dirty="0">
                          <a:solidFill>
                            <a:srgbClr val="1F2533"/>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dirty="0">
                          <a:solidFill>
                            <a:srgbClr val="1F2533"/>
                          </a:solidFill>
                          <a:effectLst/>
                          <a:latin typeface="Trebuchet MS" panose="020B0603020202020204" pitchFamily="34" charset="0"/>
                        </a:rPr>
                        <a:t>10.9%</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89.1%</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3.8</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Alto</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2.6</a:t>
                      </a:r>
                    </a:p>
                  </a:txBody>
                  <a:tcPr marL="8368" marR="8368" marT="8368" marB="0" anchor="ctr">
                    <a:lnL>
                      <a:noFill/>
                    </a:lnL>
                    <a:lnR w="6350" cap="flat" cmpd="sng" algn="ctr">
                      <a:solidFill>
                        <a:srgbClr val="000000"/>
                      </a:solidFill>
                      <a:prstDash val="solid"/>
                      <a:round/>
                      <a:headEnd type="none" w="med" len="med"/>
                      <a:tailEnd type="none" w="med" len="med"/>
                    </a:lnR>
                    <a:lnT>
                      <a:noFill/>
                    </a:lnT>
                    <a:lnB>
                      <a:noFill/>
                    </a:lnB>
                    <a:solidFill>
                      <a:srgbClr val="CBE8D5"/>
                    </a:solidFill>
                  </a:tcPr>
                </a:tc>
                <a:extLst>
                  <a:ext uri="{0D108BD9-81ED-4DB2-BD59-A6C34878D82A}">
                    <a16:rowId xmlns:a16="http://schemas.microsoft.com/office/drawing/2014/main" val="1028775971"/>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Unacem</a:t>
                      </a:r>
                    </a:p>
                  </a:txBody>
                  <a:tcPr marL="8368" marR="8368" marT="8368"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67.0%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dirty="0">
                          <a:solidFill>
                            <a:srgbClr val="1F2533"/>
                          </a:solidFill>
                          <a:effectLst/>
                          <a:latin typeface="Trebuchet MS" panose="020B0603020202020204" pitchFamily="34" charset="0"/>
                        </a:rPr>
                        <a:t>0.0%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33.0%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1.7</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1.7</a:t>
                      </a:r>
                    </a:p>
                  </a:txBody>
                  <a:tcPr marL="8368" marR="8368" marT="8368"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72C488"/>
                    </a:solidFill>
                  </a:tcPr>
                </a:tc>
                <a:extLst>
                  <a:ext uri="{0D108BD9-81ED-4DB2-BD59-A6C34878D82A}">
                    <a16:rowId xmlns:a16="http://schemas.microsoft.com/office/drawing/2014/main" val="3019421890"/>
                  </a:ext>
                </a:extLst>
              </a:tr>
              <a:tr h="191098">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dirty="0">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1954678"/>
                  </a:ext>
                </a:extLst>
              </a:tr>
              <a:tr h="229318">
                <a:tc>
                  <a:txBody>
                    <a:bodyPr/>
                    <a:lstStyle/>
                    <a:p>
                      <a:pPr algn="ctr" rtl="0" fontAlgn="ctr">
                        <a:buNone/>
                      </a:pPr>
                      <a:r>
                        <a:rPr lang="es-PE" sz="700" b="1" i="0" u="none" strike="noStrike">
                          <a:solidFill>
                            <a:srgbClr val="FFFFFF"/>
                          </a:solidFill>
                          <a:effectLst/>
                          <a:latin typeface="Trebuchet MS" panose="020B0603020202020204" pitchFamily="34" charset="0"/>
                        </a:rPr>
                        <a:t>Consumo No Discrecional</a:t>
                      </a:r>
                    </a:p>
                  </a:txBody>
                  <a:tcPr marL="8368" marR="8368" marT="8368"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3</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8368" marR="8368" marT="8368"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3150750371"/>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InRetail</a:t>
                      </a:r>
                    </a:p>
                  </a:txBody>
                  <a:tcPr marL="8368" marR="8368" marT="8368"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16.0%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26.0%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39.0%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17.0%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3.5</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3.5</a:t>
                      </a:r>
                    </a:p>
                  </a:txBody>
                  <a:tcPr marL="8368" marR="8368" marT="8368" marB="0" anchor="ctr">
                    <a:lnL>
                      <a:noFill/>
                    </a:lnL>
                    <a:lnR w="6350" cap="flat" cmpd="sng" algn="ctr">
                      <a:solidFill>
                        <a:srgbClr val="000000"/>
                      </a:solidFill>
                      <a:prstDash val="solid"/>
                      <a:round/>
                      <a:headEnd type="none" w="med" len="med"/>
                      <a:tailEnd type="none" w="med" len="med"/>
                    </a:lnR>
                    <a:lnT>
                      <a:noFill/>
                    </a:lnT>
                    <a:lnB>
                      <a:noFill/>
                    </a:lnB>
                    <a:solidFill>
                      <a:srgbClr val="FBD3D6"/>
                    </a:solidFill>
                  </a:tcPr>
                </a:tc>
                <a:extLst>
                  <a:ext uri="{0D108BD9-81ED-4DB2-BD59-A6C34878D82A}">
                    <a16:rowId xmlns:a16="http://schemas.microsoft.com/office/drawing/2014/main" val="2855352010"/>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Alicorp</a:t>
                      </a:r>
                    </a:p>
                  </a:txBody>
                  <a:tcPr marL="8368" marR="8368" marT="8368"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6.0%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22.0%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44.0%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28.0%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3.9</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Alto</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2.7</a:t>
                      </a:r>
                    </a:p>
                  </a:txBody>
                  <a:tcPr marL="8368" marR="8368" marT="8368"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2EBDB"/>
                    </a:solidFill>
                  </a:tcPr>
                </a:tc>
                <a:extLst>
                  <a:ext uri="{0D108BD9-81ED-4DB2-BD59-A6C34878D82A}">
                    <a16:rowId xmlns:a16="http://schemas.microsoft.com/office/drawing/2014/main" val="2753614875"/>
                  </a:ext>
                </a:extLst>
              </a:tr>
              <a:tr h="191098">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23132"/>
                  </a:ext>
                </a:extLst>
              </a:tr>
              <a:tr h="229318">
                <a:tc>
                  <a:txBody>
                    <a:bodyPr/>
                    <a:lstStyle/>
                    <a:p>
                      <a:pPr algn="ctr" rtl="0" fontAlgn="ctr">
                        <a:buNone/>
                      </a:pPr>
                      <a:r>
                        <a:rPr lang="es-PE" sz="700" b="1" i="0" u="none" strike="noStrike">
                          <a:solidFill>
                            <a:srgbClr val="FFFFFF"/>
                          </a:solidFill>
                          <a:effectLst/>
                          <a:latin typeface="Trebuchet MS" panose="020B0603020202020204" pitchFamily="34" charset="0"/>
                        </a:rPr>
                        <a:t>Financieras</a:t>
                      </a:r>
                    </a:p>
                  </a:txBody>
                  <a:tcPr marL="8368" marR="8368" marT="8368"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8368" marR="8368" marT="8368"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746232662"/>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Credicorp</a:t>
                      </a:r>
                    </a:p>
                  </a:txBody>
                  <a:tcPr marL="8368" marR="8368" marT="8368"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5.0%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84.0%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7.0%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3.9</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3.9</a:t>
                      </a:r>
                    </a:p>
                  </a:txBody>
                  <a:tcPr marL="8368" marR="8368" marT="8368" marB="0" anchor="ctr">
                    <a:lnL>
                      <a:noFill/>
                    </a:lnL>
                    <a:lnR w="6350" cap="flat" cmpd="sng" algn="ctr">
                      <a:solidFill>
                        <a:srgbClr val="000000"/>
                      </a:solidFill>
                      <a:prstDash val="solid"/>
                      <a:round/>
                      <a:headEnd type="none" w="med" len="med"/>
                      <a:tailEnd type="none" w="med" len="med"/>
                    </a:lnR>
                    <a:lnT>
                      <a:noFill/>
                    </a:lnT>
                    <a:lnB>
                      <a:noFill/>
                    </a:lnB>
                    <a:solidFill>
                      <a:srgbClr val="FAA2A4"/>
                    </a:solidFill>
                  </a:tcPr>
                </a:tc>
                <a:extLst>
                  <a:ext uri="{0D108BD9-81ED-4DB2-BD59-A6C34878D82A}">
                    <a16:rowId xmlns:a16="http://schemas.microsoft.com/office/drawing/2014/main" val="2172213769"/>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BBVA</a:t>
                      </a:r>
                    </a:p>
                  </a:txBody>
                  <a:tcPr marL="8368" marR="8368" marT="8368"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7.0%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16.0%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65.0%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11.0%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3.8</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3.8</a:t>
                      </a:r>
                    </a:p>
                  </a:txBody>
                  <a:tcPr marL="8368" marR="8368" marT="8368" marB="0" anchor="ctr">
                    <a:lnL>
                      <a:noFill/>
                    </a:lnL>
                    <a:lnR w="6350" cap="flat" cmpd="sng" algn="ctr">
                      <a:solidFill>
                        <a:srgbClr val="000000"/>
                      </a:solidFill>
                      <a:prstDash val="solid"/>
                      <a:round/>
                      <a:headEnd type="none" w="med" len="med"/>
                      <a:tailEnd type="none" w="med" len="med"/>
                    </a:lnR>
                    <a:lnT>
                      <a:noFill/>
                    </a:lnT>
                    <a:lnB>
                      <a:noFill/>
                    </a:lnB>
                    <a:solidFill>
                      <a:srgbClr val="FBB4B6"/>
                    </a:solidFill>
                  </a:tcPr>
                </a:tc>
                <a:extLst>
                  <a:ext uri="{0D108BD9-81ED-4DB2-BD59-A6C34878D82A}">
                    <a16:rowId xmlns:a16="http://schemas.microsoft.com/office/drawing/2014/main" val="1146673818"/>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IFS</a:t>
                      </a:r>
                    </a:p>
                  </a:txBody>
                  <a:tcPr marL="8368" marR="8368" marT="8368"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19.0%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69.0%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8.0%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3.8</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3.8</a:t>
                      </a:r>
                    </a:p>
                  </a:txBody>
                  <a:tcPr marL="8368" marR="8368" marT="8368"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AB0B3"/>
                    </a:solidFill>
                  </a:tcPr>
                </a:tc>
                <a:extLst>
                  <a:ext uri="{0D108BD9-81ED-4DB2-BD59-A6C34878D82A}">
                    <a16:rowId xmlns:a16="http://schemas.microsoft.com/office/drawing/2014/main" val="4152520181"/>
                  </a:ext>
                </a:extLst>
              </a:tr>
              <a:tr h="191098">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8179476"/>
                  </a:ext>
                </a:extLst>
              </a:tr>
              <a:tr h="229318">
                <a:tc>
                  <a:txBody>
                    <a:bodyPr/>
                    <a:lstStyle/>
                    <a:p>
                      <a:pPr algn="ctr" rtl="0" fontAlgn="ctr">
                        <a:buNone/>
                      </a:pPr>
                      <a:r>
                        <a:rPr lang="es-PE" sz="700" b="1" i="0" u="none" strike="noStrike">
                          <a:solidFill>
                            <a:srgbClr val="FFFFFF"/>
                          </a:solidFill>
                          <a:effectLst/>
                          <a:latin typeface="Trebuchet MS" panose="020B0603020202020204" pitchFamily="34" charset="0"/>
                        </a:rPr>
                        <a:t>Industrial</a:t>
                      </a:r>
                    </a:p>
                  </a:txBody>
                  <a:tcPr marL="8368" marR="8368" marT="8368"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8368" marR="8368" marT="8368"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2886918320"/>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Puerto Chancay</a:t>
                      </a:r>
                    </a:p>
                  </a:txBody>
                  <a:tcPr marL="8368" marR="8368" marT="8368"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4.0</a:t>
                      </a:r>
                    </a:p>
                  </a:txBody>
                  <a:tcPr marL="8368" marR="8368" marT="8368" marB="0" anchor="ctr">
                    <a:lnL>
                      <a:noFill/>
                    </a:lnL>
                    <a:lnR w="6350" cap="flat" cmpd="sng" algn="ctr">
                      <a:solidFill>
                        <a:srgbClr val="000000"/>
                      </a:solidFill>
                      <a:prstDash val="solid"/>
                      <a:round/>
                      <a:headEnd type="none" w="med" len="med"/>
                      <a:tailEnd type="none" w="med" len="med"/>
                    </a:lnR>
                    <a:lnT>
                      <a:noFill/>
                    </a:lnT>
                    <a:lnB>
                      <a:noFill/>
                    </a:lnB>
                    <a:solidFill>
                      <a:srgbClr val="FA9A9C"/>
                    </a:solidFill>
                  </a:tcPr>
                </a:tc>
                <a:extLst>
                  <a:ext uri="{0D108BD9-81ED-4DB2-BD59-A6C34878D82A}">
                    <a16:rowId xmlns:a16="http://schemas.microsoft.com/office/drawing/2014/main" val="3097444373"/>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Aenza</a:t>
                      </a:r>
                    </a:p>
                  </a:txBody>
                  <a:tcPr marL="8368" marR="8368" marT="8368"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2.1%</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16.7%</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28.0%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35.2%</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18.0%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3.5</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3.5</a:t>
                      </a:r>
                    </a:p>
                  </a:txBody>
                  <a:tcPr marL="8368" marR="8368" marT="8368" marB="0" anchor="ctr">
                    <a:lnL>
                      <a:noFill/>
                    </a:lnL>
                    <a:lnR w="6350" cap="flat" cmpd="sng" algn="ctr">
                      <a:solidFill>
                        <a:srgbClr val="000000"/>
                      </a:solidFill>
                      <a:prstDash val="solid"/>
                      <a:round/>
                      <a:headEnd type="none" w="med" len="med"/>
                      <a:tailEnd type="none" w="med" len="med"/>
                    </a:lnR>
                    <a:lnT>
                      <a:noFill/>
                    </a:lnT>
                    <a:lnB>
                      <a:noFill/>
                    </a:lnB>
                    <a:solidFill>
                      <a:srgbClr val="FBD5D8"/>
                    </a:solidFill>
                  </a:tcPr>
                </a:tc>
                <a:extLst>
                  <a:ext uri="{0D108BD9-81ED-4DB2-BD59-A6C34878D82A}">
                    <a16:rowId xmlns:a16="http://schemas.microsoft.com/office/drawing/2014/main" val="723511289"/>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Ferreycorp</a:t>
                      </a:r>
                    </a:p>
                  </a:txBody>
                  <a:tcPr marL="8368" marR="8368" marT="8368"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2.6%</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11.3%</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35.8%</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30.1%</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20.1%</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3.5</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3.5</a:t>
                      </a:r>
                    </a:p>
                  </a:txBody>
                  <a:tcPr marL="8368" marR="8368" marT="8368"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BD1D3"/>
                    </a:solidFill>
                  </a:tcPr>
                </a:tc>
                <a:extLst>
                  <a:ext uri="{0D108BD9-81ED-4DB2-BD59-A6C34878D82A}">
                    <a16:rowId xmlns:a16="http://schemas.microsoft.com/office/drawing/2014/main" val="4204129431"/>
                  </a:ext>
                </a:extLst>
              </a:tr>
              <a:tr h="191098">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696022"/>
                  </a:ext>
                </a:extLst>
              </a:tr>
              <a:tr h="229318">
                <a:tc>
                  <a:txBody>
                    <a:bodyPr/>
                    <a:lstStyle/>
                    <a:p>
                      <a:pPr algn="ctr" rtl="0" fontAlgn="ctr">
                        <a:buNone/>
                      </a:pPr>
                      <a:r>
                        <a:rPr lang="es-PE" sz="700" b="1" i="0" u="none" strike="noStrike">
                          <a:solidFill>
                            <a:srgbClr val="FFFFFF"/>
                          </a:solidFill>
                          <a:effectLst/>
                          <a:latin typeface="Trebuchet MS" panose="020B0603020202020204" pitchFamily="34" charset="0"/>
                        </a:rPr>
                        <a:t>Materiales - Minería</a:t>
                      </a:r>
                    </a:p>
                  </a:txBody>
                  <a:tcPr marL="8368" marR="8368" marT="8368"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FFC000"/>
                          </a:solidFill>
                          <a:effectLst/>
                          <a:latin typeface="Trebuchet MS" panose="020B0603020202020204" pitchFamily="34" charset="0"/>
                        </a:rPr>
                        <a:t>Score</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8368" marR="8368" marT="8368"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8368" marR="8368" marT="8368"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453869392"/>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Minsur</a:t>
                      </a:r>
                    </a:p>
                  </a:txBody>
                  <a:tcPr marL="8368" marR="8368" marT="8368"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23.2%</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76.8%</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3.5</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3.5</a:t>
                      </a:r>
                    </a:p>
                  </a:txBody>
                  <a:tcPr marL="8368" marR="8368" marT="8368" marB="0" anchor="ctr">
                    <a:lnL>
                      <a:noFill/>
                    </a:lnL>
                    <a:lnR w="6350" cap="flat" cmpd="sng" algn="ctr">
                      <a:solidFill>
                        <a:srgbClr val="000000"/>
                      </a:solidFill>
                      <a:prstDash val="solid"/>
                      <a:round/>
                      <a:headEnd type="none" w="med" len="med"/>
                      <a:tailEnd type="none" w="med" len="med"/>
                    </a:lnR>
                    <a:lnT>
                      <a:noFill/>
                    </a:lnT>
                    <a:lnB>
                      <a:noFill/>
                    </a:lnB>
                    <a:solidFill>
                      <a:srgbClr val="FBD1D3"/>
                    </a:solidFill>
                  </a:tcPr>
                </a:tc>
                <a:extLst>
                  <a:ext uri="{0D108BD9-81ED-4DB2-BD59-A6C34878D82A}">
                    <a16:rowId xmlns:a16="http://schemas.microsoft.com/office/drawing/2014/main" val="2244365267"/>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Buenaventura</a:t>
                      </a:r>
                    </a:p>
                  </a:txBody>
                  <a:tcPr marL="8368" marR="8368" marT="8368"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96.0%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Alto</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2.1</a:t>
                      </a:r>
                    </a:p>
                  </a:txBody>
                  <a:tcPr marL="8368" marR="8368" marT="8368" marB="0" anchor="ctr">
                    <a:lnL>
                      <a:noFill/>
                    </a:lnL>
                    <a:lnR w="6350" cap="flat" cmpd="sng" algn="ctr">
                      <a:solidFill>
                        <a:srgbClr val="000000"/>
                      </a:solidFill>
                      <a:prstDash val="solid"/>
                      <a:round/>
                      <a:headEnd type="none" w="med" len="med"/>
                      <a:tailEnd type="none" w="med" len="med"/>
                    </a:lnR>
                    <a:lnT>
                      <a:noFill/>
                    </a:lnT>
                    <a:lnB>
                      <a:noFill/>
                    </a:lnB>
                    <a:solidFill>
                      <a:srgbClr val="97D3A8"/>
                    </a:solidFill>
                  </a:tcPr>
                </a:tc>
                <a:extLst>
                  <a:ext uri="{0D108BD9-81ED-4DB2-BD59-A6C34878D82A}">
                    <a16:rowId xmlns:a16="http://schemas.microsoft.com/office/drawing/2014/main" val="2101208840"/>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Hochschild  </a:t>
                      </a:r>
                    </a:p>
                  </a:txBody>
                  <a:tcPr marL="8368" marR="8368" marT="8368"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Alto</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2.1</a:t>
                      </a:r>
                    </a:p>
                  </a:txBody>
                  <a:tcPr marL="8368" marR="8368" marT="8368" marB="0" anchor="ctr">
                    <a:lnL>
                      <a:noFill/>
                    </a:lnL>
                    <a:lnR w="6350" cap="flat" cmpd="sng" algn="ctr">
                      <a:solidFill>
                        <a:srgbClr val="000000"/>
                      </a:solidFill>
                      <a:prstDash val="solid"/>
                      <a:round/>
                      <a:headEnd type="none" w="med" len="med"/>
                      <a:tailEnd type="none" w="med" len="med"/>
                    </a:lnR>
                    <a:lnT>
                      <a:noFill/>
                    </a:lnT>
                    <a:lnB>
                      <a:noFill/>
                    </a:lnB>
                    <a:solidFill>
                      <a:srgbClr val="9AD4AA"/>
                    </a:solidFill>
                  </a:tcPr>
                </a:tc>
                <a:extLst>
                  <a:ext uri="{0D108BD9-81ED-4DB2-BD59-A6C34878D82A}">
                    <a16:rowId xmlns:a16="http://schemas.microsoft.com/office/drawing/2014/main" val="109163305"/>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Hudbay  </a:t>
                      </a:r>
                    </a:p>
                  </a:txBody>
                  <a:tcPr marL="8368" marR="8368" marT="8368"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Bajo</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2.0</a:t>
                      </a:r>
                    </a:p>
                  </a:txBody>
                  <a:tcPr marL="8368" marR="8368" marT="8368" marB="0" anchor="ctr">
                    <a:lnL>
                      <a:noFill/>
                    </a:lnL>
                    <a:lnR w="6350" cap="flat" cmpd="sng" algn="ctr">
                      <a:solidFill>
                        <a:srgbClr val="000000"/>
                      </a:solidFill>
                      <a:prstDash val="solid"/>
                      <a:round/>
                      <a:headEnd type="none" w="med" len="med"/>
                      <a:tailEnd type="none" w="med" len="med"/>
                    </a:lnR>
                    <a:lnT>
                      <a:noFill/>
                    </a:lnT>
                    <a:lnB>
                      <a:noFill/>
                    </a:lnB>
                    <a:solidFill>
                      <a:srgbClr val="91D0A2"/>
                    </a:solidFill>
                  </a:tcPr>
                </a:tc>
                <a:extLst>
                  <a:ext uri="{0D108BD9-81ED-4DB2-BD59-A6C34878D82A}">
                    <a16:rowId xmlns:a16="http://schemas.microsoft.com/office/drawing/2014/main" val="128353476"/>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Nexa Perú</a:t>
                      </a:r>
                    </a:p>
                  </a:txBody>
                  <a:tcPr marL="8368" marR="8368" marT="8368"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55.8%</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42.0%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2.2%</a:t>
                      </a:r>
                    </a:p>
                  </a:txBody>
                  <a:tcPr marL="8368" marR="8368" marT="8368"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1.5</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368" marR="8368" marT="8368"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1.5</a:t>
                      </a:r>
                    </a:p>
                  </a:txBody>
                  <a:tcPr marL="8368" marR="8368" marT="8368" marB="0" anchor="ctr">
                    <a:lnL>
                      <a:noFill/>
                    </a:lnL>
                    <a:lnR w="6350" cap="flat" cmpd="sng" algn="ctr">
                      <a:solidFill>
                        <a:srgbClr val="000000"/>
                      </a:solidFill>
                      <a:prstDash val="solid"/>
                      <a:round/>
                      <a:headEnd type="none" w="med" len="med"/>
                      <a:tailEnd type="none" w="med" len="med"/>
                    </a:lnR>
                    <a:lnT>
                      <a:noFill/>
                    </a:lnT>
                    <a:lnB>
                      <a:noFill/>
                    </a:lnB>
                    <a:solidFill>
                      <a:srgbClr val="63BE7B"/>
                    </a:solidFill>
                  </a:tcPr>
                </a:tc>
                <a:extLst>
                  <a:ext uri="{0D108BD9-81ED-4DB2-BD59-A6C34878D82A}">
                    <a16:rowId xmlns:a16="http://schemas.microsoft.com/office/drawing/2014/main" val="423949665"/>
                  </a:ext>
                </a:extLst>
              </a:tr>
              <a:tr h="191098">
                <a:tc>
                  <a:txBody>
                    <a:bodyPr/>
                    <a:lstStyle/>
                    <a:p>
                      <a:pPr algn="ctr" rtl="0" fontAlgn="ctr">
                        <a:buNone/>
                      </a:pPr>
                      <a:r>
                        <a:rPr lang="es-PE" sz="700" b="0" i="0" u="none" strike="noStrike">
                          <a:solidFill>
                            <a:srgbClr val="1E2E6E"/>
                          </a:solidFill>
                          <a:effectLst/>
                          <a:latin typeface="Trebuchet MS" panose="020B0603020202020204" pitchFamily="34" charset="0"/>
                        </a:rPr>
                        <a:t>Volcan</a:t>
                      </a:r>
                    </a:p>
                  </a:txBody>
                  <a:tcPr marL="8368" marR="8368" marT="8368"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1.5</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368" marR="8368" marT="836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1.5</a:t>
                      </a:r>
                    </a:p>
                  </a:txBody>
                  <a:tcPr marL="8368" marR="8368" marT="8368"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66BF7E"/>
                    </a:solidFill>
                  </a:tcPr>
                </a:tc>
                <a:extLst>
                  <a:ext uri="{0D108BD9-81ED-4DB2-BD59-A6C34878D82A}">
                    <a16:rowId xmlns:a16="http://schemas.microsoft.com/office/drawing/2014/main" val="2781960640"/>
                  </a:ext>
                </a:extLst>
              </a:tr>
            </a:tbl>
          </a:graphicData>
        </a:graphic>
      </p:graphicFrame>
      <p:sp>
        <p:nvSpPr>
          <p:cNvPr id="37" name="Title 2">
            <a:extLst>
              <a:ext uri="{FF2B5EF4-FFF2-40B4-BE49-F238E27FC236}">
                <a16:creationId xmlns:a16="http://schemas.microsoft.com/office/drawing/2014/main" id="{9576BBC2-E61D-90BB-354E-915CE96C8CC3}"/>
              </a:ext>
            </a:extLst>
          </p:cNvPr>
          <p:cNvSpPr>
            <a:spLocks noGrp="1"/>
          </p:cNvSpPr>
          <p:nvPr>
            <p:ph type="title"/>
          </p:nvPr>
        </p:nvSpPr>
        <p:spPr>
          <a:xfrm>
            <a:off x="0" y="88429"/>
            <a:ext cx="10819699" cy="676275"/>
          </a:xfrm>
        </p:spPr>
        <p:txBody>
          <a:bodyPr>
            <a:noAutofit/>
          </a:bodyPr>
          <a:lstStyle/>
          <a:p>
            <a:r>
              <a:rPr lang="es-ES" sz="2000" dirty="0"/>
              <a:t>3.7 Gestión Climática</a:t>
            </a:r>
            <a:r>
              <a:rPr lang="es-PE" sz="2000" dirty="0"/>
              <a:t> – Riesgos Físicos: Objetivo 2025-2027: Resultados 1S2026 </a:t>
            </a:r>
            <a:endParaRPr lang="es-ES" sz="2000" dirty="0"/>
          </a:p>
        </p:txBody>
      </p:sp>
    </p:spTree>
    <p:extLst>
      <p:ext uri="{BB962C8B-B14F-4D97-AF65-F5344CB8AC3E}">
        <p14:creationId xmlns:p14="http://schemas.microsoft.com/office/powerpoint/2010/main" val="3468448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AD189-70AA-203C-0075-089509F87C95}"/>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85C2C30-6081-6E1D-042A-F25EBF024442}"/>
              </a:ext>
            </a:extLst>
          </p:cNvPr>
          <p:cNvSpPr/>
          <p:nvPr/>
        </p:nvSpPr>
        <p:spPr>
          <a:xfrm>
            <a:off x="839416" y="1124744"/>
            <a:ext cx="11089232" cy="288032"/>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MX" sz="1000" dirty="0">
                <a:solidFill>
                  <a:srgbClr val="1E2E6E"/>
                </a:solidFill>
                <a:latin typeface="Trebuchet MS" panose="020B0603020202020204" pitchFamily="34" charset="0"/>
                <a:cs typeface="Arial" panose="020B0604020202020204" pitchFamily="34" charset="0"/>
              </a:rPr>
              <a:t>Sequías Severas con ubicación de activos a nivel distrital con fuentes de data BU homologadas (Minam, COES, SBS, etc.) e identificación de Mitigantes de Riesgo + </a:t>
            </a:r>
            <a:r>
              <a:rPr lang="es-MX" sz="1000" dirty="0" err="1">
                <a:solidFill>
                  <a:srgbClr val="1E2E6E"/>
                </a:solidFill>
                <a:latin typeface="Trebuchet MS" panose="020B0603020202020204" pitchFamily="34" charset="0"/>
                <a:cs typeface="Arial" panose="020B0604020202020204" pitchFamily="34" charset="0"/>
              </a:rPr>
              <a:t>Dashboard</a:t>
            </a:r>
            <a:r>
              <a:rPr lang="es-MX" sz="1000" dirty="0">
                <a:solidFill>
                  <a:srgbClr val="1E2E6E"/>
                </a:solidFill>
                <a:latin typeface="Trebuchet MS" panose="020B0603020202020204" pitchFamily="34" charset="0"/>
                <a:cs typeface="Arial" panose="020B0604020202020204" pitchFamily="34" charset="0"/>
              </a:rPr>
              <a:t>.</a:t>
            </a:r>
            <a:endParaRPr lang="es-PE" sz="1000" dirty="0">
              <a:solidFill>
                <a:srgbClr val="1F497D"/>
              </a:solidFill>
              <a:latin typeface="Trebuchet MS" panose="020B0603020202020204" pitchFamily="34" charset="0"/>
            </a:endParaRPr>
          </a:p>
          <a:p>
            <a:pPr lvl="0" algn="just" defTabSz="457200">
              <a:defRPr/>
            </a:pPr>
            <a:endPar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13" name="Rectangle: Rounded Corners 12">
            <a:extLst>
              <a:ext uri="{FF2B5EF4-FFF2-40B4-BE49-F238E27FC236}">
                <a16:creationId xmlns:a16="http://schemas.microsoft.com/office/drawing/2014/main" id="{5CC5C9E7-6BF7-798C-1639-94632CB89234}"/>
              </a:ext>
            </a:extLst>
          </p:cNvPr>
          <p:cNvSpPr/>
          <p:nvPr/>
        </p:nvSpPr>
        <p:spPr>
          <a:xfrm>
            <a:off x="767408" y="764704"/>
            <a:ext cx="8496944"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Metodología Interna Mejorada (Nivel Distrital - Histórico) - Riesgos Físicos por Emisor Local</a:t>
            </a:r>
            <a:r>
              <a:rPr lang="es-PE" sz="1000" b="1" dirty="0">
                <a:solidFill>
                  <a:srgbClr val="1F497D"/>
                </a:solidFill>
                <a:latin typeface="Trebuchet MS" panose="020B0603020202020204" pitchFamily="34" charset="0"/>
              </a:rPr>
              <a:t>:</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4" name="TextBox 3">
            <a:extLst>
              <a:ext uri="{FF2B5EF4-FFF2-40B4-BE49-F238E27FC236}">
                <a16:creationId xmlns:a16="http://schemas.microsoft.com/office/drawing/2014/main" id="{90C69457-6BA5-8191-8D38-15C919E826BD}"/>
              </a:ext>
            </a:extLst>
          </p:cNvPr>
          <p:cNvSpPr txBox="1"/>
          <p:nvPr/>
        </p:nvSpPr>
        <p:spPr>
          <a:xfrm>
            <a:off x="6888088" y="6630394"/>
            <a:ext cx="6138862" cy="215444"/>
          </a:xfrm>
          <a:prstGeom prst="rect">
            <a:avLst/>
          </a:prstGeom>
          <a:noFill/>
        </p:spPr>
        <p:txBody>
          <a:bodyPr wrap="square">
            <a:spAutoFit/>
          </a:bodyPr>
          <a:lstStyle/>
          <a:p>
            <a:pPr algn="l" fontAlgn="b">
              <a:buNone/>
            </a:pPr>
            <a:r>
              <a:rPr lang="es-MX" sz="800" b="0" i="0" u="none" strike="noStrike" dirty="0">
                <a:solidFill>
                  <a:srgbClr val="1E2E6E"/>
                </a:solidFill>
                <a:effectLst/>
                <a:latin typeface="Trebuchet MS" panose="020B0603020202020204" pitchFamily="34" charset="0"/>
              </a:rPr>
              <a:t>(*) No se encuentra en el alcance de la metodología de CENEPRED</a:t>
            </a:r>
          </a:p>
        </p:txBody>
      </p:sp>
      <p:graphicFrame>
        <p:nvGraphicFramePr>
          <p:cNvPr id="5" name="Table 3">
            <a:extLst>
              <a:ext uri="{FF2B5EF4-FFF2-40B4-BE49-F238E27FC236}">
                <a16:creationId xmlns:a16="http://schemas.microsoft.com/office/drawing/2014/main" id="{2C23C8AD-E89C-958C-AE8F-B992F008B3C1}"/>
              </a:ext>
            </a:extLst>
          </p:cNvPr>
          <p:cNvGraphicFramePr>
            <a:graphicFrameLocks noGrp="1"/>
          </p:cNvGraphicFramePr>
          <p:nvPr/>
        </p:nvGraphicFramePr>
        <p:xfrm>
          <a:off x="1192654" y="1556792"/>
          <a:ext cx="4831338" cy="560396"/>
        </p:xfrm>
        <a:graphic>
          <a:graphicData uri="http://schemas.openxmlformats.org/drawingml/2006/table">
            <a:tbl>
              <a:tblPr/>
              <a:tblGrid>
                <a:gridCol w="2415669">
                  <a:extLst>
                    <a:ext uri="{9D8B030D-6E8A-4147-A177-3AD203B41FA5}">
                      <a16:colId xmlns:a16="http://schemas.microsoft.com/office/drawing/2014/main" val="1562374121"/>
                    </a:ext>
                  </a:extLst>
                </a:gridCol>
                <a:gridCol w="2415669">
                  <a:extLst>
                    <a:ext uri="{9D8B030D-6E8A-4147-A177-3AD203B41FA5}">
                      <a16:colId xmlns:a16="http://schemas.microsoft.com/office/drawing/2014/main" val="2602063270"/>
                    </a:ext>
                  </a:extLst>
                </a:gridCol>
              </a:tblGrid>
              <a:tr h="267682">
                <a:tc gridSpan="2">
                  <a:txBody>
                    <a:bodyPr/>
                    <a:lstStyle/>
                    <a:p>
                      <a:pPr algn="ctr" rtl="0" fontAlgn="ctr">
                        <a:buNone/>
                      </a:pPr>
                      <a:r>
                        <a:rPr lang="es-PE" sz="1000" b="1" i="0" u="none" strike="noStrike" dirty="0">
                          <a:solidFill>
                            <a:srgbClr val="FFFFFF"/>
                          </a:solidFill>
                          <a:effectLst/>
                          <a:latin typeface="Trebuchet MS" panose="020B0603020202020204" pitchFamily="34" charset="0"/>
                        </a:rPr>
                        <a:t>Ejemplos - Comparación</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2683C6"/>
                    </a:solidFill>
                  </a:tcPr>
                </a:tc>
                <a:tc hMerge="1">
                  <a:txBody>
                    <a:bodyPr/>
                    <a:lstStyle/>
                    <a:p>
                      <a:endParaRPr lang="es-PE"/>
                    </a:p>
                  </a:txBody>
                  <a:tcPr/>
                </a:tc>
                <a:extLst>
                  <a:ext uri="{0D108BD9-81ED-4DB2-BD59-A6C34878D82A}">
                    <a16:rowId xmlns:a16="http://schemas.microsoft.com/office/drawing/2014/main" val="2900688189"/>
                  </a:ext>
                </a:extLst>
              </a:tr>
              <a:tr h="292714">
                <a:tc>
                  <a:txBody>
                    <a:bodyPr/>
                    <a:lstStyle/>
                    <a:p>
                      <a:pPr algn="ctr" rtl="0" fontAlgn="ctr">
                        <a:buNone/>
                      </a:pPr>
                      <a:r>
                        <a:rPr lang="es-PE" sz="1100" b="1" i="0" u="none" strike="noStrike">
                          <a:solidFill>
                            <a:srgbClr val="1E2E6E"/>
                          </a:solidFill>
                          <a:effectLst/>
                          <a:latin typeface="Trebuchet MS" panose="020B0603020202020204" pitchFamily="34" charset="0"/>
                        </a:rPr>
                        <a:t>Buenaventura</a:t>
                      </a:r>
                    </a:p>
                  </a:txBody>
                  <a:tcPr marL="9525" marR="9525" marT="9525" marB="0" anchor="ctr">
                    <a:lnL>
                      <a:noFill/>
                    </a:lnL>
                    <a:lnR w="1270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gn="ctr" rtl="0" fontAlgn="ctr">
                        <a:buNone/>
                      </a:pPr>
                      <a:r>
                        <a:rPr lang="es-PE" sz="1100" b="1" i="0" u="none" strike="noStrike" dirty="0" err="1">
                          <a:solidFill>
                            <a:srgbClr val="1E2E6E"/>
                          </a:solidFill>
                          <a:effectLst/>
                          <a:latin typeface="Trebuchet MS" panose="020B0603020202020204" pitchFamily="34" charset="0"/>
                        </a:rPr>
                        <a:t>Nexa</a:t>
                      </a:r>
                      <a:r>
                        <a:rPr lang="es-PE" sz="1100" b="1" i="0" u="none" strike="noStrike" dirty="0">
                          <a:solidFill>
                            <a:srgbClr val="1E2E6E"/>
                          </a:solidFill>
                          <a:effectLst/>
                          <a:latin typeface="Trebuchet MS" panose="020B0603020202020204" pitchFamily="34" charset="0"/>
                        </a:rPr>
                        <a:t> Perú</a:t>
                      </a:r>
                    </a:p>
                  </a:txBody>
                  <a:tcPr marL="9525" marR="9525" marT="9525" marB="0" anchor="ctr">
                    <a:lnL w="12700" cap="flat" cmpd="sng" algn="ctr">
                      <a:solidFill>
                        <a:srgbClr val="7F7F7F"/>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1401173728"/>
                  </a:ext>
                </a:extLst>
              </a:tr>
            </a:tbl>
          </a:graphicData>
        </a:graphic>
      </p:graphicFrame>
      <p:pic>
        <p:nvPicPr>
          <p:cNvPr id="7" name="Picture 14">
            <a:extLst>
              <a:ext uri="{FF2B5EF4-FFF2-40B4-BE49-F238E27FC236}">
                <a16:creationId xmlns:a16="http://schemas.microsoft.com/office/drawing/2014/main" id="{2F5E66B5-ED04-C0E1-1079-781A38D2AD21}"/>
              </a:ext>
            </a:extLst>
          </p:cNvPr>
          <p:cNvPicPr>
            <a:picLocks noChangeAspect="1"/>
          </p:cNvPicPr>
          <p:nvPr/>
        </p:nvPicPr>
        <p:blipFill>
          <a:blip r:embed="rId3"/>
          <a:stretch>
            <a:fillRect/>
          </a:stretch>
        </p:blipFill>
        <p:spPr>
          <a:xfrm>
            <a:off x="1487488" y="4799235"/>
            <a:ext cx="4225337" cy="213941"/>
          </a:xfrm>
          <a:prstGeom prst="rect">
            <a:avLst/>
          </a:prstGeom>
        </p:spPr>
      </p:pic>
      <p:pic>
        <p:nvPicPr>
          <p:cNvPr id="9" name="Picture 17">
            <a:extLst>
              <a:ext uri="{FF2B5EF4-FFF2-40B4-BE49-F238E27FC236}">
                <a16:creationId xmlns:a16="http://schemas.microsoft.com/office/drawing/2014/main" id="{24FC63F4-1801-C01D-8B86-519078EDBCD6}"/>
              </a:ext>
            </a:extLst>
          </p:cNvPr>
          <p:cNvPicPr>
            <a:picLocks noChangeAspect="1"/>
          </p:cNvPicPr>
          <p:nvPr/>
        </p:nvPicPr>
        <p:blipFill>
          <a:blip r:embed="rId4"/>
          <a:stretch>
            <a:fillRect/>
          </a:stretch>
        </p:blipFill>
        <p:spPr>
          <a:xfrm>
            <a:off x="3750304" y="2204864"/>
            <a:ext cx="1697624" cy="2520280"/>
          </a:xfrm>
          <a:prstGeom prst="rect">
            <a:avLst/>
          </a:prstGeom>
        </p:spPr>
      </p:pic>
      <p:pic>
        <p:nvPicPr>
          <p:cNvPr id="12" name="Picture 20">
            <a:extLst>
              <a:ext uri="{FF2B5EF4-FFF2-40B4-BE49-F238E27FC236}">
                <a16:creationId xmlns:a16="http://schemas.microsoft.com/office/drawing/2014/main" id="{09F585B1-325C-FE49-2165-A174B6E79F5F}"/>
              </a:ext>
            </a:extLst>
          </p:cNvPr>
          <p:cNvPicPr>
            <a:picLocks noChangeAspect="1"/>
          </p:cNvPicPr>
          <p:nvPr/>
        </p:nvPicPr>
        <p:blipFill>
          <a:blip r:embed="rId5"/>
          <a:stretch>
            <a:fillRect/>
          </a:stretch>
        </p:blipFill>
        <p:spPr>
          <a:xfrm>
            <a:off x="1559495" y="2228723"/>
            <a:ext cx="1697624" cy="2506479"/>
          </a:xfrm>
          <a:prstGeom prst="rect">
            <a:avLst/>
          </a:prstGeom>
        </p:spPr>
      </p:pic>
      <p:graphicFrame>
        <p:nvGraphicFramePr>
          <p:cNvPr id="17" name="Tabla 16">
            <a:extLst>
              <a:ext uri="{FF2B5EF4-FFF2-40B4-BE49-F238E27FC236}">
                <a16:creationId xmlns:a16="http://schemas.microsoft.com/office/drawing/2014/main" id="{C003D13E-26F3-3B21-D8B9-EDFE8A000E20}"/>
              </a:ext>
            </a:extLst>
          </p:cNvPr>
          <p:cNvGraphicFramePr>
            <a:graphicFrameLocks noGrp="1"/>
          </p:cNvGraphicFramePr>
          <p:nvPr/>
        </p:nvGraphicFramePr>
        <p:xfrm>
          <a:off x="983432" y="5805263"/>
          <a:ext cx="5256585" cy="720081"/>
        </p:xfrm>
        <a:graphic>
          <a:graphicData uri="http://schemas.openxmlformats.org/drawingml/2006/table">
            <a:tbl>
              <a:tblPr/>
              <a:tblGrid>
                <a:gridCol w="584065">
                  <a:extLst>
                    <a:ext uri="{9D8B030D-6E8A-4147-A177-3AD203B41FA5}">
                      <a16:colId xmlns:a16="http://schemas.microsoft.com/office/drawing/2014/main" val="2770764878"/>
                    </a:ext>
                  </a:extLst>
                </a:gridCol>
                <a:gridCol w="584065">
                  <a:extLst>
                    <a:ext uri="{9D8B030D-6E8A-4147-A177-3AD203B41FA5}">
                      <a16:colId xmlns:a16="http://schemas.microsoft.com/office/drawing/2014/main" val="3239752048"/>
                    </a:ext>
                  </a:extLst>
                </a:gridCol>
                <a:gridCol w="584065">
                  <a:extLst>
                    <a:ext uri="{9D8B030D-6E8A-4147-A177-3AD203B41FA5}">
                      <a16:colId xmlns:a16="http://schemas.microsoft.com/office/drawing/2014/main" val="713981144"/>
                    </a:ext>
                  </a:extLst>
                </a:gridCol>
                <a:gridCol w="584065">
                  <a:extLst>
                    <a:ext uri="{9D8B030D-6E8A-4147-A177-3AD203B41FA5}">
                      <a16:colId xmlns:a16="http://schemas.microsoft.com/office/drawing/2014/main" val="2495172708"/>
                    </a:ext>
                  </a:extLst>
                </a:gridCol>
                <a:gridCol w="584065">
                  <a:extLst>
                    <a:ext uri="{9D8B030D-6E8A-4147-A177-3AD203B41FA5}">
                      <a16:colId xmlns:a16="http://schemas.microsoft.com/office/drawing/2014/main" val="2772893427"/>
                    </a:ext>
                  </a:extLst>
                </a:gridCol>
                <a:gridCol w="584065">
                  <a:extLst>
                    <a:ext uri="{9D8B030D-6E8A-4147-A177-3AD203B41FA5}">
                      <a16:colId xmlns:a16="http://schemas.microsoft.com/office/drawing/2014/main" val="799788620"/>
                    </a:ext>
                  </a:extLst>
                </a:gridCol>
                <a:gridCol w="584065">
                  <a:extLst>
                    <a:ext uri="{9D8B030D-6E8A-4147-A177-3AD203B41FA5}">
                      <a16:colId xmlns:a16="http://schemas.microsoft.com/office/drawing/2014/main" val="3625321331"/>
                    </a:ext>
                  </a:extLst>
                </a:gridCol>
                <a:gridCol w="584065">
                  <a:extLst>
                    <a:ext uri="{9D8B030D-6E8A-4147-A177-3AD203B41FA5}">
                      <a16:colId xmlns:a16="http://schemas.microsoft.com/office/drawing/2014/main" val="2498698166"/>
                    </a:ext>
                  </a:extLst>
                </a:gridCol>
                <a:gridCol w="584065">
                  <a:extLst>
                    <a:ext uri="{9D8B030D-6E8A-4147-A177-3AD203B41FA5}">
                      <a16:colId xmlns:a16="http://schemas.microsoft.com/office/drawing/2014/main" val="3283894884"/>
                    </a:ext>
                  </a:extLst>
                </a:gridCol>
              </a:tblGrid>
              <a:tr h="205737">
                <a:tc>
                  <a:txBody>
                    <a:bodyPr/>
                    <a:lstStyle/>
                    <a:p>
                      <a:pPr algn="ctr" rtl="0" fontAlgn="ctr">
                        <a:buNone/>
                      </a:pPr>
                      <a:r>
                        <a:rPr lang="es-PE" sz="700" b="1" i="0" u="none" strike="noStrike" dirty="0" err="1">
                          <a:solidFill>
                            <a:srgbClr val="FFFFFF"/>
                          </a:solidFill>
                          <a:effectLst/>
                          <a:latin typeface="Trebuchet MS" panose="020B0603020202020204" pitchFamily="34" charset="0"/>
                        </a:rPr>
                        <a:t>Utilities</a:t>
                      </a:r>
                      <a:endParaRPr lang="es-PE" sz="700" b="1" i="0" u="none" strike="noStrike" dirty="0">
                        <a:solidFill>
                          <a:srgbClr val="FFFFFF"/>
                        </a:solidFill>
                        <a:effectLst/>
                        <a:latin typeface="Trebuchet MS" panose="020B0603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95317116"/>
                  </a:ext>
                </a:extLst>
              </a:tr>
              <a:tr h="171448">
                <a:tc>
                  <a:txBody>
                    <a:bodyPr/>
                    <a:lstStyle/>
                    <a:p>
                      <a:pPr algn="ctr" rtl="0" fontAlgn="ctr">
                        <a:buNone/>
                      </a:pPr>
                      <a:r>
                        <a:rPr lang="es-PE" sz="700" b="0" i="0" u="none" strike="noStrike">
                          <a:solidFill>
                            <a:srgbClr val="1E2E6E"/>
                          </a:solidFill>
                          <a:effectLst/>
                          <a:latin typeface="Trebuchet MS" panose="020B0603020202020204" pitchFamily="34" charset="0"/>
                        </a:rPr>
                        <a:t>Pluz Energía</a:t>
                      </a: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8.0%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14.0%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76.0%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2.0%</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3.7</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3.7</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solidFill>
                      <a:srgbClr val="FA9193"/>
                    </a:solidFill>
                  </a:tcPr>
                </a:tc>
                <a:extLst>
                  <a:ext uri="{0D108BD9-81ED-4DB2-BD59-A6C34878D82A}">
                    <a16:rowId xmlns:a16="http://schemas.microsoft.com/office/drawing/2014/main" val="4084404200"/>
                  </a:ext>
                </a:extLst>
              </a:tr>
              <a:tr h="171448">
                <a:tc>
                  <a:txBody>
                    <a:bodyPr/>
                    <a:lstStyle/>
                    <a:p>
                      <a:pPr algn="ctr" rtl="0" fontAlgn="ctr">
                        <a:buNone/>
                      </a:pPr>
                      <a:r>
                        <a:rPr lang="es-PE" sz="700" b="0" i="0" u="none" strike="noStrike">
                          <a:solidFill>
                            <a:srgbClr val="1E2E6E"/>
                          </a:solidFill>
                          <a:effectLst/>
                          <a:latin typeface="Trebuchet MS" panose="020B0603020202020204" pitchFamily="34" charset="0"/>
                        </a:rPr>
                        <a:t>Orygen</a:t>
                      </a: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56.0%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44.0%</a:t>
                      </a:r>
                    </a:p>
                  </a:txBody>
                  <a:tcPr marL="9525" marR="9525" marT="9525"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0.0%</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3.4</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Bajo</a:t>
                      </a:r>
                    </a:p>
                  </a:txBody>
                  <a:tcPr marL="9525" marR="9525" marT="9525"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3.4</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solidFill>
                      <a:srgbClr val="FBBCBE"/>
                    </a:solidFill>
                  </a:tcPr>
                </a:tc>
                <a:extLst>
                  <a:ext uri="{0D108BD9-81ED-4DB2-BD59-A6C34878D82A}">
                    <a16:rowId xmlns:a16="http://schemas.microsoft.com/office/drawing/2014/main" val="2920383700"/>
                  </a:ext>
                </a:extLst>
              </a:tr>
              <a:tr h="171448">
                <a:tc>
                  <a:txBody>
                    <a:bodyPr/>
                    <a:lstStyle/>
                    <a:p>
                      <a:pPr algn="ctr" rtl="0" fontAlgn="ctr">
                        <a:buNone/>
                      </a:pPr>
                      <a:r>
                        <a:rPr lang="es-PE" sz="700" b="0" i="0" u="none" strike="noStrike">
                          <a:solidFill>
                            <a:srgbClr val="1E2E6E"/>
                          </a:solidFill>
                          <a:effectLst/>
                          <a:latin typeface="Trebuchet MS" panose="020B0603020202020204" pitchFamily="34" charset="0"/>
                        </a:rPr>
                        <a:t>Engie</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Bajo</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3.0</a:t>
                      </a: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CFCFF"/>
                    </a:solidFill>
                  </a:tcPr>
                </a:tc>
                <a:extLst>
                  <a:ext uri="{0D108BD9-81ED-4DB2-BD59-A6C34878D82A}">
                    <a16:rowId xmlns:a16="http://schemas.microsoft.com/office/drawing/2014/main" val="4103344335"/>
                  </a:ext>
                </a:extLst>
              </a:tr>
            </a:tbl>
          </a:graphicData>
        </a:graphic>
      </p:graphicFrame>
      <p:graphicFrame>
        <p:nvGraphicFramePr>
          <p:cNvPr id="22" name="Tabla 21">
            <a:extLst>
              <a:ext uri="{FF2B5EF4-FFF2-40B4-BE49-F238E27FC236}">
                <a16:creationId xmlns:a16="http://schemas.microsoft.com/office/drawing/2014/main" id="{8FADE44E-E11F-3F30-12F8-0EAFE982C735}"/>
              </a:ext>
            </a:extLst>
          </p:cNvPr>
          <p:cNvGraphicFramePr>
            <a:graphicFrameLocks noGrp="1"/>
          </p:cNvGraphicFramePr>
          <p:nvPr/>
        </p:nvGraphicFramePr>
        <p:xfrm>
          <a:off x="6600056" y="1556792"/>
          <a:ext cx="5256585" cy="4968548"/>
        </p:xfrm>
        <a:graphic>
          <a:graphicData uri="http://schemas.openxmlformats.org/drawingml/2006/table">
            <a:tbl>
              <a:tblPr/>
              <a:tblGrid>
                <a:gridCol w="584065">
                  <a:extLst>
                    <a:ext uri="{9D8B030D-6E8A-4147-A177-3AD203B41FA5}">
                      <a16:colId xmlns:a16="http://schemas.microsoft.com/office/drawing/2014/main" val="3614616171"/>
                    </a:ext>
                  </a:extLst>
                </a:gridCol>
                <a:gridCol w="584065">
                  <a:extLst>
                    <a:ext uri="{9D8B030D-6E8A-4147-A177-3AD203B41FA5}">
                      <a16:colId xmlns:a16="http://schemas.microsoft.com/office/drawing/2014/main" val="3599145721"/>
                    </a:ext>
                  </a:extLst>
                </a:gridCol>
                <a:gridCol w="584065">
                  <a:extLst>
                    <a:ext uri="{9D8B030D-6E8A-4147-A177-3AD203B41FA5}">
                      <a16:colId xmlns:a16="http://schemas.microsoft.com/office/drawing/2014/main" val="3465000320"/>
                    </a:ext>
                  </a:extLst>
                </a:gridCol>
                <a:gridCol w="584065">
                  <a:extLst>
                    <a:ext uri="{9D8B030D-6E8A-4147-A177-3AD203B41FA5}">
                      <a16:colId xmlns:a16="http://schemas.microsoft.com/office/drawing/2014/main" val="9012460"/>
                    </a:ext>
                  </a:extLst>
                </a:gridCol>
                <a:gridCol w="584065">
                  <a:extLst>
                    <a:ext uri="{9D8B030D-6E8A-4147-A177-3AD203B41FA5}">
                      <a16:colId xmlns:a16="http://schemas.microsoft.com/office/drawing/2014/main" val="1911988587"/>
                    </a:ext>
                  </a:extLst>
                </a:gridCol>
                <a:gridCol w="584065">
                  <a:extLst>
                    <a:ext uri="{9D8B030D-6E8A-4147-A177-3AD203B41FA5}">
                      <a16:colId xmlns:a16="http://schemas.microsoft.com/office/drawing/2014/main" val="3590382997"/>
                    </a:ext>
                  </a:extLst>
                </a:gridCol>
                <a:gridCol w="584065">
                  <a:extLst>
                    <a:ext uri="{9D8B030D-6E8A-4147-A177-3AD203B41FA5}">
                      <a16:colId xmlns:a16="http://schemas.microsoft.com/office/drawing/2014/main" val="1074493217"/>
                    </a:ext>
                  </a:extLst>
                </a:gridCol>
                <a:gridCol w="584065">
                  <a:extLst>
                    <a:ext uri="{9D8B030D-6E8A-4147-A177-3AD203B41FA5}">
                      <a16:colId xmlns:a16="http://schemas.microsoft.com/office/drawing/2014/main" val="486514150"/>
                    </a:ext>
                  </a:extLst>
                </a:gridCol>
                <a:gridCol w="584065">
                  <a:extLst>
                    <a:ext uri="{9D8B030D-6E8A-4147-A177-3AD203B41FA5}">
                      <a16:colId xmlns:a16="http://schemas.microsoft.com/office/drawing/2014/main" val="125921672"/>
                    </a:ext>
                  </a:extLst>
                </a:gridCol>
              </a:tblGrid>
              <a:tr h="238490">
                <a:tc>
                  <a:txBody>
                    <a:bodyPr/>
                    <a:lstStyle/>
                    <a:p>
                      <a:pPr algn="ctr" rtl="0" fontAlgn="ctr">
                        <a:buNone/>
                      </a:pPr>
                      <a:r>
                        <a:rPr lang="es-PE" sz="700" b="1" i="0" u="none" strike="noStrike" dirty="0">
                          <a:solidFill>
                            <a:srgbClr val="FFFFFF"/>
                          </a:solidFill>
                          <a:effectLst/>
                          <a:latin typeface="Trebuchet MS" panose="020B0603020202020204" pitchFamily="34" charset="0"/>
                        </a:rPr>
                        <a:t>Materiales - Cementeras</a:t>
                      </a:r>
                    </a:p>
                  </a:txBody>
                  <a:tcPr marL="8703" marR="8703" marT="870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8703" marR="8703" marT="870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4107219359"/>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Unacem</a:t>
                      </a:r>
                    </a:p>
                  </a:txBody>
                  <a:tcPr marL="8703" marR="8703" marT="8703"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dirty="0">
                          <a:solidFill>
                            <a:srgbClr val="1F2533"/>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100.0%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4.0</a:t>
                      </a:r>
                    </a:p>
                  </a:txBody>
                  <a:tcPr marL="8703" marR="8703" marT="8703" marB="0" anchor="ctr">
                    <a:lnL>
                      <a:noFill/>
                    </a:lnL>
                    <a:lnR w="6350" cap="flat" cmpd="sng" algn="ctr">
                      <a:solidFill>
                        <a:srgbClr val="000000"/>
                      </a:solidFill>
                      <a:prstDash val="solid"/>
                      <a:round/>
                      <a:headEnd type="none" w="med" len="med"/>
                      <a:tailEnd type="none" w="med" len="med"/>
                    </a:lnR>
                    <a:lnT>
                      <a:noFill/>
                    </a:lnT>
                    <a:lnB>
                      <a:noFill/>
                    </a:lnB>
                    <a:solidFill>
                      <a:srgbClr val="F8696B"/>
                    </a:solidFill>
                  </a:tcPr>
                </a:tc>
                <a:extLst>
                  <a:ext uri="{0D108BD9-81ED-4DB2-BD59-A6C34878D82A}">
                    <a16:rowId xmlns:a16="http://schemas.microsoft.com/office/drawing/2014/main" val="105461044"/>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Pacasmayo</a:t>
                      </a:r>
                    </a:p>
                  </a:txBody>
                  <a:tcPr marL="8703" marR="8703" marT="8703"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dirty="0">
                          <a:solidFill>
                            <a:srgbClr val="1F2533"/>
                          </a:solidFill>
                          <a:effectLst/>
                          <a:latin typeface="Trebuchet MS" panose="020B0603020202020204" pitchFamily="34" charset="0"/>
                        </a:rPr>
                        <a:t>100.0%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F2533"/>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Alto</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1.4</a:t>
                      </a:r>
                    </a:p>
                  </a:txBody>
                  <a:tcPr marL="8703" marR="8703" marT="8703"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2277511145"/>
                  </a:ext>
                </a:extLst>
              </a:tr>
              <a:tr h="198742">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dirty="0">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6223820"/>
                  </a:ext>
                </a:extLst>
              </a:tr>
              <a:tr h="238490">
                <a:tc>
                  <a:txBody>
                    <a:bodyPr/>
                    <a:lstStyle/>
                    <a:p>
                      <a:pPr algn="ctr" rtl="0" fontAlgn="ctr">
                        <a:buNone/>
                      </a:pPr>
                      <a:r>
                        <a:rPr lang="es-PE" sz="700" b="1" i="0" u="none" strike="noStrike">
                          <a:solidFill>
                            <a:srgbClr val="FFFFFF"/>
                          </a:solidFill>
                          <a:effectLst/>
                          <a:latin typeface="Trebuchet MS" panose="020B0603020202020204" pitchFamily="34" charset="0"/>
                        </a:rPr>
                        <a:t>Consumo No Discrecional</a:t>
                      </a:r>
                    </a:p>
                  </a:txBody>
                  <a:tcPr marL="8703" marR="8703" marT="870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8703" marR="8703" marT="870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1472818964"/>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InRetail</a:t>
                      </a:r>
                    </a:p>
                  </a:txBody>
                  <a:tcPr marL="8703" marR="8703" marT="8703"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33.1%</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52.1%</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dirty="0">
                          <a:solidFill>
                            <a:srgbClr val="1E2E6E"/>
                          </a:solidFill>
                          <a:effectLst/>
                          <a:latin typeface="Trebuchet MS" panose="020B0603020202020204" pitchFamily="34" charset="0"/>
                        </a:rPr>
                        <a:t>14.3%</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2.8</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2.8</a:t>
                      </a:r>
                    </a:p>
                  </a:txBody>
                  <a:tcPr marL="8703" marR="8703" marT="8703" marB="0" anchor="ctr">
                    <a:lnL>
                      <a:noFill/>
                    </a:lnL>
                    <a:lnR w="6350" cap="flat" cmpd="sng" algn="ctr">
                      <a:solidFill>
                        <a:srgbClr val="000000"/>
                      </a:solidFill>
                      <a:prstDash val="solid"/>
                      <a:round/>
                      <a:headEnd type="none" w="med" len="med"/>
                      <a:tailEnd type="none" w="med" len="med"/>
                    </a:lnR>
                    <a:lnT>
                      <a:noFill/>
                    </a:lnT>
                    <a:lnB>
                      <a:noFill/>
                    </a:lnB>
                    <a:solidFill>
                      <a:srgbClr val="EAF5F0"/>
                    </a:solidFill>
                  </a:tcPr>
                </a:tc>
                <a:extLst>
                  <a:ext uri="{0D108BD9-81ED-4DB2-BD59-A6C34878D82A}">
                    <a16:rowId xmlns:a16="http://schemas.microsoft.com/office/drawing/2014/main" val="1424827668"/>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Alicorp</a:t>
                      </a:r>
                    </a:p>
                  </a:txBody>
                  <a:tcPr marL="8703" marR="8703" marT="8703"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Alto</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1.4</a:t>
                      </a:r>
                    </a:p>
                  </a:txBody>
                  <a:tcPr marL="8703" marR="8703" marT="8703"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2319591899"/>
                  </a:ext>
                </a:extLst>
              </a:tr>
              <a:tr h="198742">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1991134"/>
                  </a:ext>
                </a:extLst>
              </a:tr>
              <a:tr h="238490">
                <a:tc>
                  <a:txBody>
                    <a:bodyPr/>
                    <a:lstStyle/>
                    <a:p>
                      <a:pPr algn="ctr" rtl="0" fontAlgn="ctr">
                        <a:buNone/>
                      </a:pPr>
                      <a:r>
                        <a:rPr lang="es-PE" sz="700" b="1" i="0" u="none" strike="noStrike">
                          <a:solidFill>
                            <a:srgbClr val="FFFFFF"/>
                          </a:solidFill>
                          <a:effectLst/>
                          <a:latin typeface="Trebuchet MS" panose="020B0603020202020204" pitchFamily="34" charset="0"/>
                        </a:rPr>
                        <a:t>Financieras</a:t>
                      </a:r>
                    </a:p>
                  </a:txBody>
                  <a:tcPr marL="8703" marR="8703" marT="870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5</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92D050"/>
                          </a:solidFill>
                          <a:effectLst/>
                          <a:latin typeface="Trebuchet MS" panose="020B0603020202020204" pitchFamily="34" charset="0"/>
                        </a:rPr>
                        <a:t>Mitigantes</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8703" marR="8703" marT="870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2062436034"/>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IFS</a:t>
                      </a:r>
                    </a:p>
                  </a:txBody>
                  <a:tcPr marL="8703" marR="8703" marT="8703"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31.0%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43.0%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26.0%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3.0</a:t>
                      </a:r>
                    </a:p>
                  </a:txBody>
                  <a:tcPr marL="8703" marR="8703" marT="8703" marB="0" anchor="ctr">
                    <a:lnL>
                      <a:noFill/>
                    </a:lnL>
                    <a:lnR w="6350" cap="flat" cmpd="sng" algn="ctr">
                      <a:solidFill>
                        <a:srgbClr val="000000"/>
                      </a:solidFill>
                      <a:prstDash val="solid"/>
                      <a:round/>
                      <a:headEnd type="none" w="med" len="med"/>
                      <a:tailEnd type="none" w="med" len="med"/>
                    </a:lnR>
                    <a:lnT>
                      <a:noFill/>
                    </a:lnT>
                    <a:lnB>
                      <a:noFill/>
                    </a:lnB>
                    <a:solidFill>
                      <a:srgbClr val="F8FAFB"/>
                    </a:solidFill>
                  </a:tcPr>
                </a:tc>
                <a:extLst>
                  <a:ext uri="{0D108BD9-81ED-4DB2-BD59-A6C34878D82A}">
                    <a16:rowId xmlns:a16="http://schemas.microsoft.com/office/drawing/2014/main" val="3780575144"/>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Credicorp</a:t>
                      </a:r>
                    </a:p>
                  </a:txBody>
                  <a:tcPr marL="8703" marR="8703" marT="8703"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32.0%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42.0%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24.0%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2.9</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2.9</a:t>
                      </a:r>
                    </a:p>
                  </a:txBody>
                  <a:tcPr marL="8703" marR="8703" marT="8703" marB="0" anchor="ctr">
                    <a:lnL>
                      <a:noFill/>
                    </a:lnL>
                    <a:lnR w="6350" cap="flat" cmpd="sng" algn="ctr">
                      <a:solidFill>
                        <a:srgbClr val="000000"/>
                      </a:solidFill>
                      <a:prstDash val="solid"/>
                      <a:round/>
                      <a:headEnd type="none" w="med" len="med"/>
                      <a:tailEnd type="none" w="med" len="med"/>
                    </a:lnR>
                    <a:lnT>
                      <a:noFill/>
                    </a:lnT>
                    <a:lnB>
                      <a:noFill/>
                    </a:lnB>
                    <a:solidFill>
                      <a:srgbClr val="F5F9F9"/>
                    </a:solidFill>
                  </a:tcPr>
                </a:tc>
                <a:extLst>
                  <a:ext uri="{0D108BD9-81ED-4DB2-BD59-A6C34878D82A}">
                    <a16:rowId xmlns:a16="http://schemas.microsoft.com/office/drawing/2014/main" val="4273603577"/>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BBVA</a:t>
                      </a:r>
                    </a:p>
                  </a:txBody>
                  <a:tcPr marL="8703" marR="8703" marT="8703"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38.0%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44.0%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18.0%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2.8</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2.8</a:t>
                      </a:r>
                    </a:p>
                  </a:txBody>
                  <a:tcPr marL="8703" marR="8703" marT="8703"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9F4EF"/>
                    </a:solidFill>
                  </a:tcPr>
                </a:tc>
                <a:extLst>
                  <a:ext uri="{0D108BD9-81ED-4DB2-BD59-A6C34878D82A}">
                    <a16:rowId xmlns:a16="http://schemas.microsoft.com/office/drawing/2014/main" val="1893574825"/>
                  </a:ext>
                </a:extLst>
              </a:tr>
              <a:tr h="198742">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dirty="0">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9066552"/>
                  </a:ext>
                </a:extLst>
              </a:tr>
              <a:tr h="238490">
                <a:tc>
                  <a:txBody>
                    <a:bodyPr/>
                    <a:lstStyle/>
                    <a:p>
                      <a:pPr algn="ctr" rtl="0" fontAlgn="ctr">
                        <a:buNone/>
                      </a:pPr>
                      <a:r>
                        <a:rPr lang="es-PE" sz="700" b="1" i="0" u="none" strike="noStrike">
                          <a:solidFill>
                            <a:srgbClr val="FFFFFF"/>
                          </a:solidFill>
                          <a:effectLst/>
                          <a:latin typeface="Trebuchet MS" panose="020B0603020202020204" pitchFamily="34" charset="0"/>
                        </a:rPr>
                        <a:t>Industrial</a:t>
                      </a:r>
                    </a:p>
                  </a:txBody>
                  <a:tcPr marL="8703" marR="8703" marT="870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92D050"/>
                          </a:solidFill>
                          <a:effectLst/>
                          <a:latin typeface="Trebuchet MS" panose="020B0603020202020204" pitchFamily="34" charset="0"/>
                        </a:rPr>
                        <a:t>Mitigantes</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8703" marR="8703" marT="870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1177745088"/>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Aenza</a:t>
                      </a:r>
                    </a:p>
                  </a:txBody>
                  <a:tcPr marL="8703" marR="8703" marT="8703"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75.3%</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23.5%</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1.1%</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3.3</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Bajo</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3.3</a:t>
                      </a:r>
                    </a:p>
                  </a:txBody>
                  <a:tcPr marL="8703" marR="8703" marT="8703" marB="0" anchor="ctr">
                    <a:lnL>
                      <a:noFill/>
                    </a:lnL>
                    <a:lnR w="6350" cap="flat" cmpd="sng" algn="ctr">
                      <a:solidFill>
                        <a:srgbClr val="000000"/>
                      </a:solidFill>
                      <a:prstDash val="solid"/>
                      <a:round/>
                      <a:headEnd type="none" w="med" len="med"/>
                      <a:tailEnd type="none" w="med" len="med"/>
                    </a:lnR>
                    <a:lnT>
                      <a:noFill/>
                    </a:lnT>
                    <a:lnB>
                      <a:noFill/>
                    </a:lnB>
                    <a:solidFill>
                      <a:srgbClr val="FBD6D9"/>
                    </a:solidFill>
                  </a:tcPr>
                </a:tc>
                <a:extLst>
                  <a:ext uri="{0D108BD9-81ED-4DB2-BD59-A6C34878D82A}">
                    <a16:rowId xmlns:a16="http://schemas.microsoft.com/office/drawing/2014/main" val="2533605211"/>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Ferreycorp</a:t>
                      </a:r>
                    </a:p>
                  </a:txBody>
                  <a:tcPr marL="8703" marR="8703" marT="8703"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10.1%</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66.2%</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23.7%</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3.1</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Bajo</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3.1</a:t>
                      </a:r>
                    </a:p>
                  </a:txBody>
                  <a:tcPr marL="8703" marR="8703" marT="8703"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CE8EB"/>
                    </a:solidFill>
                  </a:tcPr>
                </a:tc>
                <a:extLst>
                  <a:ext uri="{0D108BD9-81ED-4DB2-BD59-A6C34878D82A}">
                    <a16:rowId xmlns:a16="http://schemas.microsoft.com/office/drawing/2014/main" val="3179075348"/>
                  </a:ext>
                </a:extLst>
              </a:tr>
              <a:tr h="198742">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dirty="0">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s-PE" sz="700" b="0" i="0" u="none" strike="noStrike">
                        <a:solidFill>
                          <a:srgbClr val="000000"/>
                        </a:solidFill>
                        <a:effectLst/>
                        <a:latin typeface="Aptos Narrow" panose="020B0004020202020204" pitchFamily="34" charset="0"/>
                      </a:endParaRPr>
                    </a:p>
                  </a:txBody>
                  <a:tcPr marL="8703" marR="8703" marT="870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6411411"/>
                  </a:ext>
                </a:extLst>
              </a:tr>
              <a:tr h="238490">
                <a:tc>
                  <a:txBody>
                    <a:bodyPr/>
                    <a:lstStyle/>
                    <a:p>
                      <a:pPr algn="ctr" rtl="0" fontAlgn="ctr">
                        <a:buNone/>
                      </a:pPr>
                      <a:r>
                        <a:rPr lang="es-PE" sz="700" b="1" i="0" u="none" strike="noStrike">
                          <a:solidFill>
                            <a:srgbClr val="FFFFFF"/>
                          </a:solidFill>
                          <a:effectLst/>
                          <a:latin typeface="Trebuchet MS" panose="020B0603020202020204" pitchFamily="34" charset="0"/>
                        </a:rPr>
                        <a:t>Materiales - Minería</a:t>
                      </a:r>
                    </a:p>
                  </a:txBody>
                  <a:tcPr marL="8703" marR="8703" marT="8703"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1</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2</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3</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4</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5</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dirty="0">
                          <a:solidFill>
                            <a:srgbClr val="92D050"/>
                          </a:solidFill>
                          <a:effectLst/>
                          <a:latin typeface="Trebuchet MS" panose="020B0603020202020204" pitchFamily="34" charset="0"/>
                        </a:rPr>
                        <a:t>Mitigantes</a:t>
                      </a:r>
                    </a:p>
                  </a:txBody>
                  <a:tcPr marL="8703" marR="8703" marT="8703" marB="0" anchor="ctr">
                    <a:lnL>
                      <a:noFill/>
                    </a:lnL>
                    <a:lnR>
                      <a:noFill/>
                    </a:lnR>
                    <a:lnT w="6350" cap="flat" cmpd="sng" algn="ctr">
                      <a:solidFill>
                        <a:srgbClr val="000000"/>
                      </a:solidFill>
                      <a:prstDash val="solid"/>
                      <a:round/>
                      <a:headEnd type="none" w="med" len="med"/>
                      <a:tailEnd type="none" w="med" len="med"/>
                    </a:lnT>
                    <a:lnB>
                      <a:noFill/>
                    </a:lnB>
                    <a:solidFill>
                      <a:srgbClr val="4D93D9"/>
                    </a:solidFill>
                  </a:tcPr>
                </a:tc>
                <a:tc>
                  <a:txBody>
                    <a:bodyPr/>
                    <a:lstStyle/>
                    <a:p>
                      <a:pPr algn="ctr" rtl="0" fontAlgn="ctr">
                        <a:buNone/>
                      </a:pPr>
                      <a:r>
                        <a:rPr lang="es-PE" sz="700" b="1" i="0" u="none" strike="noStrike">
                          <a:solidFill>
                            <a:srgbClr val="FFC000"/>
                          </a:solidFill>
                          <a:effectLst/>
                          <a:latin typeface="Trebuchet MS" panose="020B0603020202020204" pitchFamily="34" charset="0"/>
                        </a:rPr>
                        <a:t>Score Ajust.</a:t>
                      </a:r>
                    </a:p>
                  </a:txBody>
                  <a:tcPr marL="8703" marR="8703" marT="870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D93D9"/>
                    </a:solidFill>
                  </a:tcPr>
                </a:tc>
                <a:extLst>
                  <a:ext uri="{0D108BD9-81ED-4DB2-BD59-A6C34878D82A}">
                    <a16:rowId xmlns:a16="http://schemas.microsoft.com/office/drawing/2014/main" val="454314407"/>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Hochschild  </a:t>
                      </a:r>
                    </a:p>
                  </a:txBody>
                  <a:tcPr marL="8703" marR="8703" marT="8703"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Bajo</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4.0</a:t>
                      </a:r>
                    </a:p>
                  </a:txBody>
                  <a:tcPr marL="8703" marR="8703" marT="8703" marB="0" anchor="ctr">
                    <a:lnL>
                      <a:noFill/>
                    </a:lnL>
                    <a:lnR w="6350" cap="flat" cmpd="sng" algn="ctr">
                      <a:solidFill>
                        <a:srgbClr val="000000"/>
                      </a:solidFill>
                      <a:prstDash val="solid"/>
                      <a:round/>
                      <a:headEnd type="none" w="med" len="med"/>
                      <a:tailEnd type="none" w="med" len="med"/>
                    </a:lnR>
                    <a:lnT>
                      <a:noFill/>
                    </a:lnT>
                    <a:lnB>
                      <a:noFill/>
                    </a:lnB>
                    <a:solidFill>
                      <a:srgbClr val="F8696B"/>
                    </a:solidFill>
                  </a:tcPr>
                </a:tc>
                <a:extLst>
                  <a:ext uri="{0D108BD9-81ED-4DB2-BD59-A6C34878D82A}">
                    <a16:rowId xmlns:a16="http://schemas.microsoft.com/office/drawing/2014/main" val="3463995636"/>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Nexa Perú</a:t>
                      </a:r>
                    </a:p>
                  </a:txBody>
                  <a:tcPr marL="8703" marR="8703" marT="8703"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46.0%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55.0%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3.6</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Medio</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3.2</a:t>
                      </a:r>
                    </a:p>
                  </a:txBody>
                  <a:tcPr marL="8703" marR="8703" marT="8703" marB="0" anchor="ctr">
                    <a:lnL>
                      <a:noFill/>
                    </a:lnL>
                    <a:lnR w="6350" cap="flat" cmpd="sng" algn="ctr">
                      <a:solidFill>
                        <a:srgbClr val="000000"/>
                      </a:solidFill>
                      <a:prstDash val="solid"/>
                      <a:round/>
                      <a:headEnd type="none" w="med" len="med"/>
                      <a:tailEnd type="none" w="med" len="med"/>
                    </a:lnR>
                    <a:lnT>
                      <a:noFill/>
                    </a:lnT>
                    <a:lnB>
                      <a:noFill/>
                    </a:lnB>
                    <a:solidFill>
                      <a:srgbClr val="FCDDE0"/>
                    </a:solidFill>
                  </a:tcPr>
                </a:tc>
                <a:extLst>
                  <a:ext uri="{0D108BD9-81ED-4DB2-BD59-A6C34878D82A}">
                    <a16:rowId xmlns:a16="http://schemas.microsoft.com/office/drawing/2014/main" val="485443538"/>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Hudbay  </a:t>
                      </a:r>
                    </a:p>
                  </a:txBody>
                  <a:tcPr marL="8703" marR="8703" marT="8703"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Bajo</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3.0</a:t>
                      </a:r>
                    </a:p>
                  </a:txBody>
                  <a:tcPr marL="8703" marR="8703" marT="8703" marB="0" anchor="ctr">
                    <a:lnL>
                      <a:noFill/>
                    </a:lnL>
                    <a:lnR w="6350" cap="flat" cmpd="sng" algn="ctr">
                      <a:solidFill>
                        <a:srgbClr val="000000"/>
                      </a:solidFill>
                      <a:prstDash val="solid"/>
                      <a:round/>
                      <a:headEnd type="none" w="med" len="med"/>
                      <a:tailEnd type="none" w="med" len="med"/>
                    </a:lnR>
                    <a:lnT>
                      <a:noFill/>
                    </a:lnT>
                    <a:lnB>
                      <a:noFill/>
                    </a:lnB>
                    <a:solidFill>
                      <a:srgbClr val="FCFCFF"/>
                    </a:solidFill>
                  </a:tcPr>
                </a:tc>
                <a:extLst>
                  <a:ext uri="{0D108BD9-81ED-4DB2-BD59-A6C34878D82A}">
                    <a16:rowId xmlns:a16="http://schemas.microsoft.com/office/drawing/2014/main" val="2488895541"/>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Minsur</a:t>
                      </a:r>
                    </a:p>
                  </a:txBody>
                  <a:tcPr marL="8703" marR="8703" marT="8703"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Bajo</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3.0</a:t>
                      </a:r>
                    </a:p>
                  </a:txBody>
                  <a:tcPr marL="8703" marR="8703" marT="8703" marB="0" anchor="ctr">
                    <a:lnL>
                      <a:noFill/>
                    </a:lnL>
                    <a:lnR w="6350" cap="flat" cmpd="sng" algn="ctr">
                      <a:solidFill>
                        <a:srgbClr val="000000"/>
                      </a:solidFill>
                      <a:prstDash val="solid"/>
                      <a:round/>
                      <a:headEnd type="none" w="med" len="med"/>
                      <a:tailEnd type="none" w="med" len="med"/>
                    </a:lnR>
                    <a:lnT>
                      <a:noFill/>
                    </a:lnT>
                    <a:lnB>
                      <a:noFill/>
                    </a:lnB>
                    <a:solidFill>
                      <a:srgbClr val="FCFCFF"/>
                    </a:solidFill>
                  </a:tcPr>
                </a:tc>
                <a:extLst>
                  <a:ext uri="{0D108BD9-81ED-4DB2-BD59-A6C34878D82A}">
                    <a16:rowId xmlns:a16="http://schemas.microsoft.com/office/drawing/2014/main" val="3182252602"/>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Buenaventura</a:t>
                      </a:r>
                    </a:p>
                  </a:txBody>
                  <a:tcPr marL="8703" marR="8703" marT="8703"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3.0</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Alto</a:t>
                      </a:r>
                    </a:p>
                  </a:txBody>
                  <a:tcPr marL="8703" marR="8703" marT="8703" marB="0" anchor="ctr">
                    <a:lnL>
                      <a:noFill/>
                    </a:lnL>
                    <a:lnR>
                      <a:noFill/>
                    </a:lnR>
                    <a:lnT>
                      <a:noFill/>
                    </a:lnT>
                    <a:lnB>
                      <a:noFill/>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2.1</a:t>
                      </a:r>
                    </a:p>
                  </a:txBody>
                  <a:tcPr marL="8703" marR="8703" marT="8703" marB="0" anchor="ctr">
                    <a:lnL>
                      <a:noFill/>
                    </a:lnL>
                    <a:lnR w="6350" cap="flat" cmpd="sng" algn="ctr">
                      <a:solidFill>
                        <a:srgbClr val="000000"/>
                      </a:solidFill>
                      <a:prstDash val="solid"/>
                      <a:round/>
                      <a:headEnd type="none" w="med" len="med"/>
                      <a:tailEnd type="none" w="med" len="med"/>
                    </a:lnR>
                    <a:lnT>
                      <a:noFill/>
                    </a:lnT>
                    <a:lnB>
                      <a:noFill/>
                    </a:lnB>
                    <a:solidFill>
                      <a:srgbClr val="A5D9B4"/>
                    </a:solidFill>
                  </a:tcPr>
                </a:tc>
                <a:extLst>
                  <a:ext uri="{0D108BD9-81ED-4DB2-BD59-A6C34878D82A}">
                    <a16:rowId xmlns:a16="http://schemas.microsoft.com/office/drawing/2014/main" val="3588366451"/>
                  </a:ext>
                </a:extLst>
              </a:tr>
              <a:tr h="198742">
                <a:tc>
                  <a:txBody>
                    <a:bodyPr/>
                    <a:lstStyle/>
                    <a:p>
                      <a:pPr algn="ctr" rtl="0" fontAlgn="ctr">
                        <a:buNone/>
                      </a:pPr>
                      <a:r>
                        <a:rPr lang="es-PE" sz="700" b="0" i="0" u="none" strike="noStrike">
                          <a:solidFill>
                            <a:srgbClr val="1E2E6E"/>
                          </a:solidFill>
                          <a:effectLst/>
                          <a:latin typeface="Trebuchet MS" panose="020B0603020202020204" pitchFamily="34" charset="0"/>
                        </a:rPr>
                        <a:t>Volcan</a:t>
                      </a:r>
                    </a:p>
                  </a:txBody>
                  <a:tcPr marL="8703" marR="8703" marT="8703"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100.0%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0" i="0" u="none" strike="noStrike">
                          <a:solidFill>
                            <a:srgbClr val="1E2E6E"/>
                          </a:solidFill>
                          <a:effectLst/>
                          <a:latin typeface="Trebuchet MS" panose="020B0603020202020204" pitchFamily="34" charset="0"/>
                        </a:rPr>
                        <a:t>0.0%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2.0</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a:solidFill>
                            <a:srgbClr val="1F2533"/>
                          </a:solidFill>
                          <a:effectLst/>
                          <a:latin typeface="Trebuchet MS" panose="020B0603020202020204" pitchFamily="34" charset="0"/>
                        </a:rPr>
                        <a:t>Bajo</a:t>
                      </a:r>
                    </a:p>
                  </a:txBody>
                  <a:tcPr marL="8703" marR="8703" marT="870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s-PE" sz="700" b="1" i="0" u="none" strike="noStrike" dirty="0">
                          <a:solidFill>
                            <a:srgbClr val="1F2533"/>
                          </a:solidFill>
                          <a:effectLst/>
                          <a:latin typeface="Trebuchet MS" panose="020B0603020202020204" pitchFamily="34" charset="0"/>
                        </a:rPr>
                        <a:t>2.0</a:t>
                      </a:r>
                    </a:p>
                  </a:txBody>
                  <a:tcPr marL="8703" marR="8703" marT="8703"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9CD5AC"/>
                    </a:solidFill>
                  </a:tcPr>
                </a:tc>
                <a:extLst>
                  <a:ext uri="{0D108BD9-81ED-4DB2-BD59-A6C34878D82A}">
                    <a16:rowId xmlns:a16="http://schemas.microsoft.com/office/drawing/2014/main" val="3637254315"/>
                  </a:ext>
                </a:extLst>
              </a:tr>
            </a:tbl>
          </a:graphicData>
        </a:graphic>
      </p:graphicFrame>
      <p:sp>
        <p:nvSpPr>
          <p:cNvPr id="26" name="Title 2">
            <a:extLst>
              <a:ext uri="{FF2B5EF4-FFF2-40B4-BE49-F238E27FC236}">
                <a16:creationId xmlns:a16="http://schemas.microsoft.com/office/drawing/2014/main" id="{A81E94AE-DF01-F64D-2619-2415925AE453}"/>
              </a:ext>
            </a:extLst>
          </p:cNvPr>
          <p:cNvSpPr>
            <a:spLocks noGrp="1"/>
          </p:cNvSpPr>
          <p:nvPr>
            <p:ph type="title"/>
          </p:nvPr>
        </p:nvSpPr>
        <p:spPr>
          <a:xfrm>
            <a:off x="0" y="88429"/>
            <a:ext cx="10819699" cy="676275"/>
          </a:xfrm>
        </p:spPr>
        <p:txBody>
          <a:bodyPr>
            <a:noAutofit/>
          </a:bodyPr>
          <a:lstStyle/>
          <a:p>
            <a:r>
              <a:rPr lang="es-ES" sz="2000" dirty="0"/>
              <a:t>3.8 Gestión Climática</a:t>
            </a:r>
            <a:r>
              <a:rPr lang="es-PE" sz="2000" dirty="0"/>
              <a:t> – Riesgos Físicos: Objetivo 2025-2027: Resultados 1S2026 </a:t>
            </a:r>
            <a:endParaRPr lang="es-ES" sz="2000" dirty="0"/>
          </a:p>
        </p:txBody>
      </p:sp>
    </p:spTree>
    <p:extLst>
      <p:ext uri="{BB962C8B-B14F-4D97-AF65-F5344CB8AC3E}">
        <p14:creationId xmlns:p14="http://schemas.microsoft.com/office/powerpoint/2010/main" val="2770027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CE4A7-E172-B1C7-FE88-766778BBCF1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815B620-753E-17F9-B7B5-4DC04B125113}"/>
              </a:ext>
            </a:extLst>
          </p:cNvPr>
          <p:cNvSpPr/>
          <p:nvPr/>
        </p:nvSpPr>
        <p:spPr>
          <a:xfrm>
            <a:off x="1271464" y="1196751"/>
            <a:ext cx="4032448" cy="1008113"/>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000" b="1" dirty="0">
                <a:solidFill>
                  <a:srgbClr val="1E2E6E"/>
                </a:solidFill>
                <a:latin typeface="Trebuchet MS" panose="020B0603020202020204" pitchFamily="34" charset="0"/>
                <a:cs typeface="Arial" panose="020B0604020202020204" pitchFamily="34" charset="0"/>
              </a:rPr>
              <a:t>Score Global: </a:t>
            </a:r>
            <a:r>
              <a:rPr lang="es-PE" sz="1000" dirty="0">
                <a:solidFill>
                  <a:srgbClr val="1E2E6E"/>
                </a:solidFill>
                <a:latin typeface="Trebuchet MS" panose="020B0603020202020204" pitchFamily="34" charset="0"/>
                <a:cs typeface="Arial" panose="020B0604020202020204" pitchFamily="34" charset="0"/>
              </a:rPr>
              <a:t>Se construyó un score global de nivel de riesgo físico usando los resultados de los 3 tipos de fenómenos y </a:t>
            </a:r>
            <a:r>
              <a:rPr lang="es-MX" sz="1000" dirty="0">
                <a:solidFill>
                  <a:srgbClr val="1E2E6E"/>
                </a:solidFill>
                <a:latin typeface="Trebuchet MS" panose="020B0603020202020204" pitchFamily="34" charset="0"/>
                <a:cs typeface="Arial" panose="020B0604020202020204" pitchFamily="34" charset="0"/>
              </a:rPr>
              <a:t>se ajusta con el indicador de Mitigantes (construido con información pública de emisores). Estos indicadores brindan claridad para comparar a los emisores….pero, los estudios de la propia empresa siempre serán más precisos!</a:t>
            </a:r>
            <a:r>
              <a:rPr lang="es-PE" sz="1000" dirty="0">
                <a:solidFill>
                  <a:srgbClr val="1E2E6E"/>
                </a:solidFill>
                <a:latin typeface="Trebuchet MS" panose="020B0603020202020204" pitchFamily="34" charset="0"/>
                <a:cs typeface="Arial" panose="020B0604020202020204" pitchFamily="34" charset="0"/>
              </a:rPr>
              <a:t> </a:t>
            </a:r>
          </a:p>
          <a:p>
            <a:pPr lvl="0" algn="just" defTabSz="457200">
              <a:defRPr/>
            </a:pPr>
            <a:endPar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13" name="Rectangle: Rounded Corners 12">
            <a:extLst>
              <a:ext uri="{FF2B5EF4-FFF2-40B4-BE49-F238E27FC236}">
                <a16:creationId xmlns:a16="http://schemas.microsoft.com/office/drawing/2014/main" id="{11515D2E-9750-27D7-C2E3-F7A5A4B00E0A}"/>
              </a:ext>
            </a:extLst>
          </p:cNvPr>
          <p:cNvSpPr/>
          <p:nvPr/>
        </p:nvSpPr>
        <p:spPr>
          <a:xfrm>
            <a:off x="767408" y="764704"/>
            <a:ext cx="7560840"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Metodología Interna Mejorada (Nivel Distrital) - Riesgos Físicos por Emisor Local:</a:t>
            </a: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graphicFrame>
        <p:nvGraphicFramePr>
          <p:cNvPr id="27" name="Tabla 30">
            <a:extLst>
              <a:ext uri="{FF2B5EF4-FFF2-40B4-BE49-F238E27FC236}">
                <a16:creationId xmlns:a16="http://schemas.microsoft.com/office/drawing/2014/main" id="{F949FD61-E2D7-C485-2E0C-B14888CC45A5}"/>
              </a:ext>
            </a:extLst>
          </p:cNvPr>
          <p:cNvGraphicFramePr>
            <a:graphicFrameLocks noGrp="1"/>
          </p:cNvGraphicFramePr>
          <p:nvPr>
            <p:extLst>
              <p:ext uri="{D42A27DB-BD31-4B8C-83A1-F6EECF244321}">
                <p14:modId xmlns:p14="http://schemas.microsoft.com/office/powerpoint/2010/main" val="2821010377"/>
              </p:ext>
            </p:extLst>
          </p:nvPr>
        </p:nvGraphicFramePr>
        <p:xfrm>
          <a:off x="1631504" y="3648824"/>
          <a:ext cx="3384376" cy="716280"/>
        </p:xfrm>
        <a:graphic>
          <a:graphicData uri="http://schemas.openxmlformats.org/drawingml/2006/table">
            <a:tbl>
              <a:tblPr firstRow="1" bandRow="1"/>
              <a:tblGrid>
                <a:gridCol w="607513">
                  <a:extLst>
                    <a:ext uri="{9D8B030D-6E8A-4147-A177-3AD203B41FA5}">
                      <a16:colId xmlns:a16="http://schemas.microsoft.com/office/drawing/2014/main" val="750271751"/>
                    </a:ext>
                  </a:extLst>
                </a:gridCol>
                <a:gridCol w="1127411">
                  <a:extLst>
                    <a:ext uri="{9D8B030D-6E8A-4147-A177-3AD203B41FA5}">
                      <a16:colId xmlns:a16="http://schemas.microsoft.com/office/drawing/2014/main" val="262011673"/>
                    </a:ext>
                  </a:extLst>
                </a:gridCol>
                <a:gridCol w="835973">
                  <a:extLst>
                    <a:ext uri="{9D8B030D-6E8A-4147-A177-3AD203B41FA5}">
                      <a16:colId xmlns:a16="http://schemas.microsoft.com/office/drawing/2014/main" val="3537210061"/>
                    </a:ext>
                  </a:extLst>
                </a:gridCol>
                <a:gridCol w="813479">
                  <a:extLst>
                    <a:ext uri="{9D8B030D-6E8A-4147-A177-3AD203B41FA5}">
                      <a16:colId xmlns:a16="http://schemas.microsoft.com/office/drawing/2014/main" val="2260468005"/>
                    </a:ext>
                  </a:extLst>
                </a:gridCol>
              </a:tblGrid>
              <a:tr h="300778">
                <a:tc rowSpan="2">
                  <a:txBody>
                    <a:bodyPr/>
                    <a:lstStyle>
                      <a:lvl1pPr marL="0" algn="l" defTabSz="914400" rtl="0" eaLnBrk="1" latinLnBrk="0" hangingPunct="1">
                        <a:defRPr sz="1800" b="1" kern="1200">
                          <a:solidFill>
                            <a:schemeClr val="bg1"/>
                          </a:solidFill>
                          <a:latin typeface="Calibri"/>
                        </a:defRPr>
                      </a:lvl1pPr>
                      <a:lvl2pPr marL="457200" algn="l" defTabSz="914400" rtl="0" eaLnBrk="1" latinLnBrk="0" hangingPunct="1">
                        <a:defRPr sz="1800" b="1" kern="1200">
                          <a:solidFill>
                            <a:schemeClr val="bg1"/>
                          </a:solidFill>
                          <a:latin typeface="Calibri"/>
                        </a:defRPr>
                      </a:lvl2pPr>
                      <a:lvl3pPr marL="914400" algn="l" defTabSz="914400" rtl="0" eaLnBrk="1" latinLnBrk="0" hangingPunct="1">
                        <a:defRPr sz="1800" b="1" kern="1200">
                          <a:solidFill>
                            <a:schemeClr val="bg1"/>
                          </a:solidFill>
                          <a:latin typeface="Calibri"/>
                        </a:defRPr>
                      </a:lvl3pPr>
                      <a:lvl4pPr marL="1371600" algn="l" defTabSz="914400" rtl="0" eaLnBrk="1" latinLnBrk="0" hangingPunct="1">
                        <a:defRPr sz="1800" b="1" kern="1200">
                          <a:solidFill>
                            <a:schemeClr val="bg1"/>
                          </a:solidFill>
                          <a:latin typeface="Calibri"/>
                        </a:defRPr>
                      </a:lvl4pPr>
                      <a:lvl5pPr marL="1828800" algn="l" defTabSz="914400" rtl="0" eaLnBrk="1" latinLnBrk="0" hangingPunct="1">
                        <a:defRPr sz="1800" b="1" kern="1200">
                          <a:solidFill>
                            <a:schemeClr val="bg1"/>
                          </a:solidFill>
                          <a:latin typeface="Calibri"/>
                        </a:defRPr>
                      </a:lvl5pPr>
                      <a:lvl6pPr marL="2286000" algn="l" defTabSz="914400" rtl="0" eaLnBrk="1" latinLnBrk="0" hangingPunct="1">
                        <a:defRPr sz="1800" b="1" kern="1200">
                          <a:solidFill>
                            <a:schemeClr val="bg1"/>
                          </a:solidFill>
                          <a:latin typeface="Calibri"/>
                        </a:defRPr>
                      </a:lvl6pPr>
                      <a:lvl7pPr marL="2743200" algn="l" defTabSz="914400" rtl="0" eaLnBrk="1" latinLnBrk="0" hangingPunct="1">
                        <a:defRPr sz="1800" b="1" kern="1200">
                          <a:solidFill>
                            <a:schemeClr val="bg1"/>
                          </a:solidFill>
                          <a:latin typeface="Calibri"/>
                        </a:defRPr>
                      </a:lvl7pPr>
                      <a:lvl8pPr marL="3200400" algn="l" defTabSz="914400" rtl="0" eaLnBrk="1" latinLnBrk="0" hangingPunct="1">
                        <a:defRPr sz="1800" b="1" kern="1200">
                          <a:solidFill>
                            <a:schemeClr val="bg1"/>
                          </a:solidFill>
                          <a:latin typeface="Calibri"/>
                        </a:defRPr>
                      </a:lvl8pPr>
                      <a:lvl9pPr marL="3657600" algn="l" defTabSz="914400" rtl="0" eaLnBrk="1" latinLnBrk="0" hangingPunct="1">
                        <a:defRPr sz="1800" b="1" kern="1200">
                          <a:solidFill>
                            <a:schemeClr val="bg1"/>
                          </a:solidFill>
                          <a:latin typeface="Calibri"/>
                        </a:defRPr>
                      </a:lvl9pPr>
                    </a:lstStyle>
                    <a:p>
                      <a:pPr algn="ctr"/>
                      <a:r>
                        <a:rPr lang="es-MX" sz="700" dirty="0">
                          <a:latin typeface="Trebuchet MS" panose="020B0603020202020204" pitchFamily="34" charset="0"/>
                        </a:rPr>
                        <a:t>MITIGANTE    (0-2)</a:t>
                      </a:r>
                      <a:endParaRPr lang="es-PE" sz="700" dirty="0">
                        <a:latin typeface="Trebuchet MS" panose="020B0603020202020204" pitchFamily="34" charset="0"/>
                      </a:endParaRPr>
                    </a:p>
                  </a:txBody>
                  <a:tcPr vert="vert27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rgbClr val="558ED5"/>
                    </a:solidFill>
                  </a:tcPr>
                </a:tc>
                <a:tc>
                  <a:txBody>
                    <a:bodyPr/>
                    <a:lstStyle>
                      <a:lvl1pPr marL="0" algn="l" defTabSz="914400" rtl="0" eaLnBrk="1" latinLnBrk="0" hangingPunct="1">
                        <a:defRPr sz="1800" b="1" kern="1200">
                          <a:solidFill>
                            <a:schemeClr val="bg1"/>
                          </a:solidFill>
                          <a:latin typeface="Calibri"/>
                        </a:defRPr>
                      </a:lvl1pPr>
                      <a:lvl2pPr marL="457200" algn="l" defTabSz="914400" rtl="0" eaLnBrk="1" latinLnBrk="0" hangingPunct="1">
                        <a:defRPr sz="1800" b="1" kern="1200">
                          <a:solidFill>
                            <a:schemeClr val="bg1"/>
                          </a:solidFill>
                          <a:latin typeface="Calibri"/>
                        </a:defRPr>
                      </a:lvl2pPr>
                      <a:lvl3pPr marL="914400" algn="l" defTabSz="914400" rtl="0" eaLnBrk="1" latinLnBrk="0" hangingPunct="1">
                        <a:defRPr sz="1800" b="1" kern="1200">
                          <a:solidFill>
                            <a:schemeClr val="bg1"/>
                          </a:solidFill>
                          <a:latin typeface="Calibri"/>
                        </a:defRPr>
                      </a:lvl3pPr>
                      <a:lvl4pPr marL="1371600" algn="l" defTabSz="914400" rtl="0" eaLnBrk="1" latinLnBrk="0" hangingPunct="1">
                        <a:defRPr sz="1800" b="1" kern="1200">
                          <a:solidFill>
                            <a:schemeClr val="bg1"/>
                          </a:solidFill>
                          <a:latin typeface="Calibri"/>
                        </a:defRPr>
                      </a:lvl4pPr>
                      <a:lvl5pPr marL="1828800" algn="l" defTabSz="914400" rtl="0" eaLnBrk="1" latinLnBrk="0" hangingPunct="1">
                        <a:defRPr sz="1800" b="1" kern="1200">
                          <a:solidFill>
                            <a:schemeClr val="bg1"/>
                          </a:solidFill>
                          <a:latin typeface="Calibri"/>
                        </a:defRPr>
                      </a:lvl5pPr>
                      <a:lvl6pPr marL="2286000" algn="l" defTabSz="914400" rtl="0" eaLnBrk="1" latinLnBrk="0" hangingPunct="1">
                        <a:defRPr sz="1800" b="1" kern="1200">
                          <a:solidFill>
                            <a:schemeClr val="bg1"/>
                          </a:solidFill>
                          <a:latin typeface="Calibri"/>
                        </a:defRPr>
                      </a:lvl6pPr>
                      <a:lvl7pPr marL="2743200" algn="l" defTabSz="914400" rtl="0" eaLnBrk="1" latinLnBrk="0" hangingPunct="1">
                        <a:defRPr sz="1800" b="1" kern="1200">
                          <a:solidFill>
                            <a:schemeClr val="bg1"/>
                          </a:solidFill>
                          <a:latin typeface="Calibri"/>
                        </a:defRPr>
                      </a:lvl7pPr>
                      <a:lvl8pPr marL="3200400" algn="l" defTabSz="914400" rtl="0" eaLnBrk="1" latinLnBrk="0" hangingPunct="1">
                        <a:defRPr sz="1800" b="1" kern="1200">
                          <a:solidFill>
                            <a:schemeClr val="bg1"/>
                          </a:solidFill>
                          <a:latin typeface="Calibri"/>
                        </a:defRPr>
                      </a:lvl8pPr>
                      <a:lvl9pPr marL="3657600" algn="l" defTabSz="914400" rtl="0" eaLnBrk="1" latinLnBrk="0" hangingPunct="1">
                        <a:defRPr sz="1800" b="1" kern="1200">
                          <a:solidFill>
                            <a:schemeClr val="bg1"/>
                          </a:solidFill>
                          <a:latin typeface="Calibri"/>
                        </a:defRPr>
                      </a:lvl9pPr>
                    </a:lstStyle>
                    <a:p>
                      <a:pPr algn="ctr"/>
                      <a:r>
                        <a:rPr lang="es-PE" sz="700" dirty="0">
                          <a:latin typeface="Trebuchet MS" panose="020B0603020202020204" pitchFamily="34" charset="0"/>
                        </a:rPr>
                        <a:t>Estudios especializados</a:t>
                      </a:r>
                    </a:p>
                  </a:txBody>
                  <a:tcPr>
                    <a:lnL w="12700" cap="flat" cmpd="sng" algn="ctr">
                      <a:no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solidFill>
                      <a:srgbClr val="558ED5"/>
                    </a:solidFill>
                  </a:tcPr>
                </a:tc>
                <a:tc>
                  <a:txBody>
                    <a:bodyPr/>
                    <a:lstStyle>
                      <a:lvl1pPr marL="0" algn="l" defTabSz="914400" rtl="0" eaLnBrk="1" latinLnBrk="0" hangingPunct="1">
                        <a:defRPr sz="1800" b="1" kern="1200">
                          <a:solidFill>
                            <a:schemeClr val="bg1"/>
                          </a:solidFill>
                          <a:latin typeface="Calibri"/>
                        </a:defRPr>
                      </a:lvl1pPr>
                      <a:lvl2pPr marL="457200" algn="l" defTabSz="914400" rtl="0" eaLnBrk="1" latinLnBrk="0" hangingPunct="1">
                        <a:defRPr sz="1800" b="1" kern="1200">
                          <a:solidFill>
                            <a:schemeClr val="bg1"/>
                          </a:solidFill>
                          <a:latin typeface="Calibri"/>
                        </a:defRPr>
                      </a:lvl2pPr>
                      <a:lvl3pPr marL="914400" algn="l" defTabSz="914400" rtl="0" eaLnBrk="1" latinLnBrk="0" hangingPunct="1">
                        <a:defRPr sz="1800" b="1" kern="1200">
                          <a:solidFill>
                            <a:schemeClr val="bg1"/>
                          </a:solidFill>
                          <a:latin typeface="Calibri"/>
                        </a:defRPr>
                      </a:lvl3pPr>
                      <a:lvl4pPr marL="1371600" algn="l" defTabSz="914400" rtl="0" eaLnBrk="1" latinLnBrk="0" hangingPunct="1">
                        <a:defRPr sz="1800" b="1" kern="1200">
                          <a:solidFill>
                            <a:schemeClr val="bg1"/>
                          </a:solidFill>
                          <a:latin typeface="Calibri"/>
                        </a:defRPr>
                      </a:lvl4pPr>
                      <a:lvl5pPr marL="1828800" algn="l" defTabSz="914400" rtl="0" eaLnBrk="1" latinLnBrk="0" hangingPunct="1">
                        <a:defRPr sz="1800" b="1" kern="1200">
                          <a:solidFill>
                            <a:schemeClr val="bg1"/>
                          </a:solidFill>
                          <a:latin typeface="Calibri"/>
                        </a:defRPr>
                      </a:lvl5pPr>
                      <a:lvl6pPr marL="2286000" algn="l" defTabSz="914400" rtl="0" eaLnBrk="1" latinLnBrk="0" hangingPunct="1">
                        <a:defRPr sz="1800" b="1" kern="1200">
                          <a:solidFill>
                            <a:schemeClr val="bg1"/>
                          </a:solidFill>
                          <a:latin typeface="Calibri"/>
                        </a:defRPr>
                      </a:lvl6pPr>
                      <a:lvl7pPr marL="2743200" algn="l" defTabSz="914400" rtl="0" eaLnBrk="1" latinLnBrk="0" hangingPunct="1">
                        <a:defRPr sz="1800" b="1" kern="1200">
                          <a:solidFill>
                            <a:schemeClr val="bg1"/>
                          </a:solidFill>
                          <a:latin typeface="Calibri"/>
                        </a:defRPr>
                      </a:lvl7pPr>
                      <a:lvl8pPr marL="3200400" algn="l" defTabSz="914400" rtl="0" eaLnBrk="1" latinLnBrk="0" hangingPunct="1">
                        <a:defRPr sz="1800" b="1" kern="1200">
                          <a:solidFill>
                            <a:schemeClr val="bg1"/>
                          </a:solidFill>
                          <a:latin typeface="Calibri"/>
                        </a:defRPr>
                      </a:lvl8pPr>
                      <a:lvl9pPr marL="3657600" algn="l" defTabSz="914400" rtl="0" eaLnBrk="1" latinLnBrk="0" hangingPunct="1">
                        <a:defRPr sz="1800" b="1" kern="1200">
                          <a:solidFill>
                            <a:schemeClr val="bg1"/>
                          </a:solidFill>
                          <a:latin typeface="Calibri"/>
                        </a:defRPr>
                      </a:lvl9pPr>
                    </a:lstStyle>
                    <a:p>
                      <a:pPr algn="ctr"/>
                      <a:r>
                        <a:rPr lang="es-PE" sz="700" dirty="0">
                          <a:latin typeface="Trebuchet MS" panose="020B0603020202020204" pitchFamily="34" charset="0"/>
                        </a:rPr>
                        <a:t>Plan de trabajo</a:t>
                      </a:r>
                    </a:p>
                  </a:txBody>
                  <a:tcP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solidFill>
                      <a:srgbClr val="558ED5"/>
                    </a:solidFill>
                  </a:tcPr>
                </a:tc>
                <a:tc>
                  <a:txBody>
                    <a:bodyPr/>
                    <a:lstStyle>
                      <a:lvl1pPr marL="0" algn="l" defTabSz="914400" rtl="0" eaLnBrk="1" latinLnBrk="0" hangingPunct="1">
                        <a:defRPr sz="1800" b="1" kern="1200">
                          <a:solidFill>
                            <a:schemeClr val="bg1"/>
                          </a:solidFill>
                          <a:latin typeface="Calibri"/>
                        </a:defRPr>
                      </a:lvl1pPr>
                      <a:lvl2pPr marL="457200" algn="l" defTabSz="914400" rtl="0" eaLnBrk="1" latinLnBrk="0" hangingPunct="1">
                        <a:defRPr sz="1800" b="1" kern="1200">
                          <a:solidFill>
                            <a:schemeClr val="bg1"/>
                          </a:solidFill>
                          <a:latin typeface="Calibri"/>
                        </a:defRPr>
                      </a:lvl2pPr>
                      <a:lvl3pPr marL="914400" algn="l" defTabSz="914400" rtl="0" eaLnBrk="1" latinLnBrk="0" hangingPunct="1">
                        <a:defRPr sz="1800" b="1" kern="1200">
                          <a:solidFill>
                            <a:schemeClr val="bg1"/>
                          </a:solidFill>
                          <a:latin typeface="Calibri"/>
                        </a:defRPr>
                      </a:lvl3pPr>
                      <a:lvl4pPr marL="1371600" algn="l" defTabSz="914400" rtl="0" eaLnBrk="1" latinLnBrk="0" hangingPunct="1">
                        <a:defRPr sz="1800" b="1" kern="1200">
                          <a:solidFill>
                            <a:schemeClr val="bg1"/>
                          </a:solidFill>
                          <a:latin typeface="Calibri"/>
                        </a:defRPr>
                      </a:lvl4pPr>
                      <a:lvl5pPr marL="1828800" algn="l" defTabSz="914400" rtl="0" eaLnBrk="1" latinLnBrk="0" hangingPunct="1">
                        <a:defRPr sz="1800" b="1" kern="1200">
                          <a:solidFill>
                            <a:schemeClr val="bg1"/>
                          </a:solidFill>
                          <a:latin typeface="Calibri"/>
                        </a:defRPr>
                      </a:lvl5pPr>
                      <a:lvl6pPr marL="2286000" algn="l" defTabSz="914400" rtl="0" eaLnBrk="1" latinLnBrk="0" hangingPunct="1">
                        <a:defRPr sz="1800" b="1" kern="1200">
                          <a:solidFill>
                            <a:schemeClr val="bg1"/>
                          </a:solidFill>
                          <a:latin typeface="Calibri"/>
                        </a:defRPr>
                      </a:lvl6pPr>
                      <a:lvl7pPr marL="2743200" algn="l" defTabSz="914400" rtl="0" eaLnBrk="1" latinLnBrk="0" hangingPunct="1">
                        <a:defRPr sz="1800" b="1" kern="1200">
                          <a:solidFill>
                            <a:schemeClr val="bg1"/>
                          </a:solidFill>
                          <a:latin typeface="Calibri"/>
                        </a:defRPr>
                      </a:lvl7pPr>
                      <a:lvl8pPr marL="3200400" algn="l" defTabSz="914400" rtl="0" eaLnBrk="1" latinLnBrk="0" hangingPunct="1">
                        <a:defRPr sz="1800" b="1" kern="1200">
                          <a:solidFill>
                            <a:schemeClr val="bg1"/>
                          </a:solidFill>
                          <a:latin typeface="Calibri"/>
                        </a:defRPr>
                      </a:lvl8pPr>
                      <a:lvl9pPr marL="3657600" algn="l" defTabSz="914400" rtl="0" eaLnBrk="1" latinLnBrk="0" hangingPunct="1">
                        <a:defRPr sz="1800" b="1" kern="1200">
                          <a:solidFill>
                            <a:schemeClr val="bg1"/>
                          </a:solidFill>
                          <a:latin typeface="Calibri"/>
                        </a:defRPr>
                      </a:lvl9pPr>
                    </a:lstStyle>
                    <a:p>
                      <a:pPr algn="ctr"/>
                      <a:r>
                        <a:rPr lang="es-PE" sz="700" dirty="0">
                          <a:latin typeface="Trebuchet MS" panose="020B0603020202020204" pitchFamily="34" charset="0"/>
                        </a:rPr>
                        <a:t>Mitigantes -</a:t>
                      </a:r>
                    </a:p>
                    <a:p>
                      <a:pPr algn="ctr"/>
                      <a:r>
                        <a:rPr lang="es-PE" sz="700" dirty="0">
                          <a:latin typeface="Trebuchet MS" panose="020B0603020202020204" pitchFamily="34" charset="0"/>
                        </a:rPr>
                        <a:t>Resultado</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solidFill>
                      <a:srgbClr val="558ED5"/>
                    </a:solidFill>
                  </a:tcPr>
                </a:tc>
                <a:extLst>
                  <a:ext uri="{0D108BD9-81ED-4DB2-BD59-A6C34878D82A}">
                    <a16:rowId xmlns:a16="http://schemas.microsoft.com/office/drawing/2014/main" val="179332463"/>
                  </a:ext>
                </a:extLst>
              </a:tr>
              <a:tr h="371680">
                <a:tc vMerge="1">
                  <a:txBody>
                    <a:bodyPr/>
                    <a:lstStyle/>
                    <a:p>
                      <a:pPr algn="ctr"/>
                      <a:endParaRPr lang="es-PE" sz="900" dirty="0">
                        <a:latin typeface="Trebuchet MS" panose="020B0603020202020204" pitchFamily="34" charset="0"/>
                      </a:endParaRPr>
                    </a:p>
                  </a:txBody>
                  <a:tcPr>
                    <a:lnL w="12700" cap="flat" cmpd="sng" algn="ctr">
                      <a:solidFill>
                        <a:srgbClr val="C00000"/>
                      </a:solidFill>
                      <a:prstDash val="solid"/>
                      <a:round/>
                      <a:headEnd type="none" w="med" len="med"/>
                      <a:tailEnd type="none" w="med" len="med"/>
                    </a:lnL>
                    <a:lnR>
                      <a:noFill/>
                    </a:lnR>
                    <a:lnT w="9525" cap="flat" cmpd="sng" algn="ctr">
                      <a:noFill/>
                      <a:prstDash val="soli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s-MX" sz="700" dirty="0">
                          <a:latin typeface="Trebuchet MS" panose="020B0603020202020204" pitchFamily="34" charset="0"/>
                        </a:rPr>
                        <a:t>(2) – Mencionan estudios</a:t>
                      </a:r>
                      <a:endParaRPr lang="es-PE" sz="700" dirty="0">
                        <a:latin typeface="Trebuchet MS" panose="020B0603020202020204" pitchFamily="34" charset="0"/>
                      </a:endParaRPr>
                    </a:p>
                  </a:txBody>
                  <a:tcPr>
                    <a:lnL w="12700" cap="flat" cmpd="sng" algn="ctr">
                      <a:noFill/>
                      <a:prstDash val="solid"/>
                      <a:round/>
                      <a:headEnd type="none" w="med" len="med"/>
                      <a:tailEnd type="none" w="med" len="med"/>
                    </a:lnL>
                    <a:lnR>
                      <a:noFill/>
                    </a:lnR>
                    <a:lnT w="9525" cap="flat" cmpd="sng" algn="ctr">
                      <a:noFill/>
                      <a:prstDash val="soli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s-MX" sz="700" dirty="0">
                          <a:latin typeface="Trebuchet MS" panose="020B0603020202020204" pitchFamily="34" charset="0"/>
                        </a:rPr>
                        <a:t>(2) – Se menciona el Plan</a:t>
                      </a:r>
                    </a:p>
                  </a:txBody>
                  <a:tcPr>
                    <a:lnL>
                      <a:noFill/>
                    </a:lnL>
                    <a:lnR w="12700" cap="flat" cmpd="sng" algn="ctr">
                      <a:solidFill>
                        <a:srgbClr val="C00000"/>
                      </a:solidFill>
                      <a:prstDash val="solid"/>
                      <a:round/>
                      <a:headEnd type="none" w="med" len="med"/>
                      <a:tailEnd type="none" w="med" len="med"/>
                    </a:lnR>
                    <a:lnT w="9525" cap="flat" cmpd="sng" algn="ctr">
                      <a:noFill/>
                      <a:prstDash val="soli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s-MX" sz="700" b="1" dirty="0">
                          <a:latin typeface="Trebuchet MS" panose="020B0603020202020204" pitchFamily="34" charset="0"/>
                        </a:rPr>
                        <a:t>Alto</a:t>
                      </a:r>
                      <a:endParaRPr lang="es-PE" sz="700" b="1" dirty="0">
                        <a:latin typeface="Trebuchet MS" panose="020B0603020202020204" pitchFamily="34" charset="0"/>
                      </a:endParaRP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9525" cap="flat" cmpd="sng" algn="ctr">
                      <a:noFill/>
                      <a:prstDash val="soli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1015209"/>
                  </a:ext>
                </a:extLst>
              </a:tr>
            </a:tbl>
          </a:graphicData>
        </a:graphic>
      </p:graphicFrame>
      <p:sp>
        <p:nvSpPr>
          <p:cNvPr id="28" name="TextBox 27">
            <a:extLst>
              <a:ext uri="{FF2B5EF4-FFF2-40B4-BE49-F238E27FC236}">
                <a16:creationId xmlns:a16="http://schemas.microsoft.com/office/drawing/2014/main" id="{AAED67BE-F121-FA8E-0FDD-84ED90071312}"/>
              </a:ext>
            </a:extLst>
          </p:cNvPr>
          <p:cNvSpPr txBox="1"/>
          <p:nvPr/>
        </p:nvSpPr>
        <p:spPr>
          <a:xfrm>
            <a:off x="1574355" y="2782739"/>
            <a:ext cx="1594520" cy="230832"/>
          </a:xfrm>
          <a:prstGeom prst="rect">
            <a:avLst/>
          </a:prstGeom>
          <a:noFill/>
        </p:spPr>
        <p:txBody>
          <a:bodyPr wrap="square">
            <a:spAutoFit/>
          </a:bodyPr>
          <a:lstStyle/>
          <a:p>
            <a:pPr>
              <a:defRPr/>
            </a:pPr>
            <a:r>
              <a:rPr lang="es-MX" sz="900" b="1" dirty="0">
                <a:solidFill>
                  <a:srgbClr val="1E2E6E"/>
                </a:solidFill>
                <a:latin typeface="Trebuchet MS" panose="020B0603020202020204" pitchFamily="34" charset="0"/>
                <a:cs typeface="Arial" charset="0"/>
              </a:rPr>
              <a:t>Ejemplo: Buenaventura</a:t>
            </a:r>
            <a:endParaRPr lang="es-PE" sz="900" b="1" dirty="0">
              <a:solidFill>
                <a:srgbClr val="1E2E6E"/>
              </a:solidFill>
              <a:latin typeface="Trebuchet MS" panose="020B0603020202020204" pitchFamily="34" charset="0"/>
              <a:cs typeface="Arial" charset="0"/>
            </a:endParaRPr>
          </a:p>
        </p:txBody>
      </p:sp>
      <p:graphicFrame>
        <p:nvGraphicFramePr>
          <p:cNvPr id="29" name="Table 28">
            <a:extLst>
              <a:ext uri="{FF2B5EF4-FFF2-40B4-BE49-F238E27FC236}">
                <a16:creationId xmlns:a16="http://schemas.microsoft.com/office/drawing/2014/main" id="{8385DF20-4E63-B1EB-1FE5-C9735DEA56CB}"/>
              </a:ext>
            </a:extLst>
          </p:cNvPr>
          <p:cNvGraphicFramePr>
            <a:graphicFrameLocks noGrp="1"/>
          </p:cNvGraphicFramePr>
          <p:nvPr/>
        </p:nvGraphicFramePr>
        <p:xfrm>
          <a:off x="1631504" y="3047900"/>
          <a:ext cx="3384376" cy="471958"/>
        </p:xfrm>
        <a:graphic>
          <a:graphicData uri="http://schemas.openxmlformats.org/drawingml/2006/table">
            <a:tbl>
              <a:tblPr/>
              <a:tblGrid>
                <a:gridCol w="497549">
                  <a:extLst>
                    <a:ext uri="{9D8B030D-6E8A-4147-A177-3AD203B41FA5}">
                      <a16:colId xmlns:a16="http://schemas.microsoft.com/office/drawing/2014/main" val="3305429011"/>
                    </a:ext>
                  </a:extLst>
                </a:gridCol>
                <a:gridCol w="497549">
                  <a:extLst>
                    <a:ext uri="{9D8B030D-6E8A-4147-A177-3AD203B41FA5}">
                      <a16:colId xmlns:a16="http://schemas.microsoft.com/office/drawing/2014/main" val="4005374285"/>
                    </a:ext>
                  </a:extLst>
                </a:gridCol>
                <a:gridCol w="601207">
                  <a:extLst>
                    <a:ext uri="{9D8B030D-6E8A-4147-A177-3AD203B41FA5}">
                      <a16:colId xmlns:a16="http://schemas.microsoft.com/office/drawing/2014/main" val="64764469"/>
                    </a:ext>
                  </a:extLst>
                </a:gridCol>
                <a:gridCol w="497549">
                  <a:extLst>
                    <a:ext uri="{9D8B030D-6E8A-4147-A177-3AD203B41FA5}">
                      <a16:colId xmlns:a16="http://schemas.microsoft.com/office/drawing/2014/main" val="3094418435"/>
                    </a:ext>
                  </a:extLst>
                </a:gridCol>
                <a:gridCol w="645261">
                  <a:extLst>
                    <a:ext uri="{9D8B030D-6E8A-4147-A177-3AD203B41FA5}">
                      <a16:colId xmlns:a16="http://schemas.microsoft.com/office/drawing/2014/main" val="3568519876"/>
                    </a:ext>
                  </a:extLst>
                </a:gridCol>
                <a:gridCol w="645261">
                  <a:extLst>
                    <a:ext uri="{9D8B030D-6E8A-4147-A177-3AD203B41FA5}">
                      <a16:colId xmlns:a16="http://schemas.microsoft.com/office/drawing/2014/main" val="2583572020"/>
                    </a:ext>
                  </a:extLst>
                </a:gridCol>
              </a:tblGrid>
              <a:tr h="219516">
                <a:tc row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buNone/>
                      </a:pPr>
                      <a:r>
                        <a:rPr lang="es-MX" sz="700" b="1" i="0" u="none" strike="noStrike" dirty="0">
                          <a:solidFill>
                            <a:srgbClr val="FFFFFF"/>
                          </a:solidFill>
                          <a:effectLst/>
                          <a:latin typeface="Trebuchet MS" panose="020B0603020202020204" pitchFamily="34" charset="0"/>
                        </a:rPr>
                        <a:t>RIESGO</a:t>
                      </a:r>
                      <a:endParaRPr lang="es-PE" sz="700" b="1" i="0" u="none" strike="noStrike" dirty="0">
                        <a:solidFill>
                          <a:srgbClr val="FFFFFF"/>
                        </a:solidFill>
                        <a:effectLst/>
                        <a:latin typeface="Trebuchet MS" panose="020B0603020202020204" pitchFamily="34" charset="0"/>
                      </a:endParaRPr>
                    </a:p>
                  </a:txBody>
                  <a:tcPr marL="0" marR="0" marT="0" marB="0" vert="vert27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rgbClr val="558ED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buNone/>
                      </a:pPr>
                      <a:r>
                        <a:rPr lang="es-PE" sz="700" b="1" i="0" u="none" strike="noStrike" dirty="0" err="1">
                          <a:solidFill>
                            <a:srgbClr val="FFFFFF"/>
                          </a:solidFill>
                          <a:effectLst/>
                          <a:latin typeface="Trebuchet MS" panose="020B0603020202020204" pitchFamily="34" charset="0"/>
                        </a:rPr>
                        <a:t>Mov</a:t>
                      </a:r>
                      <a:r>
                        <a:rPr lang="es-PE" sz="700" b="1" i="0" u="none" strike="noStrike" dirty="0">
                          <a:solidFill>
                            <a:srgbClr val="FFFFFF"/>
                          </a:solidFill>
                          <a:effectLst/>
                          <a:latin typeface="Trebuchet MS" panose="020B0603020202020204" pitchFamily="34" charset="0"/>
                        </a:rPr>
                        <a:t> Masa</a:t>
                      </a:r>
                    </a:p>
                  </a:txBody>
                  <a:tcPr marL="0" marR="0" marT="0" marB="0" anchor="ctr">
                    <a:lnL w="12700" cap="flat" cmpd="sng" algn="ctr">
                      <a:no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a:noFill/>
                    </a:lnB>
                    <a:lnTlToBr w="12700" cmpd="sng">
                      <a:noFill/>
                      <a:prstDash val="solid"/>
                    </a:lnTlToBr>
                    <a:lnBlToTr w="12700" cmpd="sng">
                      <a:noFill/>
                      <a:prstDash val="solid"/>
                    </a:lnBlToTr>
                    <a:solidFill>
                      <a:srgbClr val="558ED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buNone/>
                      </a:pPr>
                      <a:r>
                        <a:rPr lang="es-PE" sz="700" b="1" i="0" u="none" strike="noStrike" dirty="0">
                          <a:solidFill>
                            <a:srgbClr val="FFFFFF"/>
                          </a:solidFill>
                          <a:effectLst/>
                          <a:latin typeface="Trebuchet MS" panose="020B0603020202020204" pitchFamily="34" charset="0"/>
                        </a:rPr>
                        <a:t>Inundación</a:t>
                      </a:r>
                    </a:p>
                  </a:txBody>
                  <a:tcPr marL="0" marR="0" marT="0" marB="0" anchor="ctr">
                    <a:lnL>
                      <a:noFill/>
                    </a:lnL>
                    <a:lnR>
                      <a:noFill/>
                    </a:lnR>
                    <a:lnT w="12700" cap="flat" cmpd="sng" algn="ctr">
                      <a:solidFill>
                        <a:srgbClr val="C00000"/>
                      </a:solidFill>
                      <a:prstDash val="solid"/>
                      <a:round/>
                      <a:headEnd type="none" w="med" len="med"/>
                      <a:tailEnd type="none" w="med" len="med"/>
                    </a:lnT>
                    <a:lnB>
                      <a:noFill/>
                    </a:lnB>
                    <a:lnTlToBr w="12700" cmpd="sng">
                      <a:noFill/>
                      <a:prstDash val="solid"/>
                    </a:lnTlToBr>
                    <a:lnBlToTr w="12700" cmpd="sng">
                      <a:noFill/>
                      <a:prstDash val="solid"/>
                    </a:lnBlToTr>
                    <a:solidFill>
                      <a:srgbClr val="558ED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buNone/>
                      </a:pPr>
                      <a:r>
                        <a:rPr lang="es-PE" sz="700" b="1" i="0" u="none" strike="noStrike" dirty="0">
                          <a:solidFill>
                            <a:srgbClr val="FFFFFF"/>
                          </a:solidFill>
                          <a:effectLst/>
                          <a:latin typeface="Trebuchet MS" panose="020B0603020202020204" pitchFamily="34" charset="0"/>
                        </a:rPr>
                        <a:t>Sequias</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lnTlToBr w="12700" cmpd="sng">
                      <a:noFill/>
                      <a:prstDash val="solid"/>
                    </a:lnTlToBr>
                    <a:lnBlToTr w="12700" cmpd="sng">
                      <a:noFill/>
                      <a:prstDash val="solid"/>
                    </a:lnBlToTr>
                    <a:solidFill>
                      <a:srgbClr val="4D93D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buNone/>
                      </a:pPr>
                      <a:r>
                        <a:rPr lang="es-PE" sz="700" b="1" i="0" u="none" strike="noStrike" dirty="0">
                          <a:solidFill>
                            <a:srgbClr val="FFFFFF"/>
                          </a:solidFill>
                          <a:effectLst/>
                          <a:latin typeface="Trebuchet MS" panose="020B0603020202020204" pitchFamily="34" charset="0"/>
                        </a:rPr>
                        <a:t>Score Global</a:t>
                      </a: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lnTlToBr w="12700" cmpd="sng">
                      <a:noFill/>
                      <a:prstDash val="solid"/>
                    </a:lnTlToBr>
                    <a:lnBlToTr w="12700" cmpd="sng">
                      <a:noFill/>
                      <a:prstDash val="solid"/>
                    </a:lnBlToTr>
                    <a:solidFill>
                      <a:srgbClr val="4D93D9"/>
                    </a:solidFill>
                  </a:tcPr>
                </a:tc>
                <a:tc>
                  <a:txBody>
                    <a:bodyPr/>
                    <a:lstStyle/>
                    <a:p>
                      <a:pPr algn="ctr" fontAlgn="ctr">
                        <a:buNone/>
                      </a:pPr>
                      <a:r>
                        <a:rPr lang="es-ES" sz="700" b="1" i="0" u="none" strike="noStrike" dirty="0">
                          <a:solidFill>
                            <a:srgbClr val="FFC000"/>
                          </a:solidFill>
                          <a:effectLst/>
                          <a:latin typeface="Trebuchet MS" panose="020B0603020202020204" pitchFamily="34" charset="0"/>
                        </a:rPr>
                        <a:t>Score Global Ajustado</a:t>
                      </a: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lnTlToBr w="12700" cmpd="sng">
                      <a:noFill/>
                      <a:prstDash val="solid"/>
                    </a:lnTlToBr>
                    <a:lnBlToTr w="12700" cmpd="sng">
                      <a:noFill/>
                      <a:prstDash val="solid"/>
                    </a:lnBlToTr>
                    <a:solidFill>
                      <a:srgbClr val="4D93D9"/>
                    </a:solidFill>
                  </a:tcPr>
                </a:tc>
                <a:extLst>
                  <a:ext uri="{0D108BD9-81ED-4DB2-BD59-A6C34878D82A}">
                    <a16:rowId xmlns:a16="http://schemas.microsoft.com/office/drawing/2014/main" val="2506559635"/>
                  </a:ext>
                </a:extLst>
              </a:tr>
              <a:tr h="252442">
                <a:tc vMerge="1">
                  <a:txBody>
                    <a:bodyPr/>
                    <a:lstStyle/>
                    <a:p>
                      <a:pPr algn="ctr" fontAlgn="b">
                        <a:buNone/>
                      </a:pPr>
                      <a:endParaRPr lang="es-PE" sz="900" b="0" i="0" u="none" strike="noStrike" dirty="0">
                        <a:solidFill>
                          <a:srgbClr val="1E2E6E"/>
                        </a:solidFill>
                        <a:effectLst/>
                        <a:latin typeface="Trebuchet MS" panose="020B0603020202020204" pitchFamily="34" charset="0"/>
                      </a:endParaRPr>
                    </a:p>
                  </a:txBody>
                  <a:tcPr marL="0" marR="0" marT="0" marB="0" anchor="ctr">
                    <a:lnL w="12700" cap="flat" cmpd="sng" algn="ctr">
                      <a:solidFill>
                        <a:srgbClr val="C00000"/>
                      </a:solidFill>
                      <a:prstDash val="solid"/>
                      <a:round/>
                      <a:headEnd type="none" w="med" len="med"/>
                      <a:tailEnd type="none" w="med" len="med"/>
                    </a:lnL>
                    <a:lnR>
                      <a:noFill/>
                    </a:lnR>
                    <a:lnT>
                      <a:noFill/>
                    </a:lnT>
                    <a:lnB w="12700" cap="flat" cmpd="sng" algn="ctr">
                      <a:solidFill>
                        <a:srgbClr val="C00000"/>
                      </a:solidFill>
                      <a:prstDash val="solid"/>
                      <a:round/>
                      <a:headEnd type="none" w="med" len="med"/>
                      <a:tailEnd type="none" w="med" len="med"/>
                    </a:lnB>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buNone/>
                      </a:pPr>
                      <a:r>
                        <a:rPr lang="es-PE" sz="700" b="0" i="0" u="none" strike="noStrike" dirty="0">
                          <a:solidFill>
                            <a:srgbClr val="1E2E6E"/>
                          </a:solidFill>
                          <a:effectLst/>
                          <a:latin typeface="Trebuchet MS" panose="020B0603020202020204" pitchFamily="34" charset="0"/>
                        </a:rPr>
                        <a:t>4.6</a:t>
                      </a:r>
                    </a:p>
                  </a:txBody>
                  <a:tcPr marL="0" marR="0" marT="0" marB="0" anchor="ctr">
                    <a:lnL w="12700" cap="flat" cmpd="sng" algn="ctr">
                      <a:noFill/>
                      <a:prstDash val="solid"/>
                      <a:round/>
                      <a:headEnd type="none" w="med" len="med"/>
                      <a:tailEnd type="none" w="med" len="med"/>
                    </a:lnL>
                    <a:lnR>
                      <a:noFill/>
                    </a:lnR>
                    <a:lnT>
                      <a:noFill/>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buNone/>
                      </a:pPr>
                      <a:r>
                        <a:rPr lang="es-ES" sz="700" b="0" i="0" u="none" strike="noStrike" dirty="0">
                          <a:solidFill>
                            <a:srgbClr val="1E2E6E"/>
                          </a:solidFill>
                          <a:effectLst/>
                          <a:latin typeface="Trebuchet MS" panose="020B0603020202020204" pitchFamily="34" charset="0"/>
                        </a:rPr>
                        <a:t>3.0</a:t>
                      </a:r>
                      <a:endParaRPr lang="es-PE" sz="700" b="0" i="0" u="none" strike="noStrike" dirty="0">
                        <a:solidFill>
                          <a:srgbClr val="1E2E6E"/>
                        </a:solidFill>
                        <a:effectLst/>
                        <a:latin typeface="Trebuchet MS" panose="020B0603020202020204" pitchFamily="34" charset="0"/>
                      </a:endParaRPr>
                    </a:p>
                  </a:txBody>
                  <a:tcPr marL="0" marR="0" marT="0" marB="0" anchor="ctr">
                    <a:lnL>
                      <a:noFill/>
                    </a:lnL>
                    <a:lnR>
                      <a:noFill/>
                    </a:lnR>
                    <a:lnT>
                      <a:noFill/>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buNone/>
                      </a:pPr>
                      <a:r>
                        <a:rPr lang="es-PE" sz="700" b="0" i="0" u="none" strike="noStrike" dirty="0">
                          <a:solidFill>
                            <a:srgbClr val="1E2E6E"/>
                          </a:solidFill>
                          <a:effectLst/>
                          <a:latin typeface="Trebuchet MS" panose="020B0603020202020204" pitchFamily="34" charset="0"/>
                        </a:rPr>
                        <a:t>3.00</a:t>
                      </a:r>
                    </a:p>
                  </a:txBody>
                  <a:tcPr marL="0" marR="0" marT="0" marB="0" anchor="ctr">
                    <a:lnL>
                      <a:noFill/>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buNone/>
                      </a:pPr>
                      <a:r>
                        <a:rPr lang="es-ES" sz="700" b="1" i="0" u="none" strike="noStrike" dirty="0">
                          <a:solidFill>
                            <a:srgbClr val="1E2E6E"/>
                          </a:solidFill>
                          <a:effectLst/>
                          <a:latin typeface="Trebuchet MS" panose="020B0603020202020204" pitchFamily="34" charset="0"/>
                        </a:rPr>
                        <a:t>3</a:t>
                      </a:r>
                      <a:r>
                        <a:rPr lang="es-PE" sz="700" b="1" i="0" u="none" strike="noStrike" dirty="0">
                          <a:solidFill>
                            <a:srgbClr val="1E2E6E"/>
                          </a:solidFill>
                          <a:effectLst/>
                          <a:latin typeface="Trebuchet MS" panose="020B0603020202020204" pitchFamily="34" charset="0"/>
                        </a:rPr>
                        <a:t>.5</a:t>
                      </a: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s-ES" sz="700" b="1" i="0" u="none" strike="noStrike" dirty="0">
                          <a:solidFill>
                            <a:srgbClr val="1E2E6E"/>
                          </a:solidFill>
                          <a:effectLst/>
                          <a:latin typeface="Trebuchet MS" panose="020B0603020202020204" pitchFamily="34" charset="0"/>
                        </a:rPr>
                        <a:t>2.5</a:t>
                      </a:r>
                      <a:endParaRPr lang="es-PE" sz="700" b="1" i="0" u="none" strike="noStrike" dirty="0">
                        <a:solidFill>
                          <a:srgbClr val="1E2E6E"/>
                        </a:solidFill>
                        <a:effectLst/>
                        <a:latin typeface="Trebuchet MS" panose="020B0603020202020204" pitchFamily="34" charset="0"/>
                      </a:endParaRP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470893625"/>
                  </a:ext>
                </a:extLst>
              </a:tr>
            </a:tbl>
          </a:graphicData>
        </a:graphic>
      </p:graphicFrame>
      <p:graphicFrame>
        <p:nvGraphicFramePr>
          <p:cNvPr id="30" name="Tabla 30">
            <a:extLst>
              <a:ext uri="{FF2B5EF4-FFF2-40B4-BE49-F238E27FC236}">
                <a16:creationId xmlns:a16="http://schemas.microsoft.com/office/drawing/2014/main" id="{1EA2CBFC-9ED3-6A2C-E376-7E18A14B6045}"/>
              </a:ext>
            </a:extLst>
          </p:cNvPr>
          <p:cNvGraphicFramePr>
            <a:graphicFrameLocks noGrp="1"/>
          </p:cNvGraphicFramePr>
          <p:nvPr/>
        </p:nvGraphicFramePr>
        <p:xfrm>
          <a:off x="1602380" y="5589240"/>
          <a:ext cx="3413499" cy="693904"/>
        </p:xfrm>
        <a:graphic>
          <a:graphicData uri="http://schemas.openxmlformats.org/drawingml/2006/table">
            <a:tbl>
              <a:tblPr firstRow="1" bandRow="1"/>
              <a:tblGrid>
                <a:gridCol w="608432">
                  <a:extLst>
                    <a:ext uri="{9D8B030D-6E8A-4147-A177-3AD203B41FA5}">
                      <a16:colId xmlns:a16="http://schemas.microsoft.com/office/drawing/2014/main" val="3125108790"/>
                    </a:ext>
                  </a:extLst>
                </a:gridCol>
                <a:gridCol w="1141421">
                  <a:extLst>
                    <a:ext uri="{9D8B030D-6E8A-4147-A177-3AD203B41FA5}">
                      <a16:colId xmlns:a16="http://schemas.microsoft.com/office/drawing/2014/main" val="262011673"/>
                    </a:ext>
                  </a:extLst>
                </a:gridCol>
                <a:gridCol w="849235">
                  <a:extLst>
                    <a:ext uri="{9D8B030D-6E8A-4147-A177-3AD203B41FA5}">
                      <a16:colId xmlns:a16="http://schemas.microsoft.com/office/drawing/2014/main" val="3537210061"/>
                    </a:ext>
                  </a:extLst>
                </a:gridCol>
                <a:gridCol w="814411">
                  <a:extLst>
                    <a:ext uri="{9D8B030D-6E8A-4147-A177-3AD203B41FA5}">
                      <a16:colId xmlns:a16="http://schemas.microsoft.com/office/drawing/2014/main" val="2260468005"/>
                    </a:ext>
                  </a:extLst>
                </a:gridCol>
              </a:tblGrid>
              <a:tr h="346952">
                <a:tc rowSpan="2">
                  <a:txBody>
                    <a:bodyPr/>
                    <a:lstStyle>
                      <a:lvl1pPr marL="0" algn="l" defTabSz="914400" rtl="0" eaLnBrk="1" latinLnBrk="0" hangingPunct="1">
                        <a:defRPr sz="1800" b="1" kern="1200">
                          <a:solidFill>
                            <a:schemeClr val="bg1"/>
                          </a:solidFill>
                          <a:latin typeface="Calibri"/>
                        </a:defRPr>
                      </a:lvl1pPr>
                      <a:lvl2pPr marL="457200" algn="l" defTabSz="914400" rtl="0" eaLnBrk="1" latinLnBrk="0" hangingPunct="1">
                        <a:defRPr sz="1800" b="1" kern="1200">
                          <a:solidFill>
                            <a:schemeClr val="bg1"/>
                          </a:solidFill>
                          <a:latin typeface="Calibri"/>
                        </a:defRPr>
                      </a:lvl2pPr>
                      <a:lvl3pPr marL="914400" algn="l" defTabSz="914400" rtl="0" eaLnBrk="1" latinLnBrk="0" hangingPunct="1">
                        <a:defRPr sz="1800" b="1" kern="1200">
                          <a:solidFill>
                            <a:schemeClr val="bg1"/>
                          </a:solidFill>
                          <a:latin typeface="Calibri"/>
                        </a:defRPr>
                      </a:lvl3pPr>
                      <a:lvl4pPr marL="1371600" algn="l" defTabSz="914400" rtl="0" eaLnBrk="1" latinLnBrk="0" hangingPunct="1">
                        <a:defRPr sz="1800" b="1" kern="1200">
                          <a:solidFill>
                            <a:schemeClr val="bg1"/>
                          </a:solidFill>
                          <a:latin typeface="Calibri"/>
                        </a:defRPr>
                      </a:lvl4pPr>
                      <a:lvl5pPr marL="1828800" algn="l" defTabSz="914400" rtl="0" eaLnBrk="1" latinLnBrk="0" hangingPunct="1">
                        <a:defRPr sz="1800" b="1" kern="1200">
                          <a:solidFill>
                            <a:schemeClr val="bg1"/>
                          </a:solidFill>
                          <a:latin typeface="Calibri"/>
                        </a:defRPr>
                      </a:lvl5pPr>
                      <a:lvl6pPr marL="2286000" algn="l" defTabSz="914400" rtl="0" eaLnBrk="1" latinLnBrk="0" hangingPunct="1">
                        <a:defRPr sz="1800" b="1" kern="1200">
                          <a:solidFill>
                            <a:schemeClr val="bg1"/>
                          </a:solidFill>
                          <a:latin typeface="Calibri"/>
                        </a:defRPr>
                      </a:lvl6pPr>
                      <a:lvl7pPr marL="2743200" algn="l" defTabSz="914400" rtl="0" eaLnBrk="1" latinLnBrk="0" hangingPunct="1">
                        <a:defRPr sz="1800" b="1" kern="1200">
                          <a:solidFill>
                            <a:schemeClr val="bg1"/>
                          </a:solidFill>
                          <a:latin typeface="Calibri"/>
                        </a:defRPr>
                      </a:lvl7pPr>
                      <a:lvl8pPr marL="3200400" algn="l" defTabSz="914400" rtl="0" eaLnBrk="1" latinLnBrk="0" hangingPunct="1">
                        <a:defRPr sz="1800" b="1" kern="1200">
                          <a:solidFill>
                            <a:schemeClr val="bg1"/>
                          </a:solidFill>
                          <a:latin typeface="Calibri"/>
                        </a:defRPr>
                      </a:lvl8pPr>
                      <a:lvl9pPr marL="3657600" algn="l" defTabSz="914400" rtl="0" eaLnBrk="1" latinLnBrk="0" hangingPunct="1">
                        <a:defRPr sz="1800" b="1" kern="1200">
                          <a:solidFill>
                            <a:schemeClr val="bg1"/>
                          </a:solidFill>
                          <a:latin typeface="Calibri"/>
                        </a:defRPr>
                      </a:lvl9pPr>
                    </a:lstStyle>
                    <a:p>
                      <a:pPr algn="ctr"/>
                      <a:r>
                        <a:rPr lang="es-MX" sz="700" dirty="0">
                          <a:latin typeface="Trebuchet MS" panose="020B0603020202020204" pitchFamily="34" charset="0"/>
                        </a:rPr>
                        <a:t>MITIGANTE          (0-2)</a:t>
                      </a:r>
                      <a:endParaRPr lang="es-PE" sz="700" dirty="0">
                        <a:latin typeface="Trebuchet MS" panose="020B0603020202020204" pitchFamily="34" charset="0"/>
                      </a:endParaRPr>
                    </a:p>
                  </a:txBody>
                  <a:tcPr vert="vert27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rgbClr val="558ED5"/>
                    </a:solidFill>
                  </a:tcPr>
                </a:tc>
                <a:tc>
                  <a:txBody>
                    <a:bodyPr/>
                    <a:lstStyle>
                      <a:lvl1pPr marL="0" algn="l" defTabSz="914400" rtl="0" eaLnBrk="1" latinLnBrk="0" hangingPunct="1">
                        <a:defRPr sz="1800" b="1" kern="1200">
                          <a:solidFill>
                            <a:schemeClr val="bg1"/>
                          </a:solidFill>
                          <a:latin typeface="Calibri"/>
                        </a:defRPr>
                      </a:lvl1pPr>
                      <a:lvl2pPr marL="457200" algn="l" defTabSz="914400" rtl="0" eaLnBrk="1" latinLnBrk="0" hangingPunct="1">
                        <a:defRPr sz="1800" b="1" kern="1200">
                          <a:solidFill>
                            <a:schemeClr val="bg1"/>
                          </a:solidFill>
                          <a:latin typeface="Calibri"/>
                        </a:defRPr>
                      </a:lvl2pPr>
                      <a:lvl3pPr marL="914400" algn="l" defTabSz="914400" rtl="0" eaLnBrk="1" latinLnBrk="0" hangingPunct="1">
                        <a:defRPr sz="1800" b="1" kern="1200">
                          <a:solidFill>
                            <a:schemeClr val="bg1"/>
                          </a:solidFill>
                          <a:latin typeface="Calibri"/>
                        </a:defRPr>
                      </a:lvl3pPr>
                      <a:lvl4pPr marL="1371600" algn="l" defTabSz="914400" rtl="0" eaLnBrk="1" latinLnBrk="0" hangingPunct="1">
                        <a:defRPr sz="1800" b="1" kern="1200">
                          <a:solidFill>
                            <a:schemeClr val="bg1"/>
                          </a:solidFill>
                          <a:latin typeface="Calibri"/>
                        </a:defRPr>
                      </a:lvl4pPr>
                      <a:lvl5pPr marL="1828800" algn="l" defTabSz="914400" rtl="0" eaLnBrk="1" latinLnBrk="0" hangingPunct="1">
                        <a:defRPr sz="1800" b="1" kern="1200">
                          <a:solidFill>
                            <a:schemeClr val="bg1"/>
                          </a:solidFill>
                          <a:latin typeface="Calibri"/>
                        </a:defRPr>
                      </a:lvl5pPr>
                      <a:lvl6pPr marL="2286000" algn="l" defTabSz="914400" rtl="0" eaLnBrk="1" latinLnBrk="0" hangingPunct="1">
                        <a:defRPr sz="1800" b="1" kern="1200">
                          <a:solidFill>
                            <a:schemeClr val="bg1"/>
                          </a:solidFill>
                          <a:latin typeface="Calibri"/>
                        </a:defRPr>
                      </a:lvl6pPr>
                      <a:lvl7pPr marL="2743200" algn="l" defTabSz="914400" rtl="0" eaLnBrk="1" latinLnBrk="0" hangingPunct="1">
                        <a:defRPr sz="1800" b="1" kern="1200">
                          <a:solidFill>
                            <a:schemeClr val="bg1"/>
                          </a:solidFill>
                          <a:latin typeface="Calibri"/>
                        </a:defRPr>
                      </a:lvl7pPr>
                      <a:lvl8pPr marL="3200400" algn="l" defTabSz="914400" rtl="0" eaLnBrk="1" latinLnBrk="0" hangingPunct="1">
                        <a:defRPr sz="1800" b="1" kern="1200">
                          <a:solidFill>
                            <a:schemeClr val="bg1"/>
                          </a:solidFill>
                          <a:latin typeface="Calibri"/>
                        </a:defRPr>
                      </a:lvl8pPr>
                      <a:lvl9pPr marL="3657600" algn="l" defTabSz="914400" rtl="0" eaLnBrk="1" latinLnBrk="0" hangingPunct="1">
                        <a:defRPr sz="1800" b="1" kern="1200">
                          <a:solidFill>
                            <a:schemeClr val="bg1"/>
                          </a:solidFill>
                          <a:latin typeface="Calibri"/>
                        </a:defRPr>
                      </a:lvl9pPr>
                    </a:lstStyle>
                    <a:p>
                      <a:pPr algn="ctr"/>
                      <a:r>
                        <a:rPr lang="es-PE" sz="700" dirty="0">
                          <a:latin typeface="Trebuchet MS" panose="020B0603020202020204" pitchFamily="34" charset="0"/>
                        </a:rPr>
                        <a:t>Estudios especializados</a:t>
                      </a:r>
                    </a:p>
                  </a:txBody>
                  <a:tcPr>
                    <a:lnL w="12700" cap="flat" cmpd="sng" algn="ctr">
                      <a:no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solidFill>
                      <a:srgbClr val="558ED5"/>
                    </a:solidFill>
                  </a:tcPr>
                </a:tc>
                <a:tc>
                  <a:txBody>
                    <a:bodyPr/>
                    <a:lstStyle>
                      <a:lvl1pPr marL="0" algn="l" defTabSz="914400" rtl="0" eaLnBrk="1" latinLnBrk="0" hangingPunct="1">
                        <a:defRPr sz="1800" b="1" kern="1200">
                          <a:solidFill>
                            <a:schemeClr val="bg1"/>
                          </a:solidFill>
                          <a:latin typeface="Calibri"/>
                        </a:defRPr>
                      </a:lvl1pPr>
                      <a:lvl2pPr marL="457200" algn="l" defTabSz="914400" rtl="0" eaLnBrk="1" latinLnBrk="0" hangingPunct="1">
                        <a:defRPr sz="1800" b="1" kern="1200">
                          <a:solidFill>
                            <a:schemeClr val="bg1"/>
                          </a:solidFill>
                          <a:latin typeface="Calibri"/>
                        </a:defRPr>
                      </a:lvl2pPr>
                      <a:lvl3pPr marL="914400" algn="l" defTabSz="914400" rtl="0" eaLnBrk="1" latinLnBrk="0" hangingPunct="1">
                        <a:defRPr sz="1800" b="1" kern="1200">
                          <a:solidFill>
                            <a:schemeClr val="bg1"/>
                          </a:solidFill>
                          <a:latin typeface="Calibri"/>
                        </a:defRPr>
                      </a:lvl3pPr>
                      <a:lvl4pPr marL="1371600" algn="l" defTabSz="914400" rtl="0" eaLnBrk="1" latinLnBrk="0" hangingPunct="1">
                        <a:defRPr sz="1800" b="1" kern="1200">
                          <a:solidFill>
                            <a:schemeClr val="bg1"/>
                          </a:solidFill>
                          <a:latin typeface="Calibri"/>
                        </a:defRPr>
                      </a:lvl4pPr>
                      <a:lvl5pPr marL="1828800" algn="l" defTabSz="914400" rtl="0" eaLnBrk="1" latinLnBrk="0" hangingPunct="1">
                        <a:defRPr sz="1800" b="1" kern="1200">
                          <a:solidFill>
                            <a:schemeClr val="bg1"/>
                          </a:solidFill>
                          <a:latin typeface="Calibri"/>
                        </a:defRPr>
                      </a:lvl5pPr>
                      <a:lvl6pPr marL="2286000" algn="l" defTabSz="914400" rtl="0" eaLnBrk="1" latinLnBrk="0" hangingPunct="1">
                        <a:defRPr sz="1800" b="1" kern="1200">
                          <a:solidFill>
                            <a:schemeClr val="bg1"/>
                          </a:solidFill>
                          <a:latin typeface="Calibri"/>
                        </a:defRPr>
                      </a:lvl6pPr>
                      <a:lvl7pPr marL="2743200" algn="l" defTabSz="914400" rtl="0" eaLnBrk="1" latinLnBrk="0" hangingPunct="1">
                        <a:defRPr sz="1800" b="1" kern="1200">
                          <a:solidFill>
                            <a:schemeClr val="bg1"/>
                          </a:solidFill>
                          <a:latin typeface="Calibri"/>
                        </a:defRPr>
                      </a:lvl7pPr>
                      <a:lvl8pPr marL="3200400" algn="l" defTabSz="914400" rtl="0" eaLnBrk="1" latinLnBrk="0" hangingPunct="1">
                        <a:defRPr sz="1800" b="1" kern="1200">
                          <a:solidFill>
                            <a:schemeClr val="bg1"/>
                          </a:solidFill>
                          <a:latin typeface="Calibri"/>
                        </a:defRPr>
                      </a:lvl8pPr>
                      <a:lvl9pPr marL="3657600" algn="l" defTabSz="914400" rtl="0" eaLnBrk="1" latinLnBrk="0" hangingPunct="1">
                        <a:defRPr sz="1800" b="1" kern="1200">
                          <a:solidFill>
                            <a:schemeClr val="bg1"/>
                          </a:solidFill>
                          <a:latin typeface="Calibri"/>
                        </a:defRPr>
                      </a:lvl9pPr>
                    </a:lstStyle>
                    <a:p>
                      <a:pPr algn="ctr"/>
                      <a:r>
                        <a:rPr lang="es-PE" sz="700" dirty="0">
                          <a:latin typeface="Trebuchet MS" panose="020B0603020202020204" pitchFamily="34" charset="0"/>
                        </a:rPr>
                        <a:t>Plan de trabajo</a:t>
                      </a:r>
                    </a:p>
                  </a:txBody>
                  <a:tcP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solidFill>
                      <a:srgbClr val="558ED5"/>
                    </a:solidFill>
                  </a:tcPr>
                </a:tc>
                <a:tc>
                  <a:txBody>
                    <a:bodyPr/>
                    <a:lstStyle>
                      <a:lvl1pPr marL="0" algn="l" defTabSz="914400" rtl="0" eaLnBrk="1" latinLnBrk="0" hangingPunct="1">
                        <a:defRPr sz="1800" b="1" kern="1200">
                          <a:solidFill>
                            <a:schemeClr val="bg1"/>
                          </a:solidFill>
                          <a:latin typeface="Calibri"/>
                        </a:defRPr>
                      </a:lvl1pPr>
                      <a:lvl2pPr marL="457200" algn="l" defTabSz="914400" rtl="0" eaLnBrk="1" latinLnBrk="0" hangingPunct="1">
                        <a:defRPr sz="1800" b="1" kern="1200">
                          <a:solidFill>
                            <a:schemeClr val="bg1"/>
                          </a:solidFill>
                          <a:latin typeface="Calibri"/>
                        </a:defRPr>
                      </a:lvl2pPr>
                      <a:lvl3pPr marL="914400" algn="l" defTabSz="914400" rtl="0" eaLnBrk="1" latinLnBrk="0" hangingPunct="1">
                        <a:defRPr sz="1800" b="1" kern="1200">
                          <a:solidFill>
                            <a:schemeClr val="bg1"/>
                          </a:solidFill>
                          <a:latin typeface="Calibri"/>
                        </a:defRPr>
                      </a:lvl3pPr>
                      <a:lvl4pPr marL="1371600" algn="l" defTabSz="914400" rtl="0" eaLnBrk="1" latinLnBrk="0" hangingPunct="1">
                        <a:defRPr sz="1800" b="1" kern="1200">
                          <a:solidFill>
                            <a:schemeClr val="bg1"/>
                          </a:solidFill>
                          <a:latin typeface="Calibri"/>
                        </a:defRPr>
                      </a:lvl4pPr>
                      <a:lvl5pPr marL="1828800" algn="l" defTabSz="914400" rtl="0" eaLnBrk="1" latinLnBrk="0" hangingPunct="1">
                        <a:defRPr sz="1800" b="1" kern="1200">
                          <a:solidFill>
                            <a:schemeClr val="bg1"/>
                          </a:solidFill>
                          <a:latin typeface="Calibri"/>
                        </a:defRPr>
                      </a:lvl5pPr>
                      <a:lvl6pPr marL="2286000" algn="l" defTabSz="914400" rtl="0" eaLnBrk="1" latinLnBrk="0" hangingPunct="1">
                        <a:defRPr sz="1800" b="1" kern="1200">
                          <a:solidFill>
                            <a:schemeClr val="bg1"/>
                          </a:solidFill>
                          <a:latin typeface="Calibri"/>
                        </a:defRPr>
                      </a:lvl6pPr>
                      <a:lvl7pPr marL="2743200" algn="l" defTabSz="914400" rtl="0" eaLnBrk="1" latinLnBrk="0" hangingPunct="1">
                        <a:defRPr sz="1800" b="1" kern="1200">
                          <a:solidFill>
                            <a:schemeClr val="bg1"/>
                          </a:solidFill>
                          <a:latin typeface="Calibri"/>
                        </a:defRPr>
                      </a:lvl7pPr>
                      <a:lvl8pPr marL="3200400" algn="l" defTabSz="914400" rtl="0" eaLnBrk="1" latinLnBrk="0" hangingPunct="1">
                        <a:defRPr sz="1800" b="1" kern="1200">
                          <a:solidFill>
                            <a:schemeClr val="bg1"/>
                          </a:solidFill>
                          <a:latin typeface="Calibri"/>
                        </a:defRPr>
                      </a:lvl8pPr>
                      <a:lvl9pPr marL="3657600" algn="l" defTabSz="914400" rtl="0" eaLnBrk="1" latinLnBrk="0" hangingPunct="1">
                        <a:defRPr sz="1800" b="1" kern="1200">
                          <a:solidFill>
                            <a:schemeClr val="bg1"/>
                          </a:solidFill>
                          <a:latin typeface="Calibri"/>
                        </a:defRPr>
                      </a:lvl9pPr>
                    </a:lstStyle>
                    <a:p>
                      <a:pPr algn="ctr"/>
                      <a:r>
                        <a:rPr lang="es-PE" sz="700" dirty="0">
                          <a:latin typeface="Trebuchet MS" panose="020B0603020202020204" pitchFamily="34" charset="0"/>
                        </a:rPr>
                        <a:t>Mitigantes -</a:t>
                      </a:r>
                    </a:p>
                    <a:p>
                      <a:pPr algn="ctr"/>
                      <a:r>
                        <a:rPr lang="es-PE" sz="700" dirty="0">
                          <a:latin typeface="Trebuchet MS" panose="020B0603020202020204" pitchFamily="34" charset="0"/>
                        </a:rPr>
                        <a:t>Resultado</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solidFill>
                      <a:srgbClr val="558ED5"/>
                    </a:solidFill>
                  </a:tcPr>
                </a:tc>
                <a:extLst>
                  <a:ext uri="{0D108BD9-81ED-4DB2-BD59-A6C34878D82A}">
                    <a16:rowId xmlns:a16="http://schemas.microsoft.com/office/drawing/2014/main" val="179332463"/>
                  </a:ext>
                </a:extLst>
              </a:tr>
              <a:tr h="346952">
                <a:tc vMerge="1">
                  <a:txBody>
                    <a:bodyPr/>
                    <a:lstStyle/>
                    <a:p>
                      <a:pPr algn="ctr"/>
                      <a:endParaRPr lang="es-PE" sz="900" dirty="0">
                        <a:latin typeface="Trebuchet MS" panose="020B0603020202020204" pitchFamily="34" charset="0"/>
                      </a:endParaRPr>
                    </a:p>
                  </a:txBody>
                  <a:tcPr>
                    <a:lnL w="12700" cap="flat" cmpd="sng" algn="ctr">
                      <a:solidFill>
                        <a:srgbClr val="C00000"/>
                      </a:solidFill>
                      <a:prstDash val="solid"/>
                      <a:round/>
                      <a:headEnd type="none" w="med" len="med"/>
                      <a:tailEnd type="none" w="med" len="med"/>
                    </a:lnL>
                    <a:lnR>
                      <a:noFill/>
                    </a:lnR>
                    <a:lnT w="9525" cap="flat" cmpd="sng" algn="ctr">
                      <a:noFill/>
                      <a:prstDash val="soli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s-MX" sz="700" dirty="0">
                          <a:latin typeface="Trebuchet MS" panose="020B0603020202020204" pitchFamily="34" charset="0"/>
                        </a:rPr>
                        <a:t>(1) – Mencionan estudio interno</a:t>
                      </a:r>
                      <a:endParaRPr lang="es-PE" sz="700" dirty="0">
                        <a:latin typeface="Trebuchet MS" panose="020B0603020202020204" pitchFamily="34" charset="0"/>
                      </a:endParaRPr>
                    </a:p>
                  </a:txBody>
                  <a:tcPr>
                    <a:lnL w="12700" cap="flat" cmpd="sng" algn="ctr">
                      <a:noFill/>
                      <a:prstDash val="solid"/>
                      <a:round/>
                      <a:headEnd type="none" w="med" len="med"/>
                      <a:tailEnd type="none" w="med" len="med"/>
                    </a:lnL>
                    <a:lnR>
                      <a:noFill/>
                    </a:lnR>
                    <a:lnT w="9525" cap="flat" cmpd="sng" algn="ctr">
                      <a:noFill/>
                      <a:prstDash val="soli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s-MX" sz="700" dirty="0">
                          <a:latin typeface="Trebuchet MS" panose="020B0603020202020204" pitchFamily="34" charset="0"/>
                        </a:rPr>
                        <a:t>(2) – No tienen Plan</a:t>
                      </a:r>
                    </a:p>
                  </a:txBody>
                  <a:tcPr>
                    <a:lnL>
                      <a:noFill/>
                    </a:lnL>
                    <a:lnR w="12700" cap="flat" cmpd="sng" algn="ctr">
                      <a:solidFill>
                        <a:srgbClr val="C00000"/>
                      </a:solidFill>
                      <a:prstDash val="solid"/>
                      <a:round/>
                      <a:headEnd type="none" w="med" len="med"/>
                      <a:tailEnd type="none" w="med" len="med"/>
                    </a:lnR>
                    <a:lnT w="9525" cap="flat" cmpd="sng" algn="ctr">
                      <a:noFill/>
                      <a:prstDash val="soli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s-MX" sz="700" b="1" dirty="0">
                          <a:latin typeface="Trebuchet MS" panose="020B0603020202020204" pitchFamily="34" charset="0"/>
                        </a:rPr>
                        <a:t>Bajo</a:t>
                      </a:r>
                      <a:endParaRPr lang="es-PE" sz="700" b="1" dirty="0">
                        <a:latin typeface="Trebuchet MS" panose="020B0603020202020204" pitchFamily="34" charset="0"/>
                      </a:endParaRP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9525" cap="flat" cmpd="sng" algn="ctr">
                      <a:noFill/>
                      <a:prstDash val="soli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1015209"/>
                  </a:ext>
                </a:extLst>
              </a:tr>
            </a:tbl>
          </a:graphicData>
        </a:graphic>
      </p:graphicFrame>
      <p:graphicFrame>
        <p:nvGraphicFramePr>
          <p:cNvPr id="31" name="Table 30">
            <a:extLst>
              <a:ext uri="{FF2B5EF4-FFF2-40B4-BE49-F238E27FC236}">
                <a16:creationId xmlns:a16="http://schemas.microsoft.com/office/drawing/2014/main" id="{C1AB47AC-0FAF-A682-D509-16DB20FBD3D3}"/>
              </a:ext>
            </a:extLst>
          </p:cNvPr>
          <p:cNvGraphicFramePr>
            <a:graphicFrameLocks noGrp="1"/>
          </p:cNvGraphicFramePr>
          <p:nvPr/>
        </p:nvGraphicFramePr>
        <p:xfrm>
          <a:off x="1602381" y="4883466"/>
          <a:ext cx="3413499" cy="561758"/>
        </p:xfrm>
        <a:graphic>
          <a:graphicData uri="http://schemas.openxmlformats.org/drawingml/2006/table">
            <a:tbl>
              <a:tblPr/>
              <a:tblGrid>
                <a:gridCol w="501831">
                  <a:extLst>
                    <a:ext uri="{9D8B030D-6E8A-4147-A177-3AD203B41FA5}">
                      <a16:colId xmlns:a16="http://schemas.microsoft.com/office/drawing/2014/main" val="4238280672"/>
                    </a:ext>
                  </a:extLst>
                </a:gridCol>
                <a:gridCol w="501831">
                  <a:extLst>
                    <a:ext uri="{9D8B030D-6E8A-4147-A177-3AD203B41FA5}">
                      <a16:colId xmlns:a16="http://schemas.microsoft.com/office/drawing/2014/main" val="3358285335"/>
                    </a:ext>
                  </a:extLst>
                </a:gridCol>
                <a:gridCol w="606380">
                  <a:extLst>
                    <a:ext uri="{9D8B030D-6E8A-4147-A177-3AD203B41FA5}">
                      <a16:colId xmlns:a16="http://schemas.microsoft.com/office/drawing/2014/main" val="2416440299"/>
                    </a:ext>
                  </a:extLst>
                </a:gridCol>
                <a:gridCol w="501831">
                  <a:extLst>
                    <a:ext uri="{9D8B030D-6E8A-4147-A177-3AD203B41FA5}">
                      <a16:colId xmlns:a16="http://schemas.microsoft.com/office/drawing/2014/main" val="3768017501"/>
                    </a:ext>
                  </a:extLst>
                </a:gridCol>
                <a:gridCol w="650813">
                  <a:extLst>
                    <a:ext uri="{9D8B030D-6E8A-4147-A177-3AD203B41FA5}">
                      <a16:colId xmlns:a16="http://schemas.microsoft.com/office/drawing/2014/main" val="3079706364"/>
                    </a:ext>
                  </a:extLst>
                </a:gridCol>
                <a:gridCol w="650813">
                  <a:extLst>
                    <a:ext uri="{9D8B030D-6E8A-4147-A177-3AD203B41FA5}">
                      <a16:colId xmlns:a16="http://schemas.microsoft.com/office/drawing/2014/main" val="749591383"/>
                    </a:ext>
                  </a:extLst>
                </a:gridCol>
              </a:tblGrid>
              <a:tr h="300476">
                <a:tc row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buNone/>
                      </a:pPr>
                      <a:r>
                        <a:rPr lang="es-MX" sz="700" b="1" i="0" u="none" strike="noStrike" dirty="0">
                          <a:solidFill>
                            <a:srgbClr val="FFFFFF"/>
                          </a:solidFill>
                          <a:effectLst/>
                          <a:latin typeface="Trebuchet MS" panose="020B0603020202020204" pitchFamily="34" charset="0"/>
                        </a:rPr>
                        <a:t>RIESGO</a:t>
                      </a:r>
                      <a:endParaRPr lang="es-PE" sz="700" b="1" i="0" u="none" strike="noStrike" dirty="0">
                        <a:solidFill>
                          <a:srgbClr val="FFFFFF"/>
                        </a:solidFill>
                        <a:effectLst/>
                        <a:latin typeface="Trebuchet MS" panose="020B0603020202020204" pitchFamily="34" charset="0"/>
                      </a:endParaRPr>
                    </a:p>
                  </a:txBody>
                  <a:tcPr marL="0" marR="0" marT="0" marB="0" vert="vert270" anchor="ctr">
                    <a:lnL w="12700" cap="flat" cmpd="sng" algn="ctr">
                      <a:solidFill>
                        <a:srgbClr val="C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rgbClr val="558ED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buNone/>
                      </a:pPr>
                      <a:r>
                        <a:rPr lang="es-PE" sz="700" b="1" i="0" u="none" strike="noStrike" dirty="0" err="1">
                          <a:solidFill>
                            <a:srgbClr val="FFFFFF"/>
                          </a:solidFill>
                          <a:effectLst/>
                          <a:latin typeface="Trebuchet MS" panose="020B0603020202020204" pitchFamily="34" charset="0"/>
                        </a:rPr>
                        <a:t>Mov</a:t>
                      </a:r>
                      <a:r>
                        <a:rPr lang="es-PE" sz="700" b="1" i="0" u="none" strike="noStrike" dirty="0">
                          <a:solidFill>
                            <a:srgbClr val="FFFFFF"/>
                          </a:solidFill>
                          <a:effectLst/>
                          <a:latin typeface="Trebuchet MS" panose="020B0603020202020204" pitchFamily="34" charset="0"/>
                        </a:rPr>
                        <a:t> Masa</a:t>
                      </a:r>
                    </a:p>
                  </a:txBody>
                  <a:tcPr marL="0" marR="0" marT="0" marB="0" anchor="ctr">
                    <a:lnL w="12700" cap="flat" cmpd="sng" algn="ctr">
                      <a:no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a:noFill/>
                    </a:lnB>
                    <a:lnTlToBr w="12700" cmpd="sng">
                      <a:noFill/>
                      <a:prstDash val="solid"/>
                    </a:lnTlToBr>
                    <a:lnBlToTr w="12700" cmpd="sng">
                      <a:noFill/>
                      <a:prstDash val="solid"/>
                    </a:lnBlToTr>
                    <a:solidFill>
                      <a:srgbClr val="558ED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buNone/>
                      </a:pPr>
                      <a:r>
                        <a:rPr lang="es-PE" sz="700" b="1" i="0" u="none" strike="noStrike" dirty="0">
                          <a:solidFill>
                            <a:srgbClr val="FFFFFF"/>
                          </a:solidFill>
                          <a:effectLst/>
                          <a:latin typeface="Trebuchet MS" panose="020B0603020202020204" pitchFamily="34" charset="0"/>
                        </a:rPr>
                        <a:t>Inundación</a:t>
                      </a:r>
                    </a:p>
                  </a:txBody>
                  <a:tcPr marL="0" marR="0" marT="0" marB="0" anchor="ctr">
                    <a:lnL>
                      <a:noFill/>
                    </a:lnL>
                    <a:lnR>
                      <a:noFill/>
                    </a:lnR>
                    <a:lnT w="12700" cap="flat" cmpd="sng" algn="ctr">
                      <a:solidFill>
                        <a:srgbClr val="C00000"/>
                      </a:solidFill>
                      <a:prstDash val="solid"/>
                      <a:round/>
                      <a:headEnd type="none" w="med" len="med"/>
                      <a:tailEnd type="none" w="med" len="med"/>
                    </a:lnT>
                    <a:lnB>
                      <a:noFill/>
                    </a:lnB>
                    <a:lnTlToBr w="12700" cmpd="sng">
                      <a:noFill/>
                      <a:prstDash val="solid"/>
                    </a:lnTlToBr>
                    <a:lnBlToTr w="12700" cmpd="sng">
                      <a:noFill/>
                      <a:prstDash val="solid"/>
                    </a:lnBlToTr>
                    <a:solidFill>
                      <a:srgbClr val="558ED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buNone/>
                      </a:pPr>
                      <a:r>
                        <a:rPr lang="es-PE" sz="700" b="1" i="0" u="none" strike="noStrike" kern="1200" dirty="0">
                          <a:solidFill>
                            <a:srgbClr val="FFFFFF"/>
                          </a:solidFill>
                          <a:effectLst/>
                          <a:latin typeface="Trebuchet MS" panose="020B0603020202020204" pitchFamily="34" charset="0"/>
                          <a:ea typeface="+mn-ea"/>
                          <a:cs typeface="+mn-cs"/>
                        </a:rPr>
                        <a:t>Sequias</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lnTlToBr w="12700" cmpd="sng">
                      <a:noFill/>
                      <a:prstDash val="solid"/>
                    </a:lnTlToBr>
                    <a:lnBlToTr w="12700" cmpd="sng">
                      <a:noFill/>
                      <a:prstDash val="solid"/>
                    </a:lnBlToTr>
                    <a:solidFill>
                      <a:schemeClr val="accent6"/>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buNone/>
                      </a:pPr>
                      <a:r>
                        <a:rPr lang="es-PE" sz="700" b="1" i="0" u="none" strike="noStrike" kern="1200" dirty="0">
                          <a:solidFill>
                            <a:srgbClr val="FFFFFF"/>
                          </a:solidFill>
                          <a:effectLst/>
                          <a:latin typeface="Trebuchet MS" panose="020B0603020202020204" pitchFamily="34" charset="0"/>
                          <a:ea typeface="+mn-ea"/>
                          <a:cs typeface="+mn-cs"/>
                        </a:rPr>
                        <a:t>Score Global</a:t>
                      </a: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lnTlToBr w="12700" cmpd="sng">
                      <a:noFill/>
                      <a:prstDash val="solid"/>
                    </a:lnTlToBr>
                    <a:lnBlToTr w="12700" cmpd="sng">
                      <a:noFill/>
                      <a:prstDash val="solid"/>
                    </a:lnBlToTr>
                    <a:solidFill>
                      <a:schemeClr val="accent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700" b="1" i="0" u="none" strike="noStrike" kern="1200" dirty="0">
                          <a:solidFill>
                            <a:srgbClr val="FFC000"/>
                          </a:solidFill>
                          <a:effectLst/>
                          <a:latin typeface="Trebuchet MS" panose="020B0603020202020204" pitchFamily="34" charset="0"/>
                          <a:ea typeface="+mn-ea"/>
                          <a:cs typeface="+mn-cs"/>
                        </a:rPr>
                        <a:t>Score Global Ajustado</a:t>
                      </a: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a:noFill/>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992350763"/>
                  </a:ext>
                </a:extLst>
              </a:tr>
              <a:tr h="261282">
                <a:tc vMerge="1">
                  <a:txBody>
                    <a:bodyPr/>
                    <a:lstStyle/>
                    <a:p>
                      <a:pPr algn="ctr" fontAlgn="b">
                        <a:buNone/>
                      </a:pPr>
                      <a:endParaRPr lang="es-PE" sz="900" b="0" i="0" u="none" strike="noStrike" dirty="0">
                        <a:solidFill>
                          <a:srgbClr val="1E2E6E"/>
                        </a:solidFill>
                        <a:effectLst/>
                        <a:latin typeface="Trebuchet MS" panose="020B0603020202020204" pitchFamily="34" charset="0"/>
                      </a:endParaRPr>
                    </a:p>
                  </a:txBody>
                  <a:tcPr marL="0" marR="0" marT="0" marB="0" anchor="ctr">
                    <a:lnL w="12700" cap="flat" cmpd="sng" algn="ctr">
                      <a:solidFill>
                        <a:srgbClr val="C00000"/>
                      </a:solidFill>
                      <a:prstDash val="solid"/>
                      <a:round/>
                      <a:headEnd type="none" w="med" len="med"/>
                      <a:tailEnd type="none" w="med" len="med"/>
                    </a:lnL>
                    <a:lnR>
                      <a:noFill/>
                    </a:lnR>
                    <a:lnT>
                      <a:noFill/>
                    </a:lnT>
                    <a:lnB w="12700" cap="flat" cmpd="sng" algn="ctr">
                      <a:solidFill>
                        <a:srgbClr val="C00000"/>
                      </a:solidFill>
                      <a:prstDash val="solid"/>
                      <a:round/>
                      <a:headEnd type="none" w="med" len="med"/>
                      <a:tailEnd type="none" w="med" len="med"/>
                    </a:lnB>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buNone/>
                      </a:pPr>
                      <a:r>
                        <a:rPr lang="es-PE" sz="700" b="0" i="0" u="none" strike="noStrike" dirty="0">
                          <a:solidFill>
                            <a:srgbClr val="1E2E6E"/>
                          </a:solidFill>
                          <a:effectLst/>
                          <a:latin typeface="Trebuchet MS" panose="020B0603020202020204" pitchFamily="34" charset="0"/>
                        </a:rPr>
                        <a:t>4.0</a:t>
                      </a:r>
                    </a:p>
                  </a:txBody>
                  <a:tcPr marL="0" marR="0" marT="0" marB="0" anchor="ctr">
                    <a:lnL w="12700" cap="flat" cmpd="sng" algn="ctr">
                      <a:noFill/>
                      <a:prstDash val="solid"/>
                      <a:round/>
                      <a:headEnd type="none" w="med" len="med"/>
                      <a:tailEnd type="none" w="med" len="med"/>
                    </a:lnL>
                    <a:lnR>
                      <a:noFill/>
                    </a:lnR>
                    <a:lnT>
                      <a:noFill/>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buNone/>
                      </a:pPr>
                      <a:r>
                        <a:rPr lang="es-ES" sz="700" b="0" i="0" u="none" strike="noStrike" dirty="0">
                          <a:solidFill>
                            <a:srgbClr val="1E2E6E"/>
                          </a:solidFill>
                          <a:effectLst/>
                          <a:latin typeface="Trebuchet MS" panose="020B0603020202020204" pitchFamily="34" charset="0"/>
                        </a:rPr>
                        <a:t>1.5</a:t>
                      </a:r>
                      <a:endParaRPr lang="es-PE" sz="700" b="0" i="0" u="none" strike="noStrike" dirty="0">
                        <a:solidFill>
                          <a:srgbClr val="1E2E6E"/>
                        </a:solidFill>
                        <a:effectLst/>
                        <a:latin typeface="Trebuchet MS" panose="020B0603020202020204" pitchFamily="34" charset="0"/>
                      </a:endParaRPr>
                    </a:p>
                  </a:txBody>
                  <a:tcPr marL="0" marR="0" marT="0" marB="0" anchor="ctr">
                    <a:lnL>
                      <a:noFill/>
                    </a:lnL>
                    <a:lnR>
                      <a:noFill/>
                    </a:lnR>
                    <a:lnT>
                      <a:noFill/>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buNone/>
                      </a:pPr>
                      <a:r>
                        <a:rPr lang="es-MX" sz="700" b="0" i="0" u="none" strike="noStrike" dirty="0">
                          <a:solidFill>
                            <a:srgbClr val="1E2E6E"/>
                          </a:solidFill>
                          <a:effectLst/>
                          <a:latin typeface="Trebuchet MS" panose="020B0603020202020204" pitchFamily="34" charset="0"/>
                        </a:rPr>
                        <a:t>3</a:t>
                      </a:r>
                      <a:r>
                        <a:rPr lang="es-PE" sz="700" b="0" i="0" u="none" strike="noStrike" dirty="0">
                          <a:solidFill>
                            <a:srgbClr val="1E2E6E"/>
                          </a:solidFill>
                          <a:effectLst/>
                          <a:latin typeface="Trebuchet MS" panose="020B0603020202020204" pitchFamily="34" charset="0"/>
                        </a:rPr>
                        <a:t>.6</a:t>
                      </a:r>
                    </a:p>
                  </a:txBody>
                  <a:tcPr marL="0" marR="0" marT="0" marB="0" anchor="ctr">
                    <a:lnL>
                      <a:noFill/>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buNone/>
                      </a:pPr>
                      <a:r>
                        <a:rPr lang="es-PE" sz="700" b="1" i="0" u="none" strike="noStrike" dirty="0">
                          <a:solidFill>
                            <a:srgbClr val="1E2E6E"/>
                          </a:solidFill>
                          <a:effectLst/>
                          <a:latin typeface="Trebuchet MS" panose="020B0603020202020204" pitchFamily="34" charset="0"/>
                        </a:rPr>
                        <a:t>3.0</a:t>
                      </a: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s-ES" sz="700" b="1" i="0" u="none" strike="noStrike" dirty="0">
                          <a:solidFill>
                            <a:srgbClr val="1E2E6E"/>
                          </a:solidFill>
                          <a:effectLst/>
                          <a:latin typeface="Trebuchet MS" panose="020B0603020202020204" pitchFamily="34" charset="0"/>
                        </a:rPr>
                        <a:t>3.0</a:t>
                      </a:r>
                      <a:endParaRPr lang="es-PE" sz="700" b="1" i="0" u="none" strike="noStrike" dirty="0">
                        <a:solidFill>
                          <a:srgbClr val="1E2E6E"/>
                        </a:solidFill>
                        <a:effectLst/>
                        <a:latin typeface="Trebuchet MS" panose="020B0603020202020204" pitchFamily="34" charset="0"/>
                      </a:endParaRP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a:noFill/>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3623098767"/>
                  </a:ext>
                </a:extLst>
              </a:tr>
            </a:tbl>
          </a:graphicData>
        </a:graphic>
      </p:graphicFrame>
      <p:sp>
        <p:nvSpPr>
          <p:cNvPr id="32" name="TextBox 31">
            <a:extLst>
              <a:ext uri="{FF2B5EF4-FFF2-40B4-BE49-F238E27FC236}">
                <a16:creationId xmlns:a16="http://schemas.microsoft.com/office/drawing/2014/main" id="{0EBC6206-EDC2-58ED-1968-C55FDF3D21FD}"/>
              </a:ext>
            </a:extLst>
          </p:cNvPr>
          <p:cNvSpPr txBox="1"/>
          <p:nvPr/>
        </p:nvSpPr>
        <p:spPr>
          <a:xfrm>
            <a:off x="1415480" y="4618306"/>
            <a:ext cx="1502569" cy="230832"/>
          </a:xfrm>
          <a:prstGeom prst="rect">
            <a:avLst/>
          </a:prstGeom>
          <a:noFill/>
        </p:spPr>
        <p:txBody>
          <a:bodyPr wrap="square">
            <a:spAutoFit/>
          </a:bodyPr>
          <a:lstStyle/>
          <a:p>
            <a:pPr algn="ctr">
              <a:defRPr/>
            </a:pPr>
            <a:r>
              <a:rPr lang="es-MX" sz="900" b="1" dirty="0">
                <a:solidFill>
                  <a:srgbClr val="1E2E6E"/>
                </a:solidFill>
                <a:latin typeface="Trebuchet MS" panose="020B0603020202020204" pitchFamily="34" charset="0"/>
                <a:cs typeface="Arial" charset="0"/>
              </a:rPr>
              <a:t>Ejemplo: </a:t>
            </a:r>
            <a:r>
              <a:rPr lang="es-MX" sz="900" b="1" dirty="0" err="1">
                <a:solidFill>
                  <a:srgbClr val="1E2E6E"/>
                </a:solidFill>
                <a:latin typeface="Trebuchet MS" panose="020B0603020202020204" pitchFamily="34" charset="0"/>
                <a:cs typeface="Arial" charset="0"/>
              </a:rPr>
              <a:t>Nexa</a:t>
            </a:r>
            <a:r>
              <a:rPr lang="es-MX" sz="900" b="1" dirty="0">
                <a:solidFill>
                  <a:srgbClr val="1E2E6E"/>
                </a:solidFill>
                <a:latin typeface="Trebuchet MS" panose="020B0603020202020204" pitchFamily="34" charset="0"/>
                <a:cs typeface="Arial" charset="0"/>
              </a:rPr>
              <a:t> Perú</a:t>
            </a:r>
            <a:endParaRPr lang="es-PE" sz="900" b="1" dirty="0">
              <a:solidFill>
                <a:srgbClr val="1E2E6E"/>
              </a:solidFill>
              <a:latin typeface="Trebuchet MS" panose="020B0603020202020204" pitchFamily="34" charset="0"/>
              <a:cs typeface="Arial" charset="0"/>
            </a:endParaRPr>
          </a:p>
        </p:txBody>
      </p:sp>
      <p:sp>
        <p:nvSpPr>
          <p:cNvPr id="5" name="Title 2">
            <a:extLst>
              <a:ext uri="{FF2B5EF4-FFF2-40B4-BE49-F238E27FC236}">
                <a16:creationId xmlns:a16="http://schemas.microsoft.com/office/drawing/2014/main" id="{E1CEE711-55FB-F236-31B5-708B28486085}"/>
              </a:ext>
            </a:extLst>
          </p:cNvPr>
          <p:cNvSpPr>
            <a:spLocks noGrp="1"/>
          </p:cNvSpPr>
          <p:nvPr>
            <p:ph type="title"/>
          </p:nvPr>
        </p:nvSpPr>
        <p:spPr>
          <a:xfrm>
            <a:off x="0" y="88429"/>
            <a:ext cx="10819699" cy="676275"/>
          </a:xfrm>
        </p:spPr>
        <p:txBody>
          <a:bodyPr>
            <a:noAutofit/>
          </a:bodyPr>
          <a:lstStyle/>
          <a:p>
            <a:r>
              <a:rPr lang="es-ES" sz="2000" dirty="0"/>
              <a:t>3.9 Gestión Climática</a:t>
            </a:r>
            <a:r>
              <a:rPr lang="es-PE" sz="2000" dirty="0"/>
              <a:t> – Riesgos Físicos: Objetivo 2025-2027: Resultados 1S2026 </a:t>
            </a:r>
            <a:endParaRPr lang="es-ES" sz="2000" dirty="0"/>
          </a:p>
        </p:txBody>
      </p:sp>
      <p:graphicFrame>
        <p:nvGraphicFramePr>
          <p:cNvPr id="8" name="Tabla 7">
            <a:extLst>
              <a:ext uri="{FF2B5EF4-FFF2-40B4-BE49-F238E27FC236}">
                <a16:creationId xmlns:a16="http://schemas.microsoft.com/office/drawing/2014/main" id="{49267F21-6693-F84C-5E4A-C0067C54935E}"/>
              </a:ext>
            </a:extLst>
          </p:cNvPr>
          <p:cNvGraphicFramePr>
            <a:graphicFrameLocks noGrp="1"/>
          </p:cNvGraphicFramePr>
          <p:nvPr/>
        </p:nvGraphicFramePr>
        <p:xfrm>
          <a:off x="6600056" y="1196752"/>
          <a:ext cx="4536505" cy="5071423"/>
        </p:xfrm>
        <a:graphic>
          <a:graphicData uri="http://schemas.openxmlformats.org/drawingml/2006/table">
            <a:tbl>
              <a:tblPr/>
              <a:tblGrid>
                <a:gridCol w="907301">
                  <a:extLst>
                    <a:ext uri="{9D8B030D-6E8A-4147-A177-3AD203B41FA5}">
                      <a16:colId xmlns:a16="http://schemas.microsoft.com/office/drawing/2014/main" val="2251275412"/>
                    </a:ext>
                  </a:extLst>
                </a:gridCol>
                <a:gridCol w="907301">
                  <a:extLst>
                    <a:ext uri="{9D8B030D-6E8A-4147-A177-3AD203B41FA5}">
                      <a16:colId xmlns:a16="http://schemas.microsoft.com/office/drawing/2014/main" val="2125903103"/>
                    </a:ext>
                  </a:extLst>
                </a:gridCol>
                <a:gridCol w="907301">
                  <a:extLst>
                    <a:ext uri="{9D8B030D-6E8A-4147-A177-3AD203B41FA5}">
                      <a16:colId xmlns:a16="http://schemas.microsoft.com/office/drawing/2014/main" val="1276875609"/>
                    </a:ext>
                  </a:extLst>
                </a:gridCol>
                <a:gridCol w="907301">
                  <a:extLst>
                    <a:ext uri="{9D8B030D-6E8A-4147-A177-3AD203B41FA5}">
                      <a16:colId xmlns:a16="http://schemas.microsoft.com/office/drawing/2014/main" val="1050930783"/>
                    </a:ext>
                  </a:extLst>
                </a:gridCol>
                <a:gridCol w="907301">
                  <a:extLst>
                    <a:ext uri="{9D8B030D-6E8A-4147-A177-3AD203B41FA5}">
                      <a16:colId xmlns:a16="http://schemas.microsoft.com/office/drawing/2014/main" val="1904003696"/>
                    </a:ext>
                  </a:extLst>
                </a:gridCol>
              </a:tblGrid>
              <a:tr h="114479">
                <a:tc gridSpan="5">
                  <a:txBody>
                    <a:bodyPr/>
                    <a:lstStyle/>
                    <a:p>
                      <a:pPr algn="ctr" rtl="0" fontAlgn="b">
                        <a:buNone/>
                      </a:pPr>
                      <a:r>
                        <a:rPr lang="es-PE" sz="700" b="1" i="0" u="none" strike="noStrike" dirty="0">
                          <a:solidFill>
                            <a:srgbClr val="1E2E6E"/>
                          </a:solidFill>
                          <a:effectLst/>
                          <a:latin typeface="Trebuchet MS" panose="020B0603020202020204" pitchFamily="34" charset="0"/>
                        </a:rPr>
                        <a:t>Nivel de Riesgo Global: Muy Bajo (1) hasta Muy Alto (5)</a:t>
                      </a:r>
                    </a:p>
                  </a:txBody>
                  <a:tcPr marL="4911" marR="4911" marT="491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41291840"/>
                  </a:ext>
                </a:extLst>
              </a:tr>
              <a:tr h="114479">
                <a:tc rowSpan="2">
                  <a:txBody>
                    <a:bodyPr/>
                    <a:lstStyle/>
                    <a:p>
                      <a:pPr algn="ctr" rtl="0" fontAlgn="ctr">
                        <a:buNone/>
                      </a:pPr>
                      <a:r>
                        <a:rPr lang="es-PE" sz="700" b="1" i="0" u="none" strike="noStrike">
                          <a:solidFill>
                            <a:srgbClr val="FFFFFF"/>
                          </a:solidFill>
                          <a:effectLst/>
                          <a:latin typeface="Trebuchet MS" panose="020B0603020202020204" pitchFamily="34" charset="0"/>
                        </a:rPr>
                        <a:t>Materiales - Cementeras</a:t>
                      </a:r>
                    </a:p>
                  </a:txBody>
                  <a:tcPr marL="4911" marR="4911" marT="491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a:solidFill>
                            <a:srgbClr val="FFFFFF"/>
                          </a:solidFill>
                          <a:effectLst/>
                          <a:latin typeface="Trebuchet MS" panose="020B0603020202020204" pitchFamily="34" charset="0"/>
                        </a:rPr>
                        <a:t>Score Global</a:t>
                      </a:r>
                    </a:p>
                  </a:txBody>
                  <a:tcPr marL="4911" marR="4911" marT="4911" marB="0" anchor="ctr">
                    <a:lnL>
                      <a:noFill/>
                    </a:lnL>
                    <a:lnR>
                      <a:noFill/>
                    </a:lnR>
                    <a:lnT w="6350" cap="flat" cmpd="sng" algn="ctr">
                      <a:solidFill>
                        <a:srgbClr val="00000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Mitigantes</a:t>
                      </a:r>
                    </a:p>
                  </a:txBody>
                  <a:tcPr marL="4911" marR="4911" marT="4911" marB="0" anchor="ctr">
                    <a:lnL>
                      <a:noFill/>
                    </a:lnL>
                    <a:lnR>
                      <a:noFill/>
                    </a:lnR>
                    <a:lnT w="6350" cap="flat" cmpd="sng" algn="ctr">
                      <a:solidFill>
                        <a:srgbClr val="00000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Mitigantes</a:t>
                      </a:r>
                    </a:p>
                  </a:txBody>
                  <a:tcPr marL="4911" marR="4911" marT="4911" marB="0" anchor="ctr">
                    <a:lnL>
                      <a:noFill/>
                    </a:lnL>
                    <a:lnR w="12700" cap="flat" cmpd="sng" algn="ctr">
                      <a:solidFill>
                        <a:srgbClr val="C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a:solidFill>
                            <a:srgbClr val="FFC000"/>
                          </a:solidFill>
                          <a:effectLst/>
                          <a:latin typeface="Trebuchet MS" panose="020B0603020202020204" pitchFamily="34" charset="0"/>
                        </a:rPr>
                        <a:t>Score Global Ajustado</a:t>
                      </a:r>
                    </a:p>
                  </a:txBody>
                  <a:tcPr marL="4911" marR="4911" marT="4911" marB="0" anchor="ctr">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558ED5"/>
                    </a:solidFill>
                  </a:tcPr>
                </a:tc>
                <a:extLst>
                  <a:ext uri="{0D108BD9-81ED-4DB2-BD59-A6C34878D82A}">
                    <a16:rowId xmlns:a16="http://schemas.microsoft.com/office/drawing/2014/main" val="3907085643"/>
                  </a:ext>
                </a:extLst>
              </a:tr>
              <a:tr h="114479">
                <a:tc vMerge="1">
                  <a:txBody>
                    <a:bodyPr/>
                    <a:lstStyle/>
                    <a:p>
                      <a:endParaRPr lang="es-PE"/>
                    </a:p>
                  </a:txBody>
                  <a:tcPr/>
                </a:tc>
                <a:tc vMerge="1">
                  <a:txBody>
                    <a:bodyPr/>
                    <a:lstStyle/>
                    <a:p>
                      <a:endParaRPr lang="es-PE"/>
                    </a:p>
                  </a:txBody>
                  <a:tcPr/>
                </a:tc>
                <a:tc>
                  <a:txBody>
                    <a:bodyPr/>
                    <a:lstStyle/>
                    <a:p>
                      <a:pPr algn="ctr" rtl="0" fontAlgn="ctr">
                        <a:buNone/>
                      </a:pPr>
                      <a:r>
                        <a:rPr lang="es-PE" sz="700" b="1" i="0" u="none" strike="noStrike">
                          <a:solidFill>
                            <a:srgbClr val="FFFFFF"/>
                          </a:solidFill>
                          <a:effectLst/>
                          <a:latin typeface="Trebuchet MS" panose="020B0603020202020204" pitchFamily="34" charset="0"/>
                        </a:rPr>
                        <a:t>Dic-25</a:t>
                      </a:r>
                    </a:p>
                  </a:txBody>
                  <a:tcPr marL="4911" marR="4911" marT="4911" marB="0" anchor="ctr">
                    <a:lnL>
                      <a:noFill/>
                    </a:lnL>
                    <a:lnR>
                      <a:noFill/>
                    </a:lnR>
                    <a:lnT>
                      <a:noFill/>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May-26</a:t>
                      </a:r>
                    </a:p>
                  </a:txBody>
                  <a:tcPr marL="4911" marR="4911" marT="4911" marB="0" anchor="ctr">
                    <a:lnL>
                      <a:noFill/>
                    </a:lnL>
                    <a:lnR w="12700" cap="flat" cmpd="sng" algn="ctr">
                      <a:solidFill>
                        <a:srgbClr val="C00000"/>
                      </a:solidFill>
                      <a:prstDash val="solid"/>
                      <a:round/>
                      <a:headEnd type="none" w="med" len="med"/>
                      <a:tailEnd type="none" w="med" len="med"/>
                    </a:lnR>
                    <a:lnT>
                      <a:noFill/>
                    </a:lnT>
                    <a:lnB>
                      <a:noFill/>
                    </a:lnB>
                    <a:solidFill>
                      <a:srgbClr val="558ED5"/>
                    </a:solidFill>
                  </a:tcPr>
                </a:tc>
                <a:tc vMerge="1">
                  <a:txBody>
                    <a:bodyPr/>
                    <a:lstStyle/>
                    <a:p>
                      <a:endParaRPr lang="es-PE"/>
                    </a:p>
                  </a:txBody>
                  <a:tcPr/>
                </a:tc>
                <a:extLst>
                  <a:ext uri="{0D108BD9-81ED-4DB2-BD59-A6C34878D82A}">
                    <a16:rowId xmlns:a16="http://schemas.microsoft.com/office/drawing/2014/main" val="3156242811"/>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Unacem</a:t>
                      </a:r>
                    </a:p>
                  </a:txBody>
                  <a:tcPr marL="4911" marR="4911" marT="491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3.2</a:t>
                      </a:r>
                    </a:p>
                  </a:txBody>
                  <a:tcPr marL="4911" marR="4911" marT="4911" marB="0" anchor="b">
                    <a:lnL>
                      <a:noFill/>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3.2</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DB57A"/>
                    </a:solidFill>
                  </a:tcPr>
                </a:tc>
                <a:extLst>
                  <a:ext uri="{0D108BD9-81ED-4DB2-BD59-A6C34878D82A}">
                    <a16:rowId xmlns:a16="http://schemas.microsoft.com/office/drawing/2014/main" val="1071293146"/>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Pacasmayo</a:t>
                      </a:r>
                    </a:p>
                  </a:txBody>
                  <a:tcPr marL="4911" marR="4911" marT="491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2.5</a:t>
                      </a:r>
                    </a:p>
                  </a:txBody>
                  <a:tcPr marL="4911" marR="4911" marT="4911"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Alto</a:t>
                      </a:r>
                    </a:p>
                  </a:txBody>
                  <a:tcPr marL="4911" marR="4911" marT="4911" marB="0" anchor="b">
                    <a:lnL>
                      <a:noFill/>
                    </a:lnL>
                    <a:lnR>
                      <a:noFill/>
                    </a:lnR>
                    <a:lnT>
                      <a:noFill/>
                    </a:lnT>
                    <a:lnB w="6350" cap="flat" cmpd="sng" algn="ctr">
                      <a:solidFill>
                        <a:srgbClr val="000000"/>
                      </a:solidFill>
                      <a:prstDash val="solid"/>
                      <a:round/>
                      <a:headEnd type="none" w="med" len="med"/>
                      <a:tailEnd type="none" w="med" len="med"/>
                    </a:lnB>
                    <a:solidFill>
                      <a:srgbClr val="92D050"/>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Alto</a:t>
                      </a:r>
                    </a:p>
                  </a:txBody>
                  <a:tcPr marL="4911" marR="4911" marT="4911" marB="0" anchor="b">
                    <a:lnL>
                      <a:noFill/>
                    </a:lnL>
                    <a:lnR w="12700" cap="flat" cmpd="sng" algn="ctr">
                      <a:solidFill>
                        <a:srgbClr val="C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92D050"/>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1.8</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4008968799"/>
                  </a:ext>
                </a:extLst>
              </a:tr>
              <a:tr h="177443">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dirty="0">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0846381"/>
                  </a:ext>
                </a:extLst>
              </a:tr>
              <a:tr h="114479">
                <a:tc rowSpan="2">
                  <a:txBody>
                    <a:bodyPr/>
                    <a:lstStyle/>
                    <a:p>
                      <a:pPr algn="ctr" rtl="0" fontAlgn="ctr">
                        <a:buNone/>
                      </a:pPr>
                      <a:r>
                        <a:rPr lang="es-PE" sz="700" b="1" i="0" u="none" strike="noStrike">
                          <a:solidFill>
                            <a:srgbClr val="FFFFFF"/>
                          </a:solidFill>
                          <a:effectLst/>
                          <a:latin typeface="Trebuchet MS" panose="020B0603020202020204" pitchFamily="34" charset="0"/>
                        </a:rPr>
                        <a:t>Materiales - Minería</a:t>
                      </a:r>
                    </a:p>
                  </a:txBody>
                  <a:tcPr marL="4911" marR="4911" marT="4911" marB="0" anchor="ctr">
                    <a:lnL w="6350" cap="flat" cmpd="sng" algn="ctr">
                      <a:solidFill>
                        <a:srgbClr val="808080"/>
                      </a:solidFill>
                      <a:prstDash val="solid"/>
                      <a:round/>
                      <a:headEnd type="none" w="med" len="med"/>
                      <a:tailEnd type="none" w="med" len="med"/>
                    </a:lnL>
                    <a:lnR>
                      <a:noFill/>
                    </a:lnR>
                    <a:lnT w="6350" cap="flat" cmpd="sng" algn="ctr">
                      <a:solidFill>
                        <a:srgbClr val="80808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a:solidFill>
                            <a:srgbClr val="FFFFFF"/>
                          </a:solidFill>
                          <a:effectLst/>
                          <a:latin typeface="Trebuchet MS" panose="020B0603020202020204" pitchFamily="34" charset="0"/>
                        </a:rPr>
                        <a:t>Score Global</a:t>
                      </a:r>
                    </a:p>
                  </a:txBody>
                  <a:tcPr marL="4911" marR="4911" marT="4911" marB="0" anchor="ctr">
                    <a:lnL>
                      <a:noFill/>
                    </a:lnL>
                    <a:lnR>
                      <a:noFill/>
                    </a:lnR>
                    <a:lnT w="6350" cap="flat" cmpd="sng" algn="ctr">
                      <a:solidFill>
                        <a:srgbClr val="80808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Mitigantes</a:t>
                      </a:r>
                    </a:p>
                  </a:txBody>
                  <a:tcPr marL="4911" marR="4911" marT="4911" marB="0" anchor="ctr">
                    <a:lnL>
                      <a:noFill/>
                    </a:lnL>
                    <a:lnR>
                      <a:noFill/>
                    </a:lnR>
                    <a:lnT w="6350" cap="flat" cmpd="sng" algn="ctr">
                      <a:solidFill>
                        <a:srgbClr val="80808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Mitigantes</a:t>
                      </a:r>
                    </a:p>
                  </a:txBody>
                  <a:tcPr marL="4911" marR="4911" marT="4911" marB="0" anchor="ctr">
                    <a:lnL>
                      <a:noFill/>
                    </a:lnL>
                    <a:lnR w="12700" cap="flat" cmpd="sng" algn="ctr">
                      <a:solidFill>
                        <a:srgbClr val="C0000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a:solidFill>
                            <a:srgbClr val="FFC000"/>
                          </a:solidFill>
                          <a:effectLst/>
                          <a:latin typeface="Trebuchet MS" panose="020B0603020202020204" pitchFamily="34" charset="0"/>
                        </a:rPr>
                        <a:t>Score Global Ajustado</a:t>
                      </a:r>
                    </a:p>
                  </a:txBody>
                  <a:tcPr marL="4911" marR="4911" marT="4911" marB="0" anchor="ctr">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558ED5"/>
                    </a:solidFill>
                  </a:tcPr>
                </a:tc>
                <a:extLst>
                  <a:ext uri="{0D108BD9-81ED-4DB2-BD59-A6C34878D82A}">
                    <a16:rowId xmlns:a16="http://schemas.microsoft.com/office/drawing/2014/main" val="4258665929"/>
                  </a:ext>
                </a:extLst>
              </a:tr>
              <a:tr h="114479">
                <a:tc vMerge="1">
                  <a:txBody>
                    <a:bodyPr/>
                    <a:lstStyle/>
                    <a:p>
                      <a:endParaRPr lang="es-PE"/>
                    </a:p>
                  </a:txBody>
                  <a:tcPr/>
                </a:tc>
                <a:tc vMerge="1">
                  <a:txBody>
                    <a:bodyPr/>
                    <a:lstStyle/>
                    <a:p>
                      <a:endParaRPr lang="es-PE"/>
                    </a:p>
                  </a:txBody>
                  <a:tcPr/>
                </a:tc>
                <a:tc>
                  <a:txBody>
                    <a:bodyPr/>
                    <a:lstStyle/>
                    <a:p>
                      <a:pPr algn="ctr" rtl="0" fontAlgn="ctr">
                        <a:buNone/>
                      </a:pPr>
                      <a:r>
                        <a:rPr lang="es-PE" sz="700" b="1" i="0" u="none" strike="noStrike">
                          <a:solidFill>
                            <a:srgbClr val="FFFFFF"/>
                          </a:solidFill>
                          <a:effectLst/>
                          <a:latin typeface="Trebuchet MS" panose="020B0603020202020204" pitchFamily="34" charset="0"/>
                        </a:rPr>
                        <a:t>Dic-25</a:t>
                      </a:r>
                    </a:p>
                  </a:txBody>
                  <a:tcPr marL="4911" marR="4911" marT="4911" marB="0" anchor="ctr">
                    <a:lnL>
                      <a:noFill/>
                    </a:lnL>
                    <a:lnR>
                      <a:noFill/>
                    </a:lnR>
                    <a:lnT>
                      <a:noFill/>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May-26</a:t>
                      </a:r>
                    </a:p>
                  </a:txBody>
                  <a:tcPr marL="4911" marR="4911" marT="4911" marB="0" anchor="ctr">
                    <a:lnL>
                      <a:noFill/>
                    </a:lnL>
                    <a:lnR w="6350" cap="flat" cmpd="sng" algn="ctr">
                      <a:solidFill>
                        <a:srgbClr val="808080"/>
                      </a:solidFill>
                      <a:prstDash val="solid"/>
                      <a:round/>
                      <a:headEnd type="none" w="med" len="med"/>
                      <a:tailEnd type="none" w="med" len="med"/>
                    </a:lnR>
                    <a:lnT>
                      <a:noFill/>
                    </a:lnT>
                    <a:lnB>
                      <a:noFill/>
                    </a:lnB>
                    <a:solidFill>
                      <a:srgbClr val="558ED5"/>
                    </a:solidFill>
                  </a:tcPr>
                </a:tc>
                <a:tc vMerge="1">
                  <a:txBody>
                    <a:bodyPr/>
                    <a:lstStyle/>
                    <a:p>
                      <a:endParaRPr lang="es-PE"/>
                    </a:p>
                  </a:txBody>
                  <a:tcPr/>
                </a:tc>
                <a:extLst>
                  <a:ext uri="{0D108BD9-81ED-4DB2-BD59-A6C34878D82A}">
                    <a16:rowId xmlns:a16="http://schemas.microsoft.com/office/drawing/2014/main" val="759937296"/>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Hochschild</a:t>
                      </a:r>
                    </a:p>
                  </a:txBody>
                  <a:tcPr marL="4911" marR="4911" marT="4911" marB="0" anchor="b">
                    <a:lnL w="6350" cap="flat" cmpd="sng" algn="ctr">
                      <a:solidFill>
                        <a:srgbClr val="808080"/>
                      </a:solidFill>
                      <a:prstDash val="solid"/>
                      <a:round/>
                      <a:headEnd type="none" w="med" len="med"/>
                      <a:tailEnd type="none" w="med" len="med"/>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4.0</a:t>
                      </a:r>
                    </a:p>
                  </a:txBody>
                  <a:tcPr marL="4911" marR="4911" marT="4911" marB="0" anchor="b">
                    <a:lnL>
                      <a:noFill/>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Alto</a:t>
                      </a:r>
                    </a:p>
                  </a:txBody>
                  <a:tcPr marL="4911" marR="4911" marT="4911" marB="0" anchor="b">
                    <a:lnL>
                      <a:noFill/>
                    </a:lnL>
                    <a:lnR>
                      <a:noFill/>
                    </a:lnR>
                    <a:lnT>
                      <a:noFill/>
                    </a:lnT>
                    <a:lnB>
                      <a:noFill/>
                    </a:lnB>
                    <a:solidFill>
                      <a:srgbClr val="92D050"/>
                    </a:solidFill>
                  </a:tcPr>
                </a:tc>
                <a:tc>
                  <a:txBody>
                    <a:bodyPr/>
                    <a:lstStyle/>
                    <a:p>
                      <a:pPr algn="ctr" rtl="0" fontAlgn="b">
                        <a:buNone/>
                      </a:pPr>
                      <a:r>
                        <a:rPr lang="es-PE" sz="700" b="0" i="0" u="none" strike="noStrike" dirty="0">
                          <a:solidFill>
                            <a:srgbClr val="1E2E6E"/>
                          </a:solidFill>
                          <a:effectLst/>
                          <a:latin typeface="Trebuchet MS" panose="020B0603020202020204" pitchFamily="34" charset="0"/>
                        </a:rPr>
                        <a:t>Alto</a:t>
                      </a:r>
                    </a:p>
                  </a:txBody>
                  <a:tcPr marL="4911" marR="4911" marT="4911" marB="0" anchor="b">
                    <a:lnL>
                      <a:noFill/>
                    </a:lnL>
                    <a:lnR w="12700" cap="flat" cmpd="sng" algn="ctr">
                      <a:solidFill>
                        <a:srgbClr val="C00000"/>
                      </a:solidFill>
                      <a:prstDash val="solid"/>
                      <a:round/>
                      <a:headEnd type="none" w="med" len="med"/>
                      <a:tailEnd type="none" w="med" len="med"/>
                    </a:lnR>
                    <a:lnT>
                      <a:noFill/>
                    </a:lnT>
                    <a:lnB>
                      <a:noFill/>
                    </a:lnB>
                    <a:solidFill>
                      <a:srgbClr val="92D050"/>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2.8</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CEFE3"/>
                    </a:solidFill>
                  </a:tcPr>
                </a:tc>
                <a:extLst>
                  <a:ext uri="{0D108BD9-81ED-4DB2-BD59-A6C34878D82A}">
                    <a16:rowId xmlns:a16="http://schemas.microsoft.com/office/drawing/2014/main" val="1735952854"/>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Volcan</a:t>
                      </a:r>
                    </a:p>
                  </a:txBody>
                  <a:tcPr marL="4911" marR="4911" marT="4911" marB="0" anchor="b">
                    <a:lnL w="6350" cap="flat" cmpd="sng" algn="ctr">
                      <a:solidFill>
                        <a:srgbClr val="808080"/>
                      </a:solidFill>
                      <a:prstDash val="solid"/>
                      <a:round/>
                      <a:headEnd type="none" w="med" len="med"/>
                      <a:tailEnd type="none" w="med" len="med"/>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3.0</a:t>
                      </a:r>
                    </a:p>
                  </a:txBody>
                  <a:tcPr marL="4911" marR="4911" marT="4911" marB="0" anchor="b">
                    <a:lnL>
                      <a:noFill/>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3.0</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9FAFC"/>
                    </a:solidFill>
                  </a:tcPr>
                </a:tc>
                <a:extLst>
                  <a:ext uri="{0D108BD9-81ED-4DB2-BD59-A6C34878D82A}">
                    <a16:rowId xmlns:a16="http://schemas.microsoft.com/office/drawing/2014/main" val="3571215655"/>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Minsur</a:t>
                      </a:r>
                    </a:p>
                  </a:txBody>
                  <a:tcPr marL="4911" marR="4911" marT="4911" marB="0" anchor="b">
                    <a:lnL w="6350" cap="flat" cmpd="sng" algn="ctr">
                      <a:solidFill>
                        <a:srgbClr val="808080"/>
                      </a:solidFill>
                      <a:prstDash val="solid"/>
                      <a:round/>
                      <a:headEnd type="none" w="med" len="med"/>
                      <a:tailEnd type="none" w="med" len="med"/>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3.3</a:t>
                      </a:r>
                    </a:p>
                  </a:txBody>
                  <a:tcPr marL="4911" marR="4911" marT="4911" marB="0" anchor="b">
                    <a:lnL>
                      <a:noFill/>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3.3</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AB3B5"/>
                    </a:solidFill>
                  </a:tcPr>
                </a:tc>
                <a:extLst>
                  <a:ext uri="{0D108BD9-81ED-4DB2-BD59-A6C34878D82A}">
                    <a16:rowId xmlns:a16="http://schemas.microsoft.com/office/drawing/2014/main" val="620477661"/>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Buenaventura</a:t>
                      </a:r>
                    </a:p>
                  </a:txBody>
                  <a:tcPr marL="4911" marR="4911" marT="4911" marB="0" anchor="b">
                    <a:lnL w="6350" cap="flat" cmpd="sng" algn="ctr">
                      <a:solidFill>
                        <a:srgbClr val="808080"/>
                      </a:solidFill>
                      <a:prstDash val="solid"/>
                      <a:round/>
                      <a:headEnd type="none" w="med" len="med"/>
                      <a:tailEnd type="none" w="med" len="med"/>
                    </a:lnL>
                    <a:lnR>
                      <a:noFill/>
                    </a:lnR>
                    <a:lnT>
                      <a:noFill/>
                    </a:lnT>
                    <a:lnB>
                      <a:noFill/>
                    </a:lnB>
                    <a:noFill/>
                  </a:tcPr>
                </a:tc>
                <a:tc>
                  <a:txBody>
                    <a:bodyPr/>
                    <a:lstStyle/>
                    <a:p>
                      <a:pPr algn="ctr" rtl="0" fontAlgn="b">
                        <a:buNone/>
                      </a:pPr>
                      <a:r>
                        <a:rPr lang="es-PE" sz="700" b="1" i="0" u="none" strike="noStrike">
                          <a:solidFill>
                            <a:srgbClr val="1E2E6E"/>
                          </a:solidFill>
                          <a:effectLst/>
                          <a:latin typeface="Trebuchet MS" panose="020B0603020202020204" pitchFamily="34" charset="0"/>
                        </a:rPr>
                        <a:t>3.5</a:t>
                      </a:r>
                    </a:p>
                  </a:txBody>
                  <a:tcPr marL="4911" marR="4911" marT="4911" marB="0" anchor="b">
                    <a:lnL>
                      <a:noFill/>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Alto</a:t>
                      </a:r>
                    </a:p>
                  </a:txBody>
                  <a:tcPr marL="4911" marR="4911" marT="4911" marB="0" anchor="b">
                    <a:lnL>
                      <a:noFill/>
                    </a:lnL>
                    <a:lnR>
                      <a:noFill/>
                    </a:lnR>
                    <a:lnT>
                      <a:noFill/>
                    </a:lnT>
                    <a:lnB>
                      <a:noFill/>
                    </a:lnB>
                    <a:solidFill>
                      <a:srgbClr val="92D050"/>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Alto</a:t>
                      </a:r>
                    </a:p>
                  </a:txBody>
                  <a:tcPr marL="4911" marR="4911" marT="4911" marB="0" anchor="b">
                    <a:lnL>
                      <a:noFill/>
                    </a:lnL>
                    <a:lnR w="12700" cap="flat" cmpd="sng" algn="ctr">
                      <a:solidFill>
                        <a:srgbClr val="C00000"/>
                      </a:solidFill>
                      <a:prstDash val="solid"/>
                      <a:round/>
                      <a:headEnd type="none" w="med" len="med"/>
                      <a:tailEnd type="none" w="med" len="med"/>
                    </a:lnR>
                    <a:lnT>
                      <a:noFill/>
                    </a:lnT>
                    <a:lnB>
                      <a:noFill/>
                    </a:lnB>
                    <a:solidFill>
                      <a:srgbClr val="92D050"/>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2.5</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AADBB8"/>
                    </a:solidFill>
                  </a:tcPr>
                </a:tc>
                <a:extLst>
                  <a:ext uri="{0D108BD9-81ED-4DB2-BD59-A6C34878D82A}">
                    <a16:rowId xmlns:a16="http://schemas.microsoft.com/office/drawing/2014/main" val="1656905184"/>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Nexa Perú</a:t>
                      </a:r>
                    </a:p>
                  </a:txBody>
                  <a:tcPr marL="4911" marR="4911" marT="4911" marB="0" anchor="b">
                    <a:lnL w="6350" cap="flat" cmpd="sng" algn="ctr">
                      <a:solidFill>
                        <a:srgbClr val="808080"/>
                      </a:solidFill>
                      <a:prstDash val="solid"/>
                      <a:round/>
                      <a:headEnd type="none" w="med" len="med"/>
                      <a:tailEnd type="none" w="med" len="med"/>
                    </a:lnL>
                    <a:lnR>
                      <a:noFill/>
                    </a:lnR>
                    <a:lnT>
                      <a:noFill/>
                    </a:lnT>
                    <a:lnB>
                      <a:noFill/>
                    </a:lnB>
                    <a:noFill/>
                  </a:tcPr>
                </a:tc>
                <a:tc>
                  <a:txBody>
                    <a:bodyPr/>
                    <a:lstStyle/>
                    <a:p>
                      <a:pPr algn="ctr" rtl="0" fontAlgn="b">
                        <a:buNone/>
                      </a:pPr>
                      <a:r>
                        <a:rPr lang="es-PE" sz="700" b="1" i="0" u="none" strike="noStrike">
                          <a:solidFill>
                            <a:srgbClr val="1E2E6E"/>
                          </a:solidFill>
                          <a:effectLst/>
                          <a:latin typeface="Trebuchet MS" panose="020B0603020202020204" pitchFamily="34" charset="0"/>
                        </a:rPr>
                        <a:t>3.0</a:t>
                      </a:r>
                    </a:p>
                  </a:txBody>
                  <a:tcPr marL="4911" marR="4911" marT="4911" marB="0" anchor="b">
                    <a:lnL>
                      <a:noFill/>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3.0</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CF9FC"/>
                    </a:solidFill>
                  </a:tcPr>
                </a:tc>
                <a:extLst>
                  <a:ext uri="{0D108BD9-81ED-4DB2-BD59-A6C34878D82A}">
                    <a16:rowId xmlns:a16="http://schemas.microsoft.com/office/drawing/2014/main" val="1695601921"/>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Hudbay</a:t>
                      </a:r>
                    </a:p>
                  </a:txBody>
                  <a:tcPr marL="4911" marR="4911" marT="4911" marB="0" anchor="b">
                    <a:lnL w="6350" cap="flat" cmpd="sng" algn="ctr">
                      <a:solidFill>
                        <a:srgbClr val="808080"/>
                      </a:solidFill>
                      <a:prstDash val="solid"/>
                      <a:round/>
                      <a:headEnd type="none" w="med" len="med"/>
                      <a:tailEnd type="none" w="med" len="med"/>
                    </a:lnL>
                    <a:lnR>
                      <a:noFill/>
                    </a:lnR>
                    <a:lnT>
                      <a:noFill/>
                    </a:lnT>
                    <a:lnB w="6350" cap="flat" cmpd="sng" algn="ctr">
                      <a:solidFill>
                        <a:srgbClr val="80808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2.7</a:t>
                      </a:r>
                    </a:p>
                  </a:txBody>
                  <a:tcPr marL="4911" marR="4911" marT="4911" marB="0" anchor="b">
                    <a:lnL>
                      <a:noFill/>
                    </a:lnL>
                    <a:lnR>
                      <a:noFill/>
                    </a:lnR>
                    <a:lnT>
                      <a:noFill/>
                    </a:lnT>
                    <a:lnB w="6350" cap="flat" cmpd="sng" algn="ctr">
                      <a:solidFill>
                        <a:srgbClr val="80808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w="6350" cap="flat" cmpd="sng" algn="ctr">
                      <a:solidFill>
                        <a:srgbClr val="808080"/>
                      </a:solidFill>
                      <a:prstDash val="solid"/>
                      <a:round/>
                      <a:headEnd type="none" w="med" len="med"/>
                      <a:tailEnd type="none" w="med" len="med"/>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w="6350" cap="flat" cmpd="sng" algn="ctr">
                      <a:solidFill>
                        <a:srgbClr val="808080"/>
                      </a:solidFill>
                      <a:prstDash val="solid"/>
                      <a:round/>
                      <a:headEnd type="none" w="med" len="med"/>
                      <a:tailEnd type="none" w="med" len="med"/>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2.7</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AE7D3"/>
                    </a:solidFill>
                  </a:tcPr>
                </a:tc>
                <a:extLst>
                  <a:ext uri="{0D108BD9-81ED-4DB2-BD59-A6C34878D82A}">
                    <a16:rowId xmlns:a16="http://schemas.microsoft.com/office/drawing/2014/main" val="4075916616"/>
                  </a:ext>
                </a:extLst>
              </a:tr>
              <a:tr h="177443">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dirty="0">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rtl="0" fontAlgn="b">
                        <a:buNone/>
                      </a:pPr>
                      <a:endParaRPr lang="es-PE" sz="700" b="0" i="0" u="none" strike="noStrike">
                        <a:solidFill>
                          <a:srgbClr val="1E2E6E"/>
                        </a:solidFill>
                        <a:effectLst/>
                        <a:latin typeface="Trebuchet MS" panose="020B0603020202020204" pitchFamily="34" charset="0"/>
                      </a:endParaRPr>
                    </a:p>
                  </a:txBody>
                  <a:tcPr marL="4911" marR="4911" marT="491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6526266"/>
                  </a:ext>
                </a:extLst>
              </a:tr>
              <a:tr h="114479">
                <a:tc rowSpan="2">
                  <a:txBody>
                    <a:bodyPr/>
                    <a:lstStyle/>
                    <a:p>
                      <a:pPr algn="ctr" rtl="0" fontAlgn="ctr">
                        <a:buNone/>
                      </a:pPr>
                      <a:r>
                        <a:rPr lang="es-PE" sz="700" b="1" i="0" u="none" strike="noStrike">
                          <a:solidFill>
                            <a:srgbClr val="FFFFFF"/>
                          </a:solidFill>
                          <a:effectLst/>
                          <a:latin typeface="Trebuchet MS" panose="020B0603020202020204" pitchFamily="34" charset="0"/>
                        </a:rPr>
                        <a:t>Utilities</a:t>
                      </a:r>
                    </a:p>
                  </a:txBody>
                  <a:tcPr marL="4911" marR="4911" marT="4911" marB="0" anchor="ctr">
                    <a:lnL w="6350" cap="flat" cmpd="sng" algn="ctr">
                      <a:solidFill>
                        <a:srgbClr val="808080"/>
                      </a:solidFill>
                      <a:prstDash val="solid"/>
                      <a:round/>
                      <a:headEnd type="none" w="med" len="med"/>
                      <a:tailEnd type="none" w="med" len="med"/>
                    </a:lnL>
                    <a:lnR>
                      <a:noFill/>
                    </a:lnR>
                    <a:lnT w="6350" cap="flat" cmpd="sng" algn="ctr">
                      <a:solidFill>
                        <a:srgbClr val="80808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a:solidFill>
                            <a:srgbClr val="FFFFFF"/>
                          </a:solidFill>
                          <a:effectLst/>
                          <a:latin typeface="Trebuchet MS" panose="020B0603020202020204" pitchFamily="34" charset="0"/>
                        </a:rPr>
                        <a:t>Score Global</a:t>
                      </a:r>
                    </a:p>
                  </a:txBody>
                  <a:tcPr marL="4911" marR="4911" marT="4911" marB="0" anchor="ctr">
                    <a:lnL>
                      <a:noFill/>
                    </a:lnL>
                    <a:lnR>
                      <a:noFill/>
                    </a:lnR>
                    <a:lnT w="6350" cap="flat" cmpd="sng" algn="ctr">
                      <a:solidFill>
                        <a:srgbClr val="80808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Mitigantes</a:t>
                      </a:r>
                    </a:p>
                  </a:txBody>
                  <a:tcPr marL="4911" marR="4911" marT="4911" marB="0" anchor="ctr">
                    <a:lnL>
                      <a:noFill/>
                    </a:lnL>
                    <a:lnR>
                      <a:noFill/>
                    </a:lnR>
                    <a:lnT w="6350" cap="flat" cmpd="sng" algn="ctr">
                      <a:solidFill>
                        <a:srgbClr val="80808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Mitigantes</a:t>
                      </a:r>
                    </a:p>
                  </a:txBody>
                  <a:tcPr marL="4911" marR="4911" marT="4911" marB="0" anchor="ctr">
                    <a:lnL>
                      <a:noFill/>
                    </a:lnL>
                    <a:lnR w="12700" cap="flat" cmpd="sng" algn="ctr">
                      <a:solidFill>
                        <a:srgbClr val="C0000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a:solidFill>
                            <a:srgbClr val="FFC000"/>
                          </a:solidFill>
                          <a:effectLst/>
                          <a:latin typeface="Trebuchet MS" panose="020B0603020202020204" pitchFamily="34" charset="0"/>
                        </a:rPr>
                        <a:t>Score Global Ajustado</a:t>
                      </a:r>
                    </a:p>
                  </a:txBody>
                  <a:tcPr marL="4911" marR="4911" marT="4911" marB="0" anchor="ctr">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558ED5"/>
                    </a:solidFill>
                  </a:tcPr>
                </a:tc>
                <a:extLst>
                  <a:ext uri="{0D108BD9-81ED-4DB2-BD59-A6C34878D82A}">
                    <a16:rowId xmlns:a16="http://schemas.microsoft.com/office/drawing/2014/main" val="3070026782"/>
                  </a:ext>
                </a:extLst>
              </a:tr>
              <a:tr h="114479">
                <a:tc vMerge="1">
                  <a:txBody>
                    <a:bodyPr/>
                    <a:lstStyle/>
                    <a:p>
                      <a:endParaRPr lang="es-PE"/>
                    </a:p>
                  </a:txBody>
                  <a:tcPr/>
                </a:tc>
                <a:tc vMerge="1">
                  <a:txBody>
                    <a:bodyPr/>
                    <a:lstStyle/>
                    <a:p>
                      <a:endParaRPr lang="es-PE"/>
                    </a:p>
                  </a:txBody>
                  <a:tcPr/>
                </a:tc>
                <a:tc>
                  <a:txBody>
                    <a:bodyPr/>
                    <a:lstStyle/>
                    <a:p>
                      <a:pPr algn="ctr" rtl="0" fontAlgn="ctr">
                        <a:buNone/>
                      </a:pPr>
                      <a:r>
                        <a:rPr lang="es-PE" sz="700" b="1" i="0" u="none" strike="noStrike">
                          <a:solidFill>
                            <a:srgbClr val="FFFFFF"/>
                          </a:solidFill>
                          <a:effectLst/>
                          <a:latin typeface="Trebuchet MS" panose="020B0603020202020204" pitchFamily="34" charset="0"/>
                        </a:rPr>
                        <a:t>Dic-25</a:t>
                      </a:r>
                    </a:p>
                  </a:txBody>
                  <a:tcPr marL="4911" marR="4911" marT="4911" marB="0" anchor="ctr">
                    <a:lnL>
                      <a:noFill/>
                    </a:lnL>
                    <a:lnR>
                      <a:noFill/>
                    </a:lnR>
                    <a:lnT>
                      <a:noFill/>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May-26</a:t>
                      </a:r>
                    </a:p>
                  </a:txBody>
                  <a:tcPr marL="4911" marR="4911" marT="4911" marB="0" anchor="ctr">
                    <a:lnL>
                      <a:noFill/>
                    </a:lnL>
                    <a:lnR w="6350" cap="flat" cmpd="sng" algn="ctr">
                      <a:solidFill>
                        <a:srgbClr val="808080"/>
                      </a:solidFill>
                      <a:prstDash val="solid"/>
                      <a:round/>
                      <a:headEnd type="none" w="med" len="med"/>
                      <a:tailEnd type="none" w="med" len="med"/>
                    </a:lnR>
                    <a:lnT>
                      <a:noFill/>
                    </a:lnT>
                    <a:lnB>
                      <a:noFill/>
                    </a:lnB>
                    <a:solidFill>
                      <a:srgbClr val="558ED5"/>
                    </a:solidFill>
                  </a:tcPr>
                </a:tc>
                <a:tc vMerge="1">
                  <a:txBody>
                    <a:bodyPr/>
                    <a:lstStyle/>
                    <a:p>
                      <a:endParaRPr lang="es-PE"/>
                    </a:p>
                  </a:txBody>
                  <a:tcPr/>
                </a:tc>
                <a:extLst>
                  <a:ext uri="{0D108BD9-81ED-4DB2-BD59-A6C34878D82A}">
                    <a16:rowId xmlns:a16="http://schemas.microsoft.com/office/drawing/2014/main" val="3333229992"/>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Engie</a:t>
                      </a:r>
                    </a:p>
                  </a:txBody>
                  <a:tcPr marL="4911" marR="4911" marT="4911" marB="0" anchor="b">
                    <a:lnL w="6350" cap="flat" cmpd="sng" algn="ctr">
                      <a:solidFill>
                        <a:srgbClr val="808080"/>
                      </a:solidFill>
                      <a:prstDash val="solid"/>
                      <a:round/>
                      <a:headEnd type="none" w="med" len="med"/>
                      <a:tailEnd type="none" w="med" len="med"/>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3.2</a:t>
                      </a:r>
                    </a:p>
                  </a:txBody>
                  <a:tcPr marL="4911" marR="4911" marT="4911" marB="0" anchor="b">
                    <a:lnL>
                      <a:noFill/>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3.2</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BBFC2"/>
                    </a:solidFill>
                  </a:tcPr>
                </a:tc>
                <a:extLst>
                  <a:ext uri="{0D108BD9-81ED-4DB2-BD59-A6C34878D82A}">
                    <a16:rowId xmlns:a16="http://schemas.microsoft.com/office/drawing/2014/main" val="3066335027"/>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Pluz Energía</a:t>
                      </a:r>
                    </a:p>
                  </a:txBody>
                  <a:tcPr marL="4911" marR="4911" marT="4911" marB="0" anchor="b">
                    <a:lnL w="6350" cap="flat" cmpd="sng" algn="ctr">
                      <a:solidFill>
                        <a:srgbClr val="808080"/>
                      </a:solidFill>
                      <a:prstDash val="solid"/>
                      <a:round/>
                      <a:headEnd type="none" w="med" len="med"/>
                      <a:tailEnd type="none" w="med" len="med"/>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3.3</a:t>
                      </a:r>
                    </a:p>
                  </a:txBody>
                  <a:tcPr marL="4911" marR="4911" marT="4911" marB="0" anchor="b">
                    <a:lnL>
                      <a:noFill/>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3.3</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AADAF"/>
                    </a:solidFill>
                  </a:tcPr>
                </a:tc>
                <a:extLst>
                  <a:ext uri="{0D108BD9-81ED-4DB2-BD59-A6C34878D82A}">
                    <a16:rowId xmlns:a16="http://schemas.microsoft.com/office/drawing/2014/main" val="1156630166"/>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Orygen</a:t>
                      </a:r>
                    </a:p>
                  </a:txBody>
                  <a:tcPr marL="4911" marR="4911" marT="4911" marB="0" anchor="b">
                    <a:lnL w="6350" cap="flat" cmpd="sng" algn="ctr">
                      <a:solidFill>
                        <a:srgbClr val="808080"/>
                      </a:solidFill>
                      <a:prstDash val="solid"/>
                      <a:round/>
                      <a:headEnd type="none" w="med" len="med"/>
                      <a:tailEnd type="none" w="med" len="med"/>
                    </a:lnL>
                    <a:lnR>
                      <a:noFill/>
                    </a:lnR>
                    <a:lnT>
                      <a:noFill/>
                    </a:lnT>
                    <a:lnB w="6350" cap="flat" cmpd="sng" algn="ctr">
                      <a:solidFill>
                        <a:srgbClr val="80808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3.3</a:t>
                      </a:r>
                    </a:p>
                  </a:txBody>
                  <a:tcPr marL="4911" marR="4911" marT="4911" marB="0" anchor="b">
                    <a:lnL>
                      <a:noFill/>
                    </a:lnL>
                    <a:lnR>
                      <a:noFill/>
                    </a:lnR>
                    <a:lnT>
                      <a:noFill/>
                    </a:lnT>
                    <a:lnB w="6350" cap="flat" cmpd="sng" algn="ctr">
                      <a:solidFill>
                        <a:srgbClr val="80808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w="6350" cap="flat" cmpd="sng" algn="ctr">
                      <a:solidFill>
                        <a:srgbClr val="808080"/>
                      </a:solidFill>
                      <a:prstDash val="solid"/>
                      <a:round/>
                      <a:headEnd type="none" w="med" len="med"/>
                      <a:tailEnd type="none" w="med" len="med"/>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w="6350" cap="flat" cmpd="sng" algn="ctr">
                      <a:solidFill>
                        <a:srgbClr val="808080"/>
                      </a:solidFill>
                      <a:prstDash val="solid"/>
                      <a:round/>
                      <a:headEnd type="none" w="med" len="med"/>
                      <a:tailEnd type="none" w="med" len="med"/>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3.3</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A9EA0"/>
                    </a:solidFill>
                  </a:tcPr>
                </a:tc>
                <a:extLst>
                  <a:ext uri="{0D108BD9-81ED-4DB2-BD59-A6C34878D82A}">
                    <a16:rowId xmlns:a16="http://schemas.microsoft.com/office/drawing/2014/main" val="2253767213"/>
                  </a:ext>
                </a:extLst>
              </a:tr>
              <a:tr h="177443">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dirty="0">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rtl="0" fontAlgn="b">
                        <a:buNone/>
                      </a:pPr>
                      <a:endParaRPr lang="es-PE" sz="700" b="0" i="0" u="none" strike="noStrike">
                        <a:solidFill>
                          <a:srgbClr val="1E2E6E"/>
                        </a:solidFill>
                        <a:effectLst/>
                        <a:latin typeface="Trebuchet MS" panose="020B0603020202020204" pitchFamily="34" charset="0"/>
                      </a:endParaRPr>
                    </a:p>
                  </a:txBody>
                  <a:tcPr marL="4911" marR="4911" marT="491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7057025"/>
                  </a:ext>
                </a:extLst>
              </a:tr>
              <a:tr h="114479">
                <a:tc rowSpan="2">
                  <a:txBody>
                    <a:bodyPr/>
                    <a:lstStyle/>
                    <a:p>
                      <a:pPr algn="ctr" rtl="0" fontAlgn="ctr">
                        <a:buNone/>
                      </a:pPr>
                      <a:r>
                        <a:rPr lang="es-PE" sz="700" b="1" i="0" u="none" strike="noStrike">
                          <a:solidFill>
                            <a:srgbClr val="FFFFFF"/>
                          </a:solidFill>
                          <a:effectLst/>
                          <a:latin typeface="Trebuchet MS" panose="020B0603020202020204" pitchFamily="34" charset="0"/>
                        </a:rPr>
                        <a:t>Industriales</a:t>
                      </a:r>
                    </a:p>
                  </a:txBody>
                  <a:tcPr marL="4911" marR="4911" marT="4911" marB="0" anchor="ctr">
                    <a:lnL w="6350" cap="flat" cmpd="sng" algn="ctr">
                      <a:solidFill>
                        <a:srgbClr val="808080"/>
                      </a:solidFill>
                      <a:prstDash val="solid"/>
                      <a:round/>
                      <a:headEnd type="none" w="med" len="med"/>
                      <a:tailEnd type="none" w="med" len="med"/>
                    </a:lnL>
                    <a:lnR>
                      <a:noFill/>
                    </a:lnR>
                    <a:lnT w="6350" cap="flat" cmpd="sng" algn="ctr">
                      <a:solidFill>
                        <a:srgbClr val="80808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a:solidFill>
                            <a:srgbClr val="FFFFFF"/>
                          </a:solidFill>
                          <a:effectLst/>
                          <a:latin typeface="Trebuchet MS" panose="020B0603020202020204" pitchFamily="34" charset="0"/>
                        </a:rPr>
                        <a:t>Score Global</a:t>
                      </a:r>
                    </a:p>
                  </a:txBody>
                  <a:tcPr marL="4911" marR="4911" marT="4911" marB="0" anchor="ctr">
                    <a:lnL>
                      <a:noFill/>
                    </a:lnL>
                    <a:lnR>
                      <a:noFill/>
                    </a:lnR>
                    <a:lnT w="6350" cap="flat" cmpd="sng" algn="ctr">
                      <a:solidFill>
                        <a:srgbClr val="80808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Mitigantes</a:t>
                      </a:r>
                    </a:p>
                  </a:txBody>
                  <a:tcPr marL="4911" marR="4911" marT="4911" marB="0" anchor="ctr">
                    <a:lnL>
                      <a:noFill/>
                    </a:lnL>
                    <a:lnR>
                      <a:noFill/>
                    </a:lnR>
                    <a:lnT w="6350" cap="flat" cmpd="sng" algn="ctr">
                      <a:solidFill>
                        <a:srgbClr val="80808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Mitigantes</a:t>
                      </a:r>
                    </a:p>
                  </a:txBody>
                  <a:tcPr marL="4911" marR="4911" marT="4911" marB="0" anchor="ctr">
                    <a:lnL>
                      <a:noFill/>
                    </a:lnL>
                    <a:lnR w="12700" cap="flat" cmpd="sng" algn="ctr">
                      <a:solidFill>
                        <a:srgbClr val="C0000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a:solidFill>
                            <a:srgbClr val="FFC000"/>
                          </a:solidFill>
                          <a:effectLst/>
                          <a:latin typeface="Trebuchet MS" panose="020B0603020202020204" pitchFamily="34" charset="0"/>
                        </a:rPr>
                        <a:t>Score Global Ajustado</a:t>
                      </a:r>
                    </a:p>
                  </a:txBody>
                  <a:tcPr marL="4911" marR="4911" marT="4911" marB="0" anchor="ctr">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558ED5"/>
                    </a:solidFill>
                  </a:tcPr>
                </a:tc>
                <a:extLst>
                  <a:ext uri="{0D108BD9-81ED-4DB2-BD59-A6C34878D82A}">
                    <a16:rowId xmlns:a16="http://schemas.microsoft.com/office/drawing/2014/main" val="3701640916"/>
                  </a:ext>
                </a:extLst>
              </a:tr>
              <a:tr h="114479">
                <a:tc vMerge="1">
                  <a:txBody>
                    <a:bodyPr/>
                    <a:lstStyle/>
                    <a:p>
                      <a:endParaRPr lang="es-PE"/>
                    </a:p>
                  </a:txBody>
                  <a:tcPr/>
                </a:tc>
                <a:tc vMerge="1">
                  <a:txBody>
                    <a:bodyPr/>
                    <a:lstStyle/>
                    <a:p>
                      <a:endParaRPr lang="es-PE"/>
                    </a:p>
                  </a:txBody>
                  <a:tcPr/>
                </a:tc>
                <a:tc>
                  <a:txBody>
                    <a:bodyPr/>
                    <a:lstStyle/>
                    <a:p>
                      <a:pPr algn="ctr" rtl="0" fontAlgn="ctr">
                        <a:buNone/>
                      </a:pPr>
                      <a:r>
                        <a:rPr lang="es-PE" sz="700" b="1" i="0" u="none" strike="noStrike">
                          <a:solidFill>
                            <a:srgbClr val="FFFFFF"/>
                          </a:solidFill>
                          <a:effectLst/>
                          <a:latin typeface="Trebuchet MS" panose="020B0603020202020204" pitchFamily="34" charset="0"/>
                        </a:rPr>
                        <a:t>Dic-25</a:t>
                      </a:r>
                    </a:p>
                  </a:txBody>
                  <a:tcPr marL="4911" marR="4911" marT="4911" marB="0" anchor="ctr">
                    <a:lnL>
                      <a:noFill/>
                    </a:lnL>
                    <a:lnR>
                      <a:noFill/>
                    </a:lnR>
                    <a:lnT>
                      <a:noFill/>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May-26</a:t>
                      </a:r>
                    </a:p>
                  </a:txBody>
                  <a:tcPr marL="4911" marR="4911" marT="4911" marB="0" anchor="ctr">
                    <a:lnL>
                      <a:noFill/>
                    </a:lnL>
                    <a:lnR w="6350" cap="flat" cmpd="sng" algn="ctr">
                      <a:solidFill>
                        <a:srgbClr val="808080"/>
                      </a:solidFill>
                      <a:prstDash val="solid"/>
                      <a:round/>
                      <a:headEnd type="none" w="med" len="med"/>
                      <a:tailEnd type="none" w="med" len="med"/>
                    </a:lnR>
                    <a:lnT>
                      <a:noFill/>
                    </a:lnT>
                    <a:lnB>
                      <a:noFill/>
                    </a:lnB>
                    <a:solidFill>
                      <a:srgbClr val="558ED5"/>
                    </a:solidFill>
                  </a:tcPr>
                </a:tc>
                <a:tc vMerge="1">
                  <a:txBody>
                    <a:bodyPr/>
                    <a:lstStyle/>
                    <a:p>
                      <a:endParaRPr lang="es-PE"/>
                    </a:p>
                  </a:txBody>
                  <a:tcPr/>
                </a:tc>
                <a:extLst>
                  <a:ext uri="{0D108BD9-81ED-4DB2-BD59-A6C34878D82A}">
                    <a16:rowId xmlns:a16="http://schemas.microsoft.com/office/drawing/2014/main" val="1745713716"/>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Aenza </a:t>
                      </a:r>
                    </a:p>
                  </a:txBody>
                  <a:tcPr marL="4911" marR="4911" marT="4911" marB="0" anchor="b">
                    <a:lnL w="6350" cap="flat" cmpd="sng" algn="ctr">
                      <a:solidFill>
                        <a:srgbClr val="808080"/>
                      </a:solidFill>
                      <a:prstDash val="solid"/>
                      <a:round/>
                      <a:headEnd type="none" w="med" len="med"/>
                      <a:tailEnd type="none" w="med" len="med"/>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3.3</a:t>
                      </a:r>
                    </a:p>
                  </a:txBody>
                  <a:tcPr marL="4911" marR="4911" marT="4911" marB="0" anchor="b">
                    <a:lnL>
                      <a:noFill/>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3.3</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AB0B2"/>
                    </a:solidFill>
                  </a:tcPr>
                </a:tc>
                <a:extLst>
                  <a:ext uri="{0D108BD9-81ED-4DB2-BD59-A6C34878D82A}">
                    <a16:rowId xmlns:a16="http://schemas.microsoft.com/office/drawing/2014/main" val="3876499478"/>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Ferreycorp</a:t>
                      </a:r>
                    </a:p>
                  </a:txBody>
                  <a:tcPr marL="4911" marR="4911" marT="4911" marB="0" anchor="b">
                    <a:lnL w="6350" cap="flat" cmpd="sng" algn="ctr">
                      <a:solidFill>
                        <a:srgbClr val="808080"/>
                      </a:solidFill>
                      <a:prstDash val="solid"/>
                      <a:round/>
                      <a:headEnd type="none" w="med" len="med"/>
                      <a:tailEnd type="none" w="med" len="med"/>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3.2</a:t>
                      </a:r>
                    </a:p>
                  </a:txBody>
                  <a:tcPr marL="4911" marR="4911" marT="4911" marB="0" anchor="b">
                    <a:lnL>
                      <a:noFill/>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a:noFill/>
                    </a:lnB>
                    <a:solidFill>
                      <a:srgbClr val="D99694"/>
                    </a:solidFill>
                  </a:tcPr>
                </a:tc>
                <a:tc>
                  <a:txBody>
                    <a:bodyPr/>
                    <a:lstStyle/>
                    <a:p>
                      <a:pPr algn="ctr" rtl="0" fontAlgn="b">
                        <a:buNone/>
                      </a:pPr>
                      <a:r>
                        <a:rPr lang="es-PE" sz="700" b="0" i="0" u="none" strike="noStrike" dirty="0">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3.2</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BC8CB"/>
                    </a:solidFill>
                  </a:tcPr>
                </a:tc>
                <a:extLst>
                  <a:ext uri="{0D108BD9-81ED-4DB2-BD59-A6C34878D82A}">
                    <a16:rowId xmlns:a16="http://schemas.microsoft.com/office/drawing/2014/main" val="3643562129"/>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Puerto Chancay</a:t>
                      </a:r>
                    </a:p>
                  </a:txBody>
                  <a:tcPr marL="4911" marR="4911" marT="491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3.5</a:t>
                      </a:r>
                    </a:p>
                  </a:txBody>
                  <a:tcPr marL="4911" marR="4911" marT="4911"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w="6350" cap="flat" cmpd="sng" algn="ctr">
                      <a:solidFill>
                        <a:srgbClr val="000000"/>
                      </a:solidFill>
                      <a:prstDash val="solid"/>
                      <a:round/>
                      <a:headEnd type="none" w="med" len="med"/>
                      <a:tailEnd type="none" w="med" len="med"/>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3.5</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8696B"/>
                    </a:solidFill>
                  </a:tcPr>
                </a:tc>
                <a:extLst>
                  <a:ext uri="{0D108BD9-81ED-4DB2-BD59-A6C34878D82A}">
                    <a16:rowId xmlns:a16="http://schemas.microsoft.com/office/drawing/2014/main" val="3365259528"/>
                  </a:ext>
                </a:extLst>
              </a:tr>
              <a:tr h="177443">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rtl="0" fontAlgn="b">
                        <a:buNone/>
                      </a:pPr>
                      <a:endParaRPr lang="es-PE" sz="700" b="0" i="0" u="none" strike="noStrike">
                        <a:solidFill>
                          <a:srgbClr val="1E2E6E"/>
                        </a:solidFill>
                        <a:effectLst/>
                        <a:latin typeface="Trebuchet MS" panose="020B0603020202020204" pitchFamily="34" charset="0"/>
                      </a:endParaRPr>
                    </a:p>
                  </a:txBody>
                  <a:tcPr marL="4911" marR="4911" marT="491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9693734"/>
                  </a:ext>
                </a:extLst>
              </a:tr>
              <a:tr h="114479">
                <a:tc rowSpan="2">
                  <a:txBody>
                    <a:bodyPr/>
                    <a:lstStyle/>
                    <a:p>
                      <a:pPr algn="ctr" rtl="0" fontAlgn="ctr">
                        <a:buNone/>
                      </a:pPr>
                      <a:r>
                        <a:rPr lang="es-PE" sz="700" b="1" i="0" u="none" strike="noStrike">
                          <a:solidFill>
                            <a:srgbClr val="FFFFFF"/>
                          </a:solidFill>
                          <a:effectLst/>
                          <a:latin typeface="Trebuchet MS" panose="020B0603020202020204" pitchFamily="34" charset="0"/>
                        </a:rPr>
                        <a:t>Consumo No Discrecional</a:t>
                      </a:r>
                    </a:p>
                  </a:txBody>
                  <a:tcPr marL="4911" marR="4911" marT="4911" marB="0" anchor="ctr">
                    <a:lnL w="6350" cap="flat" cmpd="sng" algn="ctr">
                      <a:solidFill>
                        <a:srgbClr val="808080"/>
                      </a:solidFill>
                      <a:prstDash val="solid"/>
                      <a:round/>
                      <a:headEnd type="none" w="med" len="med"/>
                      <a:tailEnd type="none" w="med" len="med"/>
                    </a:lnL>
                    <a:lnR>
                      <a:noFill/>
                    </a:lnR>
                    <a:lnT w="6350" cap="flat" cmpd="sng" algn="ctr">
                      <a:solidFill>
                        <a:srgbClr val="80808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a:solidFill>
                            <a:srgbClr val="FFFFFF"/>
                          </a:solidFill>
                          <a:effectLst/>
                          <a:latin typeface="Trebuchet MS" panose="020B0603020202020204" pitchFamily="34" charset="0"/>
                        </a:rPr>
                        <a:t>Score Global</a:t>
                      </a:r>
                    </a:p>
                  </a:txBody>
                  <a:tcPr marL="4911" marR="4911" marT="4911" marB="0" anchor="ctr">
                    <a:lnL>
                      <a:noFill/>
                    </a:lnL>
                    <a:lnR>
                      <a:noFill/>
                    </a:lnR>
                    <a:lnT w="6350" cap="flat" cmpd="sng" algn="ctr">
                      <a:solidFill>
                        <a:srgbClr val="80808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Mitigantes</a:t>
                      </a:r>
                    </a:p>
                  </a:txBody>
                  <a:tcPr marL="4911" marR="4911" marT="4911" marB="0" anchor="ctr">
                    <a:lnL>
                      <a:noFill/>
                    </a:lnL>
                    <a:lnR>
                      <a:noFill/>
                    </a:lnR>
                    <a:lnT w="6350" cap="flat" cmpd="sng" algn="ctr">
                      <a:solidFill>
                        <a:srgbClr val="80808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Mitigantes</a:t>
                      </a:r>
                    </a:p>
                  </a:txBody>
                  <a:tcPr marL="4911" marR="4911" marT="4911" marB="0" anchor="ctr">
                    <a:lnL>
                      <a:noFill/>
                    </a:lnL>
                    <a:lnR w="12700" cap="flat" cmpd="sng" algn="ctr">
                      <a:solidFill>
                        <a:srgbClr val="C0000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a:solidFill>
                            <a:srgbClr val="FFC000"/>
                          </a:solidFill>
                          <a:effectLst/>
                          <a:latin typeface="Trebuchet MS" panose="020B0603020202020204" pitchFamily="34" charset="0"/>
                        </a:rPr>
                        <a:t>Score Global Ajustado</a:t>
                      </a:r>
                    </a:p>
                  </a:txBody>
                  <a:tcPr marL="4911" marR="4911" marT="4911" marB="0" anchor="ctr">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558ED5"/>
                    </a:solidFill>
                  </a:tcPr>
                </a:tc>
                <a:extLst>
                  <a:ext uri="{0D108BD9-81ED-4DB2-BD59-A6C34878D82A}">
                    <a16:rowId xmlns:a16="http://schemas.microsoft.com/office/drawing/2014/main" val="3756700620"/>
                  </a:ext>
                </a:extLst>
              </a:tr>
              <a:tr h="114479">
                <a:tc vMerge="1">
                  <a:txBody>
                    <a:bodyPr/>
                    <a:lstStyle/>
                    <a:p>
                      <a:endParaRPr lang="es-PE"/>
                    </a:p>
                  </a:txBody>
                  <a:tcPr/>
                </a:tc>
                <a:tc vMerge="1">
                  <a:txBody>
                    <a:bodyPr/>
                    <a:lstStyle/>
                    <a:p>
                      <a:endParaRPr lang="es-PE"/>
                    </a:p>
                  </a:txBody>
                  <a:tcPr/>
                </a:tc>
                <a:tc>
                  <a:txBody>
                    <a:bodyPr/>
                    <a:lstStyle/>
                    <a:p>
                      <a:pPr algn="ctr" rtl="0" fontAlgn="ctr">
                        <a:buNone/>
                      </a:pPr>
                      <a:r>
                        <a:rPr lang="es-PE" sz="700" b="1" i="0" u="none" strike="noStrike">
                          <a:solidFill>
                            <a:srgbClr val="FFFFFF"/>
                          </a:solidFill>
                          <a:effectLst/>
                          <a:latin typeface="Trebuchet MS" panose="020B0603020202020204" pitchFamily="34" charset="0"/>
                        </a:rPr>
                        <a:t>Dic-25</a:t>
                      </a:r>
                    </a:p>
                  </a:txBody>
                  <a:tcPr marL="4911" marR="4911" marT="4911" marB="0" anchor="ctr">
                    <a:lnL>
                      <a:noFill/>
                    </a:lnL>
                    <a:lnR>
                      <a:noFill/>
                    </a:lnR>
                    <a:lnT>
                      <a:noFill/>
                    </a:lnT>
                    <a:lnB>
                      <a:noFill/>
                    </a:lnB>
                    <a:solidFill>
                      <a:srgbClr val="558ED5"/>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May-26</a:t>
                      </a:r>
                    </a:p>
                  </a:txBody>
                  <a:tcPr marL="4911" marR="4911" marT="4911" marB="0" anchor="ctr">
                    <a:lnL>
                      <a:noFill/>
                    </a:lnL>
                    <a:lnR w="6350" cap="flat" cmpd="sng" algn="ctr">
                      <a:solidFill>
                        <a:srgbClr val="808080"/>
                      </a:solidFill>
                      <a:prstDash val="solid"/>
                      <a:round/>
                      <a:headEnd type="none" w="med" len="med"/>
                      <a:tailEnd type="none" w="med" len="med"/>
                    </a:lnR>
                    <a:lnT>
                      <a:noFill/>
                    </a:lnT>
                    <a:lnB>
                      <a:noFill/>
                    </a:lnB>
                    <a:solidFill>
                      <a:srgbClr val="558ED5"/>
                    </a:solidFill>
                  </a:tcPr>
                </a:tc>
                <a:tc vMerge="1">
                  <a:txBody>
                    <a:bodyPr/>
                    <a:lstStyle/>
                    <a:p>
                      <a:endParaRPr lang="es-PE"/>
                    </a:p>
                  </a:txBody>
                  <a:tcPr/>
                </a:tc>
                <a:extLst>
                  <a:ext uri="{0D108BD9-81ED-4DB2-BD59-A6C34878D82A}">
                    <a16:rowId xmlns:a16="http://schemas.microsoft.com/office/drawing/2014/main" val="2477147521"/>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InRetail Peru</a:t>
                      </a:r>
                    </a:p>
                  </a:txBody>
                  <a:tcPr marL="4911" marR="4911" marT="4911" marB="0" anchor="b">
                    <a:lnL w="6350" cap="flat" cmpd="sng" algn="ctr">
                      <a:solidFill>
                        <a:srgbClr val="808080"/>
                      </a:solidFill>
                      <a:prstDash val="solid"/>
                      <a:round/>
                      <a:headEnd type="none" w="med" len="med"/>
                      <a:tailEnd type="none" w="med" len="med"/>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3.0</a:t>
                      </a:r>
                    </a:p>
                  </a:txBody>
                  <a:tcPr marL="4911" marR="4911" marT="4911" marB="0" anchor="b">
                    <a:lnL>
                      <a:noFill/>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3.0</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AFBFD"/>
                    </a:solidFill>
                  </a:tcPr>
                </a:tc>
                <a:extLst>
                  <a:ext uri="{0D108BD9-81ED-4DB2-BD59-A6C34878D82A}">
                    <a16:rowId xmlns:a16="http://schemas.microsoft.com/office/drawing/2014/main" val="2538018415"/>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Alicorp</a:t>
                      </a:r>
                    </a:p>
                  </a:txBody>
                  <a:tcPr marL="4911" marR="4911" marT="4911" marB="0" anchor="b">
                    <a:lnL w="6350" cap="flat" cmpd="sng" algn="ctr">
                      <a:solidFill>
                        <a:srgbClr val="808080"/>
                      </a:solidFill>
                      <a:prstDash val="solid"/>
                      <a:round/>
                      <a:headEnd type="none" w="med" len="med"/>
                      <a:tailEnd type="none" w="med" len="med"/>
                    </a:lnL>
                    <a:lnR>
                      <a:noFill/>
                    </a:lnR>
                    <a:lnT>
                      <a:noFill/>
                    </a:lnT>
                    <a:lnB w="6350" cap="flat" cmpd="sng" algn="ctr">
                      <a:solidFill>
                        <a:srgbClr val="80808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2.8</a:t>
                      </a:r>
                    </a:p>
                  </a:txBody>
                  <a:tcPr marL="4911" marR="4911" marT="4911" marB="0" anchor="b">
                    <a:lnL>
                      <a:noFill/>
                    </a:lnL>
                    <a:lnR>
                      <a:noFill/>
                    </a:lnR>
                    <a:lnT>
                      <a:noFill/>
                    </a:lnT>
                    <a:lnB w="6350" cap="flat" cmpd="sng" algn="ctr">
                      <a:solidFill>
                        <a:srgbClr val="80808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Alto</a:t>
                      </a:r>
                    </a:p>
                  </a:txBody>
                  <a:tcPr marL="4911" marR="4911" marT="4911" marB="0" anchor="b">
                    <a:lnL>
                      <a:noFill/>
                    </a:lnL>
                    <a:lnR>
                      <a:noFill/>
                    </a:lnR>
                    <a:lnT>
                      <a:noFill/>
                    </a:lnT>
                    <a:lnB w="6350" cap="flat" cmpd="sng" algn="ctr">
                      <a:solidFill>
                        <a:srgbClr val="808080"/>
                      </a:solidFill>
                      <a:prstDash val="solid"/>
                      <a:round/>
                      <a:headEnd type="none" w="med" len="med"/>
                      <a:tailEnd type="none" w="med" len="med"/>
                    </a:lnB>
                    <a:solidFill>
                      <a:srgbClr val="92D050"/>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Alto</a:t>
                      </a:r>
                    </a:p>
                  </a:txBody>
                  <a:tcPr marL="4911" marR="4911" marT="4911" marB="0" anchor="b">
                    <a:lnL>
                      <a:noFill/>
                    </a:lnL>
                    <a:lnR w="12700" cap="flat" cmpd="sng" algn="ctr">
                      <a:solidFill>
                        <a:srgbClr val="C00000"/>
                      </a:solidFill>
                      <a:prstDash val="solid"/>
                      <a:round/>
                      <a:headEnd type="none" w="med" len="med"/>
                      <a:tailEnd type="none" w="med" len="med"/>
                    </a:lnR>
                    <a:lnT>
                      <a:noFill/>
                    </a:lnT>
                    <a:lnB w="6350" cap="flat" cmpd="sng" algn="ctr">
                      <a:solidFill>
                        <a:srgbClr val="808080"/>
                      </a:solidFill>
                      <a:prstDash val="solid"/>
                      <a:round/>
                      <a:headEnd type="none" w="med" len="med"/>
                      <a:tailEnd type="none" w="med" len="med"/>
                    </a:lnB>
                    <a:solidFill>
                      <a:srgbClr val="92D050"/>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1.9</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3963690161"/>
                  </a:ext>
                </a:extLst>
              </a:tr>
              <a:tr h="177443">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rtl="0" fontAlgn="b">
                        <a:buNone/>
                      </a:pPr>
                      <a:endParaRPr lang="es-PE" sz="700" b="0" i="0" u="none" strike="noStrike" dirty="0">
                        <a:solidFill>
                          <a:srgbClr val="1E2E6E"/>
                        </a:solidFill>
                        <a:effectLst/>
                        <a:latin typeface="Trebuchet MS" panose="020B0603020202020204" pitchFamily="34" charset="0"/>
                      </a:endParaRPr>
                    </a:p>
                  </a:txBody>
                  <a:tcPr marL="4911" marR="4911" marT="491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2197835"/>
                  </a:ext>
                </a:extLst>
              </a:tr>
              <a:tr h="114479">
                <a:tc rowSpan="2">
                  <a:txBody>
                    <a:bodyPr/>
                    <a:lstStyle/>
                    <a:p>
                      <a:pPr algn="ctr" rtl="0" fontAlgn="ctr">
                        <a:buNone/>
                      </a:pPr>
                      <a:r>
                        <a:rPr lang="es-PE" sz="700" b="1" i="0" u="none" strike="noStrike">
                          <a:solidFill>
                            <a:srgbClr val="FFFFFF"/>
                          </a:solidFill>
                          <a:effectLst/>
                          <a:latin typeface="Trebuchet MS" panose="020B0603020202020204" pitchFamily="34" charset="0"/>
                        </a:rPr>
                        <a:t>Financieras</a:t>
                      </a:r>
                    </a:p>
                  </a:txBody>
                  <a:tcPr marL="4911" marR="4911" marT="4911" marB="0" anchor="ctr">
                    <a:lnL w="6350" cap="flat" cmpd="sng" algn="ctr">
                      <a:solidFill>
                        <a:srgbClr val="808080"/>
                      </a:solidFill>
                      <a:prstDash val="solid"/>
                      <a:round/>
                      <a:headEnd type="none" w="med" len="med"/>
                      <a:tailEnd type="none" w="med" len="med"/>
                    </a:lnL>
                    <a:lnR>
                      <a:noFill/>
                    </a:lnR>
                    <a:lnT w="6350" cap="flat" cmpd="sng" algn="ctr">
                      <a:solidFill>
                        <a:srgbClr val="80808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a:solidFill>
                            <a:srgbClr val="FFFFFF"/>
                          </a:solidFill>
                          <a:effectLst/>
                          <a:latin typeface="Trebuchet MS" panose="020B0603020202020204" pitchFamily="34" charset="0"/>
                        </a:rPr>
                        <a:t>Score Global</a:t>
                      </a:r>
                    </a:p>
                  </a:txBody>
                  <a:tcPr marL="4911" marR="4911" marT="4911" marB="0" anchor="ctr">
                    <a:lnL>
                      <a:noFill/>
                    </a:lnL>
                    <a:lnR>
                      <a:noFill/>
                    </a:lnR>
                    <a:lnT w="6350" cap="flat" cmpd="sng" algn="ctr">
                      <a:solidFill>
                        <a:srgbClr val="80808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Mitigantes</a:t>
                      </a:r>
                    </a:p>
                  </a:txBody>
                  <a:tcPr marL="4911" marR="4911" marT="4911" marB="0" anchor="ctr">
                    <a:lnL>
                      <a:noFill/>
                    </a:lnL>
                    <a:lnR>
                      <a:noFill/>
                    </a:lnR>
                    <a:lnT w="6350" cap="flat" cmpd="sng" algn="ctr">
                      <a:solidFill>
                        <a:srgbClr val="80808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Mitigantes</a:t>
                      </a:r>
                    </a:p>
                  </a:txBody>
                  <a:tcPr marL="4911" marR="4911" marT="4911" marB="0" anchor="ctr">
                    <a:lnL>
                      <a:noFill/>
                    </a:lnL>
                    <a:lnR w="12700" cap="flat" cmpd="sng" algn="ctr">
                      <a:solidFill>
                        <a:srgbClr val="C0000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a:solidFill>
                            <a:srgbClr val="FFC000"/>
                          </a:solidFill>
                          <a:effectLst/>
                          <a:latin typeface="Trebuchet MS" panose="020B0603020202020204" pitchFamily="34" charset="0"/>
                        </a:rPr>
                        <a:t>Score Global Ajustado</a:t>
                      </a:r>
                    </a:p>
                  </a:txBody>
                  <a:tcPr marL="4911" marR="4911" marT="4911" marB="0" anchor="ctr">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558ED5"/>
                    </a:solidFill>
                  </a:tcPr>
                </a:tc>
                <a:extLst>
                  <a:ext uri="{0D108BD9-81ED-4DB2-BD59-A6C34878D82A}">
                    <a16:rowId xmlns:a16="http://schemas.microsoft.com/office/drawing/2014/main" val="740314685"/>
                  </a:ext>
                </a:extLst>
              </a:tr>
              <a:tr h="114479">
                <a:tc vMerge="1">
                  <a:txBody>
                    <a:bodyPr/>
                    <a:lstStyle/>
                    <a:p>
                      <a:endParaRPr lang="es-PE"/>
                    </a:p>
                  </a:txBody>
                  <a:tcPr/>
                </a:tc>
                <a:tc vMerge="1">
                  <a:txBody>
                    <a:bodyPr/>
                    <a:lstStyle/>
                    <a:p>
                      <a:endParaRPr lang="es-PE"/>
                    </a:p>
                  </a:txBody>
                  <a:tcPr/>
                </a:tc>
                <a:tc>
                  <a:txBody>
                    <a:bodyPr/>
                    <a:lstStyle/>
                    <a:p>
                      <a:pPr algn="ctr" rtl="0" fontAlgn="ctr">
                        <a:buNone/>
                      </a:pPr>
                      <a:r>
                        <a:rPr lang="es-PE" sz="700" b="1" i="0" u="none" strike="noStrike">
                          <a:solidFill>
                            <a:srgbClr val="FFFFFF"/>
                          </a:solidFill>
                          <a:effectLst/>
                          <a:latin typeface="Trebuchet MS" panose="020B0603020202020204" pitchFamily="34" charset="0"/>
                        </a:rPr>
                        <a:t>Dic-25</a:t>
                      </a:r>
                    </a:p>
                  </a:txBody>
                  <a:tcPr marL="4911" marR="4911" marT="4911" marB="0" anchor="ctr">
                    <a:lnL>
                      <a:noFill/>
                    </a:lnL>
                    <a:lnR>
                      <a:noFill/>
                    </a:lnR>
                    <a:lnT>
                      <a:noFill/>
                    </a:lnT>
                    <a:lnB>
                      <a:noFill/>
                    </a:lnB>
                    <a:solidFill>
                      <a:srgbClr val="558ED5"/>
                    </a:solidFill>
                  </a:tcPr>
                </a:tc>
                <a:tc>
                  <a:txBody>
                    <a:bodyPr/>
                    <a:lstStyle/>
                    <a:p>
                      <a:pPr algn="ctr" rtl="0" fontAlgn="ctr">
                        <a:buNone/>
                      </a:pPr>
                      <a:r>
                        <a:rPr lang="es-PE" sz="700" b="1" i="0" u="none" strike="noStrike" dirty="0">
                          <a:solidFill>
                            <a:srgbClr val="FFFFFF"/>
                          </a:solidFill>
                          <a:effectLst/>
                          <a:latin typeface="Trebuchet MS" panose="020B0603020202020204" pitchFamily="34" charset="0"/>
                        </a:rPr>
                        <a:t>May-26</a:t>
                      </a:r>
                    </a:p>
                  </a:txBody>
                  <a:tcPr marL="4911" marR="4911" marT="4911" marB="0" anchor="ctr">
                    <a:lnL>
                      <a:noFill/>
                    </a:lnL>
                    <a:lnR w="6350" cap="flat" cmpd="sng" algn="ctr">
                      <a:solidFill>
                        <a:srgbClr val="808080"/>
                      </a:solidFill>
                      <a:prstDash val="solid"/>
                      <a:round/>
                      <a:headEnd type="none" w="med" len="med"/>
                      <a:tailEnd type="none" w="med" len="med"/>
                    </a:lnR>
                    <a:lnT>
                      <a:noFill/>
                    </a:lnT>
                    <a:lnB>
                      <a:noFill/>
                    </a:lnB>
                    <a:solidFill>
                      <a:srgbClr val="558ED5"/>
                    </a:solidFill>
                  </a:tcPr>
                </a:tc>
                <a:tc vMerge="1">
                  <a:txBody>
                    <a:bodyPr/>
                    <a:lstStyle/>
                    <a:p>
                      <a:endParaRPr lang="es-PE"/>
                    </a:p>
                  </a:txBody>
                  <a:tcPr/>
                </a:tc>
                <a:extLst>
                  <a:ext uri="{0D108BD9-81ED-4DB2-BD59-A6C34878D82A}">
                    <a16:rowId xmlns:a16="http://schemas.microsoft.com/office/drawing/2014/main" val="2897209"/>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Credicorp</a:t>
                      </a:r>
                    </a:p>
                  </a:txBody>
                  <a:tcPr marL="4911" marR="4911" marT="4911" marB="0" anchor="b">
                    <a:lnL w="6350" cap="flat" cmpd="sng" algn="ctr">
                      <a:solidFill>
                        <a:srgbClr val="808080"/>
                      </a:solidFill>
                      <a:prstDash val="solid"/>
                      <a:round/>
                      <a:headEnd type="none" w="med" len="med"/>
                      <a:tailEnd type="none" w="med" len="med"/>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3.2</a:t>
                      </a:r>
                    </a:p>
                  </a:txBody>
                  <a:tcPr marL="4911" marR="4911" marT="4911" marB="0" anchor="b">
                    <a:lnL>
                      <a:noFill/>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a:noFill/>
                    </a:lnB>
                    <a:solidFill>
                      <a:srgbClr val="D99694"/>
                    </a:solidFill>
                  </a:tcPr>
                </a:tc>
                <a:tc>
                  <a:txBody>
                    <a:bodyPr/>
                    <a:lstStyle/>
                    <a:p>
                      <a:pPr algn="ctr" rtl="0" fontAlgn="b">
                        <a:buNone/>
                      </a:pPr>
                      <a:r>
                        <a:rPr lang="es-PE" sz="700" b="0" i="0" u="none" strike="noStrike" dirty="0">
                          <a:solidFill>
                            <a:srgbClr val="1E2E6E"/>
                          </a:solidFill>
                          <a:effectLst/>
                          <a:latin typeface="Trebuchet MS" panose="020B0603020202020204" pitchFamily="34" charset="0"/>
                        </a:rPr>
                        <a:t>3.2</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BD2D4"/>
                    </a:solidFill>
                  </a:tcPr>
                </a:tc>
                <a:extLst>
                  <a:ext uri="{0D108BD9-81ED-4DB2-BD59-A6C34878D82A}">
                    <a16:rowId xmlns:a16="http://schemas.microsoft.com/office/drawing/2014/main" val="4212016998"/>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IFS</a:t>
                      </a:r>
                    </a:p>
                  </a:txBody>
                  <a:tcPr marL="4911" marR="4911" marT="4911" marB="0" anchor="b">
                    <a:lnL w="6350" cap="flat" cmpd="sng" algn="ctr">
                      <a:solidFill>
                        <a:srgbClr val="808080"/>
                      </a:solidFill>
                      <a:prstDash val="solid"/>
                      <a:round/>
                      <a:headEnd type="none" w="med" len="med"/>
                      <a:tailEnd type="none" w="med" len="med"/>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2.9</a:t>
                      </a:r>
                    </a:p>
                  </a:txBody>
                  <a:tcPr marL="4911" marR="4911" marT="4911" marB="0" anchor="b">
                    <a:lnL>
                      <a:noFill/>
                    </a:lnL>
                    <a:lnR>
                      <a:noFill/>
                    </a:lnR>
                    <a:lnT>
                      <a:noFill/>
                    </a:lnT>
                    <a:lnB>
                      <a:noFill/>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a:noFill/>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a:noFill/>
                    </a:lnB>
                    <a:solidFill>
                      <a:srgbClr val="D99694"/>
                    </a:solidFill>
                  </a:tcPr>
                </a:tc>
                <a:tc>
                  <a:txBody>
                    <a:bodyPr/>
                    <a:lstStyle/>
                    <a:p>
                      <a:pPr algn="ctr" rtl="0" fontAlgn="b">
                        <a:buNone/>
                      </a:pPr>
                      <a:r>
                        <a:rPr lang="es-PE" sz="700" b="0" i="0" u="none" strike="noStrike" dirty="0">
                          <a:solidFill>
                            <a:srgbClr val="1E2E6E"/>
                          </a:solidFill>
                          <a:effectLst/>
                          <a:latin typeface="Trebuchet MS" panose="020B0603020202020204" pitchFamily="34" charset="0"/>
                        </a:rPr>
                        <a:t>2.9</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0F7F5"/>
                    </a:solidFill>
                  </a:tcPr>
                </a:tc>
                <a:extLst>
                  <a:ext uri="{0D108BD9-81ED-4DB2-BD59-A6C34878D82A}">
                    <a16:rowId xmlns:a16="http://schemas.microsoft.com/office/drawing/2014/main" val="3591604066"/>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BBVA</a:t>
                      </a:r>
                    </a:p>
                  </a:txBody>
                  <a:tcPr marL="4911" marR="4911" marT="4911" marB="0" anchor="b">
                    <a:lnL w="6350" cap="flat" cmpd="sng" algn="ctr">
                      <a:solidFill>
                        <a:srgbClr val="808080"/>
                      </a:solidFill>
                      <a:prstDash val="solid"/>
                      <a:round/>
                      <a:headEnd type="none" w="med" len="med"/>
                      <a:tailEnd type="none" w="med" len="med"/>
                    </a:lnL>
                    <a:lnR>
                      <a:noFill/>
                    </a:lnR>
                    <a:lnT>
                      <a:noFill/>
                    </a:lnT>
                    <a:lnB w="6350" cap="flat" cmpd="sng" algn="ctr">
                      <a:solidFill>
                        <a:srgbClr val="80808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2.9</a:t>
                      </a:r>
                    </a:p>
                  </a:txBody>
                  <a:tcPr marL="4911" marR="4911" marT="4911" marB="0" anchor="b">
                    <a:lnL>
                      <a:noFill/>
                    </a:lnL>
                    <a:lnR>
                      <a:noFill/>
                    </a:lnR>
                    <a:lnT>
                      <a:noFill/>
                    </a:lnT>
                    <a:lnB w="6350" cap="flat" cmpd="sng" algn="ctr">
                      <a:solidFill>
                        <a:srgbClr val="80808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w="6350" cap="flat" cmpd="sng" algn="ctr">
                      <a:solidFill>
                        <a:srgbClr val="808080"/>
                      </a:solidFill>
                      <a:prstDash val="solid"/>
                      <a:round/>
                      <a:headEnd type="none" w="med" len="med"/>
                      <a:tailEnd type="none" w="med" len="med"/>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w="6350" cap="flat" cmpd="sng" algn="ctr">
                      <a:solidFill>
                        <a:srgbClr val="808080"/>
                      </a:solidFill>
                      <a:prstDash val="solid"/>
                      <a:round/>
                      <a:headEnd type="none" w="med" len="med"/>
                      <a:tailEnd type="none" w="med" len="med"/>
                    </a:lnB>
                    <a:solidFill>
                      <a:srgbClr val="D99694"/>
                    </a:solidFill>
                  </a:tcPr>
                </a:tc>
                <a:tc>
                  <a:txBody>
                    <a:bodyPr/>
                    <a:lstStyle/>
                    <a:p>
                      <a:pPr algn="ctr" rtl="0" fontAlgn="b">
                        <a:buNone/>
                      </a:pPr>
                      <a:r>
                        <a:rPr lang="es-PE" sz="700" b="0" i="0" u="none" strike="noStrike" dirty="0">
                          <a:solidFill>
                            <a:srgbClr val="1E2E6E"/>
                          </a:solidFill>
                          <a:effectLst/>
                          <a:latin typeface="Trebuchet MS" panose="020B0603020202020204" pitchFamily="34" charset="0"/>
                        </a:rPr>
                        <a:t>2.9</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DF6F2"/>
                    </a:solidFill>
                  </a:tcPr>
                </a:tc>
                <a:extLst>
                  <a:ext uri="{0D108BD9-81ED-4DB2-BD59-A6C34878D82A}">
                    <a16:rowId xmlns:a16="http://schemas.microsoft.com/office/drawing/2014/main" val="3992182350"/>
                  </a:ext>
                </a:extLst>
              </a:tr>
              <a:tr h="177443">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s-PE" sz="700" b="0" i="0" u="none" strike="noStrike">
                          <a:solidFill>
                            <a:srgbClr val="000000"/>
                          </a:solidFill>
                          <a:effectLst/>
                          <a:latin typeface="Arial" panose="020B0604020202020204" pitchFamily="34" charset="0"/>
                        </a:rPr>
                        <a:t> </a:t>
                      </a:r>
                    </a:p>
                  </a:txBody>
                  <a:tcPr marL="4911" marR="4911" marT="4911" marB="0" anchor="b">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rtl="0" fontAlgn="b">
                        <a:buNone/>
                      </a:pPr>
                      <a:r>
                        <a:rPr lang="es-PE" sz="700" b="0" i="0" u="none" strike="noStrike" dirty="0">
                          <a:solidFill>
                            <a:srgbClr val="1E2E6E"/>
                          </a:solidFill>
                          <a:effectLst/>
                          <a:latin typeface="Trebuchet MS" panose="020B0603020202020204" pitchFamily="34" charset="0"/>
                        </a:rPr>
                        <a:t> </a:t>
                      </a:r>
                    </a:p>
                  </a:txBody>
                  <a:tcPr marL="4911" marR="4911" marT="4911" marB="0" anchor="b">
                    <a:lnL>
                      <a:noFill/>
                    </a:lnL>
                    <a:lnR w="6350" cap="flat" cmpd="sng" algn="ctr">
                      <a:solidFill>
                        <a:srgbClr val="80808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3142561"/>
                  </a:ext>
                </a:extLst>
              </a:tr>
              <a:tr h="114479">
                <a:tc rowSpan="2">
                  <a:txBody>
                    <a:bodyPr/>
                    <a:lstStyle/>
                    <a:p>
                      <a:pPr algn="ctr" rtl="0" fontAlgn="ctr">
                        <a:buNone/>
                      </a:pPr>
                      <a:r>
                        <a:rPr lang="es-PE" sz="700" b="1" i="0" u="none" strike="noStrike">
                          <a:solidFill>
                            <a:srgbClr val="FFFFFF"/>
                          </a:solidFill>
                          <a:effectLst/>
                          <a:latin typeface="Trebuchet MS" panose="020B0603020202020204" pitchFamily="34" charset="0"/>
                        </a:rPr>
                        <a:t>Salud</a:t>
                      </a:r>
                    </a:p>
                  </a:txBody>
                  <a:tcPr marL="4911" marR="4911" marT="4911" marB="0" anchor="ctr">
                    <a:lnL w="6350" cap="flat" cmpd="sng" algn="ctr">
                      <a:solidFill>
                        <a:srgbClr val="808080"/>
                      </a:solidFill>
                      <a:prstDash val="solid"/>
                      <a:round/>
                      <a:headEnd type="none" w="med" len="med"/>
                      <a:tailEnd type="none" w="med" len="med"/>
                    </a:lnL>
                    <a:lnR>
                      <a:noFill/>
                    </a:lnR>
                    <a:lnT w="6350" cap="flat" cmpd="sng" algn="ctr">
                      <a:solidFill>
                        <a:srgbClr val="80808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a:solidFill>
                            <a:srgbClr val="FFFFFF"/>
                          </a:solidFill>
                          <a:effectLst/>
                          <a:latin typeface="Trebuchet MS" panose="020B0603020202020204" pitchFamily="34" charset="0"/>
                        </a:rPr>
                        <a:t>Score Global</a:t>
                      </a:r>
                    </a:p>
                  </a:txBody>
                  <a:tcPr marL="4911" marR="4911" marT="4911" marB="0" anchor="ctr">
                    <a:lnL>
                      <a:noFill/>
                    </a:lnL>
                    <a:lnR>
                      <a:noFill/>
                    </a:lnR>
                    <a:lnT w="6350" cap="flat" cmpd="sng" algn="ctr">
                      <a:solidFill>
                        <a:srgbClr val="80808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Mitigantes</a:t>
                      </a:r>
                    </a:p>
                  </a:txBody>
                  <a:tcPr marL="4911" marR="4911" marT="4911" marB="0" anchor="ctr">
                    <a:lnL>
                      <a:noFill/>
                    </a:lnL>
                    <a:lnR>
                      <a:noFill/>
                    </a:lnR>
                    <a:lnT w="6350" cap="flat" cmpd="sng" algn="ctr">
                      <a:solidFill>
                        <a:srgbClr val="808080"/>
                      </a:solidFill>
                      <a:prstDash val="solid"/>
                      <a:round/>
                      <a:headEnd type="none" w="med" len="med"/>
                      <a:tailEnd type="none" w="med" len="med"/>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Mitigantes</a:t>
                      </a:r>
                    </a:p>
                  </a:txBody>
                  <a:tcPr marL="4911" marR="4911" marT="4911" marB="0" anchor="ctr">
                    <a:lnL>
                      <a:noFill/>
                    </a:lnL>
                    <a:lnR w="12700" cap="flat" cmpd="sng" algn="ctr">
                      <a:solidFill>
                        <a:srgbClr val="C0000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558ED5"/>
                    </a:solidFill>
                  </a:tcPr>
                </a:tc>
                <a:tc rowSpan="2">
                  <a:txBody>
                    <a:bodyPr/>
                    <a:lstStyle/>
                    <a:p>
                      <a:pPr algn="ctr" rtl="0" fontAlgn="ctr">
                        <a:buNone/>
                      </a:pPr>
                      <a:r>
                        <a:rPr lang="es-PE" sz="700" b="1" i="0" u="none" strike="noStrike" dirty="0">
                          <a:solidFill>
                            <a:srgbClr val="FFC000"/>
                          </a:solidFill>
                          <a:effectLst/>
                          <a:latin typeface="Trebuchet MS" panose="020B0603020202020204" pitchFamily="34" charset="0"/>
                        </a:rPr>
                        <a:t>Score Global Ajustado</a:t>
                      </a:r>
                    </a:p>
                  </a:txBody>
                  <a:tcPr marL="4911" marR="4911" marT="4911" marB="0" anchor="ctr">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558ED5"/>
                    </a:solidFill>
                  </a:tcPr>
                </a:tc>
                <a:extLst>
                  <a:ext uri="{0D108BD9-81ED-4DB2-BD59-A6C34878D82A}">
                    <a16:rowId xmlns:a16="http://schemas.microsoft.com/office/drawing/2014/main" val="907138306"/>
                  </a:ext>
                </a:extLst>
              </a:tr>
              <a:tr h="114479">
                <a:tc vMerge="1">
                  <a:txBody>
                    <a:bodyPr/>
                    <a:lstStyle/>
                    <a:p>
                      <a:endParaRPr lang="es-PE"/>
                    </a:p>
                  </a:txBody>
                  <a:tcPr/>
                </a:tc>
                <a:tc vMerge="1">
                  <a:txBody>
                    <a:bodyPr/>
                    <a:lstStyle/>
                    <a:p>
                      <a:endParaRPr lang="es-PE"/>
                    </a:p>
                  </a:txBody>
                  <a:tcPr/>
                </a:tc>
                <a:tc>
                  <a:txBody>
                    <a:bodyPr/>
                    <a:lstStyle/>
                    <a:p>
                      <a:pPr algn="ctr" rtl="0" fontAlgn="ctr">
                        <a:buNone/>
                      </a:pPr>
                      <a:r>
                        <a:rPr lang="es-PE" sz="700" b="1" i="0" u="none" strike="noStrike">
                          <a:solidFill>
                            <a:srgbClr val="FFFFFF"/>
                          </a:solidFill>
                          <a:effectLst/>
                          <a:latin typeface="Trebuchet MS" panose="020B0603020202020204" pitchFamily="34" charset="0"/>
                        </a:rPr>
                        <a:t>Dic-25</a:t>
                      </a:r>
                    </a:p>
                  </a:txBody>
                  <a:tcPr marL="4911" marR="4911" marT="4911" marB="0" anchor="ctr">
                    <a:lnL>
                      <a:noFill/>
                    </a:lnL>
                    <a:lnR>
                      <a:noFill/>
                    </a:lnR>
                    <a:lnT>
                      <a:noFill/>
                    </a:lnT>
                    <a:lnB>
                      <a:noFill/>
                    </a:lnB>
                    <a:solidFill>
                      <a:srgbClr val="558ED5"/>
                    </a:solidFill>
                  </a:tcPr>
                </a:tc>
                <a:tc>
                  <a:txBody>
                    <a:bodyPr/>
                    <a:lstStyle/>
                    <a:p>
                      <a:pPr algn="ctr" rtl="0" fontAlgn="ctr">
                        <a:buNone/>
                      </a:pPr>
                      <a:r>
                        <a:rPr lang="es-PE" sz="700" b="1" i="0" u="none" strike="noStrike">
                          <a:solidFill>
                            <a:srgbClr val="FFFFFF"/>
                          </a:solidFill>
                          <a:effectLst/>
                          <a:latin typeface="Trebuchet MS" panose="020B0603020202020204" pitchFamily="34" charset="0"/>
                        </a:rPr>
                        <a:t>May-26</a:t>
                      </a:r>
                    </a:p>
                  </a:txBody>
                  <a:tcPr marL="4911" marR="4911" marT="4911" marB="0" anchor="ctr">
                    <a:lnL>
                      <a:noFill/>
                    </a:lnL>
                    <a:lnR w="6350" cap="flat" cmpd="sng" algn="ctr">
                      <a:solidFill>
                        <a:srgbClr val="808080"/>
                      </a:solidFill>
                      <a:prstDash val="solid"/>
                      <a:round/>
                      <a:headEnd type="none" w="med" len="med"/>
                      <a:tailEnd type="none" w="med" len="med"/>
                    </a:lnR>
                    <a:lnT>
                      <a:noFill/>
                    </a:lnT>
                    <a:lnB>
                      <a:noFill/>
                    </a:lnB>
                    <a:solidFill>
                      <a:srgbClr val="558ED5"/>
                    </a:solidFill>
                  </a:tcPr>
                </a:tc>
                <a:tc vMerge="1">
                  <a:txBody>
                    <a:bodyPr/>
                    <a:lstStyle/>
                    <a:p>
                      <a:endParaRPr lang="es-PE"/>
                    </a:p>
                  </a:txBody>
                  <a:tcPr/>
                </a:tc>
                <a:extLst>
                  <a:ext uri="{0D108BD9-81ED-4DB2-BD59-A6C34878D82A}">
                    <a16:rowId xmlns:a16="http://schemas.microsoft.com/office/drawing/2014/main" val="4181074620"/>
                  </a:ext>
                </a:extLst>
              </a:tr>
              <a:tr h="114479">
                <a:tc>
                  <a:txBody>
                    <a:bodyPr/>
                    <a:lstStyle/>
                    <a:p>
                      <a:pPr algn="ctr" rtl="0" fontAlgn="b">
                        <a:buNone/>
                      </a:pPr>
                      <a:r>
                        <a:rPr lang="es-PE" sz="700" b="0" i="0" u="none" strike="noStrike">
                          <a:solidFill>
                            <a:srgbClr val="1E2E6E"/>
                          </a:solidFill>
                          <a:effectLst/>
                          <a:latin typeface="Trebuchet MS" panose="020B0603020202020204" pitchFamily="34" charset="0"/>
                        </a:rPr>
                        <a:t>Auna</a:t>
                      </a:r>
                    </a:p>
                  </a:txBody>
                  <a:tcPr marL="4911" marR="4911" marT="4911" marB="0" anchor="b">
                    <a:lnL w="6350" cap="flat" cmpd="sng" algn="ctr">
                      <a:solidFill>
                        <a:srgbClr val="808080"/>
                      </a:solidFill>
                      <a:prstDash val="solid"/>
                      <a:round/>
                      <a:headEnd type="none" w="med" len="med"/>
                      <a:tailEnd type="none" w="med" len="med"/>
                    </a:lnL>
                    <a:lnR>
                      <a:noFill/>
                    </a:lnR>
                    <a:lnT>
                      <a:noFill/>
                    </a:lnT>
                    <a:lnB w="6350" cap="flat" cmpd="sng" algn="ctr">
                      <a:solidFill>
                        <a:srgbClr val="80808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2.3</a:t>
                      </a:r>
                    </a:p>
                  </a:txBody>
                  <a:tcPr marL="4911" marR="4911" marT="4911" marB="0" anchor="b">
                    <a:lnL>
                      <a:noFill/>
                    </a:lnL>
                    <a:lnR>
                      <a:noFill/>
                    </a:lnR>
                    <a:lnT>
                      <a:noFill/>
                    </a:lnT>
                    <a:lnB w="6350" cap="flat" cmpd="sng" algn="ctr">
                      <a:solidFill>
                        <a:srgbClr val="808080"/>
                      </a:solidFill>
                      <a:prstDash val="solid"/>
                      <a:round/>
                      <a:headEnd type="none" w="med" len="med"/>
                      <a:tailEnd type="none" w="med" len="med"/>
                    </a:lnB>
                    <a:no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a:noFill/>
                    </a:lnR>
                    <a:lnT>
                      <a:noFill/>
                    </a:lnT>
                    <a:lnB w="6350" cap="flat" cmpd="sng" algn="ctr">
                      <a:solidFill>
                        <a:srgbClr val="808080"/>
                      </a:solidFill>
                      <a:prstDash val="solid"/>
                      <a:round/>
                      <a:headEnd type="none" w="med" len="med"/>
                      <a:tailEnd type="none" w="med" len="med"/>
                    </a:lnB>
                    <a:solidFill>
                      <a:srgbClr val="D99694"/>
                    </a:solidFill>
                  </a:tcPr>
                </a:tc>
                <a:tc>
                  <a:txBody>
                    <a:bodyPr/>
                    <a:lstStyle/>
                    <a:p>
                      <a:pPr algn="ctr" rtl="0" fontAlgn="b">
                        <a:buNone/>
                      </a:pPr>
                      <a:r>
                        <a:rPr lang="es-PE" sz="700" b="0" i="0" u="none" strike="noStrike">
                          <a:solidFill>
                            <a:srgbClr val="1E2E6E"/>
                          </a:solidFill>
                          <a:effectLst/>
                          <a:latin typeface="Trebuchet MS" panose="020B0603020202020204" pitchFamily="34" charset="0"/>
                        </a:rPr>
                        <a:t>Bajo</a:t>
                      </a:r>
                    </a:p>
                  </a:txBody>
                  <a:tcPr marL="4911" marR="4911" marT="4911" marB="0" anchor="b">
                    <a:lnL>
                      <a:noFill/>
                    </a:lnL>
                    <a:lnR w="12700" cap="flat" cmpd="sng" algn="ctr">
                      <a:solidFill>
                        <a:srgbClr val="C00000"/>
                      </a:solidFill>
                      <a:prstDash val="solid"/>
                      <a:round/>
                      <a:headEnd type="none" w="med" len="med"/>
                      <a:tailEnd type="none" w="med" len="med"/>
                    </a:lnR>
                    <a:lnT>
                      <a:noFill/>
                    </a:lnT>
                    <a:lnB w="6350" cap="flat" cmpd="sng" algn="ctr">
                      <a:solidFill>
                        <a:srgbClr val="808080"/>
                      </a:solidFill>
                      <a:prstDash val="solid"/>
                      <a:round/>
                      <a:headEnd type="none" w="med" len="med"/>
                      <a:tailEnd type="none" w="med" len="med"/>
                    </a:lnB>
                    <a:solidFill>
                      <a:srgbClr val="D99694"/>
                    </a:solidFill>
                  </a:tcPr>
                </a:tc>
                <a:tc>
                  <a:txBody>
                    <a:bodyPr/>
                    <a:lstStyle/>
                    <a:p>
                      <a:pPr algn="ctr" rtl="0" fontAlgn="b">
                        <a:buNone/>
                      </a:pPr>
                      <a:r>
                        <a:rPr lang="es-PE" sz="700" b="0" i="0" u="none" strike="noStrike" dirty="0">
                          <a:solidFill>
                            <a:srgbClr val="1E2E6E"/>
                          </a:solidFill>
                          <a:effectLst/>
                          <a:latin typeface="Trebuchet MS" panose="020B0603020202020204" pitchFamily="34" charset="0"/>
                        </a:rPr>
                        <a:t>2.3</a:t>
                      </a:r>
                    </a:p>
                  </a:txBody>
                  <a:tcPr marL="4911" marR="4911" marT="4911" marB="0" anchor="b">
                    <a:lnL w="12700" cap="flat" cmpd="sng" algn="ctr">
                      <a:solidFill>
                        <a:srgbClr val="C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9BD4AB"/>
                    </a:solidFill>
                  </a:tcPr>
                </a:tc>
                <a:extLst>
                  <a:ext uri="{0D108BD9-81ED-4DB2-BD59-A6C34878D82A}">
                    <a16:rowId xmlns:a16="http://schemas.microsoft.com/office/drawing/2014/main" val="241857339"/>
                  </a:ext>
                </a:extLst>
              </a:tr>
            </a:tbl>
          </a:graphicData>
        </a:graphic>
      </p:graphicFrame>
    </p:spTree>
    <p:extLst>
      <p:ext uri="{BB962C8B-B14F-4D97-AF65-F5344CB8AC3E}">
        <p14:creationId xmlns:p14="http://schemas.microsoft.com/office/powerpoint/2010/main" val="437598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41D03-743D-0422-4A71-5467CA417602}"/>
            </a:ext>
          </a:extLst>
        </p:cNvPr>
        <p:cNvGrpSpPr/>
        <p:nvPr/>
      </p:nvGrpSpPr>
      <p:grpSpPr>
        <a:xfrm>
          <a:off x="0" y="0"/>
          <a:ext cx="0" cy="0"/>
          <a:chOff x="0" y="0"/>
          <a:chExt cx="0" cy="0"/>
        </a:xfrm>
      </p:grpSpPr>
      <p:sp>
        <p:nvSpPr>
          <p:cNvPr id="20" name="Title 2">
            <a:extLst>
              <a:ext uri="{FF2B5EF4-FFF2-40B4-BE49-F238E27FC236}">
                <a16:creationId xmlns:a16="http://schemas.microsoft.com/office/drawing/2014/main" id="{826AE455-A031-EA39-C0B8-2BBBD9CC06B4}"/>
              </a:ext>
            </a:extLst>
          </p:cNvPr>
          <p:cNvSpPr txBox="1">
            <a:spLocks/>
          </p:cNvSpPr>
          <p:nvPr/>
        </p:nvSpPr>
        <p:spPr>
          <a:xfrm>
            <a:off x="-903" y="88429"/>
            <a:ext cx="10819699" cy="676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kern="1200" spc="-50" baseline="0">
                <a:solidFill>
                  <a:schemeClr val="tx1">
                    <a:lumMod val="75000"/>
                  </a:schemeClr>
                </a:solidFill>
                <a:latin typeface="Trebuchet MS" panose="020B0603020202020204" pitchFamily="34" charset="0"/>
                <a:ea typeface="+mj-ea"/>
                <a:cs typeface="+mj-cs"/>
              </a:defRPr>
            </a:lvl1pPr>
          </a:lstStyle>
          <a:p>
            <a:r>
              <a:rPr lang="es-ES" sz="2000" dirty="0"/>
              <a:t>3.10 Gestión Climática – Siguientes Pasos</a:t>
            </a:r>
          </a:p>
        </p:txBody>
      </p:sp>
      <p:sp>
        <p:nvSpPr>
          <p:cNvPr id="2" name="Rectangle: Rounded Corners 1">
            <a:extLst>
              <a:ext uri="{FF2B5EF4-FFF2-40B4-BE49-F238E27FC236}">
                <a16:creationId xmlns:a16="http://schemas.microsoft.com/office/drawing/2014/main" id="{6E6B46B7-9CB4-35BB-5776-BCC6BB9D27C2}"/>
              </a:ext>
            </a:extLst>
          </p:cNvPr>
          <p:cNvSpPr/>
          <p:nvPr/>
        </p:nvSpPr>
        <p:spPr>
          <a:xfrm>
            <a:off x="1487488" y="1484784"/>
            <a:ext cx="9505056" cy="1080120"/>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endParaRPr lang="es-PE" sz="1200" b="1" dirty="0">
              <a:solidFill>
                <a:srgbClr val="1F497D"/>
              </a:solidFill>
              <a:latin typeface="Trebuchet MS" panose="020B0603020202020204" pitchFamily="34" charset="0"/>
            </a:endParaRPr>
          </a:p>
          <a:p>
            <a:pPr algn="just" defTabSz="457200">
              <a:defRPr/>
            </a:pPr>
            <a:r>
              <a:rPr lang="es-ES" sz="1200" b="1" dirty="0">
                <a:solidFill>
                  <a:schemeClr val="tx1"/>
                </a:solidFill>
                <a:latin typeface="Trebuchet MS" panose="020B0603020202020204" pitchFamily="34" charset="0"/>
              </a:rPr>
              <a:t>Objetivo SURA 2025-2027: </a:t>
            </a:r>
            <a:r>
              <a:rPr lang="es-ES" sz="1200" dirty="0">
                <a:solidFill>
                  <a:schemeClr val="tx1"/>
                </a:solidFill>
                <a:latin typeface="Trebuchet MS" panose="020B0603020202020204" pitchFamily="34" charset="0"/>
              </a:rPr>
              <a:t>El robustecimiento de la gestión climática a nivel de riesgos físicos y de transición es un Objetivo de SURA AM. Estamos avanzando de la siguiente forma:</a:t>
            </a:r>
            <a:endParaRPr kumimoji="0" lang="es-PE" sz="120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3" name="Rectangle: Rounded Corners 2">
            <a:extLst>
              <a:ext uri="{FF2B5EF4-FFF2-40B4-BE49-F238E27FC236}">
                <a16:creationId xmlns:a16="http://schemas.microsoft.com/office/drawing/2014/main" id="{A0B64005-1B44-4C24-A692-9E961969142B}"/>
              </a:ext>
            </a:extLst>
          </p:cNvPr>
          <p:cNvSpPr/>
          <p:nvPr/>
        </p:nvSpPr>
        <p:spPr>
          <a:xfrm>
            <a:off x="1487488" y="2564904"/>
            <a:ext cx="3168352" cy="3672408"/>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just" defTabSz="457200">
              <a:defRPr/>
            </a:pPr>
            <a:endParaRPr lang="es-ES" sz="1200" dirty="0">
              <a:solidFill>
                <a:srgbClr val="002060"/>
              </a:solidFill>
              <a:latin typeface="Trebuchet MS" panose="020B0603020202020204" pitchFamily="34" charset="0"/>
            </a:endParaRPr>
          </a:p>
          <a:p>
            <a:pPr marL="228600" lvl="0" indent="-228600" algn="just" defTabSz="457200">
              <a:buAutoNum type="alphaLcParenR"/>
              <a:defRPr/>
            </a:pPr>
            <a:r>
              <a:rPr lang="es-ES" sz="1200" b="1" dirty="0">
                <a:solidFill>
                  <a:srgbClr val="002060"/>
                </a:solidFill>
                <a:latin typeface="Trebuchet MS" panose="020B0603020202020204" pitchFamily="34" charset="0"/>
              </a:rPr>
              <a:t>Riesgos Físicos: </a:t>
            </a:r>
          </a:p>
          <a:p>
            <a:pPr lvl="0" algn="just" defTabSz="457200">
              <a:defRPr/>
            </a:pPr>
            <a:endParaRPr lang="es-ES" sz="1200" b="1" dirty="0">
              <a:solidFill>
                <a:srgbClr val="002060"/>
              </a:solidFill>
              <a:latin typeface="Trebuchet MS" panose="020B0603020202020204" pitchFamily="34" charset="0"/>
            </a:endParaRPr>
          </a:p>
          <a:p>
            <a:pPr marL="285750" lvl="0" indent="-285750" algn="just" defTabSz="457200">
              <a:buAutoNum type="romanLcParenBoth"/>
              <a:defRPr/>
            </a:pPr>
            <a:r>
              <a:rPr lang="es-PE" sz="1200" b="1" dirty="0">
                <a:solidFill>
                  <a:srgbClr val="1F497D"/>
                </a:solidFill>
                <a:latin typeface="Trebuchet MS" panose="020B0603020202020204" pitchFamily="34" charset="0"/>
              </a:rPr>
              <a:t>Evaluación con Data </a:t>
            </a:r>
            <a:r>
              <a:rPr lang="es-PE" sz="1200" b="1" u="sng" dirty="0">
                <a:solidFill>
                  <a:srgbClr val="1F497D"/>
                </a:solidFill>
                <a:latin typeface="Trebuchet MS" panose="020B0603020202020204" pitchFamily="34" charset="0"/>
              </a:rPr>
              <a:t>Histórica</a:t>
            </a:r>
            <a:r>
              <a:rPr lang="es-PE" sz="1200" b="1" dirty="0">
                <a:solidFill>
                  <a:srgbClr val="1F497D"/>
                </a:solidFill>
                <a:latin typeface="Trebuchet MS" panose="020B0603020202020204" pitchFamily="34" charset="0"/>
              </a:rPr>
              <a:t>: </a:t>
            </a:r>
            <a:r>
              <a:rPr lang="es-PE" sz="1200" dirty="0">
                <a:solidFill>
                  <a:srgbClr val="1F497D"/>
                </a:solidFill>
                <a:latin typeface="Trebuchet MS" panose="020B0603020202020204" pitchFamily="34" charset="0"/>
              </a:rPr>
              <a:t>Realizamos el análisis a nivel distrital con data de </a:t>
            </a:r>
            <a:r>
              <a:rPr lang="es-PE" sz="1200" dirty="0" err="1">
                <a:solidFill>
                  <a:srgbClr val="1F497D"/>
                </a:solidFill>
                <a:latin typeface="Trebuchet MS" panose="020B0603020202020204" pitchFamily="34" charset="0"/>
              </a:rPr>
              <a:t>Cenepred</a:t>
            </a:r>
            <a:r>
              <a:rPr lang="es-PE" sz="1200" dirty="0">
                <a:solidFill>
                  <a:srgbClr val="1F497D"/>
                </a:solidFill>
                <a:latin typeface="Trebuchet MS" panose="020B0603020202020204" pitchFamily="34" charset="0"/>
              </a:rPr>
              <a:t> siguiendo los lineamientos de AFORE SURA y con mitigantes;</a:t>
            </a:r>
            <a:r>
              <a:rPr lang="es-PE" sz="1200" b="1" dirty="0">
                <a:solidFill>
                  <a:srgbClr val="1F497D"/>
                </a:solidFill>
                <a:latin typeface="Trebuchet MS" panose="020B0603020202020204" pitchFamily="34" charset="0"/>
              </a:rPr>
              <a:t> </a:t>
            </a:r>
            <a:r>
              <a:rPr lang="es-PE" sz="1200" b="1" u="sng" dirty="0">
                <a:solidFill>
                  <a:srgbClr val="FF0000"/>
                </a:solidFill>
                <a:latin typeface="Trebuchet MS" panose="020B0603020202020204" pitchFamily="34" charset="0"/>
              </a:rPr>
              <a:t>y</a:t>
            </a:r>
          </a:p>
          <a:p>
            <a:pPr marL="285750" lvl="0" indent="-285750" algn="just" defTabSz="457200">
              <a:buAutoNum type="romanLcParenBoth"/>
              <a:defRPr/>
            </a:pPr>
            <a:endParaRPr lang="es-PE" sz="1200" b="1" dirty="0">
              <a:solidFill>
                <a:srgbClr val="1F497D"/>
              </a:solidFill>
              <a:latin typeface="Trebuchet MS" panose="020B0603020202020204" pitchFamily="34" charset="0"/>
            </a:endParaRPr>
          </a:p>
          <a:p>
            <a:pPr marL="285750" indent="-285750" algn="just" defTabSz="457200">
              <a:buFontTx/>
              <a:buAutoNum type="romanLcParenBoth"/>
              <a:defRPr/>
            </a:pPr>
            <a:r>
              <a:rPr lang="es-PE" sz="1200" b="1" dirty="0">
                <a:solidFill>
                  <a:srgbClr val="1F497D"/>
                </a:solidFill>
                <a:latin typeface="Trebuchet MS" panose="020B0603020202020204" pitchFamily="34" charset="0"/>
              </a:rPr>
              <a:t>Seguimiento con Emisores de RV para gestión del FEN; </a:t>
            </a:r>
            <a:r>
              <a:rPr lang="es-PE" sz="1200" b="1" u="sng" dirty="0">
                <a:solidFill>
                  <a:srgbClr val="FF0000"/>
                </a:solidFill>
                <a:latin typeface="Trebuchet MS" panose="020B0603020202020204" pitchFamily="34" charset="0"/>
              </a:rPr>
              <a:t>y</a:t>
            </a:r>
            <a:endParaRPr lang="es-PE" sz="1200" b="1" dirty="0">
              <a:solidFill>
                <a:srgbClr val="1F497D"/>
              </a:solidFill>
              <a:latin typeface="Trebuchet MS" panose="020B0603020202020204" pitchFamily="34" charset="0"/>
            </a:endParaRPr>
          </a:p>
          <a:p>
            <a:pPr lvl="0" algn="just" defTabSz="457200">
              <a:defRPr/>
            </a:pPr>
            <a:r>
              <a:rPr lang="es-PE" sz="1200" b="1" dirty="0">
                <a:solidFill>
                  <a:srgbClr val="1F497D"/>
                </a:solidFill>
                <a:latin typeface="Trebuchet MS" panose="020B0603020202020204" pitchFamily="34" charset="0"/>
              </a:rPr>
              <a:t> </a:t>
            </a:r>
          </a:p>
          <a:p>
            <a:pPr marL="285750" lvl="0" indent="-285750" algn="just" defTabSz="457200">
              <a:buAutoNum type="romanLcParenBoth"/>
              <a:defRPr/>
            </a:pPr>
            <a:r>
              <a:rPr lang="es-PE" sz="1200" b="1" dirty="0">
                <a:solidFill>
                  <a:srgbClr val="1F497D"/>
                </a:solidFill>
                <a:latin typeface="Trebuchet MS" panose="020B0603020202020204" pitchFamily="34" charset="0"/>
              </a:rPr>
              <a:t>Evaluación con </a:t>
            </a:r>
            <a:r>
              <a:rPr lang="es-PE" sz="1200" b="1" u="sng" dirty="0">
                <a:solidFill>
                  <a:srgbClr val="1F497D"/>
                </a:solidFill>
                <a:latin typeface="Trebuchet MS" panose="020B0603020202020204" pitchFamily="34" charset="0"/>
              </a:rPr>
              <a:t>Proyecciones</a:t>
            </a:r>
            <a:r>
              <a:rPr lang="es-PE" sz="1200" b="1" dirty="0">
                <a:solidFill>
                  <a:srgbClr val="1F497D"/>
                </a:solidFill>
                <a:latin typeface="Trebuchet MS" panose="020B0603020202020204" pitchFamily="34" charset="0"/>
              </a:rPr>
              <a:t>: </a:t>
            </a:r>
            <a:r>
              <a:rPr lang="es-PE" sz="1200" dirty="0">
                <a:solidFill>
                  <a:srgbClr val="1F497D"/>
                </a:solidFill>
                <a:latin typeface="Trebuchet MS" panose="020B0603020202020204" pitchFamily="34" charset="0"/>
              </a:rPr>
              <a:t>Con apoyo de un Consultor o Plataforma podemos georreferenciar (ubicación con coordenadas exactas) los activos de  emisores locales y ver nivel de riesgo proyectado (2030, 2040, o 2050)</a:t>
            </a:r>
            <a:r>
              <a:rPr lang="es-PE" sz="1200" b="1" dirty="0">
                <a:solidFill>
                  <a:srgbClr val="1F497D"/>
                </a:solidFill>
                <a:latin typeface="Trebuchet MS" panose="020B0603020202020204" pitchFamily="34" charset="0"/>
              </a:rPr>
              <a:t>.  Pendiente $.</a:t>
            </a:r>
            <a:endParaRPr lang="es-PE" sz="1200" dirty="0">
              <a:solidFill>
                <a:srgbClr val="1F497D"/>
              </a:solidFill>
              <a:latin typeface="Trebuchet MS" panose="020B0603020202020204" pitchFamily="34" charset="0"/>
            </a:endParaRPr>
          </a:p>
          <a:p>
            <a:pPr lvl="0" algn="just"/>
            <a:r>
              <a:rPr lang="es-ES" sz="1200" dirty="0">
                <a:solidFill>
                  <a:srgbClr val="002060"/>
                </a:solidFill>
                <a:latin typeface="Trebuchet MS" panose="020B0603020202020204" pitchFamily="34" charset="0"/>
              </a:rPr>
              <a:t> </a:t>
            </a:r>
            <a:endParaRPr lang="es-PE" sz="1200" dirty="0">
              <a:solidFill>
                <a:srgbClr val="002060"/>
              </a:solidFill>
              <a:latin typeface="Trebuchet MS" panose="020B0603020202020204" pitchFamily="34" charset="0"/>
            </a:endParaRPr>
          </a:p>
        </p:txBody>
      </p:sp>
      <p:sp>
        <p:nvSpPr>
          <p:cNvPr id="5" name="Rectangle: Rounded Corners 4">
            <a:extLst>
              <a:ext uri="{FF2B5EF4-FFF2-40B4-BE49-F238E27FC236}">
                <a16:creationId xmlns:a16="http://schemas.microsoft.com/office/drawing/2014/main" id="{5C617646-AADB-17E4-16BA-E667668E260D}"/>
              </a:ext>
            </a:extLst>
          </p:cNvPr>
          <p:cNvSpPr/>
          <p:nvPr/>
        </p:nvSpPr>
        <p:spPr>
          <a:xfrm>
            <a:off x="4655840" y="2564904"/>
            <a:ext cx="3168352" cy="3672408"/>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endParaRPr lang="es-ES" sz="1200" dirty="0">
              <a:solidFill>
                <a:srgbClr val="002060"/>
              </a:solidFill>
              <a:latin typeface="Trebuchet MS" panose="020B0603020202020204" pitchFamily="34" charset="0"/>
            </a:endParaRPr>
          </a:p>
          <a:p>
            <a:pPr algn="just"/>
            <a:r>
              <a:rPr lang="es-ES" sz="1200" dirty="0">
                <a:solidFill>
                  <a:srgbClr val="002060"/>
                </a:solidFill>
                <a:latin typeface="Trebuchet MS" panose="020B0603020202020204" pitchFamily="34" charset="0"/>
              </a:rPr>
              <a:t>b) </a:t>
            </a:r>
            <a:r>
              <a:rPr lang="es-PE" sz="1200" b="1" dirty="0">
                <a:solidFill>
                  <a:srgbClr val="1F497D"/>
                </a:solidFill>
                <a:latin typeface="Trebuchet MS" panose="020B0603020202020204" pitchFamily="34" charset="0"/>
              </a:rPr>
              <a:t>Riesgos de Transición: </a:t>
            </a:r>
          </a:p>
          <a:p>
            <a:pPr algn="just"/>
            <a:endParaRPr lang="es-PE" sz="1200" b="1" dirty="0">
              <a:solidFill>
                <a:srgbClr val="1F497D"/>
              </a:solidFill>
              <a:latin typeface="Trebuchet MS" panose="020B0603020202020204" pitchFamily="34" charset="0"/>
            </a:endParaRPr>
          </a:p>
          <a:p>
            <a:pPr marL="285750" indent="-285750" algn="just">
              <a:buFontTx/>
              <a:buAutoNum type="romanLcParenBoth"/>
            </a:pPr>
            <a:r>
              <a:rPr lang="es-PE" sz="1200" b="1" dirty="0">
                <a:solidFill>
                  <a:srgbClr val="1F497D"/>
                </a:solidFill>
                <a:latin typeface="Trebuchet MS" panose="020B0603020202020204" pitchFamily="34" charset="0"/>
              </a:rPr>
              <a:t>Matriz Integra: </a:t>
            </a:r>
            <a:r>
              <a:rPr lang="es-PE" sz="1200" dirty="0">
                <a:solidFill>
                  <a:srgbClr val="1F497D"/>
                </a:solidFill>
                <a:latin typeface="Trebuchet MS" panose="020B0603020202020204" pitchFamily="34" charset="0"/>
              </a:rPr>
              <a:t>Realizamos el análisis con mayor precisión y mitigantes; </a:t>
            </a:r>
            <a:r>
              <a:rPr lang="es-PE" sz="1200" b="1" u="sng" dirty="0">
                <a:solidFill>
                  <a:srgbClr val="FF0000"/>
                </a:solidFill>
                <a:latin typeface="Trebuchet MS" panose="020B0603020202020204" pitchFamily="34" charset="0"/>
              </a:rPr>
              <a:t>y</a:t>
            </a:r>
          </a:p>
          <a:p>
            <a:pPr marL="285750" indent="-285750" algn="just">
              <a:buAutoNum type="romanLcParenBoth"/>
            </a:pPr>
            <a:endParaRPr lang="es-PE" sz="1200" b="1" dirty="0">
              <a:solidFill>
                <a:srgbClr val="1F497D"/>
              </a:solidFill>
              <a:latin typeface="Trebuchet MS" panose="020B0603020202020204" pitchFamily="34" charset="0"/>
            </a:endParaRPr>
          </a:p>
          <a:p>
            <a:pPr marL="285750" lvl="0" indent="-285750" algn="just" defTabSz="457200">
              <a:buAutoNum type="romanLcParenBoth"/>
              <a:defRPr/>
            </a:pPr>
            <a:r>
              <a:rPr lang="es-PE" sz="1200" b="1" dirty="0">
                <a:solidFill>
                  <a:srgbClr val="1F497D"/>
                </a:solidFill>
                <a:latin typeface="Trebuchet MS" panose="020B0603020202020204" pitchFamily="34" charset="0"/>
              </a:rPr>
              <a:t>Evaluación con </a:t>
            </a:r>
            <a:r>
              <a:rPr lang="es-PE" sz="1200" b="1" u="sng" dirty="0">
                <a:solidFill>
                  <a:srgbClr val="1F497D"/>
                </a:solidFill>
                <a:latin typeface="Trebuchet MS" panose="020B0603020202020204" pitchFamily="34" charset="0"/>
              </a:rPr>
              <a:t>Proyecciones</a:t>
            </a:r>
            <a:r>
              <a:rPr lang="es-PE" sz="1200" b="1" dirty="0">
                <a:solidFill>
                  <a:srgbClr val="1F497D"/>
                </a:solidFill>
                <a:latin typeface="Trebuchet MS" panose="020B0603020202020204" pitchFamily="34" charset="0"/>
              </a:rPr>
              <a:t>: </a:t>
            </a:r>
            <a:r>
              <a:rPr lang="es-PE" sz="1200" dirty="0">
                <a:solidFill>
                  <a:srgbClr val="1F497D"/>
                </a:solidFill>
                <a:latin typeface="Trebuchet MS" panose="020B0603020202020204" pitchFamily="34" charset="0"/>
              </a:rPr>
              <a:t>Con apoyo de un Consultor o Plataforma podemos estimar el riesgo de transición estimado y ver nivel de riesgo proyectado (2030, 2040, o 2050)</a:t>
            </a:r>
            <a:r>
              <a:rPr lang="es-PE" sz="1200" b="1" dirty="0">
                <a:solidFill>
                  <a:srgbClr val="1F497D"/>
                </a:solidFill>
                <a:latin typeface="Trebuchet MS" panose="020B0603020202020204" pitchFamily="34" charset="0"/>
              </a:rPr>
              <a:t>.  Pendiente $.</a:t>
            </a:r>
            <a:endParaRPr lang="es-PE" sz="1200" dirty="0">
              <a:solidFill>
                <a:srgbClr val="1F497D"/>
              </a:solidFill>
              <a:latin typeface="Trebuchet MS" panose="020B0603020202020204" pitchFamily="34" charset="0"/>
            </a:endParaRPr>
          </a:p>
        </p:txBody>
      </p:sp>
      <p:sp>
        <p:nvSpPr>
          <p:cNvPr id="4" name="Rectangle: Rounded Corners 3">
            <a:extLst>
              <a:ext uri="{FF2B5EF4-FFF2-40B4-BE49-F238E27FC236}">
                <a16:creationId xmlns:a16="http://schemas.microsoft.com/office/drawing/2014/main" id="{B8DE4519-864F-A148-501A-EE4454C46384}"/>
              </a:ext>
            </a:extLst>
          </p:cNvPr>
          <p:cNvSpPr/>
          <p:nvPr/>
        </p:nvSpPr>
        <p:spPr>
          <a:xfrm>
            <a:off x="7824192" y="2564904"/>
            <a:ext cx="3168352" cy="3672408"/>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endParaRPr lang="es-ES" sz="1200" dirty="0">
              <a:solidFill>
                <a:srgbClr val="002060"/>
              </a:solidFill>
              <a:latin typeface="Trebuchet MS" panose="020B0603020202020204" pitchFamily="34" charset="0"/>
            </a:endParaRPr>
          </a:p>
          <a:p>
            <a:pPr algn="just"/>
            <a:r>
              <a:rPr lang="es-ES" sz="1200" dirty="0">
                <a:solidFill>
                  <a:srgbClr val="002060"/>
                </a:solidFill>
                <a:latin typeface="Trebuchet MS" panose="020B0603020202020204" pitchFamily="34" charset="0"/>
              </a:rPr>
              <a:t>c) </a:t>
            </a:r>
            <a:r>
              <a:rPr lang="es-PE" sz="1200" b="1" dirty="0">
                <a:solidFill>
                  <a:srgbClr val="1F497D"/>
                </a:solidFill>
                <a:latin typeface="Trebuchet MS" panose="020B0603020202020204" pitchFamily="34" charset="0"/>
              </a:rPr>
              <a:t>Pérdida Estimada – Físicos y Transición: </a:t>
            </a:r>
          </a:p>
          <a:p>
            <a:pPr algn="just"/>
            <a:endParaRPr lang="es-PE" sz="1200" b="1" dirty="0">
              <a:solidFill>
                <a:srgbClr val="1F497D"/>
              </a:solidFill>
              <a:latin typeface="Trebuchet MS" panose="020B0603020202020204" pitchFamily="34" charset="0"/>
            </a:endParaRPr>
          </a:p>
          <a:p>
            <a:pPr algn="just"/>
            <a:r>
              <a:rPr lang="es-PE" sz="1200" dirty="0">
                <a:solidFill>
                  <a:srgbClr val="1F497D"/>
                </a:solidFill>
                <a:latin typeface="Trebuchet MS" panose="020B0603020202020204" pitchFamily="34" charset="0"/>
              </a:rPr>
              <a:t>Estimar la pérdida que podrían afrontar los emisores en base a los resultados obtenidos y generar resultados agregados. Finalmente, llevarlos a los modelo de valorización si son califica como variable material para el sector puntual. </a:t>
            </a:r>
            <a:r>
              <a:rPr lang="es-PE" sz="1200" b="1" dirty="0">
                <a:solidFill>
                  <a:srgbClr val="1F497D"/>
                </a:solidFill>
                <a:latin typeface="Trebuchet MS" panose="020B0603020202020204" pitchFamily="34" charset="0"/>
              </a:rPr>
              <a:t>Pendiente.</a:t>
            </a:r>
          </a:p>
        </p:txBody>
      </p:sp>
      <p:pic>
        <p:nvPicPr>
          <p:cNvPr id="7" name="Graphic 21" descr="Checkbox Checked with solid fill">
            <a:extLst>
              <a:ext uri="{FF2B5EF4-FFF2-40B4-BE49-F238E27FC236}">
                <a16:creationId xmlns:a16="http://schemas.microsoft.com/office/drawing/2014/main" id="{3A08EE48-ED2C-14DD-0F0B-553F29CE8CB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95800" y="3861048"/>
            <a:ext cx="288032" cy="288032"/>
          </a:xfrm>
          <a:prstGeom prst="rect">
            <a:avLst/>
          </a:prstGeom>
        </p:spPr>
      </p:pic>
      <p:pic>
        <p:nvPicPr>
          <p:cNvPr id="8" name="Graphic 21" descr="Checkbox Checked with solid fill">
            <a:extLst>
              <a:ext uri="{FF2B5EF4-FFF2-40B4-BE49-F238E27FC236}">
                <a16:creationId xmlns:a16="http://schemas.microsoft.com/office/drawing/2014/main" id="{0A92146A-4C26-48C0-F99C-5CBC090307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36160" y="3284984"/>
            <a:ext cx="288032" cy="288032"/>
          </a:xfrm>
          <a:prstGeom prst="rect">
            <a:avLst/>
          </a:prstGeom>
        </p:spPr>
      </p:pic>
      <p:pic>
        <p:nvPicPr>
          <p:cNvPr id="9" name="Graphic 21" descr="Checkbox Checked with solid fill">
            <a:extLst>
              <a:ext uri="{FF2B5EF4-FFF2-40B4-BE49-F238E27FC236}">
                <a16:creationId xmlns:a16="http://schemas.microsoft.com/office/drawing/2014/main" id="{269AEADF-2784-D238-7F5F-F6F85BDB79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95800" y="4437112"/>
            <a:ext cx="288032" cy="288032"/>
          </a:xfrm>
          <a:prstGeom prst="rect">
            <a:avLst/>
          </a:prstGeom>
        </p:spPr>
      </p:pic>
    </p:spTree>
    <p:extLst>
      <p:ext uri="{BB962C8B-B14F-4D97-AF65-F5344CB8AC3E}">
        <p14:creationId xmlns:p14="http://schemas.microsoft.com/office/powerpoint/2010/main" val="1094996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1437F-925C-3D57-64C8-36E3C99E3BDE}"/>
            </a:ext>
          </a:extLst>
        </p:cNvPr>
        <p:cNvGrpSpPr/>
        <p:nvPr/>
      </p:nvGrpSpPr>
      <p:grpSpPr>
        <a:xfrm>
          <a:off x="0" y="0"/>
          <a:ext cx="0" cy="0"/>
          <a:chOff x="0" y="0"/>
          <a:chExt cx="0" cy="0"/>
        </a:xfrm>
      </p:grpSpPr>
      <p:cxnSp>
        <p:nvCxnSpPr>
          <p:cNvPr id="35" name="Conector recto de flecha 34">
            <a:extLst>
              <a:ext uri="{FF2B5EF4-FFF2-40B4-BE49-F238E27FC236}">
                <a16:creationId xmlns:a16="http://schemas.microsoft.com/office/drawing/2014/main" id="{CB24A858-DEB7-43AB-DC2E-197C425F2DD2}"/>
              </a:ext>
            </a:extLst>
          </p:cNvPr>
          <p:cNvCxnSpPr>
            <a:cxnSpLocks/>
          </p:cNvCxnSpPr>
          <p:nvPr/>
        </p:nvCxnSpPr>
        <p:spPr>
          <a:xfrm>
            <a:off x="983432" y="2924927"/>
            <a:ext cx="10956624" cy="0"/>
          </a:xfrm>
          <a:prstGeom prst="straightConnector1">
            <a:avLst/>
          </a:prstGeom>
          <a:ln w="34925">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49708239-9CFC-18A7-6E29-EE6EA13B55D7}"/>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1E2E6E"/>
                </a:solidFill>
                <a:effectLst/>
                <a:uLnTx/>
                <a:uFillTx/>
                <a:latin typeface="Trebuchet MS" panose="020B0603020202020204" pitchFamily="34" charset="0"/>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25</a:t>
            </a:fld>
            <a:endParaRPr kumimoji="0" lang="es-PE" sz="14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endParaRPr>
          </a:p>
        </p:txBody>
      </p:sp>
      <p:sp>
        <p:nvSpPr>
          <p:cNvPr id="7" name="Title 2">
            <a:extLst>
              <a:ext uri="{FF2B5EF4-FFF2-40B4-BE49-F238E27FC236}">
                <a16:creationId xmlns:a16="http://schemas.microsoft.com/office/drawing/2014/main" id="{96B39C74-4A56-E25B-D217-3FA92317AF5C}"/>
              </a:ext>
            </a:extLst>
          </p:cNvPr>
          <p:cNvSpPr txBox="1">
            <a:spLocks/>
          </p:cNvSpPr>
          <p:nvPr/>
        </p:nvSpPr>
        <p:spPr>
          <a:xfrm>
            <a:off x="-903" y="88429"/>
            <a:ext cx="10819699" cy="676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kern="1200" spc="-50" baseline="0">
                <a:solidFill>
                  <a:schemeClr val="tx1">
                    <a:lumMod val="75000"/>
                  </a:schemeClr>
                </a:solidFill>
                <a:latin typeface="Trebuchet MS" panose="020B0603020202020204" pitchFamily="34" charset="0"/>
                <a:ea typeface="+mj-ea"/>
                <a:cs typeface="+mj-cs"/>
              </a:defRPr>
            </a:lvl1pPr>
          </a:lstStyle>
          <a:p>
            <a:endParaRPr lang="es-ES" sz="2000" dirty="0"/>
          </a:p>
        </p:txBody>
      </p:sp>
      <p:sp>
        <p:nvSpPr>
          <p:cNvPr id="8" name="Title 2">
            <a:extLst>
              <a:ext uri="{FF2B5EF4-FFF2-40B4-BE49-F238E27FC236}">
                <a16:creationId xmlns:a16="http://schemas.microsoft.com/office/drawing/2014/main" id="{C488C403-A5B7-34D5-E4D8-A5E6576983D2}"/>
              </a:ext>
            </a:extLst>
          </p:cNvPr>
          <p:cNvSpPr>
            <a:spLocks noGrp="1"/>
          </p:cNvSpPr>
          <p:nvPr>
            <p:ph type="title"/>
          </p:nvPr>
        </p:nvSpPr>
        <p:spPr>
          <a:xfrm>
            <a:off x="0" y="88429"/>
            <a:ext cx="10819699" cy="676275"/>
          </a:xfrm>
        </p:spPr>
        <p:txBody>
          <a:bodyPr>
            <a:noAutofit/>
          </a:bodyPr>
          <a:lstStyle/>
          <a:p>
            <a:r>
              <a:rPr lang="es-ES" sz="2000" dirty="0"/>
              <a:t>4.1 Portafolios Temáticos – Lineamientos SURA AM</a:t>
            </a:r>
            <a:r>
              <a:rPr lang="es-PE" sz="2000" dirty="0"/>
              <a:t> </a:t>
            </a:r>
            <a:endParaRPr lang="es-ES" sz="2000" dirty="0"/>
          </a:p>
        </p:txBody>
      </p:sp>
      <p:sp>
        <p:nvSpPr>
          <p:cNvPr id="5" name="Rectangle: Rounded Corners 4">
            <a:extLst>
              <a:ext uri="{FF2B5EF4-FFF2-40B4-BE49-F238E27FC236}">
                <a16:creationId xmlns:a16="http://schemas.microsoft.com/office/drawing/2014/main" id="{C11CFD58-1F19-4B1A-02FD-43FBCC08DCCE}"/>
              </a:ext>
            </a:extLst>
          </p:cNvPr>
          <p:cNvSpPr/>
          <p:nvPr/>
        </p:nvSpPr>
        <p:spPr>
          <a:xfrm>
            <a:off x="839416" y="1124744"/>
            <a:ext cx="11077200" cy="504054"/>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2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Desde </a:t>
            </a:r>
            <a:r>
              <a:rPr lang="es-PE" sz="1200" dirty="0">
                <a:solidFill>
                  <a:srgbClr val="1F497D"/>
                </a:solidFill>
                <a:latin typeface="Trebuchet MS" panose="020B0603020202020204" pitchFamily="34" charset="0"/>
              </a:rPr>
              <a:t>SURA AM se inició el proyecto para generar lineamientos para portafolios temáticos. El enfoque es identificar y definir, a partir de </a:t>
            </a:r>
            <a:r>
              <a:rPr lang="es-PE" sz="1200" dirty="0" err="1">
                <a:solidFill>
                  <a:srgbClr val="1F497D"/>
                </a:solidFill>
                <a:latin typeface="Trebuchet MS" panose="020B0603020202020204" pitchFamily="34" charset="0"/>
              </a:rPr>
              <a:t>research</a:t>
            </a:r>
            <a:r>
              <a:rPr lang="es-PE" sz="1200" dirty="0">
                <a:solidFill>
                  <a:srgbClr val="1F497D"/>
                </a:solidFill>
                <a:latin typeface="Trebuchet MS" panose="020B0603020202020204" pitchFamily="34" charset="0"/>
              </a:rPr>
              <a:t> de los equipos de las </a:t>
            </a:r>
            <a:r>
              <a:rPr lang="es-PE" sz="1200" dirty="0" err="1">
                <a:solidFill>
                  <a:srgbClr val="1F497D"/>
                </a:solidFill>
                <a:latin typeface="Trebuchet MS" panose="020B0603020202020204" pitchFamily="34" charset="0"/>
              </a:rPr>
              <a:t>AFPs</a:t>
            </a:r>
            <a:r>
              <a:rPr lang="es-PE" sz="1200" dirty="0">
                <a:solidFill>
                  <a:srgbClr val="1F497D"/>
                </a:solidFill>
                <a:latin typeface="Trebuchet MS" panose="020B0603020202020204" pitchFamily="34" charset="0"/>
              </a:rPr>
              <a:t> y SURA </a:t>
            </a:r>
            <a:r>
              <a:rPr lang="es-PE" sz="1200" dirty="0" err="1">
                <a:solidFill>
                  <a:srgbClr val="1F497D"/>
                </a:solidFill>
                <a:latin typeface="Trebuchet MS" panose="020B0603020202020204" pitchFamily="34" charset="0"/>
              </a:rPr>
              <a:t>Invesments</a:t>
            </a:r>
            <a:r>
              <a:rPr lang="es-PE" sz="1200" dirty="0">
                <a:solidFill>
                  <a:srgbClr val="1F497D"/>
                </a:solidFill>
                <a:latin typeface="Trebuchet MS" panose="020B0603020202020204" pitchFamily="34" charset="0"/>
              </a:rPr>
              <a:t>, así como de </a:t>
            </a:r>
            <a:r>
              <a:rPr lang="es-PE" sz="1200" dirty="0" err="1">
                <a:solidFill>
                  <a:srgbClr val="1F497D"/>
                </a:solidFill>
                <a:latin typeface="Trebuchet MS" panose="020B0603020202020204" pitchFamily="34" charset="0"/>
              </a:rPr>
              <a:t>know</a:t>
            </a:r>
            <a:r>
              <a:rPr lang="es-PE" sz="1200" dirty="0">
                <a:solidFill>
                  <a:srgbClr val="1F497D"/>
                </a:solidFill>
                <a:latin typeface="Trebuchet MS" panose="020B0603020202020204" pitchFamily="34" charset="0"/>
              </a:rPr>
              <a:t> </a:t>
            </a:r>
            <a:r>
              <a:rPr lang="es-PE" sz="1200" dirty="0" err="1">
                <a:solidFill>
                  <a:srgbClr val="1F497D"/>
                </a:solidFill>
                <a:latin typeface="Trebuchet MS" panose="020B0603020202020204" pitchFamily="34" charset="0"/>
              </a:rPr>
              <a:t>how</a:t>
            </a:r>
            <a:r>
              <a:rPr lang="es-PE" sz="1200" dirty="0">
                <a:solidFill>
                  <a:srgbClr val="1F497D"/>
                </a:solidFill>
                <a:latin typeface="Trebuchet MS" panose="020B0603020202020204" pitchFamily="34" charset="0"/>
              </a:rPr>
              <a:t> de terceros, la mejor forma de desarrollar portafolios temáticos. </a:t>
            </a:r>
            <a:endParaRPr kumimoji="0" lang="es-PE" sz="12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
        <p:nvSpPr>
          <p:cNvPr id="4" name="Rectangle: Rounded Corners 3">
            <a:extLst>
              <a:ext uri="{FF2B5EF4-FFF2-40B4-BE49-F238E27FC236}">
                <a16:creationId xmlns:a16="http://schemas.microsoft.com/office/drawing/2014/main" id="{99B458D4-D74B-AC02-3794-7ED3766039EE}"/>
              </a:ext>
            </a:extLst>
          </p:cNvPr>
          <p:cNvSpPr/>
          <p:nvPr/>
        </p:nvSpPr>
        <p:spPr>
          <a:xfrm>
            <a:off x="767408" y="764704"/>
            <a:ext cx="3384376"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Enfoque General</a:t>
            </a:r>
            <a:r>
              <a:rPr lang="es-PE" sz="1000" b="1" dirty="0">
                <a:solidFill>
                  <a:srgbClr val="1F497D"/>
                </a:solidFill>
                <a:latin typeface="Trebuchet MS" panose="020B0603020202020204" pitchFamily="34" charset="0"/>
              </a:rPr>
              <a:t>:</a:t>
            </a: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9" name="CardHeader">
            <a:extLst>
              <a:ext uri="{FF2B5EF4-FFF2-40B4-BE49-F238E27FC236}">
                <a16:creationId xmlns:a16="http://schemas.microsoft.com/office/drawing/2014/main" id="{B53DFBD9-7CB0-6114-8772-F75FB2E86221}"/>
              </a:ext>
            </a:extLst>
          </p:cNvPr>
          <p:cNvSpPr/>
          <p:nvPr/>
        </p:nvSpPr>
        <p:spPr>
          <a:xfrm>
            <a:off x="1631504" y="2276855"/>
            <a:ext cx="1986960" cy="1296144"/>
          </a:xfrm>
          <a:prstGeom prst="roundRect">
            <a:avLst>
              <a:gd name="adj" fmla="val 14000"/>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1200" dirty="0">
                <a:solidFill>
                  <a:srgbClr val="FFFFFF"/>
                </a:solidFill>
                <a:latin typeface="Trebuchet MS" panose="020B0603020202020204" pitchFamily="34" charset="0"/>
              </a:rPr>
              <a:t>a) Confirmación de Alcance</a:t>
            </a:r>
          </a:p>
        </p:txBody>
      </p:sp>
      <p:sp>
        <p:nvSpPr>
          <p:cNvPr id="31" name="CardHeader">
            <a:extLst>
              <a:ext uri="{FF2B5EF4-FFF2-40B4-BE49-F238E27FC236}">
                <a16:creationId xmlns:a16="http://schemas.microsoft.com/office/drawing/2014/main" id="{F06CE18E-CA9B-EA2A-C949-298680F9CA71}"/>
              </a:ext>
            </a:extLst>
          </p:cNvPr>
          <p:cNvSpPr/>
          <p:nvPr/>
        </p:nvSpPr>
        <p:spPr>
          <a:xfrm>
            <a:off x="6600056" y="4077072"/>
            <a:ext cx="1986960" cy="1296144"/>
          </a:xfrm>
          <a:prstGeom prst="roundRect">
            <a:avLst>
              <a:gd name="adj" fmla="val 14000"/>
            </a:avLst>
          </a:prstGeom>
          <a:solidFill>
            <a:schemeClr val="accent6">
              <a:lumMod val="40000"/>
              <a:lumOff val="60000"/>
            </a:schemeClr>
          </a:solidFill>
          <a:ln>
            <a:no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228600" indent="-228600">
              <a:lnSpc>
                <a:spcPct val="100000"/>
              </a:lnSpc>
              <a:spcAft>
                <a:spcPts val="0"/>
              </a:spcAft>
              <a:buAutoNum type="alphaLcParenR"/>
            </a:pPr>
            <a:r>
              <a:rPr lang="es-PE" sz="1200" dirty="0">
                <a:solidFill>
                  <a:srgbClr val="FFFFFF"/>
                </a:solidFill>
                <a:latin typeface="Trebuchet MS" panose="020B0603020202020204" pitchFamily="34" charset="0"/>
              </a:rPr>
              <a:t>Términos</a:t>
            </a:r>
          </a:p>
          <a:p>
            <a:pPr marL="228600" indent="-228600">
              <a:lnSpc>
                <a:spcPct val="100000"/>
              </a:lnSpc>
              <a:spcAft>
                <a:spcPts val="0"/>
              </a:spcAft>
              <a:buAutoNum type="alphaLcParenR"/>
            </a:pPr>
            <a:r>
              <a:rPr lang="es-PE" sz="1200" dirty="0">
                <a:solidFill>
                  <a:srgbClr val="FFFFFF"/>
                </a:solidFill>
                <a:latin typeface="Trebuchet MS" panose="020B0603020202020204" pitchFamily="34" charset="0"/>
              </a:rPr>
              <a:t>Tesis (Temáticas)</a:t>
            </a:r>
          </a:p>
          <a:p>
            <a:pPr marL="228600" indent="-228600">
              <a:lnSpc>
                <a:spcPct val="100000"/>
              </a:lnSpc>
              <a:spcAft>
                <a:spcPts val="0"/>
              </a:spcAft>
              <a:buAutoNum type="alphaLcParenR"/>
            </a:pPr>
            <a:r>
              <a:rPr lang="es-PE" sz="1200" dirty="0">
                <a:solidFill>
                  <a:srgbClr val="FFFFFF"/>
                </a:solidFill>
                <a:latin typeface="Trebuchet MS" panose="020B0603020202020204" pitchFamily="34" charset="0"/>
              </a:rPr>
              <a:t>Justificación </a:t>
            </a:r>
            <a:r>
              <a:rPr lang="es-PE" sz="1200" dirty="0" err="1">
                <a:solidFill>
                  <a:srgbClr val="FFFFFF"/>
                </a:solidFill>
                <a:latin typeface="Trebuchet MS" panose="020B0603020202020204" pitchFamily="34" charset="0"/>
              </a:rPr>
              <a:t>Est</a:t>
            </a:r>
            <a:endParaRPr lang="es-PE" sz="1200" dirty="0">
              <a:solidFill>
                <a:srgbClr val="FFFFFF"/>
              </a:solidFill>
              <a:latin typeface="Trebuchet MS" panose="020B0603020202020204" pitchFamily="34" charset="0"/>
            </a:endParaRPr>
          </a:p>
          <a:p>
            <a:pPr marL="228600" indent="-228600">
              <a:lnSpc>
                <a:spcPct val="100000"/>
              </a:lnSpc>
              <a:spcAft>
                <a:spcPts val="0"/>
              </a:spcAft>
              <a:buAutoNum type="alphaLcParenR"/>
            </a:pPr>
            <a:r>
              <a:rPr lang="es-PE" sz="1200" dirty="0">
                <a:solidFill>
                  <a:srgbClr val="FFFFFF"/>
                </a:solidFill>
                <a:latin typeface="Trebuchet MS" panose="020B0603020202020204" pitchFamily="34" charset="0"/>
              </a:rPr>
              <a:t>Regulación</a:t>
            </a:r>
          </a:p>
        </p:txBody>
      </p:sp>
      <p:sp>
        <p:nvSpPr>
          <p:cNvPr id="33" name="CardHeader">
            <a:extLst>
              <a:ext uri="{FF2B5EF4-FFF2-40B4-BE49-F238E27FC236}">
                <a16:creationId xmlns:a16="http://schemas.microsoft.com/office/drawing/2014/main" id="{170C0E0D-7952-4448-F051-F599D8D0194A}"/>
              </a:ext>
            </a:extLst>
          </p:cNvPr>
          <p:cNvSpPr/>
          <p:nvPr/>
        </p:nvSpPr>
        <p:spPr>
          <a:xfrm>
            <a:off x="9077592" y="4076615"/>
            <a:ext cx="1986960" cy="1296144"/>
          </a:xfrm>
          <a:prstGeom prst="roundRect">
            <a:avLst>
              <a:gd name="adj" fmla="val 14000"/>
            </a:avLst>
          </a:prstGeom>
          <a:solidFill>
            <a:schemeClr val="accent6">
              <a:lumMod val="40000"/>
              <a:lumOff val="60000"/>
            </a:schemeClr>
          </a:solidFill>
          <a:ln>
            <a:no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228600" indent="-228600">
              <a:lnSpc>
                <a:spcPct val="100000"/>
              </a:lnSpc>
              <a:spcAft>
                <a:spcPts val="0"/>
              </a:spcAft>
              <a:buAutoNum type="alphaLcParenR"/>
            </a:pPr>
            <a:r>
              <a:rPr lang="es-PE" sz="1200" dirty="0">
                <a:solidFill>
                  <a:srgbClr val="FFFFFF"/>
                </a:solidFill>
                <a:latin typeface="Trebuchet MS" panose="020B0603020202020204" pitchFamily="34" charset="0"/>
              </a:rPr>
              <a:t>Posiciones AUM</a:t>
            </a:r>
          </a:p>
          <a:p>
            <a:pPr marL="228600" indent="-228600">
              <a:lnSpc>
                <a:spcPct val="100000"/>
              </a:lnSpc>
              <a:spcAft>
                <a:spcPts val="0"/>
              </a:spcAft>
              <a:buAutoNum type="alphaLcParenR"/>
            </a:pPr>
            <a:r>
              <a:rPr lang="es-PE" sz="1200" dirty="0" err="1">
                <a:solidFill>
                  <a:srgbClr val="FFFFFF"/>
                </a:solidFill>
                <a:latin typeface="Trebuchet MS" panose="020B0603020202020204" pitchFamily="34" charset="0"/>
              </a:rPr>
              <a:t>FFMMs</a:t>
            </a:r>
            <a:r>
              <a:rPr lang="es-PE" sz="1200" dirty="0">
                <a:solidFill>
                  <a:srgbClr val="FFFFFF"/>
                </a:solidFill>
                <a:latin typeface="Trebuchet MS" panose="020B0603020202020204" pitchFamily="34" charset="0"/>
              </a:rPr>
              <a:t>/</a:t>
            </a:r>
            <a:r>
              <a:rPr lang="es-PE" sz="1200" dirty="0" err="1">
                <a:solidFill>
                  <a:srgbClr val="FFFFFF"/>
                </a:solidFill>
                <a:latin typeface="Trebuchet MS" panose="020B0603020202020204" pitchFamily="34" charset="0"/>
              </a:rPr>
              <a:t>ETFs</a:t>
            </a:r>
            <a:endParaRPr lang="es-PE" sz="1200" dirty="0">
              <a:solidFill>
                <a:srgbClr val="FFFFFF"/>
              </a:solidFill>
              <a:latin typeface="Trebuchet MS" panose="020B0603020202020204" pitchFamily="34" charset="0"/>
            </a:endParaRPr>
          </a:p>
          <a:p>
            <a:pPr marL="228600" indent="-228600">
              <a:lnSpc>
                <a:spcPct val="100000"/>
              </a:lnSpc>
              <a:spcAft>
                <a:spcPts val="0"/>
              </a:spcAft>
              <a:buAutoNum type="alphaLcParenR"/>
            </a:pPr>
            <a:r>
              <a:rPr lang="es-PE" sz="1200" dirty="0">
                <a:solidFill>
                  <a:srgbClr val="FFFFFF"/>
                </a:solidFill>
                <a:latin typeface="Trebuchet MS" panose="020B0603020202020204" pitchFamily="34" charset="0"/>
              </a:rPr>
              <a:t>Alternativos</a:t>
            </a:r>
          </a:p>
          <a:p>
            <a:pPr marL="228600" indent="-228600">
              <a:lnSpc>
                <a:spcPct val="100000"/>
              </a:lnSpc>
              <a:spcAft>
                <a:spcPts val="0"/>
              </a:spcAft>
              <a:buAutoNum type="alphaLcParenR"/>
            </a:pPr>
            <a:r>
              <a:rPr lang="es-PE" sz="1200" dirty="0">
                <a:solidFill>
                  <a:srgbClr val="FFFFFF"/>
                </a:solidFill>
                <a:latin typeface="Trebuchet MS" panose="020B0603020202020204" pitchFamily="34" charset="0"/>
              </a:rPr>
              <a:t>Renta Fija</a:t>
            </a:r>
          </a:p>
        </p:txBody>
      </p:sp>
      <p:sp>
        <p:nvSpPr>
          <p:cNvPr id="37" name="Rectángulo 36">
            <a:extLst>
              <a:ext uri="{FF2B5EF4-FFF2-40B4-BE49-F238E27FC236}">
                <a16:creationId xmlns:a16="http://schemas.microsoft.com/office/drawing/2014/main" id="{A3C1B963-5196-234C-EC72-9A83F3F9B89E}"/>
              </a:ext>
            </a:extLst>
          </p:cNvPr>
          <p:cNvSpPr/>
          <p:nvPr/>
        </p:nvSpPr>
        <p:spPr>
          <a:xfrm>
            <a:off x="1631504" y="1844824"/>
            <a:ext cx="9433048" cy="29943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1400" dirty="0">
                <a:solidFill>
                  <a:srgbClr val="000000"/>
                </a:solidFill>
                <a:latin typeface="Trebuchet MS" panose="020B0603020202020204" pitchFamily="34" charset="0"/>
              </a:rPr>
              <a:t>2026</a:t>
            </a:r>
          </a:p>
        </p:txBody>
      </p:sp>
      <p:sp>
        <p:nvSpPr>
          <p:cNvPr id="40" name="CardHeader">
            <a:extLst>
              <a:ext uri="{FF2B5EF4-FFF2-40B4-BE49-F238E27FC236}">
                <a16:creationId xmlns:a16="http://schemas.microsoft.com/office/drawing/2014/main" id="{15329225-FFAB-BB21-9E2E-39482BAF11A9}"/>
              </a:ext>
            </a:extLst>
          </p:cNvPr>
          <p:cNvSpPr/>
          <p:nvPr/>
        </p:nvSpPr>
        <p:spPr>
          <a:xfrm>
            <a:off x="4037032" y="2276855"/>
            <a:ext cx="1986960" cy="1296144"/>
          </a:xfrm>
          <a:prstGeom prst="roundRect">
            <a:avLst>
              <a:gd name="adj" fmla="val 14000"/>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algn="ctr"/>
            <a:r>
              <a:rPr lang="es-PE" sz="1200" dirty="0">
                <a:solidFill>
                  <a:srgbClr val="FFFFFF"/>
                </a:solidFill>
                <a:latin typeface="Trebuchet MS" panose="020B0603020202020204" pitchFamily="34" charset="0"/>
              </a:rPr>
              <a:t>b) Referencias</a:t>
            </a:r>
          </a:p>
          <a:p>
            <a:pPr algn="ctr"/>
            <a:r>
              <a:rPr lang="es-PE" sz="1200" dirty="0">
                <a:solidFill>
                  <a:srgbClr val="FFFFFF"/>
                </a:solidFill>
                <a:latin typeface="Trebuchet MS" panose="020B0603020202020204" pitchFamily="34" charset="0"/>
              </a:rPr>
              <a:t>Externas (NY </a:t>
            </a:r>
            <a:r>
              <a:rPr lang="es-PE" sz="1200" dirty="0" err="1">
                <a:solidFill>
                  <a:srgbClr val="FFFFFF"/>
                </a:solidFill>
                <a:latin typeface="Trebuchet MS" panose="020B0603020202020204" pitchFamily="34" charset="0"/>
              </a:rPr>
              <a:t>Pension</a:t>
            </a:r>
            <a:r>
              <a:rPr lang="es-PE" sz="1200" dirty="0">
                <a:solidFill>
                  <a:srgbClr val="FFFFFF"/>
                </a:solidFill>
                <a:latin typeface="Trebuchet MS" panose="020B0603020202020204" pitchFamily="34" charset="0"/>
              </a:rPr>
              <a:t> Fund; ILPA Goldman</a:t>
            </a:r>
          </a:p>
        </p:txBody>
      </p:sp>
      <p:sp>
        <p:nvSpPr>
          <p:cNvPr id="42" name="CardHeader">
            <a:extLst>
              <a:ext uri="{FF2B5EF4-FFF2-40B4-BE49-F238E27FC236}">
                <a16:creationId xmlns:a16="http://schemas.microsoft.com/office/drawing/2014/main" id="{640DBCC1-0085-DC99-3A27-5BD9EFCDB856}"/>
              </a:ext>
            </a:extLst>
          </p:cNvPr>
          <p:cNvSpPr/>
          <p:nvPr/>
        </p:nvSpPr>
        <p:spPr>
          <a:xfrm>
            <a:off x="6600056" y="2276855"/>
            <a:ext cx="1986960" cy="1296144"/>
          </a:xfrm>
          <a:prstGeom prst="roundRect">
            <a:avLst>
              <a:gd name="adj" fmla="val 14000"/>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algn="ctr"/>
            <a:r>
              <a:rPr lang="es-PE" sz="1200" dirty="0">
                <a:solidFill>
                  <a:srgbClr val="FFFFFF"/>
                </a:solidFill>
                <a:latin typeface="Trebuchet MS" panose="020B0603020202020204" pitchFamily="34" charset="0"/>
              </a:rPr>
              <a:t>c) Definición de Lineamientos</a:t>
            </a:r>
          </a:p>
        </p:txBody>
      </p:sp>
      <p:sp>
        <p:nvSpPr>
          <p:cNvPr id="44" name="CardHeader">
            <a:extLst>
              <a:ext uri="{FF2B5EF4-FFF2-40B4-BE49-F238E27FC236}">
                <a16:creationId xmlns:a16="http://schemas.microsoft.com/office/drawing/2014/main" id="{96B98F92-201A-0D1C-CCAB-61FCE0A69495}"/>
              </a:ext>
            </a:extLst>
          </p:cNvPr>
          <p:cNvSpPr/>
          <p:nvPr/>
        </p:nvSpPr>
        <p:spPr>
          <a:xfrm>
            <a:off x="9077592" y="2276855"/>
            <a:ext cx="1986960" cy="1296144"/>
          </a:xfrm>
          <a:prstGeom prst="roundRect">
            <a:avLst>
              <a:gd name="adj" fmla="val 14000"/>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algn="ctr"/>
            <a:r>
              <a:rPr lang="es-PE" sz="1200" dirty="0">
                <a:solidFill>
                  <a:srgbClr val="FFFFFF"/>
                </a:solidFill>
                <a:latin typeface="Trebuchet MS" panose="020B0603020202020204" pitchFamily="34" charset="0"/>
              </a:rPr>
              <a:t>d) Análisis por </a:t>
            </a:r>
            <a:r>
              <a:rPr lang="es-PE" sz="1200" dirty="0" err="1">
                <a:solidFill>
                  <a:srgbClr val="FFFFFF"/>
                </a:solidFill>
                <a:latin typeface="Trebuchet MS" panose="020B0603020202020204" pitchFamily="34" charset="0"/>
              </a:rPr>
              <a:t>Asset</a:t>
            </a:r>
            <a:r>
              <a:rPr lang="es-PE" sz="1200" dirty="0">
                <a:solidFill>
                  <a:srgbClr val="FFFFFF"/>
                </a:solidFill>
                <a:latin typeface="Trebuchet MS" panose="020B0603020202020204" pitchFamily="34" charset="0"/>
              </a:rPr>
              <a:t> Class</a:t>
            </a:r>
          </a:p>
        </p:txBody>
      </p:sp>
      <p:sp>
        <p:nvSpPr>
          <p:cNvPr id="45" name="Flecha: hacia abajo 44">
            <a:extLst>
              <a:ext uri="{FF2B5EF4-FFF2-40B4-BE49-F238E27FC236}">
                <a16:creationId xmlns:a16="http://schemas.microsoft.com/office/drawing/2014/main" id="{E259D8D9-6F3A-2CA9-2D48-AAE715B957F4}"/>
              </a:ext>
            </a:extLst>
          </p:cNvPr>
          <p:cNvSpPr/>
          <p:nvPr/>
        </p:nvSpPr>
        <p:spPr>
          <a:xfrm>
            <a:off x="7464152" y="3645008"/>
            <a:ext cx="302664" cy="3600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7" name="Flecha: hacia abajo 46">
            <a:extLst>
              <a:ext uri="{FF2B5EF4-FFF2-40B4-BE49-F238E27FC236}">
                <a16:creationId xmlns:a16="http://schemas.microsoft.com/office/drawing/2014/main" id="{A64DB1CA-1FEF-BE2D-5E3C-94DBF758FE93}"/>
              </a:ext>
            </a:extLst>
          </p:cNvPr>
          <p:cNvSpPr/>
          <p:nvPr/>
        </p:nvSpPr>
        <p:spPr>
          <a:xfrm>
            <a:off x="9912424" y="3645025"/>
            <a:ext cx="302664" cy="3600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1" name="Callout">
            <a:extLst>
              <a:ext uri="{FF2B5EF4-FFF2-40B4-BE49-F238E27FC236}">
                <a16:creationId xmlns:a16="http://schemas.microsoft.com/office/drawing/2014/main" id="{DC486C19-44F3-835D-7CDE-1665A32D2063}"/>
              </a:ext>
            </a:extLst>
          </p:cNvPr>
          <p:cNvSpPr/>
          <p:nvPr/>
        </p:nvSpPr>
        <p:spPr>
          <a:xfrm>
            <a:off x="983432" y="5670384"/>
            <a:ext cx="10956624" cy="566928"/>
          </a:xfrm>
          <a:prstGeom prst="roundRect">
            <a:avLst>
              <a:gd name="adj" fmla="val 12000"/>
            </a:avLst>
          </a:prstGeom>
          <a:solidFill>
            <a:srgbClr val="FFC000"/>
          </a:solidFill>
          <a:ln>
            <a:noFill/>
          </a:ln>
        </p:spPr>
        <p:style>
          <a:lnRef idx="0">
            <a:schemeClr val="accent1"/>
          </a:lnRef>
          <a:fillRef idx="0">
            <a:schemeClr val="accent1"/>
          </a:fillRef>
          <a:effectRef idx="0">
            <a:schemeClr val="accent1"/>
          </a:effectRef>
          <a:fontRef idx="minor">
            <a:schemeClr val="lt1"/>
          </a:fontRef>
        </p:style>
        <p:txBody>
          <a:bodyPr wrap="square" lIns="146304" tIns="45720" rIns="146304" bIns="45720" rtlCol="0" anchor="ctr">
            <a:noAutofit/>
          </a:bodyPr>
          <a:lstStyle/>
          <a:p>
            <a:pPr marL="0" indent="0" algn="ctr">
              <a:lnSpc>
                <a:spcPct val="100000"/>
              </a:lnSpc>
              <a:spcAft>
                <a:spcPts val="0"/>
              </a:spcAft>
              <a:buNone/>
            </a:pPr>
            <a:r>
              <a:rPr lang="es-PE" sz="1000" b="1" dirty="0">
                <a:solidFill>
                  <a:srgbClr val="1E2E6E"/>
                </a:solidFill>
                <a:latin typeface="Trebuchet MS" panose="020B0603020202020204" pitchFamily="34" charset="0"/>
              </a:rPr>
              <a:t>Equipo de Trabajo: Integra + AFORE SURA + Protección + AFAP SURA + SURA </a:t>
            </a:r>
            <a:r>
              <a:rPr lang="es-PE" sz="1000" b="1" dirty="0" err="1">
                <a:solidFill>
                  <a:srgbClr val="1E2E6E"/>
                </a:solidFill>
                <a:latin typeface="Trebuchet MS" panose="020B0603020202020204" pitchFamily="34" charset="0"/>
              </a:rPr>
              <a:t>Investments</a:t>
            </a:r>
            <a:r>
              <a:rPr lang="es-PE" sz="1000" b="1" dirty="0">
                <a:solidFill>
                  <a:srgbClr val="1E2E6E"/>
                </a:solidFill>
                <a:latin typeface="Trebuchet MS" panose="020B0603020202020204" pitchFamily="34" charset="0"/>
              </a:rPr>
              <a:t>  </a:t>
            </a:r>
            <a:endParaRPr lang="es-PE" sz="1000" dirty="0">
              <a:solidFill>
                <a:srgbClr val="1E2E6E"/>
              </a:solidFill>
              <a:latin typeface="Trebuchet MS" panose="020B0603020202020204" pitchFamily="34" charset="0"/>
            </a:endParaRPr>
          </a:p>
        </p:txBody>
      </p:sp>
    </p:spTree>
    <p:extLst>
      <p:ext uri="{BB962C8B-B14F-4D97-AF65-F5344CB8AC3E}">
        <p14:creationId xmlns:p14="http://schemas.microsoft.com/office/powerpoint/2010/main" val="4159123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DF82F-7A7B-28FB-50E4-E36024A737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C83EB8-0F49-4FF3-9B1B-F64CD35F5197}"/>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1E2E6E"/>
                </a:solidFill>
                <a:effectLst/>
                <a:uLnTx/>
                <a:uFillTx/>
                <a:latin typeface="Trebuchet MS" panose="020B0603020202020204" pitchFamily="34" charset="0"/>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26</a:t>
            </a:fld>
            <a:endParaRPr kumimoji="0" lang="es-PE" sz="14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endParaRPr>
          </a:p>
        </p:txBody>
      </p:sp>
      <p:sp>
        <p:nvSpPr>
          <p:cNvPr id="7" name="Title 2">
            <a:extLst>
              <a:ext uri="{FF2B5EF4-FFF2-40B4-BE49-F238E27FC236}">
                <a16:creationId xmlns:a16="http://schemas.microsoft.com/office/drawing/2014/main" id="{E75467DA-222E-18FB-9B55-E57C0E239AFE}"/>
              </a:ext>
            </a:extLst>
          </p:cNvPr>
          <p:cNvSpPr txBox="1">
            <a:spLocks/>
          </p:cNvSpPr>
          <p:nvPr/>
        </p:nvSpPr>
        <p:spPr>
          <a:xfrm>
            <a:off x="-903" y="88429"/>
            <a:ext cx="10819699" cy="676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kern="1200" spc="-50" baseline="0">
                <a:solidFill>
                  <a:schemeClr val="tx1">
                    <a:lumMod val="75000"/>
                  </a:schemeClr>
                </a:solidFill>
                <a:latin typeface="Trebuchet MS" panose="020B0603020202020204" pitchFamily="34" charset="0"/>
                <a:ea typeface="+mj-ea"/>
                <a:cs typeface="+mj-cs"/>
              </a:defRPr>
            </a:lvl1pPr>
          </a:lstStyle>
          <a:p>
            <a:endParaRPr lang="es-ES" sz="2000" dirty="0"/>
          </a:p>
        </p:txBody>
      </p:sp>
      <p:sp>
        <p:nvSpPr>
          <p:cNvPr id="8" name="Title 2">
            <a:extLst>
              <a:ext uri="{FF2B5EF4-FFF2-40B4-BE49-F238E27FC236}">
                <a16:creationId xmlns:a16="http://schemas.microsoft.com/office/drawing/2014/main" id="{68475E85-91B5-0252-CF76-D4A04AC01700}"/>
              </a:ext>
            </a:extLst>
          </p:cNvPr>
          <p:cNvSpPr>
            <a:spLocks noGrp="1"/>
          </p:cNvSpPr>
          <p:nvPr>
            <p:ph type="title"/>
          </p:nvPr>
        </p:nvSpPr>
        <p:spPr>
          <a:xfrm>
            <a:off x="0" y="88429"/>
            <a:ext cx="10819699" cy="676275"/>
          </a:xfrm>
        </p:spPr>
        <p:txBody>
          <a:bodyPr>
            <a:noAutofit/>
          </a:bodyPr>
          <a:lstStyle/>
          <a:p>
            <a:r>
              <a:rPr lang="es-ES" sz="2000" dirty="0"/>
              <a:t>4.2 Portafolios Temáticos – Lineamientos SURA AM</a:t>
            </a:r>
            <a:r>
              <a:rPr lang="es-PE" sz="2000" dirty="0"/>
              <a:t> </a:t>
            </a:r>
            <a:endParaRPr lang="es-ES" sz="2000" dirty="0"/>
          </a:p>
        </p:txBody>
      </p:sp>
      <p:sp>
        <p:nvSpPr>
          <p:cNvPr id="5" name="Rectangle: Rounded Corners 4">
            <a:extLst>
              <a:ext uri="{FF2B5EF4-FFF2-40B4-BE49-F238E27FC236}">
                <a16:creationId xmlns:a16="http://schemas.microsoft.com/office/drawing/2014/main" id="{76861BB8-0B8F-9FAC-7258-DFB7EB78655C}"/>
              </a:ext>
            </a:extLst>
          </p:cNvPr>
          <p:cNvSpPr/>
          <p:nvPr/>
        </p:nvSpPr>
        <p:spPr>
          <a:xfrm>
            <a:off x="839416" y="1124744"/>
            <a:ext cx="11077200" cy="648072"/>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000" dirty="0">
                <a:solidFill>
                  <a:srgbClr val="1E2E6E"/>
                </a:solidFill>
                <a:latin typeface="Trebuchet MS" panose="020B0603020202020204" pitchFamily="34" charset="0"/>
              </a:rPr>
              <a:t>Iniciamos el proceso de </a:t>
            </a:r>
            <a:r>
              <a:rPr lang="es-PE" sz="1000" dirty="0" err="1">
                <a:solidFill>
                  <a:srgbClr val="1E2E6E"/>
                </a:solidFill>
                <a:latin typeface="Trebuchet MS" panose="020B0603020202020204" pitchFamily="34" charset="0"/>
              </a:rPr>
              <a:t>research</a:t>
            </a:r>
            <a:r>
              <a:rPr lang="es-PE" sz="1000" dirty="0">
                <a:solidFill>
                  <a:srgbClr val="1E2E6E"/>
                </a:solidFill>
                <a:latin typeface="Trebuchet MS" panose="020B0603020202020204" pitchFamily="34" charset="0"/>
              </a:rPr>
              <a:t> sobre el desarrollo de portafolios temáticos con el equipo regional. El objetivo es generar lineamientos generales que orienten sobre los elementos clave que se deben tener en consideración para generar estos portafolios. Asimismo, se busca evaluar e identificar temáticas alineadas con tendencias estructurales que puedan servir para generar este tipo de portafolios.</a:t>
            </a:r>
          </a:p>
          <a:p>
            <a:pPr algn="just" defTabSz="457200">
              <a:defRPr/>
            </a:pPr>
            <a:r>
              <a:rPr lang="es-PE" sz="1000" dirty="0">
                <a:solidFill>
                  <a:srgbClr val="1F497D"/>
                </a:solidFill>
                <a:latin typeface="Trebuchet MS" panose="020B0603020202020204" pitchFamily="34" charset="0"/>
              </a:rPr>
              <a:t> </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4" name="Rectangle: Rounded Corners 3">
            <a:extLst>
              <a:ext uri="{FF2B5EF4-FFF2-40B4-BE49-F238E27FC236}">
                <a16:creationId xmlns:a16="http://schemas.microsoft.com/office/drawing/2014/main" id="{CCA18E2B-83D3-8FE7-5549-C02B6F4B9E46}"/>
              </a:ext>
            </a:extLst>
          </p:cNvPr>
          <p:cNvSpPr/>
          <p:nvPr/>
        </p:nvSpPr>
        <p:spPr>
          <a:xfrm>
            <a:off x="767408" y="764704"/>
            <a:ext cx="3384376"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Términos y Tesis</a:t>
            </a:r>
            <a:r>
              <a:rPr lang="es-PE" sz="1000" b="1" dirty="0">
                <a:solidFill>
                  <a:srgbClr val="1F497D"/>
                </a:solidFill>
                <a:latin typeface="Trebuchet MS" panose="020B0603020202020204" pitchFamily="34" charset="0"/>
              </a:rPr>
              <a:t>:</a:t>
            </a: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9" name="CardHeader">
            <a:extLst>
              <a:ext uri="{FF2B5EF4-FFF2-40B4-BE49-F238E27FC236}">
                <a16:creationId xmlns:a16="http://schemas.microsoft.com/office/drawing/2014/main" id="{08C866A4-E556-232D-2685-9D50FBFBB869}"/>
              </a:ext>
            </a:extLst>
          </p:cNvPr>
          <p:cNvSpPr/>
          <p:nvPr/>
        </p:nvSpPr>
        <p:spPr>
          <a:xfrm>
            <a:off x="868680" y="1960208"/>
            <a:ext cx="3474720" cy="420624"/>
          </a:xfrm>
          <a:prstGeom prst="roundRect">
            <a:avLst>
              <a:gd name="adj" fmla="val 14000"/>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1200" dirty="0">
                <a:solidFill>
                  <a:srgbClr val="FFFFFF"/>
                </a:solidFill>
                <a:latin typeface="Trebuchet MS" panose="020B0603020202020204" pitchFamily="34" charset="0"/>
              </a:rPr>
              <a:t>Definición</a:t>
            </a:r>
          </a:p>
        </p:txBody>
      </p:sp>
      <p:sp>
        <p:nvSpPr>
          <p:cNvPr id="11" name="CardBody">
            <a:extLst>
              <a:ext uri="{FF2B5EF4-FFF2-40B4-BE49-F238E27FC236}">
                <a16:creationId xmlns:a16="http://schemas.microsoft.com/office/drawing/2014/main" id="{F23C370D-1D4A-82AE-334F-2A6C0ED09596}"/>
              </a:ext>
            </a:extLst>
          </p:cNvPr>
          <p:cNvSpPr/>
          <p:nvPr/>
        </p:nvSpPr>
        <p:spPr>
          <a:xfrm>
            <a:off x="868680" y="2444840"/>
            <a:ext cx="3474720" cy="2834640"/>
          </a:xfrm>
          <a:prstGeom prst="roundRect">
            <a:avLst>
              <a:gd name="adj" fmla="val 5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146304" tIns="146304" rIns="146304" bIns="146304" rtlCol="0" anchor="ctr">
            <a:noAutofit/>
          </a:bodyPr>
          <a:lstStyle/>
          <a:p>
            <a:pPr marL="137160" indent="-137160" algn="l">
              <a:lnSpc>
                <a:spcPct val="100000"/>
              </a:lnSpc>
              <a:spcAft>
                <a:spcPts val="800"/>
              </a:spcAft>
              <a:buClr>
                <a:srgbClr val="3494BA"/>
              </a:buClr>
              <a:buSzPct val="90000"/>
              <a:buFont typeface="Arial" panose="020B0604020202020204" pitchFamily="34" charset="0"/>
              <a:buChar char="•"/>
            </a:pPr>
            <a:r>
              <a:rPr lang="es-PE" sz="1000" dirty="0">
                <a:solidFill>
                  <a:srgbClr val="1E2E6E"/>
                </a:solidFill>
                <a:latin typeface="Trebuchet MS" panose="020B0603020202020204" pitchFamily="34" charset="0"/>
              </a:rPr>
              <a:t>Asignación satélite, complementaria al núcleo diversificado</a:t>
            </a:r>
          </a:p>
          <a:p>
            <a:pPr marL="137160" indent="-137160" algn="l">
              <a:lnSpc>
                <a:spcPct val="100000"/>
              </a:lnSpc>
              <a:spcAft>
                <a:spcPts val="800"/>
              </a:spcAft>
              <a:buClr>
                <a:srgbClr val="3494BA"/>
              </a:buClr>
              <a:buSzPct val="90000"/>
              <a:buFont typeface="Arial" panose="020B0604020202020204" pitchFamily="34" charset="0"/>
              <a:buChar char="•"/>
            </a:pPr>
            <a:r>
              <a:rPr lang="es-PE" sz="1000" dirty="0">
                <a:solidFill>
                  <a:srgbClr val="1E2E6E"/>
                </a:solidFill>
                <a:latin typeface="Trebuchet MS" panose="020B0603020202020204" pitchFamily="34" charset="0"/>
              </a:rPr>
              <a:t>Implementación exclusiva vía fondos mutuos y </a:t>
            </a:r>
            <a:r>
              <a:rPr lang="es-PE" sz="1000" dirty="0" err="1">
                <a:solidFill>
                  <a:srgbClr val="1E2E6E"/>
                </a:solidFill>
                <a:latin typeface="Trebuchet MS" panose="020B0603020202020204" pitchFamily="34" charset="0"/>
              </a:rPr>
              <a:t>ETFs</a:t>
            </a:r>
            <a:r>
              <a:rPr lang="es-PE" sz="1000" dirty="0">
                <a:solidFill>
                  <a:srgbClr val="1E2E6E"/>
                </a:solidFill>
                <a:latin typeface="Trebuchet MS" panose="020B0603020202020204" pitchFamily="34" charset="0"/>
              </a:rPr>
              <a:t> diversificados (parámetro interno)</a:t>
            </a:r>
          </a:p>
          <a:p>
            <a:pPr marL="137160" indent="-137160" algn="l">
              <a:lnSpc>
                <a:spcPct val="100000"/>
              </a:lnSpc>
              <a:spcAft>
                <a:spcPts val="800"/>
              </a:spcAft>
              <a:buClr>
                <a:srgbClr val="3494BA"/>
              </a:buClr>
              <a:buSzPct val="90000"/>
              <a:buFont typeface="Arial" panose="020B0604020202020204" pitchFamily="34" charset="0"/>
              <a:buChar char="•"/>
            </a:pPr>
            <a:r>
              <a:rPr lang="es-PE" sz="1000" dirty="0">
                <a:solidFill>
                  <a:srgbClr val="1E2E6E"/>
                </a:solidFill>
                <a:latin typeface="Trebuchet MS" panose="020B0603020202020204" pitchFamily="34" charset="0"/>
              </a:rPr>
              <a:t>Exposición a megatendencias estructurales de largo plazo</a:t>
            </a:r>
          </a:p>
          <a:p>
            <a:pPr marL="137160" indent="-137160" algn="l">
              <a:lnSpc>
                <a:spcPct val="100000"/>
              </a:lnSpc>
              <a:spcAft>
                <a:spcPts val="800"/>
              </a:spcAft>
              <a:buClr>
                <a:srgbClr val="3494BA"/>
              </a:buClr>
              <a:buSzPct val="90000"/>
              <a:buFont typeface="Arial" panose="020B0604020202020204" pitchFamily="34" charset="0"/>
              <a:buChar char="•"/>
            </a:pPr>
            <a:r>
              <a:rPr lang="es-PE" sz="1000" dirty="0">
                <a:solidFill>
                  <a:srgbClr val="1E2E6E"/>
                </a:solidFill>
                <a:latin typeface="Trebuchet MS" panose="020B0603020202020204" pitchFamily="34" charset="0"/>
              </a:rPr>
              <a:t>Objetivo: mejorar la rentabilidad ajustada por riesgo del portafolio</a:t>
            </a:r>
          </a:p>
          <a:p>
            <a:pPr marL="137160" indent="-137160" algn="l">
              <a:lnSpc>
                <a:spcPct val="100000"/>
              </a:lnSpc>
              <a:spcAft>
                <a:spcPts val="800"/>
              </a:spcAft>
              <a:buClr>
                <a:srgbClr val="3494BA"/>
              </a:buClr>
              <a:buSzPct val="90000"/>
              <a:buFont typeface="Arial" panose="020B0604020202020204" pitchFamily="34" charset="0"/>
              <a:buChar char="•"/>
            </a:pPr>
            <a:r>
              <a:rPr lang="es-PE" sz="1000" dirty="0">
                <a:solidFill>
                  <a:srgbClr val="1E2E6E"/>
                </a:solidFill>
                <a:latin typeface="Trebuchet MS" panose="020B0603020202020204" pitchFamily="34" charset="0"/>
              </a:rPr>
              <a:t>Sostenibilidad compatible, no condicionante del retorno</a:t>
            </a:r>
          </a:p>
        </p:txBody>
      </p:sp>
      <p:sp>
        <p:nvSpPr>
          <p:cNvPr id="13" name="CardHeader">
            <a:extLst>
              <a:ext uri="{FF2B5EF4-FFF2-40B4-BE49-F238E27FC236}">
                <a16:creationId xmlns:a16="http://schemas.microsoft.com/office/drawing/2014/main" id="{F1466BEF-1D25-8966-F208-19C4A6D63E65}"/>
              </a:ext>
            </a:extLst>
          </p:cNvPr>
          <p:cNvSpPr/>
          <p:nvPr/>
        </p:nvSpPr>
        <p:spPr>
          <a:xfrm>
            <a:off x="4599432" y="1960208"/>
            <a:ext cx="3474720" cy="420624"/>
          </a:xfrm>
          <a:prstGeom prst="roundRect">
            <a:avLst>
              <a:gd name="adj" fmla="val 14000"/>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1200" dirty="0">
                <a:solidFill>
                  <a:srgbClr val="FFFFFF"/>
                </a:solidFill>
                <a:latin typeface="Trebuchet MS" panose="020B0603020202020204" pitchFamily="34" charset="0"/>
              </a:rPr>
              <a:t>Principios rectores</a:t>
            </a:r>
          </a:p>
        </p:txBody>
      </p:sp>
      <p:sp>
        <p:nvSpPr>
          <p:cNvPr id="15" name="CardBody">
            <a:extLst>
              <a:ext uri="{FF2B5EF4-FFF2-40B4-BE49-F238E27FC236}">
                <a16:creationId xmlns:a16="http://schemas.microsoft.com/office/drawing/2014/main" id="{07630071-0A44-459C-8824-82A7368F4C12}"/>
              </a:ext>
            </a:extLst>
          </p:cNvPr>
          <p:cNvSpPr/>
          <p:nvPr/>
        </p:nvSpPr>
        <p:spPr>
          <a:xfrm>
            <a:off x="4599432" y="2444840"/>
            <a:ext cx="3474720" cy="2834640"/>
          </a:xfrm>
          <a:prstGeom prst="roundRect">
            <a:avLst>
              <a:gd name="adj" fmla="val 5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146304" tIns="146304" rIns="146304" bIns="146304" rtlCol="0" anchor="ctr">
            <a:noAutofit/>
          </a:bodyPr>
          <a:lstStyle/>
          <a:p>
            <a:pPr marL="137160" indent="-137160" algn="l">
              <a:lnSpc>
                <a:spcPct val="100000"/>
              </a:lnSpc>
              <a:spcAft>
                <a:spcPts val="800"/>
              </a:spcAft>
              <a:buClr>
                <a:srgbClr val="3494BA"/>
              </a:buClr>
              <a:buSzPct val="90000"/>
              <a:buFont typeface="Arial" panose="020B0604020202020204" pitchFamily="34" charset="0"/>
              <a:buChar char="•"/>
            </a:pPr>
            <a:r>
              <a:rPr lang="es-PE" sz="1000" dirty="0">
                <a:solidFill>
                  <a:srgbClr val="1E2E6E"/>
                </a:solidFill>
                <a:latin typeface="Trebuchet MS" panose="020B0603020202020204" pitchFamily="34" charset="0"/>
              </a:rPr>
              <a:t>Complemento, no reemplazo del núcleo</a:t>
            </a:r>
          </a:p>
          <a:p>
            <a:pPr marL="137160" indent="-137160" algn="l">
              <a:lnSpc>
                <a:spcPct val="100000"/>
              </a:lnSpc>
              <a:spcAft>
                <a:spcPts val="800"/>
              </a:spcAft>
              <a:buClr>
                <a:srgbClr val="3494BA"/>
              </a:buClr>
              <a:buSzPct val="90000"/>
              <a:buFont typeface="Arial" panose="020B0604020202020204" pitchFamily="34" charset="0"/>
              <a:buChar char="•"/>
            </a:pPr>
            <a:r>
              <a:rPr lang="es-PE" sz="1000" dirty="0">
                <a:solidFill>
                  <a:srgbClr val="1E2E6E"/>
                </a:solidFill>
                <a:latin typeface="Trebuchet MS" panose="020B0603020202020204" pitchFamily="34" charset="0"/>
              </a:rPr>
              <a:t>La exposición no es el retorno</a:t>
            </a:r>
          </a:p>
          <a:p>
            <a:pPr marL="137160" indent="-137160" algn="l">
              <a:lnSpc>
                <a:spcPct val="100000"/>
              </a:lnSpc>
              <a:spcAft>
                <a:spcPts val="800"/>
              </a:spcAft>
              <a:buClr>
                <a:srgbClr val="3494BA"/>
              </a:buClr>
              <a:buSzPct val="90000"/>
              <a:buFont typeface="Arial" panose="020B0604020202020204" pitchFamily="34" charset="0"/>
              <a:buChar char="•"/>
            </a:pPr>
            <a:r>
              <a:rPr lang="es-PE" sz="1000" dirty="0">
                <a:solidFill>
                  <a:srgbClr val="1E2E6E"/>
                </a:solidFill>
                <a:latin typeface="Trebuchet MS" panose="020B0603020202020204" pitchFamily="34" charset="0"/>
              </a:rPr>
              <a:t>Disciplina de valorización y momento de entrada</a:t>
            </a:r>
          </a:p>
          <a:p>
            <a:pPr marL="137160" indent="-137160" algn="l">
              <a:lnSpc>
                <a:spcPct val="100000"/>
              </a:lnSpc>
              <a:spcAft>
                <a:spcPts val="800"/>
              </a:spcAft>
              <a:buClr>
                <a:srgbClr val="3494BA"/>
              </a:buClr>
              <a:buSzPct val="90000"/>
              <a:buFont typeface="Arial" panose="020B0604020202020204" pitchFamily="34" charset="0"/>
              <a:buChar char="•"/>
            </a:pPr>
            <a:r>
              <a:rPr lang="es-PE" sz="1000" dirty="0">
                <a:solidFill>
                  <a:srgbClr val="1E2E6E"/>
                </a:solidFill>
                <a:latin typeface="Trebuchet MS" panose="020B0603020202020204" pitchFamily="34" charset="0"/>
              </a:rPr>
              <a:t>Coherencia estadística del tema, no del relato</a:t>
            </a:r>
          </a:p>
          <a:p>
            <a:pPr marL="137160" indent="-137160" algn="l">
              <a:lnSpc>
                <a:spcPct val="100000"/>
              </a:lnSpc>
              <a:spcAft>
                <a:spcPts val="800"/>
              </a:spcAft>
              <a:buClr>
                <a:srgbClr val="3494BA"/>
              </a:buClr>
              <a:buSzPct val="90000"/>
              <a:buFont typeface="Arial" panose="020B0604020202020204" pitchFamily="34" charset="0"/>
              <a:buChar char="•"/>
            </a:pPr>
            <a:r>
              <a:rPr lang="es-PE" sz="1000" dirty="0">
                <a:solidFill>
                  <a:srgbClr val="1E2E6E"/>
                </a:solidFill>
                <a:latin typeface="Trebuchet MS" panose="020B0603020202020204" pitchFamily="34" charset="0"/>
              </a:rPr>
              <a:t>Control de costos (TER) y de supervivencia del vehículo</a:t>
            </a:r>
          </a:p>
          <a:p>
            <a:pPr marL="137160" indent="-137160" algn="l">
              <a:lnSpc>
                <a:spcPct val="100000"/>
              </a:lnSpc>
              <a:spcAft>
                <a:spcPts val="800"/>
              </a:spcAft>
              <a:buClr>
                <a:srgbClr val="3494BA"/>
              </a:buClr>
              <a:buSzPct val="90000"/>
              <a:buFont typeface="Arial" panose="020B0604020202020204" pitchFamily="34" charset="0"/>
              <a:buChar char="•"/>
            </a:pPr>
            <a:r>
              <a:rPr lang="es-PE" sz="1000" dirty="0">
                <a:solidFill>
                  <a:srgbClr val="1E2E6E"/>
                </a:solidFill>
                <a:latin typeface="Trebuchet MS" panose="020B0603020202020204" pitchFamily="34" charset="0"/>
              </a:rPr>
              <a:t>Horizonte largo: comprar-y-mantener con rebalanceo por reglas</a:t>
            </a:r>
          </a:p>
        </p:txBody>
      </p:sp>
      <p:sp>
        <p:nvSpPr>
          <p:cNvPr id="18" name="CardHeader">
            <a:extLst>
              <a:ext uri="{FF2B5EF4-FFF2-40B4-BE49-F238E27FC236}">
                <a16:creationId xmlns:a16="http://schemas.microsoft.com/office/drawing/2014/main" id="{6628B75E-2344-A1CE-9433-B554818C41E7}"/>
              </a:ext>
            </a:extLst>
          </p:cNvPr>
          <p:cNvSpPr/>
          <p:nvPr/>
        </p:nvSpPr>
        <p:spPr>
          <a:xfrm>
            <a:off x="8330184" y="1960208"/>
            <a:ext cx="3474720" cy="420624"/>
          </a:xfrm>
          <a:prstGeom prst="roundRect">
            <a:avLst>
              <a:gd name="adj" fmla="val 14000"/>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1200" dirty="0">
                <a:solidFill>
                  <a:srgbClr val="FFFFFF"/>
                </a:solidFill>
                <a:latin typeface="Trebuchet MS" panose="020B0603020202020204" pitchFamily="34" charset="0"/>
              </a:rPr>
              <a:t>Tres condiciones para generar valor</a:t>
            </a:r>
          </a:p>
        </p:txBody>
      </p:sp>
      <p:sp>
        <p:nvSpPr>
          <p:cNvPr id="20" name="CardBody">
            <a:extLst>
              <a:ext uri="{FF2B5EF4-FFF2-40B4-BE49-F238E27FC236}">
                <a16:creationId xmlns:a16="http://schemas.microsoft.com/office/drawing/2014/main" id="{66AE15A9-90FF-8848-5336-7CD6C8F70B1B}"/>
              </a:ext>
            </a:extLst>
          </p:cNvPr>
          <p:cNvSpPr/>
          <p:nvPr/>
        </p:nvSpPr>
        <p:spPr>
          <a:xfrm>
            <a:off x="8330184" y="2444840"/>
            <a:ext cx="3474720" cy="2834640"/>
          </a:xfrm>
          <a:prstGeom prst="roundRect">
            <a:avLst>
              <a:gd name="adj" fmla="val 5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146304" tIns="146304" rIns="146304" bIns="146304" rtlCol="0" anchor="ctr">
            <a:noAutofit/>
          </a:bodyPr>
          <a:lstStyle/>
          <a:p>
            <a:pPr marL="0" indent="0" algn="l">
              <a:lnSpc>
                <a:spcPct val="100000"/>
              </a:lnSpc>
              <a:spcAft>
                <a:spcPts val="800"/>
              </a:spcAft>
              <a:buNone/>
            </a:pPr>
            <a:r>
              <a:rPr lang="es-PE" sz="1000" i="1" dirty="0">
                <a:solidFill>
                  <a:srgbClr val="3494BA"/>
                </a:solidFill>
                <a:latin typeface="Trebuchet MS" panose="020B0603020202020204" pitchFamily="34" charset="0"/>
              </a:rPr>
              <a:t>Deben cumplirse de manera conjunta; cada una es falible:</a:t>
            </a:r>
          </a:p>
          <a:p>
            <a:pPr marL="182880" indent="-182880" algn="l">
              <a:lnSpc>
                <a:spcPct val="100000"/>
              </a:lnSpc>
              <a:spcAft>
                <a:spcPts val="800"/>
              </a:spcAft>
              <a:buClr>
                <a:srgbClr val="3494BA"/>
              </a:buClr>
              <a:buFont typeface="Trebuchet MS"/>
              <a:buAutoNum type="arabicPeriod"/>
            </a:pPr>
            <a:r>
              <a:rPr lang="es-PE" sz="1000" dirty="0">
                <a:solidFill>
                  <a:srgbClr val="1E2E6E"/>
                </a:solidFill>
                <a:latin typeface="Trebuchet MS" panose="020B0603020202020204" pitchFamily="34" charset="0"/>
              </a:rPr>
              <a:t>Materialización del tema en la magnitud y el plazo esperados</a:t>
            </a:r>
          </a:p>
          <a:p>
            <a:pPr marL="182880" indent="-182880" algn="l">
              <a:lnSpc>
                <a:spcPct val="100000"/>
              </a:lnSpc>
              <a:spcAft>
                <a:spcPts val="800"/>
              </a:spcAft>
              <a:buClr>
                <a:srgbClr val="3494BA"/>
              </a:buClr>
              <a:buFont typeface="Trebuchet MS"/>
              <a:buAutoNum type="arabicPeriod"/>
            </a:pPr>
            <a:r>
              <a:rPr lang="es-PE" sz="1000" dirty="0">
                <a:solidFill>
                  <a:srgbClr val="1E2E6E"/>
                </a:solidFill>
                <a:latin typeface="Trebuchet MS" panose="020B0603020202020204" pitchFamily="34" charset="0"/>
              </a:rPr>
              <a:t>Captura efectiva de las empresas beneficiadas por el vehículo</a:t>
            </a:r>
          </a:p>
          <a:p>
            <a:pPr marL="182880" indent="-182880" algn="l">
              <a:lnSpc>
                <a:spcPct val="100000"/>
              </a:lnSpc>
              <a:spcAft>
                <a:spcPts val="800"/>
              </a:spcAft>
              <a:buClr>
                <a:srgbClr val="3494BA"/>
              </a:buClr>
              <a:buFont typeface="Trebuchet MS"/>
              <a:buAutoNum type="arabicPeriod"/>
            </a:pPr>
            <a:r>
              <a:rPr lang="es-PE" sz="1000" dirty="0">
                <a:solidFill>
                  <a:srgbClr val="1E2E6E"/>
                </a:solidFill>
                <a:latin typeface="Trebuchet MS" panose="020B0603020202020204" pitchFamily="34" charset="0"/>
              </a:rPr>
              <a:t>Traducción a flujos de caja aún no descontados en el precio</a:t>
            </a:r>
          </a:p>
          <a:p>
            <a:pPr marL="0" indent="0" algn="l">
              <a:lnSpc>
                <a:spcPct val="100000"/>
              </a:lnSpc>
              <a:spcAft>
                <a:spcPts val="800"/>
              </a:spcAft>
              <a:buNone/>
            </a:pPr>
            <a:r>
              <a:rPr lang="es-PE" sz="1000" i="1" dirty="0">
                <a:solidFill>
                  <a:srgbClr val="3494BA"/>
                </a:solidFill>
                <a:latin typeface="Trebuchet MS" panose="020B0603020202020204" pitchFamily="34" charset="0"/>
              </a:rPr>
              <a:t>Además, la subtemática debe acreditar persistencia, magnitud económica e invertibilidad.</a:t>
            </a:r>
          </a:p>
        </p:txBody>
      </p:sp>
      <p:sp>
        <p:nvSpPr>
          <p:cNvPr id="22" name="Callout">
            <a:extLst>
              <a:ext uri="{FF2B5EF4-FFF2-40B4-BE49-F238E27FC236}">
                <a16:creationId xmlns:a16="http://schemas.microsoft.com/office/drawing/2014/main" id="{C8775598-4126-49AA-2C16-6203DD6E9247}"/>
              </a:ext>
            </a:extLst>
          </p:cNvPr>
          <p:cNvSpPr/>
          <p:nvPr/>
        </p:nvSpPr>
        <p:spPr>
          <a:xfrm>
            <a:off x="868680" y="5526368"/>
            <a:ext cx="10936224" cy="566928"/>
          </a:xfrm>
          <a:prstGeom prst="roundRect">
            <a:avLst>
              <a:gd name="adj" fmla="val 12000"/>
            </a:avLst>
          </a:prstGeom>
          <a:solidFill>
            <a:srgbClr val="FFC000"/>
          </a:solidFill>
          <a:ln>
            <a:noFill/>
          </a:ln>
        </p:spPr>
        <p:style>
          <a:lnRef idx="0">
            <a:schemeClr val="accent1"/>
          </a:lnRef>
          <a:fillRef idx="0">
            <a:schemeClr val="accent1"/>
          </a:fillRef>
          <a:effectRef idx="0">
            <a:schemeClr val="accent1"/>
          </a:effectRef>
          <a:fontRef idx="minor">
            <a:schemeClr val="lt1"/>
          </a:fontRef>
        </p:style>
        <p:txBody>
          <a:bodyPr wrap="square" lIns="146304" tIns="45720" rIns="146304" bIns="45720" rtlCol="0" anchor="ctr">
            <a:noAutofit/>
          </a:bodyPr>
          <a:lstStyle/>
          <a:p>
            <a:pPr marL="0" indent="0" algn="ctr">
              <a:lnSpc>
                <a:spcPct val="100000"/>
              </a:lnSpc>
              <a:spcAft>
                <a:spcPts val="0"/>
              </a:spcAft>
              <a:buNone/>
            </a:pPr>
            <a:r>
              <a:rPr lang="es-PE" sz="1000" b="1" dirty="0">
                <a:solidFill>
                  <a:srgbClr val="1E2E6E"/>
                </a:solidFill>
                <a:latin typeface="Trebuchet MS" panose="020B0603020202020204" pitchFamily="34" charset="0"/>
              </a:rPr>
              <a:t>La exposición no es el retorno.  </a:t>
            </a:r>
            <a:r>
              <a:rPr lang="es-PE" sz="1000" dirty="0">
                <a:solidFill>
                  <a:srgbClr val="1E2E6E"/>
                </a:solidFill>
                <a:latin typeface="Trebuchet MS" panose="020B0603020202020204" pitchFamily="34" charset="0"/>
              </a:rPr>
              <a:t>La evidencia es matizada: cerca del 55% de los fondos temáticos no sobrevivió 15 años y solo ~9% superó al índice global a 3 años (Morningstar, 2024).</a:t>
            </a:r>
          </a:p>
        </p:txBody>
      </p:sp>
    </p:spTree>
    <p:extLst>
      <p:ext uri="{BB962C8B-B14F-4D97-AF65-F5344CB8AC3E}">
        <p14:creationId xmlns:p14="http://schemas.microsoft.com/office/powerpoint/2010/main" val="34635331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AA57C-4738-6F25-52FC-7D67BFEFAA0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6590A4-944B-775B-9DDD-84A70E5FEDEB}"/>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022B31E-1B25-402D-B825-4747191115EA}" type="slidenum">
              <a:rPr kumimoji="0" lang="es-PE" sz="1400" b="0" i="0" u="none" strike="noStrike" kern="1200" cap="none" spc="0" normalizeH="0" baseline="0" noProof="0" smtClean="0">
                <a:ln>
                  <a:noFill/>
                </a:ln>
                <a:solidFill>
                  <a:srgbClr val="1E2E6E"/>
                </a:solidFill>
                <a:effectLst/>
                <a:uLnTx/>
                <a:uFillTx/>
                <a:latin typeface="Trebuchet MS" panose="020B0603020202020204" pitchFamily="34" charset="0"/>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27</a:t>
            </a:fld>
            <a:endParaRPr kumimoji="0" lang="es-PE" sz="1400" b="0" i="0" u="none" strike="noStrike" kern="1200" cap="none" spc="0" normalizeH="0" baseline="0" noProof="0" dirty="0">
              <a:ln>
                <a:noFill/>
              </a:ln>
              <a:solidFill>
                <a:srgbClr val="1E2E6E"/>
              </a:solidFill>
              <a:effectLst/>
              <a:uLnTx/>
              <a:uFillTx/>
              <a:latin typeface="Trebuchet MS" panose="020B0603020202020204" pitchFamily="34" charset="0"/>
              <a:ea typeface="+mn-ea"/>
              <a:cs typeface="+mn-cs"/>
            </a:endParaRPr>
          </a:p>
        </p:txBody>
      </p:sp>
      <p:sp>
        <p:nvSpPr>
          <p:cNvPr id="7" name="Title 2">
            <a:extLst>
              <a:ext uri="{FF2B5EF4-FFF2-40B4-BE49-F238E27FC236}">
                <a16:creationId xmlns:a16="http://schemas.microsoft.com/office/drawing/2014/main" id="{5B94C7F0-2C6A-4048-8198-85E0B7EAC94C}"/>
              </a:ext>
            </a:extLst>
          </p:cNvPr>
          <p:cNvSpPr txBox="1">
            <a:spLocks/>
          </p:cNvSpPr>
          <p:nvPr/>
        </p:nvSpPr>
        <p:spPr>
          <a:xfrm>
            <a:off x="-903" y="88429"/>
            <a:ext cx="10819699" cy="676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kern="1200" spc="-50" baseline="0">
                <a:solidFill>
                  <a:schemeClr val="tx1">
                    <a:lumMod val="75000"/>
                  </a:schemeClr>
                </a:solidFill>
                <a:latin typeface="Trebuchet MS" panose="020B0603020202020204" pitchFamily="34" charset="0"/>
                <a:ea typeface="+mj-ea"/>
                <a:cs typeface="+mj-cs"/>
              </a:defRPr>
            </a:lvl1pPr>
          </a:lstStyle>
          <a:p>
            <a:endParaRPr lang="es-ES" sz="2000" dirty="0"/>
          </a:p>
        </p:txBody>
      </p:sp>
      <p:sp>
        <p:nvSpPr>
          <p:cNvPr id="8" name="Title 2">
            <a:extLst>
              <a:ext uri="{FF2B5EF4-FFF2-40B4-BE49-F238E27FC236}">
                <a16:creationId xmlns:a16="http://schemas.microsoft.com/office/drawing/2014/main" id="{44B64053-DF9A-3C2F-FF45-507A954DF726}"/>
              </a:ext>
            </a:extLst>
          </p:cNvPr>
          <p:cNvSpPr>
            <a:spLocks noGrp="1"/>
          </p:cNvSpPr>
          <p:nvPr>
            <p:ph type="title"/>
          </p:nvPr>
        </p:nvSpPr>
        <p:spPr>
          <a:xfrm>
            <a:off x="0" y="88429"/>
            <a:ext cx="10819699" cy="676275"/>
          </a:xfrm>
        </p:spPr>
        <p:txBody>
          <a:bodyPr>
            <a:noAutofit/>
          </a:bodyPr>
          <a:lstStyle/>
          <a:p>
            <a:r>
              <a:rPr lang="es-ES" sz="2000" dirty="0"/>
              <a:t>4.3 Portafolios Temáticos – Lineamientos SURA AM</a:t>
            </a:r>
            <a:r>
              <a:rPr lang="es-PE" sz="2000" dirty="0"/>
              <a:t> </a:t>
            </a:r>
            <a:endParaRPr lang="es-ES" sz="2000" dirty="0"/>
          </a:p>
        </p:txBody>
      </p:sp>
      <p:sp>
        <p:nvSpPr>
          <p:cNvPr id="5" name="Rectangle: Rounded Corners 4">
            <a:extLst>
              <a:ext uri="{FF2B5EF4-FFF2-40B4-BE49-F238E27FC236}">
                <a16:creationId xmlns:a16="http://schemas.microsoft.com/office/drawing/2014/main" id="{AE4A0712-74D4-77BD-6462-6317F4B236BE}"/>
              </a:ext>
            </a:extLst>
          </p:cNvPr>
          <p:cNvSpPr/>
          <p:nvPr/>
        </p:nvSpPr>
        <p:spPr>
          <a:xfrm>
            <a:off x="839416" y="1124744"/>
            <a:ext cx="11077200" cy="432048"/>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000" dirty="0">
                <a:solidFill>
                  <a:srgbClr val="1E2E6E"/>
                </a:solidFill>
                <a:latin typeface="Trebuchet MS" panose="020B0603020202020204" pitchFamily="34" charset="0"/>
              </a:rPr>
              <a:t>Se busca priorizar </a:t>
            </a:r>
            <a:r>
              <a:rPr lang="es-PE" sz="1000" dirty="0" err="1">
                <a:solidFill>
                  <a:srgbClr val="1E2E6E"/>
                </a:solidFill>
                <a:latin typeface="Trebuchet MS" panose="020B0603020202020204" pitchFamily="34" charset="0"/>
              </a:rPr>
              <a:t>subtemáticas</a:t>
            </a:r>
            <a:r>
              <a:rPr lang="es-PE" sz="1000" dirty="0">
                <a:solidFill>
                  <a:srgbClr val="1E2E6E"/>
                </a:solidFill>
                <a:latin typeface="Trebuchet MS" panose="020B0603020202020204" pitchFamily="34" charset="0"/>
              </a:rPr>
              <a:t> con calidad, generación de caja, menor beta y sin dependencia de un único catalizador; las de perfil especulativo o </a:t>
            </a:r>
            <a:r>
              <a:rPr lang="es-PE" sz="1000" dirty="0" err="1">
                <a:solidFill>
                  <a:srgbClr val="1E2E6E"/>
                </a:solidFill>
                <a:latin typeface="Trebuchet MS" panose="020B0603020202020204" pitchFamily="34" charset="0"/>
              </a:rPr>
              <a:t>pre-ingresos</a:t>
            </a:r>
            <a:r>
              <a:rPr lang="es-PE" sz="1000" dirty="0">
                <a:solidFill>
                  <a:srgbClr val="1E2E6E"/>
                </a:solidFill>
                <a:latin typeface="Trebuchet MS" panose="020B0603020202020204" pitchFamily="34" charset="0"/>
              </a:rPr>
              <a:t> se tratan con cautela. Al implementarse vía fondos mutuos y </a:t>
            </a:r>
            <a:r>
              <a:rPr lang="es-PE" sz="1000" dirty="0" err="1">
                <a:solidFill>
                  <a:srgbClr val="1E2E6E"/>
                </a:solidFill>
                <a:latin typeface="Trebuchet MS" panose="020B0603020202020204" pitchFamily="34" charset="0"/>
              </a:rPr>
              <a:t>ETFs</a:t>
            </a:r>
            <a:r>
              <a:rPr lang="es-PE" sz="1000" dirty="0">
                <a:solidFill>
                  <a:srgbClr val="1E2E6E"/>
                </a:solidFill>
                <a:latin typeface="Trebuchet MS" panose="020B0603020202020204" pitchFamily="34" charset="0"/>
              </a:rPr>
              <a:t>, los indicadores se definen a nivel de vehículo e índice, no de empresa.</a:t>
            </a:r>
            <a:r>
              <a:rPr lang="es-PE" sz="1000" dirty="0">
                <a:solidFill>
                  <a:srgbClr val="1F497D"/>
                </a:solidFill>
                <a:latin typeface="Trebuchet MS" panose="020B0603020202020204" pitchFamily="34" charset="0"/>
              </a:rPr>
              <a:t> </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4" name="Rectangle: Rounded Corners 3">
            <a:extLst>
              <a:ext uri="{FF2B5EF4-FFF2-40B4-BE49-F238E27FC236}">
                <a16:creationId xmlns:a16="http://schemas.microsoft.com/office/drawing/2014/main" id="{AACAE840-9F0B-E44B-8F17-5A1D8EB0702F}"/>
              </a:ext>
            </a:extLst>
          </p:cNvPr>
          <p:cNvSpPr/>
          <p:nvPr/>
        </p:nvSpPr>
        <p:spPr>
          <a:xfrm>
            <a:off x="767408" y="764704"/>
            <a:ext cx="3384376" cy="288032"/>
          </a:xfrm>
          <a:prstGeom prst="roundRect">
            <a:avLst>
              <a:gd name="adj" fmla="val 0"/>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r>
              <a:rPr lang="es-PE" sz="1400" b="1" u="sng" dirty="0">
                <a:solidFill>
                  <a:srgbClr val="1F497D"/>
                </a:solidFill>
                <a:latin typeface="Trebuchet MS" panose="020B0603020202020204" pitchFamily="34" charset="0"/>
              </a:rPr>
              <a:t>Temáticas y </a:t>
            </a:r>
            <a:r>
              <a:rPr lang="es-PE" sz="1400" b="1" u="sng" dirty="0" err="1">
                <a:solidFill>
                  <a:srgbClr val="1F497D"/>
                </a:solidFill>
                <a:latin typeface="Trebuchet MS" panose="020B0603020202020204" pitchFamily="34" charset="0"/>
              </a:rPr>
              <a:t>Subtemáticas</a:t>
            </a:r>
            <a:r>
              <a:rPr lang="es-PE" sz="1400" b="1" u="sng" dirty="0">
                <a:solidFill>
                  <a:srgbClr val="1F497D"/>
                </a:solidFill>
                <a:latin typeface="Trebuchet MS" panose="020B0603020202020204" pitchFamily="34" charset="0"/>
              </a:rPr>
              <a:t> Clave</a:t>
            </a:r>
            <a:r>
              <a:rPr lang="es-PE" sz="1000" b="1" dirty="0">
                <a:solidFill>
                  <a:srgbClr val="1F497D"/>
                </a:solidFill>
                <a:latin typeface="Trebuchet MS" panose="020B0603020202020204" pitchFamily="34" charset="0"/>
              </a:rPr>
              <a:t>:</a:t>
            </a:r>
            <a:endParaRPr kumimoji="0" lang="es-PE" sz="1000" b="1"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PE" sz="1000" b="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rPr>
              <a:t> </a:t>
            </a:r>
          </a:p>
        </p:txBody>
      </p:sp>
      <p:sp>
        <p:nvSpPr>
          <p:cNvPr id="6" name="H1">
            <a:extLst>
              <a:ext uri="{FF2B5EF4-FFF2-40B4-BE49-F238E27FC236}">
                <a16:creationId xmlns:a16="http://schemas.microsoft.com/office/drawing/2014/main" id="{DBFA6932-E2C6-B2E5-339E-A42669F824E6}"/>
              </a:ext>
            </a:extLst>
          </p:cNvPr>
          <p:cNvSpPr/>
          <p:nvPr/>
        </p:nvSpPr>
        <p:spPr>
          <a:xfrm>
            <a:off x="868680" y="1765896"/>
            <a:ext cx="5074920" cy="365760"/>
          </a:xfrm>
          <a:prstGeom prst="roundRect">
            <a:avLst>
              <a:gd name="adj" fmla="val 14000"/>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1200" dirty="0">
                <a:solidFill>
                  <a:srgbClr val="FFFFFF"/>
                </a:solidFill>
                <a:latin typeface="Trebuchet MS" panose="020B0603020202020204" pitchFamily="34" charset="0"/>
              </a:rPr>
              <a:t>Temáticas evaluadas  ·  subtemáticas alineadas al mandato</a:t>
            </a:r>
          </a:p>
        </p:txBody>
      </p:sp>
      <p:sp>
        <p:nvSpPr>
          <p:cNvPr id="12" name="H2">
            <a:extLst>
              <a:ext uri="{FF2B5EF4-FFF2-40B4-BE49-F238E27FC236}">
                <a16:creationId xmlns:a16="http://schemas.microsoft.com/office/drawing/2014/main" id="{2569CCE9-D280-4805-C670-D0FAB9A4873B}"/>
              </a:ext>
            </a:extLst>
          </p:cNvPr>
          <p:cNvSpPr/>
          <p:nvPr/>
        </p:nvSpPr>
        <p:spPr>
          <a:xfrm>
            <a:off x="6263640" y="1765896"/>
            <a:ext cx="5541264" cy="365760"/>
          </a:xfrm>
          <a:prstGeom prst="roundRect">
            <a:avLst>
              <a:gd name="adj" fmla="val 14000"/>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1200" dirty="0">
                <a:solidFill>
                  <a:srgbClr val="FFFFFF"/>
                </a:solidFill>
                <a:latin typeface="Trebuchet MS" panose="020B0603020202020204" pitchFamily="34" charset="0"/>
              </a:rPr>
              <a:t>Marco transversal de 10 indicadores por vehículo</a:t>
            </a:r>
          </a:p>
        </p:txBody>
      </p:sp>
      <p:sp>
        <p:nvSpPr>
          <p:cNvPr id="16" name="Tema">
            <a:extLst>
              <a:ext uri="{FF2B5EF4-FFF2-40B4-BE49-F238E27FC236}">
                <a16:creationId xmlns:a16="http://schemas.microsoft.com/office/drawing/2014/main" id="{11F5B09C-B460-3C2C-2313-005B28A4C3A9}"/>
              </a:ext>
            </a:extLst>
          </p:cNvPr>
          <p:cNvSpPr/>
          <p:nvPr/>
        </p:nvSpPr>
        <p:spPr>
          <a:xfrm>
            <a:off x="868680" y="2223096"/>
            <a:ext cx="5074920"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109728" tIns="54864" rIns="109728" bIns="54864" rtlCol="0" anchor="ctr">
            <a:noAutofit/>
          </a:bodyPr>
          <a:lstStyle/>
          <a:p>
            <a:pPr marL="502920" indent="0" algn="l">
              <a:lnSpc>
                <a:spcPct val="100000"/>
              </a:lnSpc>
              <a:spcAft>
                <a:spcPts val="100"/>
              </a:spcAft>
              <a:buNone/>
            </a:pPr>
            <a:r>
              <a:rPr lang="es-PE" sz="900" b="1" dirty="0">
                <a:solidFill>
                  <a:srgbClr val="1E2E6E"/>
                </a:solidFill>
                <a:latin typeface="Trebuchet MS" panose="020B0603020202020204" pitchFamily="34" charset="0"/>
              </a:rPr>
              <a:t>Transición energética y descarbonización</a:t>
            </a:r>
          </a:p>
          <a:p>
            <a:pPr marL="502920" indent="0" algn="l">
              <a:lnSpc>
                <a:spcPct val="100000"/>
              </a:lnSpc>
              <a:spcAft>
                <a:spcPts val="0"/>
              </a:spcAft>
              <a:buNone/>
            </a:pPr>
            <a:r>
              <a:rPr lang="es-PE" sz="900" i="1" dirty="0">
                <a:solidFill>
                  <a:srgbClr val="3494BA"/>
                </a:solidFill>
                <a:latin typeface="Trebuchet MS" panose="020B0603020202020204" pitchFamily="34" charset="0"/>
              </a:rPr>
              <a:t>Infraestructura de red y eficiencia energética</a:t>
            </a:r>
          </a:p>
        </p:txBody>
      </p:sp>
      <p:sp>
        <p:nvSpPr>
          <p:cNvPr id="19" name="Num">
            <a:extLst>
              <a:ext uri="{FF2B5EF4-FFF2-40B4-BE49-F238E27FC236}">
                <a16:creationId xmlns:a16="http://schemas.microsoft.com/office/drawing/2014/main" id="{B6162B61-5635-41F9-DCD8-2C57C96D7FC8}"/>
              </a:ext>
            </a:extLst>
          </p:cNvPr>
          <p:cNvSpPr/>
          <p:nvPr/>
        </p:nvSpPr>
        <p:spPr>
          <a:xfrm>
            <a:off x="1005840" y="2355684"/>
            <a:ext cx="283464" cy="283464"/>
          </a:xfrm>
          <a:prstGeom prst="ellipse">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0" tIns="0" rIns="0" bIns="0" rtlCol="0" anchor="ctr">
            <a:noAutofit/>
          </a:bodyPr>
          <a:lstStyle/>
          <a:p>
            <a:pPr marL="0" indent="0" algn="ctr">
              <a:lnSpc>
                <a:spcPct val="100000"/>
              </a:lnSpc>
              <a:spcAft>
                <a:spcPts val="0"/>
              </a:spcAft>
              <a:buNone/>
            </a:pPr>
            <a:r>
              <a:rPr lang="es-PE" sz="900" dirty="0">
                <a:solidFill>
                  <a:srgbClr val="FFFFFF"/>
                </a:solidFill>
                <a:latin typeface="Trebuchet MS" panose="020B0603020202020204" pitchFamily="34" charset="0"/>
              </a:rPr>
              <a:t>1</a:t>
            </a:r>
          </a:p>
        </p:txBody>
      </p:sp>
      <p:sp>
        <p:nvSpPr>
          <p:cNvPr id="23" name="Tema">
            <a:extLst>
              <a:ext uri="{FF2B5EF4-FFF2-40B4-BE49-F238E27FC236}">
                <a16:creationId xmlns:a16="http://schemas.microsoft.com/office/drawing/2014/main" id="{C8E93748-3692-0D96-527E-CE1C44322945}"/>
              </a:ext>
            </a:extLst>
          </p:cNvPr>
          <p:cNvSpPr/>
          <p:nvPr/>
        </p:nvSpPr>
        <p:spPr>
          <a:xfrm>
            <a:off x="868680" y="2854032"/>
            <a:ext cx="5074920"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109728" tIns="54864" rIns="109728" bIns="54864" rtlCol="0" anchor="ctr">
            <a:noAutofit/>
          </a:bodyPr>
          <a:lstStyle/>
          <a:p>
            <a:pPr marL="502920" indent="0" algn="l">
              <a:lnSpc>
                <a:spcPct val="100000"/>
              </a:lnSpc>
              <a:spcAft>
                <a:spcPts val="100"/>
              </a:spcAft>
              <a:buNone/>
            </a:pPr>
            <a:r>
              <a:rPr lang="es-PE" sz="900" b="1" dirty="0">
                <a:solidFill>
                  <a:srgbClr val="1E2E6E"/>
                </a:solidFill>
                <a:latin typeface="Trebuchet MS" panose="020B0603020202020204" pitchFamily="34" charset="0"/>
              </a:rPr>
              <a:t>Revolución tecnológica y digitalización</a:t>
            </a:r>
          </a:p>
          <a:p>
            <a:pPr marL="502920" indent="0" algn="l">
              <a:lnSpc>
                <a:spcPct val="100000"/>
              </a:lnSpc>
              <a:spcAft>
                <a:spcPts val="0"/>
              </a:spcAft>
              <a:buNone/>
            </a:pPr>
            <a:r>
              <a:rPr lang="es-PE" sz="900" i="1" dirty="0">
                <a:solidFill>
                  <a:srgbClr val="3494BA"/>
                </a:solidFill>
                <a:latin typeface="Trebuchet MS" panose="020B0603020202020204" pitchFamily="34" charset="0"/>
              </a:rPr>
              <a:t>IA y datos, ciberseguridad, semis diversificados</a:t>
            </a:r>
          </a:p>
        </p:txBody>
      </p:sp>
      <p:sp>
        <p:nvSpPr>
          <p:cNvPr id="25" name="Num">
            <a:extLst>
              <a:ext uri="{FF2B5EF4-FFF2-40B4-BE49-F238E27FC236}">
                <a16:creationId xmlns:a16="http://schemas.microsoft.com/office/drawing/2014/main" id="{C6C36B3C-6E20-2153-5BBC-A8B050C00E1C}"/>
              </a:ext>
            </a:extLst>
          </p:cNvPr>
          <p:cNvSpPr/>
          <p:nvPr/>
        </p:nvSpPr>
        <p:spPr>
          <a:xfrm>
            <a:off x="1005840" y="2986620"/>
            <a:ext cx="283464" cy="283464"/>
          </a:xfrm>
          <a:prstGeom prst="ellipse">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0" tIns="0" rIns="0" bIns="0" rtlCol="0" anchor="ctr">
            <a:noAutofit/>
          </a:bodyPr>
          <a:lstStyle/>
          <a:p>
            <a:pPr marL="0" indent="0" algn="ctr">
              <a:lnSpc>
                <a:spcPct val="100000"/>
              </a:lnSpc>
              <a:spcAft>
                <a:spcPts val="0"/>
              </a:spcAft>
              <a:buNone/>
            </a:pPr>
            <a:r>
              <a:rPr lang="es-PE" sz="900" dirty="0">
                <a:solidFill>
                  <a:srgbClr val="FFFFFF"/>
                </a:solidFill>
                <a:latin typeface="Trebuchet MS" panose="020B0603020202020204" pitchFamily="34" charset="0"/>
              </a:rPr>
              <a:t>2</a:t>
            </a:r>
          </a:p>
        </p:txBody>
      </p:sp>
      <p:sp>
        <p:nvSpPr>
          <p:cNvPr id="27" name="Tema">
            <a:extLst>
              <a:ext uri="{FF2B5EF4-FFF2-40B4-BE49-F238E27FC236}">
                <a16:creationId xmlns:a16="http://schemas.microsoft.com/office/drawing/2014/main" id="{7C811AFF-7E6B-9C54-0D11-8FE9ADEBB1EE}"/>
              </a:ext>
            </a:extLst>
          </p:cNvPr>
          <p:cNvSpPr/>
          <p:nvPr/>
        </p:nvSpPr>
        <p:spPr>
          <a:xfrm>
            <a:off x="868680" y="3484968"/>
            <a:ext cx="5074920"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109728" tIns="54864" rIns="109728" bIns="54864" rtlCol="0" anchor="ctr">
            <a:noAutofit/>
          </a:bodyPr>
          <a:lstStyle/>
          <a:p>
            <a:pPr marL="502920" indent="0" algn="l">
              <a:lnSpc>
                <a:spcPct val="100000"/>
              </a:lnSpc>
              <a:spcAft>
                <a:spcPts val="100"/>
              </a:spcAft>
              <a:buNone/>
            </a:pPr>
            <a:r>
              <a:rPr lang="es-PE" sz="900" b="1" dirty="0">
                <a:solidFill>
                  <a:srgbClr val="1E2E6E"/>
                </a:solidFill>
                <a:latin typeface="Trebuchet MS" panose="020B0603020202020204" pitchFamily="34" charset="0"/>
              </a:rPr>
              <a:t>Salud y longevidad</a:t>
            </a:r>
          </a:p>
          <a:p>
            <a:pPr marL="502920" indent="0" algn="l">
              <a:lnSpc>
                <a:spcPct val="100000"/>
              </a:lnSpc>
              <a:spcAft>
                <a:spcPts val="0"/>
              </a:spcAft>
              <a:buNone/>
            </a:pPr>
            <a:r>
              <a:rPr lang="es-PE" sz="900" i="1" dirty="0">
                <a:solidFill>
                  <a:srgbClr val="3494BA"/>
                </a:solidFill>
                <a:latin typeface="Trebuchet MS" panose="020B0603020202020204" pitchFamily="34" charset="0"/>
              </a:rPr>
              <a:t>Salud amplia y de calidad; economía plateada</a:t>
            </a:r>
          </a:p>
        </p:txBody>
      </p:sp>
      <p:sp>
        <p:nvSpPr>
          <p:cNvPr id="29" name="Num">
            <a:extLst>
              <a:ext uri="{FF2B5EF4-FFF2-40B4-BE49-F238E27FC236}">
                <a16:creationId xmlns:a16="http://schemas.microsoft.com/office/drawing/2014/main" id="{53527574-79EE-4A8D-F704-941652F00F19}"/>
              </a:ext>
            </a:extLst>
          </p:cNvPr>
          <p:cNvSpPr/>
          <p:nvPr/>
        </p:nvSpPr>
        <p:spPr>
          <a:xfrm>
            <a:off x="1005840" y="3617556"/>
            <a:ext cx="283464" cy="283464"/>
          </a:xfrm>
          <a:prstGeom prst="ellipse">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0" tIns="0" rIns="0" bIns="0" rtlCol="0" anchor="ctr">
            <a:noAutofit/>
          </a:bodyPr>
          <a:lstStyle/>
          <a:p>
            <a:pPr marL="0" indent="0" algn="ctr">
              <a:lnSpc>
                <a:spcPct val="100000"/>
              </a:lnSpc>
              <a:spcAft>
                <a:spcPts val="0"/>
              </a:spcAft>
              <a:buNone/>
            </a:pPr>
            <a:r>
              <a:rPr lang="es-PE" sz="900" dirty="0">
                <a:solidFill>
                  <a:srgbClr val="FFFFFF"/>
                </a:solidFill>
                <a:latin typeface="Trebuchet MS" panose="020B0603020202020204" pitchFamily="34" charset="0"/>
              </a:rPr>
              <a:t>3</a:t>
            </a:r>
          </a:p>
        </p:txBody>
      </p:sp>
      <p:sp>
        <p:nvSpPr>
          <p:cNvPr id="31" name="Tema">
            <a:extLst>
              <a:ext uri="{FF2B5EF4-FFF2-40B4-BE49-F238E27FC236}">
                <a16:creationId xmlns:a16="http://schemas.microsoft.com/office/drawing/2014/main" id="{DABD51D9-932F-ED02-D0B7-2478319F2805}"/>
              </a:ext>
            </a:extLst>
          </p:cNvPr>
          <p:cNvSpPr/>
          <p:nvPr/>
        </p:nvSpPr>
        <p:spPr>
          <a:xfrm>
            <a:off x="868680" y="4115904"/>
            <a:ext cx="5074920"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109728" tIns="54864" rIns="109728" bIns="54864" rtlCol="0" anchor="ctr">
            <a:noAutofit/>
          </a:bodyPr>
          <a:lstStyle/>
          <a:p>
            <a:pPr marL="502920" indent="0" algn="l">
              <a:lnSpc>
                <a:spcPct val="100000"/>
              </a:lnSpc>
              <a:spcAft>
                <a:spcPts val="100"/>
              </a:spcAft>
              <a:buNone/>
            </a:pPr>
            <a:r>
              <a:rPr lang="es-PE" sz="900" b="1" dirty="0">
                <a:solidFill>
                  <a:srgbClr val="1E2E6E"/>
                </a:solidFill>
                <a:latin typeface="Trebuchet MS" panose="020B0603020202020204" pitchFamily="34" charset="0"/>
              </a:rPr>
              <a:t>Seguridad alimentaria y agricultura sostenible</a:t>
            </a:r>
          </a:p>
          <a:p>
            <a:pPr marL="502920" indent="0" algn="l">
              <a:lnSpc>
                <a:spcPct val="100000"/>
              </a:lnSpc>
              <a:spcAft>
                <a:spcPts val="0"/>
              </a:spcAft>
              <a:buNone/>
            </a:pPr>
            <a:r>
              <a:rPr lang="es-PE" sz="900" i="1" dirty="0">
                <a:solidFill>
                  <a:srgbClr val="3494BA"/>
                </a:solidFill>
                <a:latin typeface="Trebuchet MS" panose="020B0603020202020204" pitchFamily="34" charset="0"/>
              </a:rPr>
              <a:t>Cadena agroindustrial en acciones, no futuros</a:t>
            </a:r>
          </a:p>
        </p:txBody>
      </p:sp>
      <p:sp>
        <p:nvSpPr>
          <p:cNvPr id="33" name="Num">
            <a:extLst>
              <a:ext uri="{FF2B5EF4-FFF2-40B4-BE49-F238E27FC236}">
                <a16:creationId xmlns:a16="http://schemas.microsoft.com/office/drawing/2014/main" id="{8197D780-F595-8298-B145-E63A633A4022}"/>
              </a:ext>
            </a:extLst>
          </p:cNvPr>
          <p:cNvSpPr/>
          <p:nvPr/>
        </p:nvSpPr>
        <p:spPr>
          <a:xfrm>
            <a:off x="1005840" y="4248492"/>
            <a:ext cx="283464" cy="283464"/>
          </a:xfrm>
          <a:prstGeom prst="ellipse">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0" tIns="0" rIns="0" bIns="0" rtlCol="0" anchor="ctr">
            <a:noAutofit/>
          </a:bodyPr>
          <a:lstStyle/>
          <a:p>
            <a:pPr marL="0" indent="0" algn="ctr">
              <a:lnSpc>
                <a:spcPct val="100000"/>
              </a:lnSpc>
              <a:spcAft>
                <a:spcPts val="0"/>
              </a:spcAft>
              <a:buNone/>
            </a:pPr>
            <a:r>
              <a:rPr lang="es-PE" sz="900" dirty="0">
                <a:solidFill>
                  <a:srgbClr val="FFFFFF"/>
                </a:solidFill>
                <a:latin typeface="Trebuchet MS" panose="020B0603020202020204" pitchFamily="34" charset="0"/>
              </a:rPr>
              <a:t>4</a:t>
            </a:r>
          </a:p>
        </p:txBody>
      </p:sp>
      <p:sp>
        <p:nvSpPr>
          <p:cNvPr id="35" name="Tema">
            <a:extLst>
              <a:ext uri="{FF2B5EF4-FFF2-40B4-BE49-F238E27FC236}">
                <a16:creationId xmlns:a16="http://schemas.microsoft.com/office/drawing/2014/main" id="{33A9A862-3453-90E6-F957-E857F6AA874B}"/>
              </a:ext>
            </a:extLst>
          </p:cNvPr>
          <p:cNvSpPr/>
          <p:nvPr/>
        </p:nvSpPr>
        <p:spPr>
          <a:xfrm>
            <a:off x="868680" y="4746840"/>
            <a:ext cx="5074920"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109728" tIns="54864" rIns="109728" bIns="54864" rtlCol="0" anchor="ctr">
            <a:noAutofit/>
          </a:bodyPr>
          <a:lstStyle/>
          <a:p>
            <a:pPr marL="502920" indent="0" algn="l">
              <a:lnSpc>
                <a:spcPct val="100000"/>
              </a:lnSpc>
              <a:spcAft>
                <a:spcPts val="100"/>
              </a:spcAft>
              <a:buNone/>
            </a:pPr>
            <a:r>
              <a:rPr lang="es-PE" sz="900" b="1" dirty="0">
                <a:solidFill>
                  <a:srgbClr val="1E2E6E"/>
                </a:solidFill>
                <a:latin typeface="Trebuchet MS" panose="020B0603020202020204" pitchFamily="34" charset="0"/>
              </a:rPr>
              <a:t>Economía circular y gestión de recursos</a:t>
            </a:r>
          </a:p>
          <a:p>
            <a:pPr marL="502920" indent="0" algn="l">
              <a:lnSpc>
                <a:spcPct val="100000"/>
              </a:lnSpc>
              <a:spcAft>
                <a:spcPts val="0"/>
              </a:spcAft>
              <a:buNone/>
            </a:pPr>
            <a:r>
              <a:rPr lang="es-PE" sz="900" i="1" dirty="0">
                <a:solidFill>
                  <a:srgbClr val="3494BA"/>
                </a:solidFill>
                <a:latin typeface="Trebuchet MS" panose="020B0603020202020204" pitchFamily="34" charset="0"/>
              </a:rPr>
              <a:t>Agua y gestión de residuos (cuasi-utilities)</a:t>
            </a:r>
          </a:p>
        </p:txBody>
      </p:sp>
      <p:sp>
        <p:nvSpPr>
          <p:cNvPr id="37" name="Num">
            <a:extLst>
              <a:ext uri="{FF2B5EF4-FFF2-40B4-BE49-F238E27FC236}">
                <a16:creationId xmlns:a16="http://schemas.microsoft.com/office/drawing/2014/main" id="{A70D0981-0BCB-0A25-974A-130CBFB9E335}"/>
              </a:ext>
            </a:extLst>
          </p:cNvPr>
          <p:cNvSpPr/>
          <p:nvPr/>
        </p:nvSpPr>
        <p:spPr>
          <a:xfrm>
            <a:off x="1005840" y="4879428"/>
            <a:ext cx="283464" cy="283464"/>
          </a:xfrm>
          <a:prstGeom prst="ellipse">
            <a:avLst/>
          </a:prstGeom>
          <a:solidFill>
            <a:srgbClr val="558ED5"/>
          </a:solidFill>
          <a:ln>
            <a:noFill/>
          </a:ln>
        </p:spPr>
        <p:style>
          <a:lnRef idx="0">
            <a:schemeClr val="accent1"/>
          </a:lnRef>
          <a:fillRef idx="0">
            <a:schemeClr val="accent1"/>
          </a:fillRef>
          <a:effectRef idx="0">
            <a:schemeClr val="accent1"/>
          </a:effectRef>
          <a:fontRef idx="minor">
            <a:schemeClr val="lt1"/>
          </a:fontRef>
        </p:style>
        <p:txBody>
          <a:bodyPr wrap="square" lIns="0" tIns="0" rIns="0" bIns="0" rtlCol="0" anchor="ctr">
            <a:noAutofit/>
          </a:bodyPr>
          <a:lstStyle/>
          <a:p>
            <a:pPr marL="0" indent="0" algn="ctr">
              <a:lnSpc>
                <a:spcPct val="100000"/>
              </a:lnSpc>
              <a:spcAft>
                <a:spcPts val="0"/>
              </a:spcAft>
              <a:buNone/>
            </a:pPr>
            <a:r>
              <a:rPr lang="es-PE" sz="900" dirty="0">
                <a:solidFill>
                  <a:srgbClr val="FFFFFF"/>
                </a:solidFill>
                <a:latin typeface="Trebuchet MS" panose="020B0603020202020204" pitchFamily="34" charset="0"/>
              </a:rPr>
              <a:t>5</a:t>
            </a:r>
          </a:p>
        </p:txBody>
      </p:sp>
      <p:sp>
        <p:nvSpPr>
          <p:cNvPr id="39" name="Ind">
            <a:extLst>
              <a:ext uri="{FF2B5EF4-FFF2-40B4-BE49-F238E27FC236}">
                <a16:creationId xmlns:a16="http://schemas.microsoft.com/office/drawing/2014/main" id="{6A150760-743F-7141-0AAB-DBED3879B133}"/>
              </a:ext>
            </a:extLst>
          </p:cNvPr>
          <p:cNvSpPr/>
          <p:nvPr/>
        </p:nvSpPr>
        <p:spPr>
          <a:xfrm>
            <a:off x="6263640" y="2223096"/>
            <a:ext cx="2679192"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900" dirty="0">
                <a:solidFill>
                  <a:srgbClr val="1E2E6E"/>
                </a:solidFill>
                <a:latin typeface="Trebuchet MS" panose="020B0603020202020204" pitchFamily="34" charset="0"/>
              </a:rPr>
              <a:t>1. Ajuste y pureza temática</a:t>
            </a:r>
          </a:p>
        </p:txBody>
      </p:sp>
      <p:sp>
        <p:nvSpPr>
          <p:cNvPr id="41" name="Ind">
            <a:extLst>
              <a:ext uri="{FF2B5EF4-FFF2-40B4-BE49-F238E27FC236}">
                <a16:creationId xmlns:a16="http://schemas.microsoft.com/office/drawing/2014/main" id="{E8BFED6C-9078-B110-9C14-3640462C6B37}"/>
              </a:ext>
            </a:extLst>
          </p:cNvPr>
          <p:cNvSpPr/>
          <p:nvPr/>
        </p:nvSpPr>
        <p:spPr>
          <a:xfrm>
            <a:off x="9125712" y="2223096"/>
            <a:ext cx="2679192"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900" dirty="0">
                <a:solidFill>
                  <a:srgbClr val="1E2E6E"/>
                </a:solidFill>
                <a:latin typeface="Trebuchet MS" panose="020B0603020202020204" pitchFamily="34" charset="0"/>
              </a:rPr>
              <a:t>2. Coherencia del tema</a:t>
            </a:r>
          </a:p>
        </p:txBody>
      </p:sp>
      <p:sp>
        <p:nvSpPr>
          <p:cNvPr id="43" name="Ind">
            <a:extLst>
              <a:ext uri="{FF2B5EF4-FFF2-40B4-BE49-F238E27FC236}">
                <a16:creationId xmlns:a16="http://schemas.microsoft.com/office/drawing/2014/main" id="{44D5D2C4-17A0-9693-D549-FEBDC8349ABA}"/>
              </a:ext>
            </a:extLst>
          </p:cNvPr>
          <p:cNvSpPr/>
          <p:nvPr/>
        </p:nvSpPr>
        <p:spPr>
          <a:xfrm>
            <a:off x="6263640" y="2854032"/>
            <a:ext cx="2679192"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900" dirty="0">
                <a:solidFill>
                  <a:srgbClr val="1E2E6E"/>
                </a:solidFill>
                <a:latin typeface="Trebuchet MS" panose="020B0603020202020204" pitchFamily="34" charset="0"/>
              </a:rPr>
              <a:t>3. Diversificación</a:t>
            </a:r>
          </a:p>
        </p:txBody>
      </p:sp>
      <p:sp>
        <p:nvSpPr>
          <p:cNvPr id="45" name="Ind">
            <a:extLst>
              <a:ext uri="{FF2B5EF4-FFF2-40B4-BE49-F238E27FC236}">
                <a16:creationId xmlns:a16="http://schemas.microsoft.com/office/drawing/2014/main" id="{ED6CC245-2332-F32E-A58C-46686878ACDD}"/>
              </a:ext>
            </a:extLst>
          </p:cNvPr>
          <p:cNvSpPr/>
          <p:nvPr/>
        </p:nvSpPr>
        <p:spPr>
          <a:xfrm>
            <a:off x="9125712" y="2854032"/>
            <a:ext cx="2679192"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900" dirty="0">
                <a:solidFill>
                  <a:srgbClr val="1E2E6E"/>
                </a:solidFill>
                <a:latin typeface="Trebuchet MS" panose="020B0603020202020204" pitchFamily="34" charset="0"/>
              </a:rPr>
              <a:t>4. Calidad y generación de caja</a:t>
            </a:r>
          </a:p>
        </p:txBody>
      </p:sp>
      <p:sp>
        <p:nvSpPr>
          <p:cNvPr id="47" name="Ind">
            <a:extLst>
              <a:ext uri="{FF2B5EF4-FFF2-40B4-BE49-F238E27FC236}">
                <a16:creationId xmlns:a16="http://schemas.microsoft.com/office/drawing/2014/main" id="{5820206A-8230-3202-D9AC-BC90B68548FB}"/>
              </a:ext>
            </a:extLst>
          </p:cNvPr>
          <p:cNvSpPr/>
          <p:nvPr/>
        </p:nvSpPr>
        <p:spPr>
          <a:xfrm>
            <a:off x="6263640" y="3484968"/>
            <a:ext cx="2679192"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900" dirty="0">
                <a:solidFill>
                  <a:srgbClr val="1E2E6E"/>
                </a:solidFill>
                <a:latin typeface="Trebuchet MS" panose="020B0603020202020204" pitchFamily="34" charset="0"/>
              </a:rPr>
              <a:t>5. Valorización de entrada</a:t>
            </a:r>
          </a:p>
        </p:txBody>
      </p:sp>
      <p:sp>
        <p:nvSpPr>
          <p:cNvPr id="49" name="Ind">
            <a:extLst>
              <a:ext uri="{FF2B5EF4-FFF2-40B4-BE49-F238E27FC236}">
                <a16:creationId xmlns:a16="http://schemas.microsoft.com/office/drawing/2014/main" id="{71AA7A25-3B32-90BA-E75C-71251CE3DED4}"/>
              </a:ext>
            </a:extLst>
          </p:cNvPr>
          <p:cNvSpPr/>
          <p:nvPr/>
        </p:nvSpPr>
        <p:spPr>
          <a:xfrm>
            <a:off x="9125712" y="3484968"/>
            <a:ext cx="2679192"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900" dirty="0">
                <a:solidFill>
                  <a:srgbClr val="1E2E6E"/>
                </a:solidFill>
                <a:latin typeface="Trebuchet MS" panose="020B0603020202020204" pitchFamily="34" charset="0"/>
              </a:rPr>
              <a:t>6. Riesgo: beta y tracking error</a:t>
            </a:r>
          </a:p>
        </p:txBody>
      </p:sp>
      <p:sp>
        <p:nvSpPr>
          <p:cNvPr id="51" name="Ind">
            <a:extLst>
              <a:ext uri="{FF2B5EF4-FFF2-40B4-BE49-F238E27FC236}">
                <a16:creationId xmlns:a16="http://schemas.microsoft.com/office/drawing/2014/main" id="{A470DD8D-698B-E1B8-EC84-DE68952982D5}"/>
              </a:ext>
            </a:extLst>
          </p:cNvPr>
          <p:cNvSpPr/>
          <p:nvPr/>
        </p:nvSpPr>
        <p:spPr>
          <a:xfrm>
            <a:off x="6263640" y="4115904"/>
            <a:ext cx="2679192"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900" dirty="0">
                <a:solidFill>
                  <a:srgbClr val="1E2E6E"/>
                </a:solidFill>
                <a:latin typeface="Trebuchet MS" panose="020B0603020202020204" pitchFamily="34" charset="0"/>
              </a:rPr>
              <a:t>7. Costo (TER)</a:t>
            </a:r>
          </a:p>
        </p:txBody>
      </p:sp>
      <p:sp>
        <p:nvSpPr>
          <p:cNvPr id="53" name="Ind">
            <a:extLst>
              <a:ext uri="{FF2B5EF4-FFF2-40B4-BE49-F238E27FC236}">
                <a16:creationId xmlns:a16="http://schemas.microsoft.com/office/drawing/2014/main" id="{E925DB8C-AD96-2282-8992-D6250BA7DC13}"/>
              </a:ext>
            </a:extLst>
          </p:cNvPr>
          <p:cNvSpPr/>
          <p:nvPr/>
        </p:nvSpPr>
        <p:spPr>
          <a:xfrm>
            <a:off x="9125712" y="4115904"/>
            <a:ext cx="2679192"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900" dirty="0">
                <a:solidFill>
                  <a:srgbClr val="1E2E6E"/>
                </a:solidFill>
                <a:latin typeface="Trebuchet MS" panose="020B0603020202020204" pitchFamily="34" charset="0"/>
              </a:rPr>
              <a:t>8. Liquidez, AUM y antigüedad</a:t>
            </a:r>
          </a:p>
        </p:txBody>
      </p:sp>
      <p:sp>
        <p:nvSpPr>
          <p:cNvPr id="55" name="Ind">
            <a:extLst>
              <a:ext uri="{FF2B5EF4-FFF2-40B4-BE49-F238E27FC236}">
                <a16:creationId xmlns:a16="http://schemas.microsoft.com/office/drawing/2014/main" id="{72499FA2-E2DF-95BB-152C-ACF63D93DE58}"/>
              </a:ext>
            </a:extLst>
          </p:cNvPr>
          <p:cNvSpPr/>
          <p:nvPr/>
        </p:nvSpPr>
        <p:spPr>
          <a:xfrm>
            <a:off x="6263640" y="4746840"/>
            <a:ext cx="2679192"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900" dirty="0">
                <a:solidFill>
                  <a:srgbClr val="1E2E6E"/>
                </a:solidFill>
                <a:latin typeface="Trebuchet MS" panose="020B0603020202020204" pitchFamily="34" charset="0"/>
              </a:rPr>
              <a:t>9. Solapamiento con el núcleo</a:t>
            </a:r>
          </a:p>
        </p:txBody>
      </p:sp>
      <p:sp>
        <p:nvSpPr>
          <p:cNvPr id="57" name="Ind">
            <a:extLst>
              <a:ext uri="{FF2B5EF4-FFF2-40B4-BE49-F238E27FC236}">
                <a16:creationId xmlns:a16="http://schemas.microsoft.com/office/drawing/2014/main" id="{2A24FC05-79AF-E280-FE9F-267752754B19}"/>
              </a:ext>
            </a:extLst>
          </p:cNvPr>
          <p:cNvSpPr/>
          <p:nvPr/>
        </p:nvSpPr>
        <p:spPr>
          <a:xfrm>
            <a:off x="9125712" y="4746840"/>
            <a:ext cx="2679192" cy="548640"/>
          </a:xfrm>
          <a:prstGeom prst="roundRect">
            <a:avLst>
              <a:gd name="adj" fmla="val 8000"/>
            </a:avLst>
          </a:prstGeom>
          <a:solidFill>
            <a:srgbClr val="F4F8FB"/>
          </a:solidFill>
          <a:ln w="12700">
            <a:solidFill>
              <a:srgbClr val="CEDBE6"/>
            </a:solidFill>
          </a:ln>
        </p:spPr>
        <p:style>
          <a:lnRef idx="0">
            <a:schemeClr val="accent1"/>
          </a:lnRef>
          <a:fillRef idx="0">
            <a:schemeClr val="accent1"/>
          </a:fillRef>
          <a:effectRef idx="0">
            <a:schemeClr val="accent1"/>
          </a:effectRef>
          <a:fontRef idx="minor">
            <a:schemeClr val="lt1"/>
          </a:fontRef>
        </p:style>
        <p:txBody>
          <a:bodyPr wrap="square" lIns="91440" tIns="36576" rIns="91440" bIns="36576" rtlCol="0" anchor="ctr">
            <a:noAutofit/>
          </a:bodyPr>
          <a:lstStyle/>
          <a:p>
            <a:pPr marL="0" indent="0" algn="ctr">
              <a:lnSpc>
                <a:spcPct val="100000"/>
              </a:lnSpc>
              <a:spcAft>
                <a:spcPts val="0"/>
              </a:spcAft>
              <a:buNone/>
            </a:pPr>
            <a:r>
              <a:rPr lang="es-PE" sz="900" dirty="0">
                <a:solidFill>
                  <a:srgbClr val="1E2E6E"/>
                </a:solidFill>
                <a:latin typeface="Trebuchet MS" panose="020B0603020202020204" pitchFamily="34" charset="0"/>
              </a:rPr>
              <a:t>10. Estructura y disciplina</a:t>
            </a:r>
          </a:p>
        </p:txBody>
      </p:sp>
      <p:sp>
        <p:nvSpPr>
          <p:cNvPr id="59" name="Cierre">
            <a:extLst>
              <a:ext uri="{FF2B5EF4-FFF2-40B4-BE49-F238E27FC236}">
                <a16:creationId xmlns:a16="http://schemas.microsoft.com/office/drawing/2014/main" id="{66C2E6D1-D573-8FB2-67AA-1AB796AD335B}"/>
              </a:ext>
            </a:extLst>
          </p:cNvPr>
          <p:cNvSpPr/>
          <p:nvPr/>
        </p:nvSpPr>
        <p:spPr>
          <a:xfrm>
            <a:off x="868680" y="5505792"/>
            <a:ext cx="10936224" cy="731520"/>
          </a:xfrm>
          <a:prstGeom prst="roundRect">
            <a:avLst>
              <a:gd name="adj" fmla="val 10000"/>
            </a:avLst>
          </a:prstGeom>
          <a:solidFill>
            <a:srgbClr val="FFC000"/>
          </a:solidFill>
          <a:ln>
            <a:noFill/>
          </a:ln>
        </p:spPr>
        <p:style>
          <a:lnRef idx="0">
            <a:schemeClr val="accent1"/>
          </a:lnRef>
          <a:fillRef idx="0">
            <a:schemeClr val="accent1"/>
          </a:fillRef>
          <a:effectRef idx="0">
            <a:schemeClr val="accent1"/>
          </a:effectRef>
          <a:fontRef idx="minor">
            <a:schemeClr val="lt1"/>
          </a:fontRef>
        </p:style>
        <p:txBody>
          <a:bodyPr wrap="square" lIns="182880" tIns="73152" rIns="182880" bIns="73152" rtlCol="0" anchor="ctr">
            <a:noAutofit/>
          </a:bodyPr>
          <a:lstStyle/>
          <a:p>
            <a:pPr marL="0" indent="0" algn="just">
              <a:lnSpc>
                <a:spcPct val="100000"/>
              </a:lnSpc>
              <a:spcAft>
                <a:spcPts val="0"/>
              </a:spcAft>
              <a:buNone/>
            </a:pPr>
            <a:r>
              <a:rPr lang="es-PE" sz="1000" b="1" dirty="0">
                <a:solidFill>
                  <a:srgbClr val="1E2E6E"/>
                </a:solidFill>
                <a:latin typeface="Trebuchet MS" panose="020B0603020202020204" pitchFamily="34" charset="0"/>
              </a:rPr>
              <a:t>Conclusión.  </a:t>
            </a:r>
            <a:r>
              <a:rPr lang="es-PE" sz="1000" dirty="0">
                <a:solidFill>
                  <a:srgbClr val="1E2E6E"/>
                </a:solidFill>
                <a:latin typeface="Trebuchet MS" panose="020B0603020202020204" pitchFamily="34" charset="0"/>
              </a:rPr>
              <a:t>El retorno depende de la disciplina de implementación —coherencia, valorización, costo, diversificación y tamaño satélite— más que del atractivo de la megatendencia. El marco de indicadores se integra al Comité de Inversiones con reglas de entrada y de rebalanceo.</a:t>
            </a:r>
          </a:p>
        </p:txBody>
      </p:sp>
    </p:spTree>
    <p:extLst>
      <p:ext uri="{BB962C8B-B14F-4D97-AF65-F5344CB8AC3E}">
        <p14:creationId xmlns:p14="http://schemas.microsoft.com/office/powerpoint/2010/main" val="1736982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EA31D-C0BD-C36A-4F75-8EF5410622FD}"/>
            </a:ext>
          </a:extLst>
        </p:cNvPr>
        <p:cNvGrpSpPr/>
        <p:nvPr/>
      </p:nvGrpSpPr>
      <p:grpSpPr>
        <a:xfrm>
          <a:off x="0" y="0"/>
          <a:ext cx="0" cy="0"/>
          <a:chOff x="0" y="0"/>
          <a:chExt cx="0" cy="0"/>
        </a:xfrm>
      </p:grpSpPr>
      <p:sp>
        <p:nvSpPr>
          <p:cNvPr id="20" name="Title 2">
            <a:extLst>
              <a:ext uri="{FF2B5EF4-FFF2-40B4-BE49-F238E27FC236}">
                <a16:creationId xmlns:a16="http://schemas.microsoft.com/office/drawing/2014/main" id="{4CA0DA48-0CFE-4488-5BBD-399E71DE92A2}"/>
              </a:ext>
            </a:extLst>
          </p:cNvPr>
          <p:cNvSpPr txBox="1">
            <a:spLocks/>
          </p:cNvSpPr>
          <p:nvPr/>
        </p:nvSpPr>
        <p:spPr>
          <a:xfrm>
            <a:off x="-903" y="88429"/>
            <a:ext cx="10819699" cy="676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kern="1200" spc="-50" baseline="0">
                <a:solidFill>
                  <a:schemeClr val="tx1">
                    <a:lumMod val="75000"/>
                  </a:schemeClr>
                </a:solidFill>
                <a:latin typeface="Trebuchet MS" panose="020B0603020202020204" pitchFamily="34" charset="0"/>
                <a:ea typeface="+mj-ea"/>
                <a:cs typeface="+mj-cs"/>
              </a:defRPr>
            </a:lvl1pPr>
          </a:lstStyle>
          <a:p>
            <a:r>
              <a:rPr lang="es-ES" sz="2000" dirty="0"/>
              <a:t>4.3 Gestión Climática – Siguientes Pasos</a:t>
            </a:r>
          </a:p>
        </p:txBody>
      </p:sp>
      <p:sp>
        <p:nvSpPr>
          <p:cNvPr id="2" name="Rectangle: Rounded Corners 1">
            <a:extLst>
              <a:ext uri="{FF2B5EF4-FFF2-40B4-BE49-F238E27FC236}">
                <a16:creationId xmlns:a16="http://schemas.microsoft.com/office/drawing/2014/main" id="{A28FBCB0-4C75-D8E9-018A-0C89B1FAACB0}"/>
              </a:ext>
            </a:extLst>
          </p:cNvPr>
          <p:cNvSpPr/>
          <p:nvPr/>
        </p:nvSpPr>
        <p:spPr>
          <a:xfrm>
            <a:off x="1487488" y="2852936"/>
            <a:ext cx="9505056" cy="720080"/>
          </a:xfrm>
          <a:prstGeom prst="roundRect">
            <a:avLst>
              <a:gd name="adj" fmla="val 0"/>
            </a:avLst>
          </a:prstGeom>
          <a:solidFill>
            <a:schemeClr val="bg1"/>
          </a:solidFill>
          <a:ln w="127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defTabSz="457200">
              <a:defRPr/>
            </a:pPr>
            <a:endParaRPr lang="es-PE" sz="1200" b="1" dirty="0">
              <a:solidFill>
                <a:srgbClr val="1F497D"/>
              </a:solidFill>
              <a:latin typeface="Trebuchet MS" panose="020B0603020202020204" pitchFamily="34" charset="0"/>
            </a:endParaRPr>
          </a:p>
          <a:p>
            <a:pPr algn="ctr" defTabSz="457200">
              <a:defRPr/>
            </a:pPr>
            <a:r>
              <a:rPr lang="es-ES" sz="1200" b="1" dirty="0">
                <a:solidFill>
                  <a:schemeClr val="tx1"/>
                </a:solidFill>
                <a:latin typeface="Trebuchet MS" panose="020B0603020202020204" pitchFamily="34" charset="0"/>
              </a:rPr>
              <a:t>Objetivo SURA 2026-2027: Presentar los Lineamientos para Portafolios Temáticos hacia el final de 2026. </a:t>
            </a:r>
          </a:p>
          <a:p>
            <a:pPr algn="ctr" defTabSz="457200">
              <a:defRPr/>
            </a:pPr>
            <a:r>
              <a:rPr lang="es-ES" sz="1200" b="1" dirty="0">
                <a:solidFill>
                  <a:schemeClr val="tx1"/>
                </a:solidFill>
                <a:latin typeface="Trebuchet MS" panose="020B0603020202020204" pitchFamily="34" charset="0"/>
              </a:rPr>
              <a:t>En Proceso</a:t>
            </a:r>
          </a:p>
          <a:p>
            <a:pPr algn="ctr" defTabSz="457200">
              <a:defRPr/>
            </a:pPr>
            <a:endParaRPr kumimoji="0" lang="es-PE" sz="1200" i="0" u="none" strike="noStrike" kern="1200" cap="none" spc="0" normalizeH="0" baseline="0" noProof="0" dirty="0">
              <a:ln>
                <a:noFill/>
              </a:ln>
              <a:solidFill>
                <a:srgbClr val="1F497D"/>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3059616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26A35-DE60-8C6A-125A-5E65D0D8E9B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ECF1137-6BD4-5191-81D5-9F5385A61A7B}"/>
              </a:ext>
            </a:extLst>
          </p:cNvPr>
          <p:cNvSpPr txBox="1"/>
          <p:nvPr/>
        </p:nvSpPr>
        <p:spPr>
          <a:xfrm>
            <a:off x="904875" y="2300908"/>
            <a:ext cx="9620250"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PE" sz="48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rPr>
              <a:t>Bo</a:t>
            </a:r>
            <a:r>
              <a:rPr lang="es-PE" sz="4800" dirty="0" err="1">
                <a:solidFill>
                  <a:prstClr val="white"/>
                </a:solidFill>
                <a:latin typeface="Trebuchet MS" panose="020B0603020202020204" pitchFamily="34" charset="0"/>
              </a:rPr>
              <a:t>nus</a:t>
            </a:r>
            <a:r>
              <a:rPr lang="es-PE" sz="4800" dirty="0">
                <a:solidFill>
                  <a:prstClr val="white"/>
                </a:solidFill>
                <a:latin typeface="Trebuchet MS" panose="020B0603020202020204" pitchFamily="34" charset="0"/>
              </a:rPr>
              <a:t> </a:t>
            </a:r>
            <a:r>
              <a:rPr lang="es-PE" sz="4800" dirty="0" err="1">
                <a:solidFill>
                  <a:prstClr val="white"/>
                </a:solidFill>
                <a:latin typeface="Trebuchet MS" panose="020B0603020202020204" pitchFamily="34" charset="0"/>
              </a:rPr>
              <a:t>Track</a:t>
            </a:r>
            <a:endParaRPr kumimoji="0" lang="es-PE" sz="48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sp>
        <p:nvSpPr>
          <p:cNvPr id="7" name="TextBox 6">
            <a:extLst>
              <a:ext uri="{FF2B5EF4-FFF2-40B4-BE49-F238E27FC236}">
                <a16:creationId xmlns:a16="http://schemas.microsoft.com/office/drawing/2014/main" id="{11DFF3C1-9423-AD63-4819-019690C192DA}"/>
              </a:ext>
            </a:extLst>
          </p:cNvPr>
          <p:cNvSpPr txBox="1"/>
          <p:nvPr/>
        </p:nvSpPr>
        <p:spPr>
          <a:xfrm>
            <a:off x="904875" y="3345220"/>
            <a:ext cx="9620250"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a:ln>
                  <a:noFill/>
                </a:ln>
                <a:solidFill>
                  <a:prstClr val="white">
                    <a:lumMod val="75000"/>
                  </a:prstClr>
                </a:solidFill>
                <a:effectLst/>
                <a:uLnTx/>
                <a:uFillTx/>
                <a:latin typeface="Trebuchet MS" panose="020B0603020202020204" pitchFamily="34" charset="0"/>
                <a:ea typeface="+mn-ea"/>
                <a:cs typeface="+mn-cs"/>
              </a:rPr>
              <a:t>Inversión </a:t>
            </a:r>
            <a:r>
              <a:rPr kumimoji="0" lang="es-ES" sz="2400" b="0" i="0" u="none" strike="noStrike" kern="1200" cap="none" spc="0" normalizeH="0" baseline="0" noProof="0" dirty="0">
                <a:ln>
                  <a:noFill/>
                </a:ln>
                <a:solidFill>
                  <a:prstClr val="white">
                    <a:lumMod val="75000"/>
                  </a:prstClr>
                </a:solidFill>
                <a:effectLst/>
                <a:uLnTx/>
                <a:uFillTx/>
                <a:latin typeface="Trebuchet MS" panose="020B0603020202020204" pitchFamily="34" charset="0"/>
                <a:ea typeface="+mn-ea"/>
                <a:cs typeface="+mn-cs"/>
              </a:rPr>
              <a:t>Sostenible</a:t>
            </a:r>
          </a:p>
        </p:txBody>
      </p:sp>
      <p:sp>
        <p:nvSpPr>
          <p:cNvPr id="3" name="Date Placeholder 7">
            <a:extLst>
              <a:ext uri="{FF2B5EF4-FFF2-40B4-BE49-F238E27FC236}">
                <a16:creationId xmlns:a16="http://schemas.microsoft.com/office/drawing/2014/main" id="{4851193B-FF8C-A93E-D9AB-C97B9381333E}"/>
              </a:ext>
            </a:extLst>
          </p:cNvPr>
          <p:cNvSpPr>
            <a:spLocks noGrp="1"/>
          </p:cNvSpPr>
          <p:nvPr>
            <p:ph type="dt" sz="half" idx="13"/>
          </p:nvPr>
        </p:nvSpPr>
        <p:spPr>
          <a:xfrm>
            <a:off x="1076325" y="6192968"/>
            <a:ext cx="2743200" cy="365125"/>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600" dirty="0">
                <a:solidFill>
                  <a:prstClr val="white">
                    <a:lumMod val="75000"/>
                  </a:prstClr>
                </a:solidFill>
              </a:rPr>
              <a:t>Agosto</a:t>
            </a:r>
            <a:r>
              <a:rPr kumimoji="0" lang="es-ES" sz="1600" b="0" i="0" u="none" strike="noStrike" kern="1200" cap="none" spc="0" normalizeH="0" baseline="0" noProof="0" dirty="0">
                <a:ln>
                  <a:noFill/>
                </a:ln>
                <a:solidFill>
                  <a:prstClr val="white">
                    <a:lumMod val="75000"/>
                  </a:prstClr>
                </a:solidFill>
                <a:effectLst/>
                <a:uLnTx/>
                <a:uFillTx/>
                <a:latin typeface="Trebuchet MS" panose="020B0603020202020204" pitchFamily="34" charset="0"/>
                <a:ea typeface="+mn-ea"/>
                <a:cs typeface="+mn-cs"/>
              </a:rPr>
              <a:t> - 2026</a:t>
            </a:r>
            <a:endParaRPr kumimoji="0" lang="es-PE" sz="1600" b="0" i="0" u="none" strike="noStrike" kern="1200" cap="none" spc="0" normalizeH="0" baseline="0" noProof="0" dirty="0">
              <a:ln>
                <a:noFill/>
              </a:ln>
              <a:solidFill>
                <a:prstClr val="white">
                  <a:lumMod val="75000"/>
                </a:prstClr>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3355828182"/>
      </p:ext>
    </p:extLst>
  </p:cSld>
  <p:clrMapOvr>
    <a:masterClrMapping/>
  </p:clrMapOvr>
</p:sld>
</file>

<file path=ppt/theme/theme1.xml><?xml version="1.0" encoding="utf-8"?>
<a:theme xmlns:a="http://schemas.openxmlformats.org/drawingml/2006/main" name="View">
  <a:themeElements>
    <a:clrScheme name="Custom 2">
      <a:dk1>
        <a:srgbClr val="1E2E6E"/>
      </a:dk1>
      <a:lt1>
        <a:sysClr val="window" lastClr="FFFFFF"/>
      </a:lt1>
      <a:dk2>
        <a:srgbClr val="1E2E6E"/>
      </a:dk2>
      <a:lt2>
        <a:srgbClr val="CEDBE6"/>
      </a:lt2>
      <a:accent1>
        <a:srgbClr val="3494BA"/>
      </a:accent1>
      <a:accent2>
        <a:srgbClr val="00AECB"/>
      </a:accent2>
      <a:accent3>
        <a:srgbClr val="75BDA7"/>
      </a:accent3>
      <a:accent4>
        <a:srgbClr val="7A8C8E"/>
      </a:accent4>
      <a:accent5>
        <a:srgbClr val="84ACB6"/>
      </a:accent5>
      <a:accent6>
        <a:srgbClr val="2683C6"/>
      </a:accent6>
      <a:hlink>
        <a:srgbClr val="6B9F25"/>
      </a:hlink>
      <a:folHlink>
        <a:srgbClr val="9F671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2">
    <a:dk1>
      <a:srgbClr val="1E2E6E"/>
    </a:dk1>
    <a:lt1>
      <a:sysClr val="window" lastClr="FFFFFF"/>
    </a:lt1>
    <a:dk2>
      <a:srgbClr val="1E2E6E"/>
    </a:dk2>
    <a:lt2>
      <a:srgbClr val="CEDBE6"/>
    </a:lt2>
    <a:accent1>
      <a:srgbClr val="3494BA"/>
    </a:accent1>
    <a:accent2>
      <a:srgbClr val="00AECB"/>
    </a:accent2>
    <a:accent3>
      <a:srgbClr val="75BDA7"/>
    </a:accent3>
    <a:accent4>
      <a:srgbClr val="7A8C8E"/>
    </a:accent4>
    <a:accent5>
      <a:srgbClr val="84ACB6"/>
    </a:accent5>
    <a:accent6>
      <a:srgbClr val="2683C6"/>
    </a:accent6>
    <a:hlink>
      <a:srgbClr val="6B9F25"/>
    </a:hlink>
    <a:folHlink>
      <a:srgbClr val="9F671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Override>
</file>

<file path=ppt/theme/themeOverride2.xml><?xml version="1.0" encoding="utf-8"?>
<a:themeOverride xmlns:a="http://schemas.openxmlformats.org/drawingml/2006/main">
  <a:clrScheme name="Custom 2">
    <a:dk1>
      <a:srgbClr val="1E2E6E"/>
    </a:dk1>
    <a:lt1>
      <a:sysClr val="window" lastClr="FFFFFF"/>
    </a:lt1>
    <a:dk2>
      <a:srgbClr val="1E2E6E"/>
    </a:dk2>
    <a:lt2>
      <a:srgbClr val="CEDBE6"/>
    </a:lt2>
    <a:accent1>
      <a:srgbClr val="3494BA"/>
    </a:accent1>
    <a:accent2>
      <a:srgbClr val="00AECB"/>
    </a:accent2>
    <a:accent3>
      <a:srgbClr val="75BDA7"/>
    </a:accent3>
    <a:accent4>
      <a:srgbClr val="7A8C8E"/>
    </a:accent4>
    <a:accent5>
      <a:srgbClr val="84ACB6"/>
    </a:accent5>
    <a:accent6>
      <a:srgbClr val="2683C6"/>
    </a:accent6>
    <a:hlink>
      <a:srgbClr val="6B9F25"/>
    </a:hlink>
    <a:folHlink>
      <a:srgbClr val="9F671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Override>
</file>

<file path=ppt/theme/themeOverride3.xml><?xml version="1.0" encoding="utf-8"?>
<a:themeOverride xmlns:a="http://schemas.openxmlformats.org/drawingml/2006/main">
  <a:clrScheme name="Custom 2">
    <a:dk1>
      <a:srgbClr val="1E2E6E"/>
    </a:dk1>
    <a:lt1>
      <a:sysClr val="window" lastClr="FFFFFF"/>
    </a:lt1>
    <a:dk2>
      <a:srgbClr val="1E2E6E"/>
    </a:dk2>
    <a:lt2>
      <a:srgbClr val="CEDBE6"/>
    </a:lt2>
    <a:accent1>
      <a:srgbClr val="3494BA"/>
    </a:accent1>
    <a:accent2>
      <a:srgbClr val="00AECB"/>
    </a:accent2>
    <a:accent3>
      <a:srgbClr val="75BDA7"/>
    </a:accent3>
    <a:accent4>
      <a:srgbClr val="7A8C8E"/>
    </a:accent4>
    <a:accent5>
      <a:srgbClr val="84ACB6"/>
    </a:accent5>
    <a:accent6>
      <a:srgbClr val="2683C6"/>
    </a:accent6>
    <a:hlink>
      <a:srgbClr val="6B9F25"/>
    </a:hlink>
    <a:folHlink>
      <a:srgbClr val="9F671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Override>
</file>

<file path=ppt/theme/themeOverride4.xml><?xml version="1.0" encoding="utf-8"?>
<a:themeOverride xmlns:a="http://schemas.openxmlformats.org/drawingml/2006/main">
  <a:clrScheme name="Custom 2">
    <a:dk1>
      <a:srgbClr val="1E2E6E"/>
    </a:dk1>
    <a:lt1>
      <a:sysClr val="window" lastClr="FFFFFF"/>
    </a:lt1>
    <a:dk2>
      <a:srgbClr val="1E2E6E"/>
    </a:dk2>
    <a:lt2>
      <a:srgbClr val="CEDBE6"/>
    </a:lt2>
    <a:accent1>
      <a:srgbClr val="3494BA"/>
    </a:accent1>
    <a:accent2>
      <a:srgbClr val="00AECB"/>
    </a:accent2>
    <a:accent3>
      <a:srgbClr val="75BDA7"/>
    </a:accent3>
    <a:accent4>
      <a:srgbClr val="7A8C8E"/>
    </a:accent4>
    <a:accent5>
      <a:srgbClr val="84ACB6"/>
    </a:accent5>
    <a:accent6>
      <a:srgbClr val="2683C6"/>
    </a:accent6>
    <a:hlink>
      <a:srgbClr val="6B9F25"/>
    </a:hlink>
    <a:folHlink>
      <a:srgbClr val="9F671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Override>
</file>

<file path=ppt/theme/themeOverride5.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Custom 2">
    <a:dk1>
      <a:srgbClr val="1E2E6E"/>
    </a:dk1>
    <a:lt1>
      <a:sysClr val="window" lastClr="FFFFFF"/>
    </a:lt1>
    <a:dk2>
      <a:srgbClr val="1E2E6E"/>
    </a:dk2>
    <a:lt2>
      <a:srgbClr val="CEDBE6"/>
    </a:lt2>
    <a:accent1>
      <a:srgbClr val="3494BA"/>
    </a:accent1>
    <a:accent2>
      <a:srgbClr val="00AECB"/>
    </a:accent2>
    <a:accent3>
      <a:srgbClr val="75BDA7"/>
    </a:accent3>
    <a:accent4>
      <a:srgbClr val="7A8C8E"/>
    </a:accent4>
    <a:accent5>
      <a:srgbClr val="84ACB6"/>
    </a:accent5>
    <a:accent6>
      <a:srgbClr val="2683C6"/>
    </a:accent6>
    <a:hlink>
      <a:srgbClr val="6B9F25"/>
    </a:hlink>
    <a:folHlink>
      <a:srgbClr val="9F671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Override>
</file>

<file path=ppt/theme/themeOverride7.xml><?xml version="1.0" encoding="utf-8"?>
<a:themeOverride xmlns:a="http://schemas.openxmlformats.org/drawingml/2006/main">
  <a:clrScheme name="Custom 2">
    <a:dk1>
      <a:srgbClr val="1E2E6E"/>
    </a:dk1>
    <a:lt1>
      <a:sysClr val="window" lastClr="FFFFFF"/>
    </a:lt1>
    <a:dk2>
      <a:srgbClr val="1E2E6E"/>
    </a:dk2>
    <a:lt2>
      <a:srgbClr val="CEDBE6"/>
    </a:lt2>
    <a:accent1>
      <a:srgbClr val="3494BA"/>
    </a:accent1>
    <a:accent2>
      <a:srgbClr val="00AECB"/>
    </a:accent2>
    <a:accent3>
      <a:srgbClr val="75BDA7"/>
    </a:accent3>
    <a:accent4>
      <a:srgbClr val="7A8C8E"/>
    </a:accent4>
    <a:accent5>
      <a:srgbClr val="84ACB6"/>
    </a:accent5>
    <a:accent6>
      <a:srgbClr val="2683C6"/>
    </a:accent6>
    <a:hlink>
      <a:srgbClr val="6B9F25"/>
    </a:hlink>
    <a:folHlink>
      <a:srgbClr val="9F671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Override>
</file>

<file path=ppt/theme/themeOverride8.xml><?xml version="1.0" encoding="utf-8"?>
<a:themeOverride xmlns:a="http://schemas.openxmlformats.org/drawingml/2006/main">
  <a:clrScheme name="Custom 2">
    <a:dk1>
      <a:srgbClr val="1E2E6E"/>
    </a:dk1>
    <a:lt1>
      <a:sysClr val="window" lastClr="FFFFFF"/>
    </a:lt1>
    <a:dk2>
      <a:srgbClr val="1E2E6E"/>
    </a:dk2>
    <a:lt2>
      <a:srgbClr val="CEDBE6"/>
    </a:lt2>
    <a:accent1>
      <a:srgbClr val="3494BA"/>
    </a:accent1>
    <a:accent2>
      <a:srgbClr val="00AECB"/>
    </a:accent2>
    <a:accent3>
      <a:srgbClr val="75BDA7"/>
    </a:accent3>
    <a:accent4>
      <a:srgbClr val="7A8C8E"/>
    </a:accent4>
    <a:accent5>
      <a:srgbClr val="84ACB6"/>
    </a:accent5>
    <a:accent6>
      <a:srgbClr val="2683C6"/>
    </a:accent6>
    <a:hlink>
      <a:srgbClr val="6B9F25"/>
    </a:hlink>
    <a:folHlink>
      <a:srgbClr val="9F671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7355</TotalTime>
  <Words>7035</Words>
  <Application>Microsoft Office PowerPoint</Application>
  <PresentationFormat>Widescreen</PresentationFormat>
  <Paragraphs>1856</Paragraphs>
  <Slides>29</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Aptos</vt:lpstr>
      <vt:lpstr>Aptos Narrow</vt:lpstr>
      <vt:lpstr>Arial</vt:lpstr>
      <vt:lpstr>Calibri</vt:lpstr>
      <vt:lpstr>Cambria Math</vt:lpstr>
      <vt:lpstr>Century Schoolbook</vt:lpstr>
      <vt:lpstr>Trebuchet MS</vt:lpstr>
      <vt:lpstr>Wingdings 2</vt:lpstr>
      <vt:lpstr>View</vt:lpstr>
      <vt:lpstr>PowerPoint Presentation</vt:lpstr>
      <vt:lpstr>PowerPoint Presentation</vt:lpstr>
      <vt:lpstr>1.1 Engagement – Estado al 2S2025</vt:lpstr>
      <vt:lpstr>1.2 Engagement – Estado al 2S2025</vt:lpstr>
      <vt:lpstr>1.3 Engagement – Objetivo 2025-2027: Nueva Metodología de Engagement y Ejecución    </vt:lpstr>
      <vt:lpstr> </vt:lpstr>
      <vt:lpstr>PowerPoint Presentation</vt:lpstr>
      <vt:lpstr>PowerPoint Presentation</vt:lpstr>
      <vt:lpstr>PowerPoint Presentation</vt:lpstr>
      <vt:lpstr>PowerPoint Presentation</vt:lpstr>
      <vt:lpstr>2.1 Huella de Carbono – Cobertura (Jun2026)</vt:lpstr>
      <vt:lpstr>2.2 Huella de Carbono – Medición de Huella e Intensidad del Portafolio: Resultados Jun2026</vt:lpstr>
      <vt:lpstr>2.3 Intensidad de Carbono – Medición de Top Contributors por Emisores: Resultados Jun2026</vt:lpstr>
      <vt:lpstr>2.4 Cobertura y Medición de Huella – Siguientes Pasos</vt:lpstr>
      <vt:lpstr>3.1 Gestión Climática – General: Estado 1S2026 </vt:lpstr>
      <vt:lpstr>3.2 Gestión Climática – Riesgos Físicos: Estado al 1S2025 </vt:lpstr>
      <vt:lpstr>3.3 Gestión Climática – Riesgos Físicos: Objetivo 2025-2027: Robustecer el Análisis </vt:lpstr>
      <vt:lpstr>3.4 Gestión Climática – Riesgos Físicos: Objetivo 2025-2027: Robustecer el Análisis </vt:lpstr>
      <vt:lpstr>3.5 Gestión Climática – Riesgos Físicos: Objetivo 2025-2027: Resultados 1S2026 </vt:lpstr>
      <vt:lpstr>3.6 Gestión Climática – Riesgos Físicos: Objetivo 2025-2027: Resultados 1S2026 </vt:lpstr>
      <vt:lpstr>3.7 Gestión Climática – Riesgos Físicos: Objetivo 2025-2027: Resultados 1S2026 </vt:lpstr>
      <vt:lpstr>3.8 Gestión Climática – Riesgos Físicos: Objetivo 2025-2027: Resultados 1S2026 </vt:lpstr>
      <vt:lpstr>3.9 Gestión Climática – Riesgos Físicos: Objetivo 2025-2027: Resultados 1S2026 </vt:lpstr>
      <vt:lpstr>PowerPoint Presentation</vt:lpstr>
      <vt:lpstr>4.1 Portafolios Temáticos – Lineamientos SURA AM </vt:lpstr>
      <vt:lpstr>4.2 Portafolios Temáticos – Lineamientos SURA AM </vt:lpstr>
      <vt:lpstr>4.3 Portafolios Temáticos – Lineamientos SURA AM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Renzo Sotomayor Diaz</dc:creator>
  <cp:lastModifiedBy>Franco Olivares Untiveros</cp:lastModifiedBy>
  <cp:revision>119</cp:revision>
  <dcterms:created xsi:type="dcterms:W3CDTF">2025-06-13T17:22:56Z</dcterms:created>
  <dcterms:modified xsi:type="dcterms:W3CDTF">2026-08-27T21:20:20Z</dcterms:modified>
</cp:coreProperties>
</file>